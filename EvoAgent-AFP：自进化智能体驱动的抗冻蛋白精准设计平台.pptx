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9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4"/>
        <p:guide pos="393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4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0" y="1874520"/>
            <a:ext cx="12192000" cy="172212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 defTabSz="2667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3200" b="1"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EvoAgent-AFP:</a:t>
            </a:r>
            <a:r>
              <a:rPr lang="zh-CN" altLang="en-US" sz="3200" b="1"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自进化智能体驱动的</a:t>
            </a:r>
            <a:endParaRPr lang="zh-CN" altLang="en-US" sz="3200" b="1"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  <a:p>
            <a:pPr indent="0" algn="ctr" defTabSz="2667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3200" b="1"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</a:rPr>
              <a:t>抗冻蛋白精准设计平台</a:t>
            </a:r>
            <a:endParaRPr lang="zh-CN" altLang="en-US" sz="3200" b="1"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71815" y="5509895"/>
            <a:ext cx="33470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defTabSz="266700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>
                <a:latin typeface="Times New Roman Regular" panose="02020503050405090304" charset="0"/>
                <a:ea typeface="微软雅黑" panose="020B0503020204020204" charset="-122"/>
                <a:cs typeface="Times New Roman Regular" panose="02020503050405090304" charset="0"/>
                <a:sym typeface="+mn-ea"/>
              </a:rPr>
              <a:t>2026.07.06)</a:t>
            </a:r>
            <a:endParaRPr lang="en-US" altLang="zh-CN" sz="1600">
              <a:latin typeface="Times New Roman Regular" panose="02020503050405090304" charset="0"/>
              <a:ea typeface="微软雅黑" panose="020B0503020204020204" charset="-122"/>
              <a:cs typeface="Times New Roman Regular" panose="02020503050405090304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39700" y="117475"/>
            <a:ext cx="63760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4" name="任意多边形 363"/>
          <p:cNvSpPr/>
          <p:nvPr/>
        </p:nvSpPr>
        <p:spPr>
          <a:xfrm>
            <a:off x="528265" y="956805"/>
            <a:ext cx="8200500" cy="326600"/>
          </a:xfrm>
          <a:custGeom>
            <a:avLst/>
            <a:gdLst/>
            <a:ahLst/>
            <a:cxnLst/>
            <a:rect l="l" t="t" r="r" b="b"/>
            <a:pathLst>
              <a:path w="8200500" h="326600" stroke="0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8143700" y="0"/>
                </a:lnTo>
                <a:cubicBezTo>
                  <a:pt x="8175070" y="0"/>
                  <a:pt x="8200500" y="25430"/>
                  <a:pt x="8200500" y="56800"/>
                </a:cubicBezTo>
                <a:lnTo>
                  <a:pt x="8200500" y="269800"/>
                </a:lnTo>
                <a:cubicBezTo>
                  <a:pt x="8200500" y="301170"/>
                  <a:pt x="8175070" y="326600"/>
                  <a:pt x="8143700" y="326600"/>
                </a:cubicBezTo>
                <a:lnTo>
                  <a:pt x="56800" y="326600"/>
                </a:lnTo>
                <a:cubicBezTo>
                  <a:pt x="25430" y="326600"/>
                  <a:pt x="0" y="301170"/>
                  <a:pt x="0" y="269800"/>
                </a:cubicBezTo>
                <a:lnTo>
                  <a:pt x="0" y="56800"/>
                </a:lnTo>
                <a:close/>
              </a:path>
              <a:path w="8200500" h="326600" fill="none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8143700" y="0"/>
                </a:lnTo>
                <a:cubicBezTo>
                  <a:pt x="8175070" y="0"/>
                  <a:pt x="8200500" y="25430"/>
                  <a:pt x="8200500" y="56800"/>
                </a:cubicBezTo>
                <a:lnTo>
                  <a:pt x="8200500" y="269800"/>
                </a:lnTo>
                <a:cubicBezTo>
                  <a:pt x="8200500" y="301170"/>
                  <a:pt x="8175070" y="326600"/>
                  <a:pt x="8143700" y="326600"/>
                </a:cubicBezTo>
                <a:lnTo>
                  <a:pt x="56800" y="326600"/>
                </a:lnTo>
                <a:cubicBezTo>
                  <a:pt x="25430" y="326600"/>
                  <a:pt x="0" y="301170"/>
                  <a:pt x="0" y="269800"/>
                </a:cubicBezTo>
                <a:lnTo>
                  <a:pt x="0" y="56800"/>
                </a:lnTo>
                <a:close/>
              </a:path>
            </a:pathLst>
          </a:custGeom>
          <a:gradFill>
            <a:gsLst>
              <a:gs pos="0">
                <a:srgbClr val="1E3A8A"/>
              </a:gs>
              <a:gs pos="100000">
                <a:srgbClr val="3B82F6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365" name="任意多边形 364"/>
          <p:cNvSpPr/>
          <p:nvPr/>
        </p:nvSpPr>
        <p:spPr>
          <a:xfrm>
            <a:off x="155515" y="689465"/>
            <a:ext cx="1732400" cy="205900"/>
          </a:xfrm>
          <a:custGeom>
            <a:avLst/>
            <a:gdLst>
              <a:gd name="connsiteX0" fmla="*/ 0 w 1732400"/>
              <a:gd name="connsiteY0" fmla="*/ 102950 h 205900"/>
              <a:gd name="connsiteX1" fmla="*/ 866200 w 1732400"/>
              <a:gd name="connsiteY1" fmla="*/ 0 h 205900"/>
              <a:gd name="connsiteX2" fmla="*/ 1732400 w 1732400"/>
              <a:gd name="connsiteY2" fmla="*/ 102950 h 205900"/>
              <a:gd name="connsiteX3" fmla="*/ 866200 w 1732400"/>
              <a:gd name="connsiteY3" fmla="*/ 205900 h 205900"/>
              <a:gd name="rtl" fmla="*/ 521850 w 1732400"/>
              <a:gd name="rtt" fmla="*/ 309940 h 205900"/>
              <a:gd name="rtr" fmla="*/ 2254250 w 1732400"/>
              <a:gd name="rtb" fmla="*/ 515840 h 2059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FFFF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9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第一梯队：已有明确产业验证</a:t>
            </a:r>
            <a:endParaRPr lang="zh-CN" altLang="en-US" sz="96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7" name="任意多边形 366"/>
          <p:cNvSpPr/>
          <p:nvPr/>
        </p:nvSpPr>
        <p:spPr>
          <a:xfrm>
            <a:off x="528265" y="1382805"/>
            <a:ext cx="2591500" cy="4423524"/>
          </a:xfrm>
          <a:custGeom>
            <a:avLst/>
            <a:gdLst/>
            <a:ahLst/>
            <a:cxnLst/>
            <a:rect l="l" t="t" r="r" b="b"/>
            <a:pathLst>
              <a:path w="2591500" h="4423524" stroke="0">
                <a:moveTo>
                  <a:pt x="0" y="102574"/>
                </a:moveTo>
                <a:cubicBezTo>
                  <a:pt x="0" y="45924"/>
                  <a:pt x="50860" y="0"/>
                  <a:pt x="113600" y="0"/>
                </a:cubicBezTo>
                <a:lnTo>
                  <a:pt x="2477900" y="0"/>
                </a:lnTo>
                <a:cubicBezTo>
                  <a:pt x="2540640" y="0"/>
                  <a:pt x="2591500" y="45924"/>
                  <a:pt x="2591500" y="102574"/>
                </a:cubicBezTo>
                <a:lnTo>
                  <a:pt x="2591500" y="4320949"/>
                </a:lnTo>
                <a:cubicBezTo>
                  <a:pt x="2591500" y="4377599"/>
                  <a:pt x="2540640" y="4423524"/>
                  <a:pt x="2477900" y="4423524"/>
                </a:cubicBezTo>
                <a:lnTo>
                  <a:pt x="113600" y="4423524"/>
                </a:lnTo>
                <a:cubicBezTo>
                  <a:pt x="50860" y="4423524"/>
                  <a:pt x="0" y="4377599"/>
                  <a:pt x="0" y="4320949"/>
                </a:cubicBezTo>
                <a:lnTo>
                  <a:pt x="0" y="102574"/>
                </a:lnTo>
                <a:close/>
              </a:path>
              <a:path w="2591500" h="4423524" fill="none">
                <a:moveTo>
                  <a:pt x="0" y="102574"/>
                </a:moveTo>
                <a:cubicBezTo>
                  <a:pt x="0" y="45924"/>
                  <a:pt x="50860" y="0"/>
                  <a:pt x="113600" y="0"/>
                </a:cubicBezTo>
                <a:lnTo>
                  <a:pt x="2477900" y="0"/>
                </a:lnTo>
                <a:cubicBezTo>
                  <a:pt x="2540640" y="0"/>
                  <a:pt x="2591500" y="45924"/>
                  <a:pt x="2591500" y="102574"/>
                </a:cubicBezTo>
                <a:lnTo>
                  <a:pt x="2591500" y="4320949"/>
                </a:lnTo>
                <a:cubicBezTo>
                  <a:pt x="2591500" y="4377599"/>
                  <a:pt x="2540640" y="4423524"/>
                  <a:pt x="2477900" y="4423524"/>
                </a:cubicBezTo>
                <a:lnTo>
                  <a:pt x="113600" y="4423524"/>
                </a:lnTo>
                <a:cubicBezTo>
                  <a:pt x="50860" y="4423524"/>
                  <a:pt x="0" y="4377599"/>
                  <a:pt x="0" y="4320949"/>
                </a:cubicBezTo>
                <a:lnTo>
                  <a:pt x="0" y="102574"/>
                </a:lnTo>
                <a:close/>
              </a:path>
            </a:pathLst>
          </a:custGeom>
          <a:solidFill>
            <a:srgbClr val="FFFFFF"/>
          </a:solidFill>
          <a:ln w="7100" cap="flat">
            <a:noFill/>
            <a:miter/>
          </a:ln>
        </p:spPr>
      </p:sp>
      <p:sp>
        <p:nvSpPr>
          <p:cNvPr id="368" name="任意多边形 367"/>
          <p:cNvSpPr/>
          <p:nvPr/>
        </p:nvSpPr>
        <p:spPr>
          <a:xfrm>
            <a:off x="599265" y="1489305"/>
            <a:ext cx="284000" cy="284000"/>
          </a:xfrm>
          <a:custGeom>
            <a:avLst/>
            <a:gdLst/>
            <a:ahLst/>
            <a:cxnLst/>
            <a:rect l="l" t="t" r="r" b="b"/>
            <a:pathLst>
              <a:path w="284000" h="284000" stroke="0">
                <a:moveTo>
                  <a:pt x="284000" y="142000"/>
                </a:moveTo>
                <a:cubicBezTo>
                  <a:pt x="284000" y="220424"/>
                  <a:pt x="220424" y="284000"/>
                  <a:pt x="142000" y="284000"/>
                </a:cubicBezTo>
                <a:cubicBezTo>
                  <a:pt x="63576" y="284000"/>
                  <a:pt x="0" y="220424"/>
                  <a:pt x="0" y="142000"/>
                </a:cubicBezTo>
                <a:cubicBezTo>
                  <a:pt x="0" y="63576"/>
                  <a:pt x="63576" y="0"/>
                  <a:pt x="142000" y="0"/>
                </a:cubicBezTo>
                <a:cubicBezTo>
                  <a:pt x="220424" y="0"/>
                  <a:pt x="284000" y="63576"/>
                  <a:pt x="284000" y="142000"/>
                </a:cubicBezTo>
                <a:close/>
              </a:path>
              <a:path w="284000" h="284000" fill="none">
                <a:moveTo>
                  <a:pt x="284000" y="142000"/>
                </a:moveTo>
                <a:cubicBezTo>
                  <a:pt x="284000" y="220424"/>
                  <a:pt x="220424" y="284000"/>
                  <a:pt x="142000" y="284000"/>
                </a:cubicBezTo>
                <a:cubicBezTo>
                  <a:pt x="63576" y="284000"/>
                  <a:pt x="0" y="220424"/>
                  <a:pt x="0" y="142000"/>
                </a:cubicBezTo>
                <a:cubicBezTo>
                  <a:pt x="0" y="63576"/>
                  <a:pt x="63576" y="0"/>
                  <a:pt x="142000" y="0"/>
                </a:cubicBezTo>
                <a:cubicBezTo>
                  <a:pt x="220424" y="0"/>
                  <a:pt x="284000" y="63576"/>
                  <a:pt x="284000" y="142000"/>
                </a:cubicBezTo>
                <a:close/>
              </a:path>
            </a:pathLst>
          </a:custGeom>
          <a:solidFill>
            <a:srgbClr val="EFF6FF"/>
          </a:solidFill>
          <a:ln w="7100" cap="flat">
            <a:noFill/>
            <a:miter/>
          </a:ln>
        </p:spPr>
      </p:sp>
      <p:sp>
        <p:nvSpPr>
          <p:cNvPr id="369" name="任意多边形 368"/>
          <p:cNvSpPr/>
          <p:nvPr/>
        </p:nvSpPr>
        <p:spPr>
          <a:xfrm>
            <a:off x="155515" y="689465"/>
            <a:ext cx="284000" cy="291100"/>
          </a:xfrm>
          <a:custGeom>
            <a:avLst/>
            <a:gdLst>
              <a:gd name="connsiteX0" fmla="*/ 0 w 284000"/>
              <a:gd name="connsiteY0" fmla="*/ 145550 h 291100"/>
              <a:gd name="connsiteX1" fmla="*/ 142000 w 284000"/>
              <a:gd name="connsiteY1" fmla="*/ 0 h 291100"/>
              <a:gd name="connsiteX2" fmla="*/ 284000 w 284000"/>
              <a:gd name="connsiteY2" fmla="*/ 145550 h 291100"/>
              <a:gd name="connsiteX3" fmla="*/ 142000 w 284000"/>
              <a:gd name="connsiteY3" fmla="*/ 291100 h 291100"/>
              <a:gd name="rtl" fmla="*/ 443029 w 284000"/>
              <a:gd name="rtt" fmla="*/ 764340 h 291100"/>
              <a:gd name="rtr" fmla="*/ 728471 w 284000"/>
              <a:gd name="rtb" fmla="*/ 1055440 h 2911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00000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117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🍦</a:t>
            </a:r>
            <a:endParaRPr lang="zh-CN" altLang="en-US" sz="117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0" name="任意多边形 369"/>
          <p:cNvSpPr/>
          <p:nvPr/>
        </p:nvSpPr>
        <p:spPr>
          <a:xfrm>
            <a:off x="155515" y="689465"/>
            <a:ext cx="1412900" cy="205900"/>
          </a:xfrm>
          <a:custGeom>
            <a:avLst/>
            <a:gdLst>
              <a:gd name="connsiteX0" fmla="*/ 0 w 1412900"/>
              <a:gd name="connsiteY0" fmla="*/ 102950 h 205900"/>
              <a:gd name="connsiteX1" fmla="*/ 706450 w 1412900"/>
              <a:gd name="connsiteY1" fmla="*/ 0 h 205900"/>
              <a:gd name="connsiteX2" fmla="*/ 1412900 w 1412900"/>
              <a:gd name="connsiteY2" fmla="*/ 102950 h 205900"/>
              <a:gd name="connsiteX3" fmla="*/ 706450 w 1412900"/>
              <a:gd name="connsiteY3" fmla="*/ 205900 h 205900"/>
              <a:gd name="rtl" fmla="*/ 773900 w 1412900"/>
              <a:gd name="rtt" fmla="*/ 821140 h 205900"/>
              <a:gd name="rtr" fmla="*/ 2186800 w 1412900"/>
              <a:gd name="rtb" fmla="*/ 1027040 h 2059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293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960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食品冷冻（冰淇淋）</a:t>
            </a:r>
            <a:endParaRPr lang="zh-CN" altLang="en-US" sz="960" b="1" dirty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1" name="任意多边形 370"/>
          <p:cNvSpPr/>
          <p:nvPr/>
        </p:nvSpPr>
        <p:spPr>
          <a:xfrm>
            <a:off x="670265" y="1844305"/>
            <a:ext cx="1562000" cy="198800"/>
          </a:xfrm>
          <a:custGeom>
            <a:avLst/>
            <a:gdLst/>
            <a:ahLst/>
            <a:cxnLst/>
            <a:rect l="l" t="t" r="r" b="b"/>
            <a:pathLst>
              <a:path w="1562000" h="198800" stroke="0">
                <a:moveTo>
                  <a:pt x="0" y="99400"/>
                </a:moveTo>
                <a:cubicBezTo>
                  <a:pt x="0" y="44503"/>
                  <a:pt x="44503" y="0"/>
                  <a:pt x="99400" y="0"/>
                </a:cubicBezTo>
                <a:lnTo>
                  <a:pt x="1462600" y="0"/>
                </a:lnTo>
                <a:cubicBezTo>
                  <a:pt x="1517497" y="0"/>
                  <a:pt x="1562000" y="44503"/>
                  <a:pt x="1562000" y="99400"/>
                </a:cubicBezTo>
                <a:cubicBezTo>
                  <a:pt x="1562000" y="154297"/>
                  <a:pt x="1517497" y="198800"/>
                  <a:pt x="1462600" y="198800"/>
                </a:cubicBezTo>
                <a:lnTo>
                  <a:pt x="99400" y="198800"/>
                </a:lnTo>
                <a:cubicBezTo>
                  <a:pt x="44503" y="198800"/>
                  <a:pt x="0" y="154297"/>
                  <a:pt x="0" y="99400"/>
                </a:cubicBezTo>
                <a:close/>
              </a:path>
              <a:path w="1562000" h="198800" fill="none">
                <a:moveTo>
                  <a:pt x="0" y="99400"/>
                </a:moveTo>
                <a:cubicBezTo>
                  <a:pt x="0" y="44503"/>
                  <a:pt x="44503" y="0"/>
                  <a:pt x="99400" y="0"/>
                </a:cubicBezTo>
                <a:lnTo>
                  <a:pt x="1462600" y="0"/>
                </a:lnTo>
                <a:cubicBezTo>
                  <a:pt x="1517497" y="0"/>
                  <a:pt x="1562000" y="44503"/>
                  <a:pt x="1562000" y="99400"/>
                </a:cubicBezTo>
                <a:cubicBezTo>
                  <a:pt x="1562000" y="154297"/>
                  <a:pt x="1517497" y="198800"/>
                  <a:pt x="1462600" y="198800"/>
                </a:cubicBezTo>
                <a:lnTo>
                  <a:pt x="99400" y="198800"/>
                </a:lnTo>
                <a:cubicBezTo>
                  <a:pt x="44503" y="198800"/>
                  <a:pt x="0" y="154297"/>
                  <a:pt x="0" y="99400"/>
                </a:cubicBezTo>
                <a:close/>
              </a:path>
            </a:pathLst>
          </a:custGeom>
          <a:solidFill>
            <a:srgbClr val="F0FDF4"/>
          </a:solidFill>
          <a:ln w="7100" cap="flat">
            <a:solidFill>
              <a:srgbClr val="BBF7D0"/>
            </a:solidFill>
            <a:miter/>
          </a:ln>
        </p:spPr>
      </p:sp>
      <p:sp>
        <p:nvSpPr>
          <p:cNvPr id="372" name="任意多边形 371"/>
          <p:cNvSpPr/>
          <p:nvPr/>
        </p:nvSpPr>
        <p:spPr>
          <a:xfrm>
            <a:off x="155515" y="689465"/>
            <a:ext cx="1405800" cy="198800"/>
          </a:xfrm>
          <a:custGeom>
            <a:avLst/>
            <a:gdLst>
              <a:gd name="connsiteX0" fmla="*/ 0 w 1405800"/>
              <a:gd name="connsiteY0" fmla="*/ 99400 h 198800"/>
              <a:gd name="connsiteX1" fmla="*/ 702900 w 1405800"/>
              <a:gd name="connsiteY1" fmla="*/ 0 h 198800"/>
              <a:gd name="connsiteX2" fmla="*/ 1405800 w 1405800"/>
              <a:gd name="connsiteY2" fmla="*/ 99400 h 198800"/>
              <a:gd name="connsiteX3" fmla="*/ 702900 w 1405800"/>
              <a:gd name="connsiteY3" fmla="*/ 198800 h 198800"/>
              <a:gd name="rtl" fmla="*/ 578262 w 1405800"/>
              <a:gd name="rtt" fmla="*/ 1140640 h 198800"/>
              <a:gd name="rtr" fmla="*/ 1984838 w 1405800"/>
              <a:gd name="rtb" fmla="*/ 1339440 h 1988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5803D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1580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最成熟：初创公司+行业巨头</a:t>
            </a:r>
            <a:endParaRPr lang="zh-CN" altLang="en-US" sz="690" b="1" dirty="0">
              <a:solidFill>
                <a:srgbClr val="1580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3" name="任意多边形 372"/>
          <p:cNvSpPr/>
          <p:nvPr/>
        </p:nvSpPr>
        <p:spPr>
          <a:xfrm>
            <a:off x="634765" y="2163805"/>
            <a:ext cx="2378500" cy="1065000"/>
          </a:xfrm>
          <a:custGeom>
            <a:avLst/>
            <a:gdLst/>
            <a:ahLst/>
            <a:cxnLst/>
            <a:rect l="l" t="t" r="r" b="b"/>
            <a:pathLst>
              <a:path w="2378500" h="1065000" stroke="0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2321700" y="0"/>
                </a:lnTo>
                <a:cubicBezTo>
                  <a:pt x="2353070" y="0"/>
                  <a:pt x="2378500" y="25430"/>
                  <a:pt x="2378500" y="56800"/>
                </a:cubicBezTo>
                <a:lnTo>
                  <a:pt x="2378500" y="1008200"/>
                </a:lnTo>
                <a:cubicBezTo>
                  <a:pt x="2378500" y="1039570"/>
                  <a:pt x="2353070" y="1065000"/>
                  <a:pt x="2321700" y="1065000"/>
                </a:cubicBezTo>
                <a:lnTo>
                  <a:pt x="56800" y="1065000"/>
                </a:lnTo>
                <a:cubicBezTo>
                  <a:pt x="25430" y="1065000"/>
                  <a:pt x="0" y="1039570"/>
                  <a:pt x="0" y="1008200"/>
                </a:cubicBezTo>
                <a:lnTo>
                  <a:pt x="0" y="56800"/>
                </a:lnTo>
                <a:close/>
              </a:path>
              <a:path w="2378500" h="1065000" fill="none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2321700" y="0"/>
                </a:lnTo>
                <a:cubicBezTo>
                  <a:pt x="2353070" y="0"/>
                  <a:pt x="2378500" y="25430"/>
                  <a:pt x="2378500" y="56800"/>
                </a:cubicBezTo>
                <a:lnTo>
                  <a:pt x="2378500" y="1008200"/>
                </a:lnTo>
                <a:cubicBezTo>
                  <a:pt x="2378500" y="1039570"/>
                  <a:pt x="2353070" y="1065000"/>
                  <a:pt x="2321700" y="1065000"/>
                </a:cubicBezTo>
                <a:lnTo>
                  <a:pt x="56800" y="1065000"/>
                </a:lnTo>
                <a:cubicBezTo>
                  <a:pt x="25430" y="1065000"/>
                  <a:pt x="0" y="1039570"/>
                  <a:pt x="0" y="1008200"/>
                </a:cubicBezTo>
                <a:lnTo>
                  <a:pt x="0" y="56800"/>
                </a:lnTo>
                <a:close/>
              </a:path>
            </a:pathLst>
          </a:custGeom>
          <a:solidFill>
            <a:srgbClr val="F8FAFC"/>
          </a:solidFill>
          <a:ln w="7100" cap="flat">
            <a:noFill/>
            <a:miter/>
          </a:ln>
        </p:spPr>
      </p:sp>
      <p:sp>
        <p:nvSpPr>
          <p:cNvPr id="374" name="任意多边形 373"/>
          <p:cNvSpPr/>
          <p:nvPr/>
        </p:nvSpPr>
        <p:spPr>
          <a:xfrm>
            <a:off x="155515" y="689465"/>
            <a:ext cx="440200" cy="163300"/>
          </a:xfrm>
          <a:custGeom>
            <a:avLst/>
            <a:gdLst>
              <a:gd name="connsiteX0" fmla="*/ 0 w 440200"/>
              <a:gd name="connsiteY0" fmla="*/ 81650 h 163300"/>
              <a:gd name="connsiteX1" fmla="*/ 220100 w 440200"/>
              <a:gd name="connsiteY1" fmla="*/ 0 h 163300"/>
              <a:gd name="connsiteX2" fmla="*/ 440200 w 440200"/>
              <a:gd name="connsiteY2" fmla="*/ 81650 h 163300"/>
              <a:gd name="connsiteX3" fmla="*/ 220100 w 440200"/>
              <a:gd name="connsiteY3" fmla="*/ 163300 h 163300"/>
              <a:gd name="rtl" fmla="*/ 805850 w 440200"/>
              <a:gd name="rtt" fmla="*/ 1524040 h 163300"/>
              <a:gd name="rtr" fmla="*/ 1246050 w 440200"/>
              <a:gd name="rtb" fmla="*/ 16873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EF4444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核心痛点</a:t>
            </a:r>
            <a:endParaRPr lang="zh-CN" altLang="en-US" sz="690" b="1" dirty="0">
              <a:solidFill>
                <a:srgbClr val="EF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5" name="任意多边形 374"/>
          <p:cNvSpPr/>
          <p:nvPr/>
        </p:nvSpPr>
        <p:spPr>
          <a:xfrm>
            <a:off x="155515" y="689465"/>
            <a:ext cx="639000" cy="163300"/>
          </a:xfrm>
          <a:custGeom>
            <a:avLst/>
            <a:gdLst>
              <a:gd name="connsiteX0" fmla="*/ 0 w 639000"/>
              <a:gd name="connsiteY0" fmla="*/ 81650 h 163300"/>
              <a:gd name="connsiteX1" fmla="*/ 319500 w 639000"/>
              <a:gd name="connsiteY1" fmla="*/ 0 h 163300"/>
              <a:gd name="connsiteX2" fmla="*/ 639000 w 639000"/>
              <a:gd name="connsiteY2" fmla="*/ 81650 h 163300"/>
              <a:gd name="connsiteX3" fmla="*/ 319500 w 639000"/>
              <a:gd name="connsiteY3" fmla="*/ 163300 h 163300"/>
              <a:gd name="rtl" fmla="*/ 1863750 w 639000"/>
              <a:gd name="rtt" fmla="*/ 1524040 h 163300"/>
              <a:gd name="rtr" fmla="*/ 2516950 w 639000"/>
              <a:gd name="rtb" fmla="*/ 16873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0B981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AFP 作用机制</a:t>
            </a:r>
            <a:endParaRPr lang="zh-CN" altLang="en-US" sz="690" b="1" dirty="0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6" name="任意多边形 375"/>
          <p:cNvSpPr/>
          <p:nvPr/>
        </p:nvSpPr>
        <p:spPr>
          <a:xfrm>
            <a:off x="1486765" y="2731805"/>
            <a:ext cx="248500" cy="7100"/>
          </a:xfrm>
          <a:custGeom>
            <a:avLst/>
            <a:gdLst/>
            <a:ahLst/>
            <a:cxnLst/>
            <a:rect l="l" t="t" r="r" b="b"/>
            <a:pathLst>
              <a:path w="248500" h="7100" fill="none">
                <a:moveTo>
                  <a:pt x="0" y="0"/>
                </a:moveTo>
                <a:lnTo>
                  <a:pt x="248500" y="0"/>
                </a:lnTo>
              </a:path>
            </a:pathLst>
          </a:custGeom>
          <a:noFill/>
          <a:ln w="14200" cap="flat">
            <a:solidFill>
              <a:srgbClr val="94A3B8"/>
            </a:solidFill>
            <a:miter/>
          </a:ln>
        </p:spPr>
      </p:sp>
      <p:sp>
        <p:nvSpPr>
          <p:cNvPr id="377" name="任意多边形 376"/>
          <p:cNvSpPr/>
          <p:nvPr/>
        </p:nvSpPr>
        <p:spPr>
          <a:xfrm>
            <a:off x="1697780" y="2696305"/>
            <a:ext cx="71000" cy="71000"/>
          </a:xfrm>
          <a:custGeom>
            <a:avLst/>
            <a:gdLst/>
            <a:ahLst/>
            <a:cxnLst/>
            <a:rect l="l" t="t" r="r" b="b"/>
            <a:pathLst>
              <a:path w="71000" h="71000" stroke="0">
                <a:moveTo>
                  <a:pt x="0" y="0"/>
                </a:moveTo>
                <a:lnTo>
                  <a:pt x="71000" y="35500"/>
                </a:lnTo>
                <a:lnTo>
                  <a:pt x="0" y="71000"/>
                </a:lnTo>
                <a:lnTo>
                  <a:pt x="0" y="0"/>
                </a:lnTo>
                <a:close/>
              </a:path>
              <a:path w="71000" h="71000" fill="none">
                <a:moveTo>
                  <a:pt x="0" y="0"/>
                </a:moveTo>
                <a:lnTo>
                  <a:pt x="71000" y="35500"/>
                </a:lnTo>
                <a:lnTo>
                  <a:pt x="0" y="71000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 w="7100" cap="flat">
            <a:noFill/>
            <a:miter/>
          </a:ln>
        </p:spPr>
      </p:sp>
      <p:sp>
        <p:nvSpPr>
          <p:cNvPr id="379" name="任意多边形 378"/>
          <p:cNvSpPr/>
          <p:nvPr/>
        </p:nvSpPr>
        <p:spPr>
          <a:xfrm>
            <a:off x="155515" y="689465"/>
            <a:ext cx="923000" cy="156200"/>
          </a:xfrm>
          <a:custGeom>
            <a:avLst/>
            <a:gdLst>
              <a:gd name="connsiteX0" fmla="*/ 0 w 923000"/>
              <a:gd name="connsiteY0" fmla="*/ 78100 h 156200"/>
              <a:gd name="connsiteX1" fmla="*/ 461500 w 923000"/>
              <a:gd name="connsiteY1" fmla="*/ 0 h 156200"/>
              <a:gd name="connsiteX2" fmla="*/ 923000 w 923000"/>
              <a:gd name="connsiteY2" fmla="*/ 78100 h 156200"/>
              <a:gd name="connsiteX3" fmla="*/ 461500 w 923000"/>
              <a:gd name="connsiteY3" fmla="*/ 156200 h 156200"/>
              <a:gd name="rtl" fmla="*/ 539600 w 923000"/>
              <a:gd name="rtt" fmla="*/ 2312140 h 156200"/>
              <a:gd name="rtr" fmla="*/ 1498100 w 923000"/>
              <a:gd name="rtb" fmla="*/ 24683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冻融导致冰晶 &gt;100μm</a:t>
            </a:r>
            <a:endParaRPr lang="zh-CN" altLang="en-US" sz="64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0" name="任意多边形 379"/>
          <p:cNvSpPr/>
          <p:nvPr/>
        </p:nvSpPr>
        <p:spPr>
          <a:xfrm>
            <a:off x="155515" y="689465"/>
            <a:ext cx="837800" cy="156200"/>
          </a:xfrm>
          <a:custGeom>
            <a:avLst/>
            <a:gdLst>
              <a:gd name="connsiteX0" fmla="*/ 0 w 837800"/>
              <a:gd name="connsiteY0" fmla="*/ 78100 h 156200"/>
              <a:gd name="connsiteX1" fmla="*/ 418900 w 837800"/>
              <a:gd name="connsiteY1" fmla="*/ 0 h 156200"/>
              <a:gd name="connsiteX2" fmla="*/ 837800 w 837800"/>
              <a:gd name="connsiteY2" fmla="*/ 78100 h 156200"/>
              <a:gd name="connsiteX3" fmla="*/ 418900 w 837800"/>
              <a:gd name="connsiteY3" fmla="*/ 156200 h 156200"/>
              <a:gd name="rtl" fmla="*/ 1615250 w 837800"/>
              <a:gd name="rtt" fmla="*/ 2312140 h 156200"/>
              <a:gd name="rtr" fmla="*/ 2467250 w 837800"/>
              <a:gd name="rtb" fmla="*/ 24683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0B981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IRI锁定尺寸 &lt;50μm</a:t>
            </a:r>
            <a:endParaRPr lang="zh-CN" altLang="en-US" sz="640" dirty="0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1" name="任意多边形 380"/>
          <p:cNvSpPr/>
          <p:nvPr/>
        </p:nvSpPr>
        <p:spPr>
          <a:xfrm>
            <a:off x="812265" y="2518805"/>
            <a:ext cx="355000" cy="426000"/>
          </a:xfrm>
          <a:custGeom>
            <a:avLst/>
            <a:gdLst/>
            <a:ahLst/>
            <a:cxnLst/>
            <a:rect l="l" t="t" r="r" b="b"/>
            <a:pathLst>
              <a:path w="355000" h="426000" stroke="0">
                <a:moveTo>
                  <a:pt x="177500" y="0"/>
                </a:moveTo>
                <a:lnTo>
                  <a:pt x="355000" y="106500"/>
                </a:lnTo>
                <a:lnTo>
                  <a:pt x="355000" y="319500"/>
                </a:lnTo>
                <a:lnTo>
                  <a:pt x="177500" y="426000"/>
                </a:lnTo>
                <a:lnTo>
                  <a:pt x="0" y="319500"/>
                </a:lnTo>
                <a:lnTo>
                  <a:pt x="0" y="106500"/>
                </a:lnTo>
                <a:lnTo>
                  <a:pt x="177500" y="0"/>
                </a:lnTo>
                <a:close/>
              </a:path>
              <a:path w="355000" h="426000" fill="none">
                <a:moveTo>
                  <a:pt x="177500" y="0"/>
                </a:moveTo>
                <a:lnTo>
                  <a:pt x="355000" y="106500"/>
                </a:lnTo>
                <a:lnTo>
                  <a:pt x="355000" y="319500"/>
                </a:lnTo>
                <a:lnTo>
                  <a:pt x="177500" y="426000"/>
                </a:lnTo>
                <a:lnTo>
                  <a:pt x="0" y="319500"/>
                </a:lnTo>
                <a:lnTo>
                  <a:pt x="0" y="106500"/>
                </a:lnTo>
                <a:lnTo>
                  <a:pt x="177500" y="0"/>
                </a:lnTo>
                <a:close/>
              </a:path>
            </a:pathLst>
          </a:custGeom>
          <a:solidFill>
            <a:srgbClr val="BFDBFE"/>
          </a:solidFill>
          <a:ln w="14200" cap="flat">
            <a:solidFill>
              <a:srgbClr val="3B82F6"/>
            </a:solidFill>
            <a:miter/>
          </a:ln>
        </p:spPr>
      </p:sp>
      <p:sp>
        <p:nvSpPr>
          <p:cNvPr id="382" name="任意多边形 381"/>
          <p:cNvSpPr/>
          <p:nvPr/>
        </p:nvSpPr>
        <p:spPr>
          <a:xfrm>
            <a:off x="1912765" y="2589805"/>
            <a:ext cx="142000" cy="177500"/>
          </a:xfrm>
          <a:custGeom>
            <a:avLst/>
            <a:gdLst/>
            <a:ahLst/>
            <a:cxnLst/>
            <a:rect l="l" t="t" r="r" b="b"/>
            <a:pathLst>
              <a:path w="142000" h="177500" stroke="0">
                <a:moveTo>
                  <a:pt x="71000" y="0"/>
                </a:moveTo>
                <a:lnTo>
                  <a:pt x="142000" y="35500"/>
                </a:lnTo>
                <a:lnTo>
                  <a:pt x="142000" y="142000"/>
                </a:lnTo>
                <a:lnTo>
                  <a:pt x="71000" y="177500"/>
                </a:lnTo>
                <a:lnTo>
                  <a:pt x="0" y="142000"/>
                </a:lnTo>
                <a:lnTo>
                  <a:pt x="0" y="35500"/>
                </a:lnTo>
                <a:lnTo>
                  <a:pt x="71000" y="0"/>
                </a:lnTo>
                <a:close/>
              </a:path>
              <a:path w="142000" h="177500" fill="none">
                <a:moveTo>
                  <a:pt x="71000" y="0"/>
                </a:moveTo>
                <a:lnTo>
                  <a:pt x="142000" y="35500"/>
                </a:lnTo>
                <a:lnTo>
                  <a:pt x="142000" y="142000"/>
                </a:lnTo>
                <a:lnTo>
                  <a:pt x="71000" y="177500"/>
                </a:lnTo>
                <a:lnTo>
                  <a:pt x="0" y="142000"/>
                </a:lnTo>
                <a:lnTo>
                  <a:pt x="0" y="35500"/>
                </a:lnTo>
                <a:lnTo>
                  <a:pt x="71000" y="0"/>
                </a:lnTo>
                <a:close/>
              </a:path>
            </a:pathLst>
          </a:custGeom>
          <a:solidFill>
            <a:srgbClr val="DBEAFE"/>
          </a:solidFill>
          <a:ln w="7100" cap="flat">
            <a:noFill/>
            <a:miter/>
          </a:ln>
        </p:spPr>
      </p:sp>
      <p:sp>
        <p:nvSpPr>
          <p:cNvPr id="383" name="任意多边形 382"/>
          <p:cNvSpPr/>
          <p:nvPr/>
        </p:nvSpPr>
        <p:spPr>
          <a:xfrm>
            <a:off x="1891465" y="2582705"/>
            <a:ext cx="184600" cy="92300"/>
          </a:xfrm>
          <a:custGeom>
            <a:avLst/>
            <a:gdLst/>
            <a:ahLst/>
            <a:cxnLst/>
            <a:rect l="l" t="t" r="r" b="b"/>
            <a:pathLst>
              <a:path w="184600" h="92300" stroke="0">
                <a:moveTo>
                  <a:pt x="0" y="92300"/>
                </a:moveTo>
                <a:cubicBezTo>
                  <a:pt x="0" y="41324"/>
                  <a:pt x="41324" y="0"/>
                  <a:pt x="92300" y="0"/>
                </a:cubicBezTo>
                <a:cubicBezTo>
                  <a:pt x="143276" y="0"/>
                  <a:pt x="184600" y="41324"/>
                  <a:pt x="184600" y="92300"/>
                </a:cubicBezTo>
              </a:path>
              <a:path w="184600" h="92300" fill="none">
                <a:moveTo>
                  <a:pt x="0" y="92300"/>
                </a:moveTo>
                <a:cubicBezTo>
                  <a:pt x="0" y="41324"/>
                  <a:pt x="41324" y="0"/>
                  <a:pt x="92300" y="0"/>
                </a:cubicBezTo>
                <a:cubicBezTo>
                  <a:pt x="143276" y="0"/>
                  <a:pt x="184600" y="41324"/>
                  <a:pt x="184600" y="92300"/>
                </a:cubicBezTo>
              </a:path>
            </a:pathLst>
          </a:custGeom>
          <a:noFill/>
          <a:ln w="14200" cap="flat">
            <a:solidFill>
              <a:srgbClr val="10B981"/>
            </a:solidFill>
            <a:miter/>
          </a:ln>
        </p:spPr>
      </p:sp>
      <p:sp>
        <p:nvSpPr>
          <p:cNvPr id="384" name="任意多边形 383"/>
          <p:cNvSpPr/>
          <p:nvPr/>
        </p:nvSpPr>
        <p:spPr>
          <a:xfrm>
            <a:off x="2125765" y="2696305"/>
            <a:ext cx="142000" cy="177500"/>
          </a:xfrm>
          <a:custGeom>
            <a:avLst/>
            <a:gdLst/>
            <a:ahLst/>
            <a:cxnLst/>
            <a:rect l="l" t="t" r="r" b="b"/>
            <a:pathLst>
              <a:path w="142000" h="177500" stroke="0">
                <a:moveTo>
                  <a:pt x="71000" y="0"/>
                </a:moveTo>
                <a:lnTo>
                  <a:pt x="142000" y="35500"/>
                </a:lnTo>
                <a:lnTo>
                  <a:pt x="142000" y="142000"/>
                </a:lnTo>
                <a:lnTo>
                  <a:pt x="71000" y="177500"/>
                </a:lnTo>
                <a:lnTo>
                  <a:pt x="0" y="142000"/>
                </a:lnTo>
                <a:lnTo>
                  <a:pt x="0" y="35500"/>
                </a:lnTo>
                <a:lnTo>
                  <a:pt x="71000" y="0"/>
                </a:lnTo>
                <a:close/>
              </a:path>
              <a:path w="142000" h="177500" fill="none">
                <a:moveTo>
                  <a:pt x="71000" y="0"/>
                </a:moveTo>
                <a:lnTo>
                  <a:pt x="142000" y="35500"/>
                </a:lnTo>
                <a:lnTo>
                  <a:pt x="142000" y="142000"/>
                </a:lnTo>
                <a:lnTo>
                  <a:pt x="71000" y="177500"/>
                </a:lnTo>
                <a:lnTo>
                  <a:pt x="0" y="142000"/>
                </a:lnTo>
                <a:lnTo>
                  <a:pt x="0" y="35500"/>
                </a:lnTo>
                <a:lnTo>
                  <a:pt x="71000" y="0"/>
                </a:lnTo>
                <a:close/>
              </a:path>
            </a:pathLst>
          </a:custGeom>
          <a:solidFill>
            <a:srgbClr val="DBEAFE"/>
          </a:solidFill>
          <a:ln w="7100" cap="flat">
            <a:noFill/>
            <a:miter/>
          </a:ln>
        </p:spPr>
      </p:sp>
      <p:sp>
        <p:nvSpPr>
          <p:cNvPr id="385" name="任意多边形 384"/>
          <p:cNvSpPr/>
          <p:nvPr/>
        </p:nvSpPr>
        <p:spPr>
          <a:xfrm>
            <a:off x="2104465" y="2689205"/>
            <a:ext cx="184600" cy="92300"/>
          </a:xfrm>
          <a:custGeom>
            <a:avLst/>
            <a:gdLst/>
            <a:ahLst/>
            <a:cxnLst/>
            <a:rect l="l" t="t" r="r" b="b"/>
            <a:pathLst>
              <a:path w="184600" h="92300" stroke="0">
                <a:moveTo>
                  <a:pt x="0" y="92300"/>
                </a:moveTo>
                <a:cubicBezTo>
                  <a:pt x="0" y="41324"/>
                  <a:pt x="41324" y="0"/>
                  <a:pt x="92300" y="0"/>
                </a:cubicBezTo>
                <a:cubicBezTo>
                  <a:pt x="143276" y="0"/>
                  <a:pt x="184600" y="41324"/>
                  <a:pt x="184600" y="92300"/>
                </a:cubicBezTo>
              </a:path>
              <a:path w="184600" h="92300" fill="none">
                <a:moveTo>
                  <a:pt x="0" y="92300"/>
                </a:moveTo>
                <a:cubicBezTo>
                  <a:pt x="0" y="41324"/>
                  <a:pt x="41324" y="0"/>
                  <a:pt x="92300" y="0"/>
                </a:cubicBezTo>
                <a:cubicBezTo>
                  <a:pt x="143276" y="0"/>
                  <a:pt x="184600" y="41324"/>
                  <a:pt x="184600" y="92300"/>
                </a:cubicBezTo>
              </a:path>
            </a:pathLst>
          </a:custGeom>
          <a:noFill/>
          <a:ln w="14200" cap="flat">
            <a:solidFill>
              <a:srgbClr val="10B981"/>
            </a:solidFill>
            <a:miter/>
          </a:ln>
        </p:spPr>
      </p:sp>
      <p:sp>
        <p:nvSpPr>
          <p:cNvPr id="386" name="任意多边形 385"/>
          <p:cNvSpPr/>
          <p:nvPr/>
        </p:nvSpPr>
        <p:spPr>
          <a:xfrm>
            <a:off x="2019265" y="2447805"/>
            <a:ext cx="142000" cy="177500"/>
          </a:xfrm>
          <a:custGeom>
            <a:avLst/>
            <a:gdLst/>
            <a:ahLst/>
            <a:cxnLst/>
            <a:rect l="l" t="t" r="r" b="b"/>
            <a:pathLst>
              <a:path w="142000" h="177500" stroke="0">
                <a:moveTo>
                  <a:pt x="71000" y="0"/>
                </a:moveTo>
                <a:lnTo>
                  <a:pt x="142000" y="35500"/>
                </a:lnTo>
                <a:lnTo>
                  <a:pt x="142000" y="142000"/>
                </a:lnTo>
                <a:lnTo>
                  <a:pt x="71000" y="177500"/>
                </a:lnTo>
                <a:lnTo>
                  <a:pt x="0" y="142000"/>
                </a:lnTo>
                <a:lnTo>
                  <a:pt x="0" y="35500"/>
                </a:lnTo>
                <a:lnTo>
                  <a:pt x="71000" y="0"/>
                </a:lnTo>
                <a:close/>
              </a:path>
              <a:path w="142000" h="177500" fill="none">
                <a:moveTo>
                  <a:pt x="71000" y="0"/>
                </a:moveTo>
                <a:lnTo>
                  <a:pt x="142000" y="35500"/>
                </a:lnTo>
                <a:lnTo>
                  <a:pt x="142000" y="142000"/>
                </a:lnTo>
                <a:lnTo>
                  <a:pt x="71000" y="177500"/>
                </a:lnTo>
                <a:lnTo>
                  <a:pt x="0" y="142000"/>
                </a:lnTo>
                <a:lnTo>
                  <a:pt x="0" y="35500"/>
                </a:lnTo>
                <a:lnTo>
                  <a:pt x="71000" y="0"/>
                </a:lnTo>
                <a:close/>
              </a:path>
            </a:pathLst>
          </a:custGeom>
          <a:solidFill>
            <a:srgbClr val="DBEAFE"/>
          </a:solidFill>
          <a:ln w="7100" cap="flat">
            <a:noFill/>
            <a:miter/>
          </a:ln>
        </p:spPr>
      </p:sp>
      <p:sp>
        <p:nvSpPr>
          <p:cNvPr id="387" name="任意多边形 386"/>
          <p:cNvSpPr/>
          <p:nvPr/>
        </p:nvSpPr>
        <p:spPr>
          <a:xfrm>
            <a:off x="1997965" y="2440705"/>
            <a:ext cx="184600" cy="92300"/>
          </a:xfrm>
          <a:custGeom>
            <a:avLst/>
            <a:gdLst/>
            <a:ahLst/>
            <a:cxnLst/>
            <a:rect l="l" t="t" r="r" b="b"/>
            <a:pathLst>
              <a:path w="184600" h="92300" stroke="0">
                <a:moveTo>
                  <a:pt x="0" y="92300"/>
                </a:moveTo>
                <a:cubicBezTo>
                  <a:pt x="0" y="41324"/>
                  <a:pt x="41324" y="0"/>
                  <a:pt x="92300" y="0"/>
                </a:cubicBezTo>
                <a:cubicBezTo>
                  <a:pt x="143276" y="0"/>
                  <a:pt x="184600" y="41324"/>
                  <a:pt x="184600" y="92300"/>
                </a:cubicBezTo>
              </a:path>
              <a:path w="184600" h="92300" fill="none">
                <a:moveTo>
                  <a:pt x="0" y="92300"/>
                </a:moveTo>
                <a:cubicBezTo>
                  <a:pt x="0" y="41324"/>
                  <a:pt x="41324" y="0"/>
                  <a:pt x="92300" y="0"/>
                </a:cubicBezTo>
                <a:cubicBezTo>
                  <a:pt x="143276" y="0"/>
                  <a:pt x="184600" y="41324"/>
                  <a:pt x="184600" y="92300"/>
                </a:cubicBezTo>
              </a:path>
            </a:pathLst>
          </a:custGeom>
          <a:noFill/>
          <a:ln w="14200" cap="flat">
            <a:solidFill>
              <a:srgbClr val="10B981"/>
            </a:solidFill>
            <a:miter/>
          </a:ln>
        </p:spPr>
      </p:sp>
      <p:sp>
        <p:nvSpPr>
          <p:cNvPr id="389" name="任意多边形 388"/>
          <p:cNvSpPr/>
          <p:nvPr/>
        </p:nvSpPr>
        <p:spPr>
          <a:xfrm>
            <a:off x="155515" y="689465"/>
            <a:ext cx="667400" cy="170400"/>
          </a:xfrm>
          <a:custGeom>
            <a:avLst/>
            <a:gdLst>
              <a:gd name="connsiteX0" fmla="*/ 0 w 667400"/>
              <a:gd name="connsiteY0" fmla="*/ 85200 h 170400"/>
              <a:gd name="connsiteX1" fmla="*/ 333700 w 667400"/>
              <a:gd name="connsiteY1" fmla="*/ 0 h 170400"/>
              <a:gd name="connsiteX2" fmla="*/ 667400 w 667400"/>
              <a:gd name="connsiteY2" fmla="*/ 85200 h 170400"/>
              <a:gd name="connsiteX3" fmla="*/ 333700 w 667400"/>
              <a:gd name="connsiteY3" fmla="*/ 170400 h 170400"/>
              <a:gd name="rtl" fmla="*/ 486350 w 667400"/>
              <a:gd name="rtt" fmla="*/ 2581940 h 170400"/>
              <a:gd name="rtr" fmla="*/ 1153750 w 667400"/>
              <a:gd name="rtb" fmla="*/ 2752340 h 1704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关键设计权重</a:t>
            </a:r>
            <a:endParaRPr lang="zh-CN" altLang="en-US" sz="745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0" name="任意多边形 389"/>
          <p:cNvSpPr/>
          <p:nvPr/>
        </p:nvSpPr>
        <p:spPr>
          <a:xfrm>
            <a:off x="670265" y="3512805"/>
            <a:ext cx="1136000" cy="85200"/>
          </a:xfrm>
          <a:custGeom>
            <a:avLst/>
            <a:gdLst/>
            <a:ahLst/>
            <a:cxnLst/>
            <a:rect l="l" t="t" r="r" b="b"/>
            <a:pathLst>
              <a:path w="1136000" h="852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1107600" y="0"/>
                </a:lnTo>
                <a:cubicBezTo>
                  <a:pt x="1123285" y="0"/>
                  <a:pt x="1136000" y="12715"/>
                  <a:pt x="1136000" y="28400"/>
                </a:cubicBezTo>
                <a:lnTo>
                  <a:pt x="1136000" y="56800"/>
                </a:lnTo>
                <a:cubicBezTo>
                  <a:pt x="1136000" y="72485"/>
                  <a:pt x="1123285" y="85200"/>
                  <a:pt x="11076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  <a:path w="1136000" h="852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1107600" y="0"/>
                </a:lnTo>
                <a:cubicBezTo>
                  <a:pt x="1123285" y="0"/>
                  <a:pt x="1136000" y="12715"/>
                  <a:pt x="1136000" y="28400"/>
                </a:cubicBezTo>
                <a:lnTo>
                  <a:pt x="1136000" y="56800"/>
                </a:lnTo>
                <a:cubicBezTo>
                  <a:pt x="1136000" y="72485"/>
                  <a:pt x="1123285" y="85200"/>
                  <a:pt x="11076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</a:pathLst>
          </a:custGeom>
          <a:gradFill>
            <a:gsLst>
              <a:gs pos="0">
                <a:srgbClr val="10B981"/>
              </a:gs>
              <a:gs pos="100000">
                <a:srgbClr val="34D399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391" name="任意多边形 390"/>
          <p:cNvSpPr/>
          <p:nvPr/>
        </p:nvSpPr>
        <p:spPr>
          <a:xfrm>
            <a:off x="1820465" y="3512805"/>
            <a:ext cx="568000" cy="85200"/>
          </a:xfrm>
          <a:custGeom>
            <a:avLst/>
            <a:gdLst/>
            <a:ahLst/>
            <a:cxnLst/>
            <a:rect l="l" t="t" r="r" b="b"/>
            <a:pathLst>
              <a:path w="568000" h="852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539600" y="0"/>
                </a:lnTo>
                <a:cubicBezTo>
                  <a:pt x="555285" y="0"/>
                  <a:pt x="568000" y="12715"/>
                  <a:pt x="568000" y="28400"/>
                </a:cubicBezTo>
                <a:lnTo>
                  <a:pt x="568000" y="56800"/>
                </a:lnTo>
                <a:cubicBezTo>
                  <a:pt x="568000" y="72485"/>
                  <a:pt x="555285" y="85200"/>
                  <a:pt x="5396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  <a:path w="568000" h="852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539600" y="0"/>
                </a:lnTo>
                <a:cubicBezTo>
                  <a:pt x="555285" y="0"/>
                  <a:pt x="568000" y="12715"/>
                  <a:pt x="568000" y="28400"/>
                </a:cubicBezTo>
                <a:lnTo>
                  <a:pt x="568000" y="56800"/>
                </a:lnTo>
                <a:cubicBezTo>
                  <a:pt x="568000" y="72485"/>
                  <a:pt x="555285" y="85200"/>
                  <a:pt x="5396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60A5FA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392" name="任意多边形 391"/>
          <p:cNvSpPr/>
          <p:nvPr/>
        </p:nvSpPr>
        <p:spPr>
          <a:xfrm>
            <a:off x="2402665" y="3512805"/>
            <a:ext cx="340800" cy="85200"/>
          </a:xfrm>
          <a:custGeom>
            <a:avLst/>
            <a:gdLst/>
            <a:ahLst/>
            <a:cxnLst/>
            <a:rect l="l" t="t" r="r" b="b"/>
            <a:pathLst>
              <a:path w="340800" h="852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312400" y="0"/>
                </a:lnTo>
                <a:cubicBezTo>
                  <a:pt x="328085" y="0"/>
                  <a:pt x="340800" y="12715"/>
                  <a:pt x="340800" y="28400"/>
                </a:cubicBezTo>
                <a:lnTo>
                  <a:pt x="340800" y="56800"/>
                </a:lnTo>
                <a:cubicBezTo>
                  <a:pt x="340800" y="72485"/>
                  <a:pt x="328085" y="85200"/>
                  <a:pt x="3124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  <a:path w="340800" h="852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312400" y="0"/>
                </a:lnTo>
                <a:cubicBezTo>
                  <a:pt x="328085" y="0"/>
                  <a:pt x="340800" y="12715"/>
                  <a:pt x="340800" y="28400"/>
                </a:cubicBezTo>
                <a:lnTo>
                  <a:pt x="340800" y="56800"/>
                </a:lnTo>
                <a:cubicBezTo>
                  <a:pt x="340800" y="72485"/>
                  <a:pt x="328085" y="85200"/>
                  <a:pt x="3124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</a:pathLst>
          </a:custGeom>
          <a:gradFill>
            <a:gsLst>
              <a:gs pos="0">
                <a:srgbClr val="F59E0B"/>
              </a:gs>
              <a:gs pos="100000">
                <a:srgbClr val="FBBF24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393" name="任意多边形 392"/>
          <p:cNvSpPr/>
          <p:nvPr/>
        </p:nvSpPr>
        <p:spPr>
          <a:xfrm>
            <a:off x="2757665" y="3512805"/>
            <a:ext cx="213000" cy="85200"/>
          </a:xfrm>
          <a:custGeom>
            <a:avLst/>
            <a:gdLst/>
            <a:ahLst/>
            <a:cxnLst/>
            <a:rect l="l" t="t" r="r" b="b"/>
            <a:pathLst>
              <a:path w="213000" h="852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184600" y="0"/>
                </a:lnTo>
                <a:cubicBezTo>
                  <a:pt x="200285" y="0"/>
                  <a:pt x="213000" y="12715"/>
                  <a:pt x="213000" y="28400"/>
                </a:cubicBezTo>
                <a:lnTo>
                  <a:pt x="213000" y="56800"/>
                </a:lnTo>
                <a:cubicBezTo>
                  <a:pt x="213000" y="72485"/>
                  <a:pt x="200285" y="85200"/>
                  <a:pt x="1846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  <a:path w="213000" h="852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184600" y="0"/>
                </a:lnTo>
                <a:cubicBezTo>
                  <a:pt x="200285" y="0"/>
                  <a:pt x="213000" y="12715"/>
                  <a:pt x="213000" y="28400"/>
                </a:cubicBezTo>
                <a:lnTo>
                  <a:pt x="213000" y="56800"/>
                </a:lnTo>
                <a:cubicBezTo>
                  <a:pt x="213000" y="72485"/>
                  <a:pt x="200285" y="85200"/>
                  <a:pt x="1846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</a:pathLst>
          </a:custGeom>
          <a:gradFill>
            <a:gsLst>
              <a:gs pos="0">
                <a:srgbClr val="94A3B8"/>
              </a:gs>
              <a:gs pos="100000">
                <a:srgbClr val="CBD5E1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394" name="任意多边形 393"/>
          <p:cNvSpPr/>
          <p:nvPr/>
        </p:nvSpPr>
        <p:spPr>
          <a:xfrm>
            <a:off x="677365" y="3661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10B981"/>
          </a:solidFill>
          <a:ln w="7100" cap="flat">
            <a:noFill/>
            <a:miter/>
          </a:ln>
        </p:spPr>
      </p:sp>
      <p:sp>
        <p:nvSpPr>
          <p:cNvPr id="395" name="任意多边形 394"/>
          <p:cNvSpPr/>
          <p:nvPr/>
        </p:nvSpPr>
        <p:spPr>
          <a:xfrm>
            <a:off x="155515" y="689465"/>
            <a:ext cx="369200" cy="156200"/>
          </a:xfrm>
          <a:custGeom>
            <a:avLst/>
            <a:gdLst>
              <a:gd name="connsiteX0" fmla="*/ 0 w 369200"/>
              <a:gd name="connsiteY0" fmla="*/ 78100 h 156200"/>
              <a:gd name="connsiteX1" fmla="*/ 184600 w 369200"/>
              <a:gd name="connsiteY1" fmla="*/ 0 h 156200"/>
              <a:gd name="connsiteX2" fmla="*/ 369200 w 369200"/>
              <a:gd name="connsiteY2" fmla="*/ 78100 h 156200"/>
              <a:gd name="connsiteX3" fmla="*/ 184600 w 369200"/>
              <a:gd name="connsiteY3" fmla="*/ 156200 h 156200"/>
              <a:gd name="rtl" fmla="*/ 582200 w 369200"/>
              <a:gd name="rtt" fmla="*/ 2915640 h 156200"/>
              <a:gd name="rtr" fmla="*/ 972700 w 369200"/>
              <a:gd name="rtb" fmla="*/ 30718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IRI 50%</a:t>
            </a:r>
            <a:endParaRPr lang="zh-CN" altLang="en-US" sz="640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6" name="任意多边形 395"/>
          <p:cNvSpPr/>
          <p:nvPr/>
        </p:nvSpPr>
        <p:spPr>
          <a:xfrm>
            <a:off x="1174365" y="3661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3B82F6"/>
          </a:solidFill>
          <a:ln w="7100" cap="flat">
            <a:noFill/>
            <a:miter/>
          </a:ln>
        </p:spPr>
      </p:sp>
      <p:sp>
        <p:nvSpPr>
          <p:cNvPr id="397" name="任意多边形 396"/>
          <p:cNvSpPr/>
          <p:nvPr/>
        </p:nvSpPr>
        <p:spPr>
          <a:xfrm>
            <a:off x="155515" y="689465"/>
            <a:ext cx="497000" cy="156200"/>
          </a:xfrm>
          <a:custGeom>
            <a:avLst/>
            <a:gdLst>
              <a:gd name="connsiteX0" fmla="*/ 0 w 497000"/>
              <a:gd name="connsiteY0" fmla="*/ 78100 h 156200"/>
              <a:gd name="connsiteX1" fmla="*/ 248500 w 497000"/>
              <a:gd name="connsiteY1" fmla="*/ 0 h 156200"/>
              <a:gd name="connsiteX2" fmla="*/ 497000 w 497000"/>
              <a:gd name="connsiteY2" fmla="*/ 78100 h 156200"/>
              <a:gd name="connsiteX3" fmla="*/ 248500 w 497000"/>
              <a:gd name="connsiteY3" fmla="*/ 156200 h 156200"/>
              <a:gd name="rtl" fmla="*/ 1072100 w 497000"/>
              <a:gd name="rtt" fmla="*/ 2915640 h 156200"/>
              <a:gd name="rtr" fmla="*/ 1604600 w 497000"/>
              <a:gd name="rtb" fmla="*/ 30718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表达量 25%</a:t>
            </a:r>
            <a:endParaRPr lang="zh-CN" altLang="en-US" sz="640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8" name="任意多边形 397"/>
          <p:cNvSpPr/>
          <p:nvPr/>
        </p:nvSpPr>
        <p:spPr>
          <a:xfrm>
            <a:off x="1813365" y="3661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F59E0B"/>
          </a:solidFill>
          <a:ln w="7100" cap="flat">
            <a:noFill/>
            <a:miter/>
          </a:ln>
        </p:spPr>
      </p:sp>
      <p:sp>
        <p:nvSpPr>
          <p:cNvPr id="399" name="任意多边形 398"/>
          <p:cNvSpPr/>
          <p:nvPr/>
        </p:nvSpPr>
        <p:spPr>
          <a:xfrm>
            <a:off x="155515" y="689465"/>
            <a:ext cx="326600" cy="156200"/>
          </a:xfrm>
          <a:custGeom>
            <a:avLst/>
            <a:gdLst>
              <a:gd name="connsiteX0" fmla="*/ 0 w 326600"/>
              <a:gd name="connsiteY0" fmla="*/ 78100 h 156200"/>
              <a:gd name="connsiteX1" fmla="*/ 163300 w 326600"/>
              <a:gd name="connsiteY1" fmla="*/ 0 h 156200"/>
              <a:gd name="connsiteX2" fmla="*/ 326600 w 326600"/>
              <a:gd name="connsiteY2" fmla="*/ 78100 h 156200"/>
              <a:gd name="connsiteX3" fmla="*/ 163300 w 326600"/>
              <a:gd name="connsiteY3" fmla="*/ 156200 h 156200"/>
              <a:gd name="rtl" fmla="*/ 1696900 w 326600"/>
              <a:gd name="rtt" fmla="*/ 2915640 h 156200"/>
              <a:gd name="rtr" fmla="*/ 2087400 w 326600"/>
              <a:gd name="rtb" fmla="*/ 30718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 15%</a:t>
            </a:r>
            <a:endParaRPr lang="zh-CN" altLang="en-US" sz="640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0" name="任意多边形 399"/>
          <p:cNvSpPr/>
          <p:nvPr/>
        </p:nvSpPr>
        <p:spPr>
          <a:xfrm>
            <a:off x="670265" y="3867805"/>
            <a:ext cx="2307500" cy="1737264"/>
          </a:xfrm>
          <a:custGeom>
            <a:avLst/>
            <a:gdLst/>
            <a:ahLst/>
            <a:cxnLst/>
            <a:rect l="l" t="t" r="r" b="b"/>
            <a:pathLst>
              <a:path w="2307500" h="1737264" stroke="0">
                <a:moveTo>
                  <a:pt x="0" y="34745"/>
                </a:moveTo>
                <a:cubicBezTo>
                  <a:pt x="0" y="15556"/>
                  <a:pt x="19073" y="0"/>
                  <a:pt x="42600" y="0"/>
                </a:cubicBezTo>
                <a:lnTo>
                  <a:pt x="2264900" y="0"/>
                </a:lnTo>
                <a:cubicBezTo>
                  <a:pt x="2288427" y="0"/>
                  <a:pt x="2307500" y="15556"/>
                  <a:pt x="2307500" y="34745"/>
                </a:cubicBezTo>
                <a:lnTo>
                  <a:pt x="2307500" y="1702519"/>
                </a:lnTo>
                <a:cubicBezTo>
                  <a:pt x="2307500" y="1721708"/>
                  <a:pt x="2288427" y="1737264"/>
                  <a:pt x="2264900" y="1737264"/>
                </a:cubicBezTo>
                <a:lnTo>
                  <a:pt x="42600" y="1737264"/>
                </a:lnTo>
                <a:cubicBezTo>
                  <a:pt x="19073" y="1737264"/>
                  <a:pt x="0" y="1721708"/>
                  <a:pt x="0" y="1702519"/>
                </a:cubicBezTo>
                <a:lnTo>
                  <a:pt x="0" y="34745"/>
                </a:lnTo>
                <a:close/>
              </a:path>
              <a:path w="2307500" h="1737264" fill="none">
                <a:moveTo>
                  <a:pt x="0" y="34745"/>
                </a:moveTo>
                <a:cubicBezTo>
                  <a:pt x="0" y="15556"/>
                  <a:pt x="19073" y="0"/>
                  <a:pt x="42600" y="0"/>
                </a:cubicBezTo>
                <a:lnTo>
                  <a:pt x="2264900" y="0"/>
                </a:lnTo>
                <a:cubicBezTo>
                  <a:pt x="2288427" y="0"/>
                  <a:pt x="2307500" y="15556"/>
                  <a:pt x="2307500" y="34745"/>
                </a:cubicBezTo>
                <a:lnTo>
                  <a:pt x="2307500" y="1702519"/>
                </a:lnTo>
                <a:cubicBezTo>
                  <a:pt x="2307500" y="1721708"/>
                  <a:pt x="2288427" y="1737264"/>
                  <a:pt x="2264900" y="1737264"/>
                </a:cubicBezTo>
                <a:lnTo>
                  <a:pt x="42600" y="1737264"/>
                </a:lnTo>
                <a:cubicBezTo>
                  <a:pt x="19073" y="1737264"/>
                  <a:pt x="0" y="1721708"/>
                  <a:pt x="0" y="1702519"/>
                </a:cubicBezTo>
                <a:lnTo>
                  <a:pt x="0" y="34745"/>
                </a:lnTo>
                <a:close/>
              </a:path>
            </a:pathLst>
          </a:custGeom>
          <a:solidFill>
            <a:srgbClr val="F8FAFC"/>
          </a:solidFill>
          <a:ln w="7100" cap="flat">
            <a:noFill/>
            <a:miter/>
          </a:ln>
        </p:spPr>
      </p:sp>
      <p:sp>
        <p:nvSpPr>
          <p:cNvPr id="401" name="任意多边形 400"/>
          <p:cNvSpPr/>
          <p:nvPr/>
        </p:nvSpPr>
        <p:spPr>
          <a:xfrm>
            <a:off x="155515" y="689465"/>
            <a:ext cx="816500" cy="170400"/>
          </a:xfrm>
          <a:custGeom>
            <a:avLst/>
            <a:gdLst>
              <a:gd name="connsiteX0" fmla="*/ 0 w 816500"/>
              <a:gd name="connsiteY0" fmla="*/ 85200 h 170400"/>
              <a:gd name="connsiteX1" fmla="*/ 408250 w 816500"/>
              <a:gd name="connsiteY1" fmla="*/ 0 h 170400"/>
              <a:gd name="connsiteX2" fmla="*/ 816500 w 816500"/>
              <a:gd name="connsiteY2" fmla="*/ 85200 h 170400"/>
              <a:gd name="connsiteX3" fmla="*/ 408250 w 816500"/>
              <a:gd name="connsiteY3" fmla="*/ 170400 h 170400"/>
              <a:gd name="rtl" fmla="*/ 543150 w 816500"/>
              <a:gd name="rtt" fmla="*/ 3220940 h 170400"/>
              <a:gd name="rtr" fmla="*/ 1395150 w 816500"/>
              <a:gd name="rtb" fmla="*/ 3391340 h 1704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293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 年关键证据</a:t>
            </a:r>
            <a:endParaRPr lang="zh-CN" altLang="en-US" sz="745" b="1" dirty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任意多边形 401"/>
          <p:cNvSpPr/>
          <p:nvPr/>
        </p:nvSpPr>
        <p:spPr>
          <a:xfrm>
            <a:off x="741265" y="4187305"/>
            <a:ext cx="7100" cy="1242500"/>
          </a:xfrm>
          <a:custGeom>
            <a:avLst/>
            <a:gdLst/>
            <a:ahLst/>
            <a:cxnLst/>
            <a:rect l="l" t="t" r="r" b="b"/>
            <a:pathLst>
              <a:path w="7100" h="1242500" stroke="0">
                <a:moveTo>
                  <a:pt x="0" y="0"/>
                </a:moveTo>
                <a:lnTo>
                  <a:pt x="0" y="1242500"/>
                </a:lnTo>
              </a:path>
              <a:path w="7100" h="1242500" fill="none">
                <a:moveTo>
                  <a:pt x="0" y="0"/>
                </a:moveTo>
                <a:lnTo>
                  <a:pt x="0" y="1242500"/>
                </a:lnTo>
              </a:path>
            </a:pathLst>
          </a:custGeom>
          <a:solidFill>
            <a:srgbClr val="000000"/>
          </a:solidFill>
          <a:ln w="14200" cap="flat">
            <a:solidFill>
              <a:srgbClr val="CBD5E1"/>
            </a:solidFill>
            <a:custDash>
              <a:ds d="1100000" sp="500000"/>
            </a:custDash>
            <a:miter/>
          </a:ln>
        </p:spPr>
      </p:sp>
      <p:sp>
        <p:nvSpPr>
          <p:cNvPr id="403" name="任意多边形 402"/>
          <p:cNvSpPr/>
          <p:nvPr/>
        </p:nvSpPr>
        <p:spPr>
          <a:xfrm>
            <a:off x="712865" y="4158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3B82F6"/>
          </a:solidFill>
          <a:ln w="7100" cap="flat">
            <a:noFill/>
            <a:miter/>
          </a:ln>
        </p:spPr>
      </p:sp>
      <p:sp>
        <p:nvSpPr>
          <p:cNvPr id="404" name="任意多边形 403"/>
          <p:cNvSpPr/>
          <p:nvPr/>
        </p:nvSpPr>
        <p:spPr>
          <a:xfrm>
            <a:off x="155515" y="689465"/>
            <a:ext cx="1199900" cy="163300"/>
          </a:xfrm>
          <a:custGeom>
            <a:avLst/>
            <a:gdLst>
              <a:gd name="connsiteX0" fmla="*/ 0 w 1199900"/>
              <a:gd name="connsiteY0" fmla="*/ 81650 h 163300"/>
              <a:gd name="connsiteX1" fmla="*/ 599950 w 1199900"/>
              <a:gd name="connsiteY1" fmla="*/ 0 h 163300"/>
              <a:gd name="connsiteX2" fmla="*/ 1199900 w 1199900"/>
              <a:gd name="connsiteY2" fmla="*/ 81650 h 163300"/>
              <a:gd name="connsiteX3" fmla="*/ 599950 w 1199900"/>
              <a:gd name="connsiteY3" fmla="*/ 163300 h 163300"/>
              <a:gd name="rtl" fmla="*/ 646100 w 1199900"/>
              <a:gd name="rtt" fmla="*/ 3398440 h 163300"/>
              <a:gd name="rtr" fmla="*/ 1860200 w 1199900"/>
              <a:gd name="rtb" fmla="*/ 35617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Kramer团队：合成多肽实现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5" name="任意多边形 404"/>
          <p:cNvSpPr/>
          <p:nvPr/>
        </p:nvSpPr>
        <p:spPr>
          <a:xfrm>
            <a:off x="155515" y="689465"/>
            <a:ext cx="1420000" cy="163300"/>
          </a:xfrm>
          <a:custGeom>
            <a:avLst/>
            <a:gdLst>
              <a:gd name="connsiteX0" fmla="*/ 0 w 1420000"/>
              <a:gd name="connsiteY0" fmla="*/ 81650 h 163300"/>
              <a:gd name="connsiteX1" fmla="*/ 710000 w 1420000"/>
              <a:gd name="connsiteY1" fmla="*/ 0 h 163300"/>
              <a:gd name="connsiteX2" fmla="*/ 1420000 w 1420000"/>
              <a:gd name="connsiteY2" fmla="*/ 81650 h 163300"/>
              <a:gd name="connsiteX3" fmla="*/ 710000 w 1420000"/>
              <a:gd name="connsiteY3" fmla="*/ 163300 h 163300"/>
              <a:gd name="rtl" fmla="*/ 649650 w 1420000"/>
              <a:gd name="rtt" fmla="*/ 3526240 h 163300"/>
              <a:gd name="rtr" fmla="*/ 2069650 w 1420000"/>
              <a:gd name="rtb" fmla="*/ 36895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-20°C无冰晶, 成立Lontra Bio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6" name="任意多边形 405"/>
          <p:cNvSpPr/>
          <p:nvPr/>
        </p:nvSpPr>
        <p:spPr>
          <a:xfrm>
            <a:off x="712865" y="46204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3B82F6"/>
          </a:solidFill>
          <a:ln w="7100" cap="flat">
            <a:noFill/>
            <a:miter/>
          </a:ln>
        </p:spPr>
      </p:sp>
      <p:sp>
        <p:nvSpPr>
          <p:cNvPr id="407" name="任意多边形 406"/>
          <p:cNvSpPr/>
          <p:nvPr/>
        </p:nvSpPr>
        <p:spPr>
          <a:xfrm>
            <a:off x="155515" y="689465"/>
            <a:ext cx="1334800" cy="163300"/>
          </a:xfrm>
          <a:custGeom>
            <a:avLst/>
            <a:gdLst>
              <a:gd name="connsiteX0" fmla="*/ 0 w 1334800"/>
              <a:gd name="connsiteY0" fmla="*/ 81650 h 163300"/>
              <a:gd name="connsiteX1" fmla="*/ 667400 w 1334800"/>
              <a:gd name="connsiteY1" fmla="*/ 0 h 163300"/>
              <a:gd name="connsiteX2" fmla="*/ 1334800 w 1334800"/>
              <a:gd name="connsiteY2" fmla="*/ 81650 h 163300"/>
              <a:gd name="connsiteX3" fmla="*/ 667400 w 1334800"/>
              <a:gd name="connsiteY3" fmla="*/ 163300 h 163300"/>
              <a:gd name="rtl" fmla="*/ 642550 w 1334800"/>
              <a:gd name="rtt" fmla="*/ 3859940 h 163300"/>
              <a:gd name="rtr" fmla="*/ 1991550 w 1334800"/>
              <a:gd name="rtb" fmla="*/ 40232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BtAFP：在冰淇淋体系成功验证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8" name="任意多边形 407"/>
          <p:cNvSpPr/>
          <p:nvPr/>
        </p:nvSpPr>
        <p:spPr>
          <a:xfrm>
            <a:off x="155515" y="689465"/>
            <a:ext cx="1590400" cy="163300"/>
          </a:xfrm>
          <a:custGeom>
            <a:avLst/>
            <a:gdLst>
              <a:gd name="connsiteX0" fmla="*/ 0 w 1590400"/>
              <a:gd name="connsiteY0" fmla="*/ 81650 h 163300"/>
              <a:gd name="connsiteX1" fmla="*/ 795200 w 1590400"/>
              <a:gd name="connsiteY1" fmla="*/ 0 h 163300"/>
              <a:gd name="connsiteX2" fmla="*/ 1590400 w 1590400"/>
              <a:gd name="connsiteY2" fmla="*/ 81650 h 163300"/>
              <a:gd name="connsiteX3" fmla="*/ 795200 w 1590400"/>
              <a:gd name="connsiteY3" fmla="*/ 163300 h 163300"/>
              <a:gd name="rtl" fmla="*/ 649650 w 1590400"/>
              <a:gd name="rtt" fmla="*/ 3987740 h 163300"/>
              <a:gd name="rtr" fmla="*/ 2240050 w 1590400"/>
              <a:gd name="rtb" fmla="*/ 41510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 IRI 活性 (J.Agric.Food Chem)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9" name="任意多边形 408"/>
          <p:cNvSpPr/>
          <p:nvPr/>
        </p:nvSpPr>
        <p:spPr>
          <a:xfrm>
            <a:off x="712865" y="5081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3B82F6"/>
          </a:solidFill>
          <a:ln w="7100" cap="flat">
            <a:noFill/>
            <a:miter/>
          </a:ln>
        </p:spPr>
      </p:sp>
      <p:sp>
        <p:nvSpPr>
          <p:cNvPr id="410" name="任意多边形 409"/>
          <p:cNvSpPr/>
          <p:nvPr/>
        </p:nvSpPr>
        <p:spPr>
          <a:xfrm>
            <a:off x="155515" y="689465"/>
            <a:ext cx="1299300" cy="163300"/>
          </a:xfrm>
          <a:custGeom>
            <a:avLst/>
            <a:gdLst>
              <a:gd name="connsiteX0" fmla="*/ 0 w 1299300"/>
              <a:gd name="connsiteY0" fmla="*/ 81650 h 163300"/>
              <a:gd name="connsiteX1" fmla="*/ 649650 w 1299300"/>
              <a:gd name="connsiteY1" fmla="*/ 0 h 163300"/>
              <a:gd name="connsiteX2" fmla="*/ 1299300 w 1299300"/>
              <a:gd name="connsiteY2" fmla="*/ 81650 h 163300"/>
              <a:gd name="connsiteX3" fmla="*/ 649650 w 1299300"/>
              <a:gd name="connsiteY3" fmla="*/ 163300 h 163300"/>
              <a:gd name="rtl" fmla="*/ 653200 w 1299300"/>
              <a:gd name="rtt" fmla="*/ 4321440 h 163300"/>
              <a:gd name="rtr" fmla="*/ 1952500 w 1299300"/>
              <a:gd name="rtb" fmla="*/ 4484741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Unilever：产业核心深度参与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1" name="任意多边形 410"/>
          <p:cNvSpPr/>
          <p:nvPr/>
        </p:nvSpPr>
        <p:spPr>
          <a:xfrm>
            <a:off x="3332765" y="1382805"/>
            <a:ext cx="2591500" cy="4423524"/>
          </a:xfrm>
          <a:custGeom>
            <a:avLst/>
            <a:gdLst/>
            <a:ahLst/>
            <a:cxnLst/>
            <a:rect l="l" t="t" r="r" b="b"/>
            <a:pathLst>
              <a:path w="2591500" h="4423524" stroke="0">
                <a:moveTo>
                  <a:pt x="0" y="102574"/>
                </a:moveTo>
                <a:cubicBezTo>
                  <a:pt x="0" y="45924"/>
                  <a:pt x="50860" y="0"/>
                  <a:pt x="113600" y="0"/>
                </a:cubicBezTo>
                <a:lnTo>
                  <a:pt x="2477900" y="0"/>
                </a:lnTo>
                <a:cubicBezTo>
                  <a:pt x="2540640" y="0"/>
                  <a:pt x="2591500" y="45924"/>
                  <a:pt x="2591500" y="102574"/>
                </a:cubicBezTo>
                <a:lnTo>
                  <a:pt x="2591500" y="4320949"/>
                </a:lnTo>
                <a:cubicBezTo>
                  <a:pt x="2591500" y="4377599"/>
                  <a:pt x="2540640" y="4423524"/>
                  <a:pt x="2477900" y="4423524"/>
                </a:cubicBezTo>
                <a:lnTo>
                  <a:pt x="113600" y="4423524"/>
                </a:lnTo>
                <a:cubicBezTo>
                  <a:pt x="50860" y="4423524"/>
                  <a:pt x="0" y="4377599"/>
                  <a:pt x="0" y="4320949"/>
                </a:cubicBezTo>
                <a:lnTo>
                  <a:pt x="0" y="102574"/>
                </a:lnTo>
                <a:close/>
              </a:path>
              <a:path w="2591500" h="4423524" fill="none">
                <a:moveTo>
                  <a:pt x="0" y="102574"/>
                </a:moveTo>
                <a:cubicBezTo>
                  <a:pt x="0" y="45924"/>
                  <a:pt x="50860" y="0"/>
                  <a:pt x="113600" y="0"/>
                </a:cubicBezTo>
                <a:lnTo>
                  <a:pt x="2477900" y="0"/>
                </a:lnTo>
                <a:cubicBezTo>
                  <a:pt x="2540640" y="0"/>
                  <a:pt x="2591500" y="45924"/>
                  <a:pt x="2591500" y="102574"/>
                </a:cubicBezTo>
                <a:lnTo>
                  <a:pt x="2591500" y="4320949"/>
                </a:lnTo>
                <a:cubicBezTo>
                  <a:pt x="2591500" y="4377599"/>
                  <a:pt x="2540640" y="4423524"/>
                  <a:pt x="2477900" y="4423524"/>
                </a:cubicBezTo>
                <a:lnTo>
                  <a:pt x="113600" y="4423524"/>
                </a:lnTo>
                <a:cubicBezTo>
                  <a:pt x="50860" y="4423524"/>
                  <a:pt x="0" y="4377599"/>
                  <a:pt x="0" y="4320949"/>
                </a:cubicBezTo>
                <a:lnTo>
                  <a:pt x="0" y="102574"/>
                </a:lnTo>
                <a:close/>
              </a:path>
            </a:pathLst>
          </a:custGeom>
          <a:solidFill>
            <a:srgbClr val="FFFFFF"/>
          </a:solidFill>
          <a:ln w="7100" cap="flat">
            <a:noFill/>
            <a:miter/>
          </a:ln>
        </p:spPr>
      </p:sp>
      <p:sp>
        <p:nvSpPr>
          <p:cNvPr id="412" name="任意多边形 411"/>
          <p:cNvSpPr/>
          <p:nvPr/>
        </p:nvSpPr>
        <p:spPr>
          <a:xfrm>
            <a:off x="3403765" y="1489305"/>
            <a:ext cx="284000" cy="284000"/>
          </a:xfrm>
          <a:custGeom>
            <a:avLst/>
            <a:gdLst/>
            <a:ahLst/>
            <a:cxnLst/>
            <a:rect l="l" t="t" r="r" b="b"/>
            <a:pathLst>
              <a:path w="284000" h="284000" stroke="0">
                <a:moveTo>
                  <a:pt x="284000" y="142000"/>
                </a:moveTo>
                <a:cubicBezTo>
                  <a:pt x="284000" y="220424"/>
                  <a:pt x="220424" y="284000"/>
                  <a:pt x="142000" y="284000"/>
                </a:cubicBezTo>
                <a:cubicBezTo>
                  <a:pt x="63576" y="284000"/>
                  <a:pt x="0" y="220424"/>
                  <a:pt x="0" y="142000"/>
                </a:cubicBezTo>
                <a:cubicBezTo>
                  <a:pt x="0" y="63576"/>
                  <a:pt x="63576" y="0"/>
                  <a:pt x="142000" y="0"/>
                </a:cubicBezTo>
                <a:cubicBezTo>
                  <a:pt x="220424" y="0"/>
                  <a:pt x="284000" y="63576"/>
                  <a:pt x="284000" y="142000"/>
                </a:cubicBezTo>
                <a:close/>
              </a:path>
              <a:path w="284000" h="284000" fill="none">
                <a:moveTo>
                  <a:pt x="284000" y="142000"/>
                </a:moveTo>
                <a:cubicBezTo>
                  <a:pt x="284000" y="220424"/>
                  <a:pt x="220424" y="284000"/>
                  <a:pt x="142000" y="284000"/>
                </a:cubicBezTo>
                <a:cubicBezTo>
                  <a:pt x="63576" y="284000"/>
                  <a:pt x="0" y="220424"/>
                  <a:pt x="0" y="142000"/>
                </a:cubicBezTo>
                <a:cubicBezTo>
                  <a:pt x="0" y="63576"/>
                  <a:pt x="63576" y="0"/>
                  <a:pt x="142000" y="0"/>
                </a:cubicBezTo>
                <a:cubicBezTo>
                  <a:pt x="220424" y="0"/>
                  <a:pt x="284000" y="63576"/>
                  <a:pt x="284000" y="142000"/>
                </a:cubicBezTo>
                <a:close/>
              </a:path>
            </a:pathLst>
          </a:custGeom>
          <a:solidFill>
            <a:srgbClr val="F3E8FF"/>
          </a:solidFill>
          <a:ln w="7100" cap="flat">
            <a:noFill/>
            <a:miter/>
          </a:ln>
        </p:spPr>
      </p:sp>
      <p:sp>
        <p:nvSpPr>
          <p:cNvPr id="413" name="任意多边形 412"/>
          <p:cNvSpPr/>
          <p:nvPr/>
        </p:nvSpPr>
        <p:spPr>
          <a:xfrm>
            <a:off x="155515" y="689465"/>
            <a:ext cx="284000" cy="291100"/>
          </a:xfrm>
          <a:custGeom>
            <a:avLst/>
            <a:gdLst>
              <a:gd name="connsiteX0" fmla="*/ 0 w 284000"/>
              <a:gd name="connsiteY0" fmla="*/ 145550 h 291100"/>
              <a:gd name="connsiteX1" fmla="*/ 142000 w 284000"/>
              <a:gd name="connsiteY1" fmla="*/ 0 h 291100"/>
              <a:gd name="connsiteX2" fmla="*/ 284000 w 284000"/>
              <a:gd name="connsiteY2" fmla="*/ 145550 h 291100"/>
              <a:gd name="connsiteX3" fmla="*/ 142000 w 284000"/>
              <a:gd name="connsiteY3" fmla="*/ 291100 h 291100"/>
              <a:gd name="rtl" fmla="*/ 3247529 w 284000"/>
              <a:gd name="rtt" fmla="*/ 764340 h 291100"/>
              <a:gd name="rtr" fmla="*/ 3532971 w 284000"/>
              <a:gd name="rtb" fmla="*/ 1055440 h 2911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00000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117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🧫</a:t>
            </a:r>
            <a:endParaRPr lang="zh-CN" altLang="en-US" sz="117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4" name="任意多边形 413"/>
          <p:cNvSpPr/>
          <p:nvPr/>
        </p:nvSpPr>
        <p:spPr>
          <a:xfrm>
            <a:off x="155515" y="689465"/>
            <a:ext cx="1540700" cy="205900"/>
          </a:xfrm>
          <a:custGeom>
            <a:avLst/>
            <a:gdLst>
              <a:gd name="connsiteX0" fmla="*/ 0 w 1540700"/>
              <a:gd name="connsiteY0" fmla="*/ 102950 h 205900"/>
              <a:gd name="connsiteX1" fmla="*/ 770350 w 1540700"/>
              <a:gd name="connsiteY1" fmla="*/ 0 h 205900"/>
              <a:gd name="connsiteX2" fmla="*/ 1540700 w 1540700"/>
              <a:gd name="connsiteY2" fmla="*/ 102950 h 205900"/>
              <a:gd name="connsiteX3" fmla="*/ 770350 w 1540700"/>
              <a:gd name="connsiteY3" fmla="*/ 205900 h 205900"/>
              <a:gd name="rtl" fmla="*/ 3564200 w 1540700"/>
              <a:gd name="rtt" fmla="*/ 821140 h 205900"/>
              <a:gd name="rtr" fmla="*/ 5225600 w 1540700"/>
              <a:gd name="rtb" fmla="*/ 1027040 h 2059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293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960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细胞冻存（DMSO替代）</a:t>
            </a:r>
            <a:endParaRPr lang="zh-CN" altLang="en-US" sz="960" b="1" dirty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5" name="任意多边形 414"/>
          <p:cNvSpPr/>
          <p:nvPr/>
        </p:nvSpPr>
        <p:spPr>
          <a:xfrm>
            <a:off x="3474765" y="1844305"/>
            <a:ext cx="1562000" cy="198800"/>
          </a:xfrm>
          <a:custGeom>
            <a:avLst/>
            <a:gdLst/>
            <a:ahLst/>
            <a:cxnLst/>
            <a:rect l="l" t="t" r="r" b="b"/>
            <a:pathLst>
              <a:path w="1562000" h="198800" stroke="0">
                <a:moveTo>
                  <a:pt x="0" y="99400"/>
                </a:moveTo>
                <a:cubicBezTo>
                  <a:pt x="0" y="44503"/>
                  <a:pt x="44503" y="0"/>
                  <a:pt x="99400" y="0"/>
                </a:cubicBezTo>
                <a:lnTo>
                  <a:pt x="1462600" y="0"/>
                </a:lnTo>
                <a:cubicBezTo>
                  <a:pt x="1517497" y="0"/>
                  <a:pt x="1562000" y="44503"/>
                  <a:pt x="1562000" y="99400"/>
                </a:cubicBezTo>
                <a:cubicBezTo>
                  <a:pt x="1562000" y="154297"/>
                  <a:pt x="1517497" y="198800"/>
                  <a:pt x="1462600" y="198800"/>
                </a:cubicBezTo>
                <a:lnTo>
                  <a:pt x="99400" y="198800"/>
                </a:lnTo>
                <a:cubicBezTo>
                  <a:pt x="44503" y="198800"/>
                  <a:pt x="0" y="154297"/>
                  <a:pt x="0" y="99400"/>
                </a:cubicBezTo>
                <a:close/>
              </a:path>
              <a:path w="1562000" h="198800" fill="none">
                <a:moveTo>
                  <a:pt x="0" y="99400"/>
                </a:moveTo>
                <a:cubicBezTo>
                  <a:pt x="0" y="44503"/>
                  <a:pt x="44503" y="0"/>
                  <a:pt x="99400" y="0"/>
                </a:cubicBezTo>
                <a:lnTo>
                  <a:pt x="1462600" y="0"/>
                </a:lnTo>
                <a:cubicBezTo>
                  <a:pt x="1517497" y="0"/>
                  <a:pt x="1562000" y="44503"/>
                  <a:pt x="1562000" y="99400"/>
                </a:cubicBezTo>
                <a:cubicBezTo>
                  <a:pt x="1562000" y="154297"/>
                  <a:pt x="1517497" y="198800"/>
                  <a:pt x="1462600" y="198800"/>
                </a:cubicBezTo>
                <a:lnTo>
                  <a:pt x="99400" y="198800"/>
                </a:lnTo>
                <a:cubicBezTo>
                  <a:pt x="44503" y="198800"/>
                  <a:pt x="0" y="154297"/>
                  <a:pt x="0" y="99400"/>
                </a:cubicBezTo>
                <a:close/>
              </a:path>
            </a:pathLst>
          </a:custGeom>
          <a:solidFill>
            <a:srgbClr val="FEFCE8"/>
          </a:solidFill>
          <a:ln w="7100" cap="flat">
            <a:solidFill>
              <a:srgbClr val="FEF08A"/>
            </a:solidFill>
            <a:miter/>
          </a:ln>
        </p:spPr>
      </p:sp>
      <p:sp>
        <p:nvSpPr>
          <p:cNvPr id="416" name="任意多边形 415"/>
          <p:cNvSpPr/>
          <p:nvPr/>
        </p:nvSpPr>
        <p:spPr>
          <a:xfrm>
            <a:off x="155515" y="689465"/>
            <a:ext cx="1356100" cy="198800"/>
          </a:xfrm>
          <a:custGeom>
            <a:avLst/>
            <a:gdLst>
              <a:gd name="connsiteX0" fmla="*/ 0 w 1356100"/>
              <a:gd name="connsiteY0" fmla="*/ 99400 h 198800"/>
              <a:gd name="connsiteX1" fmla="*/ 678050 w 1356100"/>
              <a:gd name="connsiteY1" fmla="*/ 0 h 198800"/>
              <a:gd name="connsiteX2" fmla="*/ 1356100 w 1356100"/>
              <a:gd name="connsiteY2" fmla="*/ 99400 h 198800"/>
              <a:gd name="connsiteX3" fmla="*/ 678050 w 1356100"/>
              <a:gd name="connsiteY3" fmla="*/ 198800 h 198800"/>
              <a:gd name="rtl" fmla="*/ 3379212 w 1356100"/>
              <a:gd name="rtt" fmla="*/ 1140640 h 198800"/>
              <a:gd name="rtr" fmla="*/ 4736089 w 1356100"/>
              <a:gd name="rtb" fmla="*/ 1339440 h 1988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A16207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A162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⚠️ 临床前验证充分，尚无临床</a:t>
            </a:r>
            <a:endParaRPr lang="zh-CN" altLang="en-US" sz="690" b="1" dirty="0">
              <a:solidFill>
                <a:srgbClr val="A162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7" name="任意多边形 416"/>
          <p:cNvSpPr/>
          <p:nvPr/>
        </p:nvSpPr>
        <p:spPr>
          <a:xfrm>
            <a:off x="3439265" y="2163805"/>
            <a:ext cx="2378500" cy="1065000"/>
          </a:xfrm>
          <a:custGeom>
            <a:avLst/>
            <a:gdLst/>
            <a:ahLst/>
            <a:cxnLst/>
            <a:rect l="l" t="t" r="r" b="b"/>
            <a:pathLst>
              <a:path w="2378500" h="1065000" stroke="0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2321700" y="0"/>
                </a:lnTo>
                <a:cubicBezTo>
                  <a:pt x="2353070" y="0"/>
                  <a:pt x="2378500" y="25430"/>
                  <a:pt x="2378500" y="56800"/>
                </a:cubicBezTo>
                <a:lnTo>
                  <a:pt x="2378500" y="1008200"/>
                </a:lnTo>
                <a:cubicBezTo>
                  <a:pt x="2378500" y="1039570"/>
                  <a:pt x="2353070" y="1065000"/>
                  <a:pt x="2321700" y="1065000"/>
                </a:cubicBezTo>
                <a:lnTo>
                  <a:pt x="56800" y="1065000"/>
                </a:lnTo>
                <a:cubicBezTo>
                  <a:pt x="25430" y="1065000"/>
                  <a:pt x="0" y="1039570"/>
                  <a:pt x="0" y="1008200"/>
                </a:cubicBezTo>
                <a:lnTo>
                  <a:pt x="0" y="56800"/>
                </a:lnTo>
                <a:close/>
              </a:path>
              <a:path w="2378500" h="1065000" fill="none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2321700" y="0"/>
                </a:lnTo>
                <a:cubicBezTo>
                  <a:pt x="2353070" y="0"/>
                  <a:pt x="2378500" y="25430"/>
                  <a:pt x="2378500" y="56800"/>
                </a:cubicBezTo>
                <a:lnTo>
                  <a:pt x="2378500" y="1008200"/>
                </a:lnTo>
                <a:cubicBezTo>
                  <a:pt x="2378500" y="1039570"/>
                  <a:pt x="2353070" y="1065000"/>
                  <a:pt x="2321700" y="1065000"/>
                </a:cubicBezTo>
                <a:lnTo>
                  <a:pt x="56800" y="1065000"/>
                </a:lnTo>
                <a:cubicBezTo>
                  <a:pt x="25430" y="1065000"/>
                  <a:pt x="0" y="1039570"/>
                  <a:pt x="0" y="1008200"/>
                </a:cubicBezTo>
                <a:lnTo>
                  <a:pt x="0" y="56800"/>
                </a:lnTo>
                <a:close/>
              </a:path>
            </a:pathLst>
          </a:custGeom>
          <a:solidFill>
            <a:srgbClr val="F8FAFC"/>
          </a:solidFill>
          <a:ln w="7100" cap="flat">
            <a:noFill/>
            <a:miter/>
          </a:ln>
        </p:spPr>
      </p:sp>
      <p:sp>
        <p:nvSpPr>
          <p:cNvPr id="418" name="任意多边形 417"/>
          <p:cNvSpPr/>
          <p:nvPr/>
        </p:nvSpPr>
        <p:spPr>
          <a:xfrm>
            <a:off x="155515" y="689465"/>
            <a:ext cx="440200" cy="163300"/>
          </a:xfrm>
          <a:custGeom>
            <a:avLst/>
            <a:gdLst>
              <a:gd name="connsiteX0" fmla="*/ 0 w 440200"/>
              <a:gd name="connsiteY0" fmla="*/ 81650 h 163300"/>
              <a:gd name="connsiteX1" fmla="*/ 220100 w 440200"/>
              <a:gd name="connsiteY1" fmla="*/ 0 h 163300"/>
              <a:gd name="connsiteX2" fmla="*/ 440200 w 440200"/>
              <a:gd name="connsiteY2" fmla="*/ 81650 h 163300"/>
              <a:gd name="connsiteX3" fmla="*/ 220100 w 440200"/>
              <a:gd name="connsiteY3" fmla="*/ 163300 h 163300"/>
              <a:gd name="rtl" fmla="*/ 3610350 w 440200"/>
              <a:gd name="rtt" fmla="*/ 1524040 h 163300"/>
              <a:gd name="rtr" fmla="*/ 4050550 w 440200"/>
              <a:gd name="rtb" fmla="*/ 16873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EF4444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核心痛点</a:t>
            </a:r>
            <a:endParaRPr lang="zh-CN" altLang="en-US" sz="690" b="1" dirty="0">
              <a:solidFill>
                <a:srgbClr val="EF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9" name="任意多边形 418"/>
          <p:cNvSpPr/>
          <p:nvPr/>
        </p:nvSpPr>
        <p:spPr>
          <a:xfrm>
            <a:off x="155515" y="689465"/>
            <a:ext cx="639000" cy="163300"/>
          </a:xfrm>
          <a:custGeom>
            <a:avLst/>
            <a:gdLst>
              <a:gd name="connsiteX0" fmla="*/ 0 w 639000"/>
              <a:gd name="connsiteY0" fmla="*/ 81650 h 163300"/>
              <a:gd name="connsiteX1" fmla="*/ 319500 w 639000"/>
              <a:gd name="connsiteY1" fmla="*/ 0 h 163300"/>
              <a:gd name="connsiteX2" fmla="*/ 639000 w 639000"/>
              <a:gd name="connsiteY2" fmla="*/ 81650 h 163300"/>
              <a:gd name="connsiteX3" fmla="*/ 319500 w 639000"/>
              <a:gd name="connsiteY3" fmla="*/ 163300 h 163300"/>
              <a:gd name="rtl" fmla="*/ 4632750 w 639000"/>
              <a:gd name="rtt" fmla="*/ 1524040 h 163300"/>
              <a:gd name="rtr" fmla="*/ 5285950 w 639000"/>
              <a:gd name="rtb" fmla="*/ 16873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0B981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AFP 作用机制</a:t>
            </a:r>
            <a:endParaRPr lang="zh-CN" altLang="en-US" sz="690" b="1" dirty="0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0" name="任意多边形 419"/>
          <p:cNvSpPr/>
          <p:nvPr/>
        </p:nvSpPr>
        <p:spPr>
          <a:xfrm>
            <a:off x="4291265" y="2731805"/>
            <a:ext cx="248500" cy="7100"/>
          </a:xfrm>
          <a:custGeom>
            <a:avLst/>
            <a:gdLst/>
            <a:ahLst/>
            <a:cxnLst/>
            <a:rect l="l" t="t" r="r" b="b"/>
            <a:pathLst>
              <a:path w="248500" h="7100" fill="none">
                <a:moveTo>
                  <a:pt x="0" y="0"/>
                </a:moveTo>
                <a:lnTo>
                  <a:pt x="248500" y="0"/>
                </a:lnTo>
              </a:path>
            </a:pathLst>
          </a:custGeom>
          <a:noFill/>
          <a:ln w="14200" cap="flat">
            <a:solidFill>
              <a:srgbClr val="94A3B8"/>
            </a:solidFill>
            <a:miter/>
          </a:ln>
        </p:spPr>
      </p:sp>
      <p:sp>
        <p:nvSpPr>
          <p:cNvPr id="421" name="任意多边形 420"/>
          <p:cNvSpPr/>
          <p:nvPr/>
        </p:nvSpPr>
        <p:spPr>
          <a:xfrm>
            <a:off x="4505914" y="2699855"/>
            <a:ext cx="71000" cy="71000"/>
          </a:xfrm>
          <a:custGeom>
            <a:avLst/>
            <a:gdLst/>
            <a:ahLst/>
            <a:cxnLst/>
            <a:rect l="l" t="t" r="r" b="b"/>
            <a:pathLst>
              <a:path w="71000" h="71000" stroke="0">
                <a:moveTo>
                  <a:pt x="0" y="0"/>
                </a:moveTo>
                <a:lnTo>
                  <a:pt x="71000" y="35500"/>
                </a:lnTo>
                <a:lnTo>
                  <a:pt x="0" y="71000"/>
                </a:lnTo>
                <a:lnTo>
                  <a:pt x="0" y="0"/>
                </a:lnTo>
                <a:close/>
              </a:path>
              <a:path w="71000" h="71000" fill="none">
                <a:moveTo>
                  <a:pt x="0" y="0"/>
                </a:moveTo>
                <a:lnTo>
                  <a:pt x="71000" y="35500"/>
                </a:lnTo>
                <a:lnTo>
                  <a:pt x="0" y="71000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 w="7100" cap="flat">
            <a:noFill/>
            <a:miter/>
          </a:ln>
        </p:spPr>
      </p:sp>
      <p:sp>
        <p:nvSpPr>
          <p:cNvPr id="423" name="任意多边形 422"/>
          <p:cNvSpPr/>
          <p:nvPr/>
        </p:nvSpPr>
        <p:spPr>
          <a:xfrm>
            <a:off x="155515" y="689465"/>
            <a:ext cx="795200" cy="156200"/>
          </a:xfrm>
          <a:custGeom>
            <a:avLst/>
            <a:gdLst>
              <a:gd name="connsiteX0" fmla="*/ 0 w 795200"/>
              <a:gd name="connsiteY0" fmla="*/ 78100 h 156200"/>
              <a:gd name="connsiteX1" fmla="*/ 397600 w 795200"/>
              <a:gd name="connsiteY1" fmla="*/ 0 h 156200"/>
              <a:gd name="connsiteX2" fmla="*/ 795200 w 795200"/>
              <a:gd name="connsiteY2" fmla="*/ 78100 h 156200"/>
              <a:gd name="connsiteX3" fmla="*/ 397600 w 795200"/>
              <a:gd name="connsiteY3" fmla="*/ 156200 h 156200"/>
              <a:gd name="rtl" fmla="*/ 3319250 w 795200"/>
              <a:gd name="rtt" fmla="*/ 2312140 h 156200"/>
              <a:gd name="rtr" fmla="*/ 4199650 w 795200"/>
              <a:gd name="rtb" fmla="*/ 24683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DMSO 严重细胞毒性</a:t>
            </a:r>
            <a:endParaRPr lang="zh-CN" altLang="en-US" sz="64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4" name="任意多边形 423"/>
          <p:cNvSpPr/>
          <p:nvPr/>
        </p:nvSpPr>
        <p:spPr>
          <a:xfrm>
            <a:off x="155515" y="689465"/>
            <a:ext cx="1093400" cy="156200"/>
          </a:xfrm>
          <a:custGeom>
            <a:avLst/>
            <a:gdLst>
              <a:gd name="connsiteX0" fmla="*/ 0 w 1093400"/>
              <a:gd name="connsiteY0" fmla="*/ 78100 h 156200"/>
              <a:gd name="connsiteX1" fmla="*/ 546700 w 1093400"/>
              <a:gd name="connsiteY1" fmla="*/ 0 h 156200"/>
              <a:gd name="connsiteX2" fmla="*/ 1093400 w 1093400"/>
              <a:gd name="connsiteY2" fmla="*/ 78100 h 156200"/>
              <a:gd name="connsiteX3" fmla="*/ 546700 w 1093400"/>
              <a:gd name="connsiteY3" fmla="*/ 156200 h 156200"/>
              <a:gd name="rtl" fmla="*/ 4284850 w 1093400"/>
              <a:gd name="rtt" fmla="*/ 2312140 h 156200"/>
              <a:gd name="rtr" fmla="*/ 5406650 w 1093400"/>
              <a:gd name="rtb" fmla="*/ 24683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0B981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TAT穿透 + TH/IRI协同保护</a:t>
            </a:r>
            <a:endParaRPr lang="zh-CN" altLang="en-US" sz="640" dirty="0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5" name="任意多边形 424"/>
          <p:cNvSpPr/>
          <p:nvPr/>
        </p:nvSpPr>
        <p:spPr>
          <a:xfrm>
            <a:off x="3616765" y="2518805"/>
            <a:ext cx="355000" cy="355000"/>
          </a:xfrm>
          <a:custGeom>
            <a:avLst/>
            <a:gdLst/>
            <a:ahLst/>
            <a:cxnLst/>
            <a:rect l="l" t="t" r="r" b="b"/>
            <a:pathLst>
              <a:path w="355000" h="355000" stroke="0">
                <a:moveTo>
                  <a:pt x="355000" y="177500"/>
                </a:moveTo>
                <a:cubicBezTo>
                  <a:pt x="355000" y="275531"/>
                  <a:pt x="275531" y="355000"/>
                  <a:pt x="177500" y="355000"/>
                </a:cubicBezTo>
                <a:cubicBezTo>
                  <a:pt x="79469" y="355000"/>
                  <a:pt x="0" y="275531"/>
                  <a:pt x="0" y="177500"/>
                </a:cubicBezTo>
                <a:cubicBezTo>
                  <a:pt x="0" y="79469"/>
                  <a:pt x="79469" y="0"/>
                  <a:pt x="177500" y="0"/>
                </a:cubicBezTo>
                <a:cubicBezTo>
                  <a:pt x="275531" y="0"/>
                  <a:pt x="355000" y="79469"/>
                  <a:pt x="355000" y="177500"/>
                </a:cubicBezTo>
                <a:close/>
              </a:path>
              <a:path w="355000" h="355000" fill="none">
                <a:moveTo>
                  <a:pt x="355000" y="177500"/>
                </a:moveTo>
                <a:cubicBezTo>
                  <a:pt x="355000" y="275531"/>
                  <a:pt x="275531" y="355000"/>
                  <a:pt x="177500" y="355000"/>
                </a:cubicBezTo>
                <a:cubicBezTo>
                  <a:pt x="79469" y="355000"/>
                  <a:pt x="0" y="275531"/>
                  <a:pt x="0" y="177500"/>
                </a:cubicBezTo>
                <a:cubicBezTo>
                  <a:pt x="0" y="79469"/>
                  <a:pt x="79469" y="0"/>
                  <a:pt x="177500" y="0"/>
                </a:cubicBezTo>
                <a:cubicBezTo>
                  <a:pt x="275531" y="0"/>
                  <a:pt x="355000" y="79469"/>
                  <a:pt x="355000" y="177500"/>
                </a:cubicBezTo>
                <a:close/>
              </a:path>
            </a:pathLst>
          </a:custGeom>
          <a:solidFill>
            <a:srgbClr val="FEE2E2"/>
          </a:solidFill>
          <a:ln w="14200" cap="flat">
            <a:solidFill>
              <a:srgbClr val="EF4444"/>
            </a:solidFill>
            <a:custDash>
              <a:ds d="1100000" sp="500000"/>
            </a:custDash>
            <a:miter/>
          </a:ln>
        </p:spPr>
      </p:sp>
      <p:sp>
        <p:nvSpPr>
          <p:cNvPr id="426" name="任意多边形 425"/>
          <p:cNvSpPr/>
          <p:nvPr/>
        </p:nvSpPr>
        <p:spPr>
          <a:xfrm>
            <a:off x="3687765" y="2625305"/>
            <a:ext cx="71000" cy="71000"/>
          </a:xfrm>
          <a:custGeom>
            <a:avLst/>
            <a:gdLst/>
            <a:ahLst/>
            <a:cxnLst/>
            <a:rect l="l" t="t" r="r" b="b"/>
            <a:pathLst>
              <a:path w="71000" h="71000" stroke="0">
                <a:moveTo>
                  <a:pt x="0" y="0"/>
                </a:moveTo>
                <a:lnTo>
                  <a:pt x="71000" y="71000"/>
                </a:lnTo>
              </a:path>
              <a:path w="71000" h="71000" stroke="0">
                <a:moveTo>
                  <a:pt x="71000" y="0"/>
                </a:moveTo>
                <a:lnTo>
                  <a:pt x="0" y="71000"/>
                </a:lnTo>
              </a:path>
              <a:path w="71000" h="71000" fill="none">
                <a:moveTo>
                  <a:pt x="0" y="0"/>
                </a:moveTo>
                <a:lnTo>
                  <a:pt x="71000" y="71000"/>
                </a:lnTo>
              </a:path>
              <a:path w="71000" h="71000" fill="none">
                <a:moveTo>
                  <a:pt x="71000" y="0"/>
                </a:moveTo>
                <a:lnTo>
                  <a:pt x="0" y="71000"/>
                </a:lnTo>
              </a:path>
            </a:pathLst>
          </a:custGeom>
          <a:solidFill>
            <a:srgbClr val="000000"/>
          </a:solidFill>
          <a:ln w="14200" cap="flat">
            <a:solidFill>
              <a:srgbClr val="B91C1C"/>
            </a:solidFill>
            <a:miter/>
          </a:ln>
        </p:spPr>
      </p:sp>
      <p:sp>
        <p:nvSpPr>
          <p:cNvPr id="427" name="任意多边形 426"/>
          <p:cNvSpPr/>
          <p:nvPr/>
        </p:nvSpPr>
        <p:spPr>
          <a:xfrm>
            <a:off x="3829765" y="2731805"/>
            <a:ext cx="71000" cy="71000"/>
          </a:xfrm>
          <a:custGeom>
            <a:avLst/>
            <a:gdLst/>
            <a:ahLst/>
            <a:cxnLst/>
            <a:rect l="l" t="t" r="r" b="b"/>
            <a:pathLst>
              <a:path w="71000" h="71000" stroke="0">
                <a:moveTo>
                  <a:pt x="0" y="0"/>
                </a:moveTo>
                <a:lnTo>
                  <a:pt x="71000" y="71000"/>
                </a:lnTo>
              </a:path>
              <a:path w="71000" h="71000" stroke="0">
                <a:moveTo>
                  <a:pt x="71000" y="0"/>
                </a:moveTo>
                <a:lnTo>
                  <a:pt x="0" y="71000"/>
                </a:lnTo>
              </a:path>
              <a:path w="71000" h="71000" fill="none">
                <a:moveTo>
                  <a:pt x="0" y="0"/>
                </a:moveTo>
                <a:lnTo>
                  <a:pt x="71000" y="71000"/>
                </a:lnTo>
              </a:path>
              <a:path w="71000" h="71000" fill="none">
                <a:moveTo>
                  <a:pt x="71000" y="0"/>
                </a:moveTo>
                <a:lnTo>
                  <a:pt x="0" y="71000"/>
                </a:lnTo>
              </a:path>
            </a:pathLst>
          </a:custGeom>
          <a:solidFill>
            <a:srgbClr val="000000"/>
          </a:solidFill>
          <a:ln w="14200" cap="flat">
            <a:solidFill>
              <a:srgbClr val="B91C1C"/>
            </a:solidFill>
            <a:miter/>
          </a:ln>
        </p:spPr>
      </p:sp>
      <p:sp>
        <p:nvSpPr>
          <p:cNvPr id="428" name="任意多边形 427"/>
          <p:cNvSpPr/>
          <p:nvPr/>
        </p:nvSpPr>
        <p:spPr>
          <a:xfrm>
            <a:off x="4823765" y="2518805"/>
            <a:ext cx="355000" cy="355000"/>
          </a:xfrm>
          <a:custGeom>
            <a:avLst/>
            <a:gdLst/>
            <a:ahLst/>
            <a:cxnLst/>
            <a:rect l="l" t="t" r="r" b="b"/>
            <a:pathLst>
              <a:path w="355000" h="355000" stroke="0">
                <a:moveTo>
                  <a:pt x="355000" y="177500"/>
                </a:moveTo>
                <a:cubicBezTo>
                  <a:pt x="355000" y="275531"/>
                  <a:pt x="275531" y="355000"/>
                  <a:pt x="177500" y="355000"/>
                </a:cubicBezTo>
                <a:cubicBezTo>
                  <a:pt x="79469" y="355000"/>
                  <a:pt x="0" y="275531"/>
                  <a:pt x="0" y="177500"/>
                </a:cubicBezTo>
                <a:cubicBezTo>
                  <a:pt x="0" y="79469"/>
                  <a:pt x="79469" y="0"/>
                  <a:pt x="177500" y="0"/>
                </a:cubicBezTo>
                <a:cubicBezTo>
                  <a:pt x="275531" y="0"/>
                  <a:pt x="355000" y="79469"/>
                  <a:pt x="355000" y="177500"/>
                </a:cubicBezTo>
                <a:close/>
              </a:path>
              <a:path w="355000" h="355000" fill="none">
                <a:moveTo>
                  <a:pt x="355000" y="177500"/>
                </a:moveTo>
                <a:cubicBezTo>
                  <a:pt x="355000" y="275531"/>
                  <a:pt x="275531" y="355000"/>
                  <a:pt x="177500" y="355000"/>
                </a:cubicBezTo>
                <a:cubicBezTo>
                  <a:pt x="79469" y="355000"/>
                  <a:pt x="0" y="275531"/>
                  <a:pt x="0" y="177500"/>
                </a:cubicBezTo>
                <a:cubicBezTo>
                  <a:pt x="0" y="79469"/>
                  <a:pt x="79469" y="0"/>
                  <a:pt x="177500" y="0"/>
                </a:cubicBezTo>
                <a:cubicBezTo>
                  <a:pt x="275531" y="0"/>
                  <a:pt x="355000" y="79469"/>
                  <a:pt x="355000" y="177500"/>
                </a:cubicBezTo>
                <a:close/>
              </a:path>
            </a:pathLst>
          </a:custGeom>
          <a:solidFill>
            <a:srgbClr val="ECFDF5"/>
          </a:solidFill>
          <a:ln w="14200" cap="flat">
            <a:solidFill>
              <a:srgbClr val="10B981"/>
            </a:solidFill>
            <a:miter/>
          </a:ln>
        </p:spPr>
      </p:sp>
      <p:sp>
        <p:nvSpPr>
          <p:cNvPr id="429" name="任意多边形 428"/>
          <p:cNvSpPr/>
          <p:nvPr/>
        </p:nvSpPr>
        <p:spPr>
          <a:xfrm>
            <a:off x="4944465" y="2639505"/>
            <a:ext cx="113600" cy="113600"/>
          </a:xfrm>
          <a:custGeom>
            <a:avLst/>
            <a:gdLst/>
            <a:ahLst/>
            <a:cxnLst/>
            <a:rect l="l" t="t" r="r" b="b"/>
            <a:pathLst>
              <a:path w="113600" h="113600" stroke="0">
                <a:moveTo>
                  <a:pt x="113600" y="56800"/>
                </a:moveTo>
                <a:cubicBezTo>
                  <a:pt x="113600" y="88170"/>
                  <a:pt x="88170" y="113600"/>
                  <a:pt x="56800" y="113600"/>
                </a:cubicBezTo>
                <a:cubicBezTo>
                  <a:pt x="25430" y="113600"/>
                  <a:pt x="0" y="88170"/>
                  <a:pt x="0" y="56800"/>
                </a:cubicBezTo>
                <a:cubicBezTo>
                  <a:pt x="0" y="25430"/>
                  <a:pt x="25430" y="0"/>
                  <a:pt x="56800" y="0"/>
                </a:cubicBezTo>
                <a:cubicBezTo>
                  <a:pt x="88170" y="0"/>
                  <a:pt x="113600" y="25430"/>
                  <a:pt x="113600" y="56800"/>
                </a:cubicBezTo>
                <a:close/>
              </a:path>
              <a:path w="113600" h="113600" fill="none">
                <a:moveTo>
                  <a:pt x="113600" y="56800"/>
                </a:moveTo>
                <a:cubicBezTo>
                  <a:pt x="113600" y="88170"/>
                  <a:pt x="88170" y="113600"/>
                  <a:pt x="56800" y="113600"/>
                </a:cubicBezTo>
                <a:cubicBezTo>
                  <a:pt x="25430" y="113600"/>
                  <a:pt x="0" y="88170"/>
                  <a:pt x="0" y="56800"/>
                </a:cubicBezTo>
                <a:cubicBezTo>
                  <a:pt x="0" y="25430"/>
                  <a:pt x="25430" y="0"/>
                  <a:pt x="56800" y="0"/>
                </a:cubicBezTo>
                <a:cubicBezTo>
                  <a:pt x="88170" y="0"/>
                  <a:pt x="113600" y="25430"/>
                  <a:pt x="113600" y="56800"/>
                </a:cubicBezTo>
                <a:close/>
              </a:path>
            </a:pathLst>
          </a:custGeom>
          <a:solidFill>
            <a:srgbClr val="A7F3D0"/>
          </a:solidFill>
          <a:ln w="7100" cap="flat">
            <a:noFill/>
            <a:miter/>
          </a:ln>
        </p:spPr>
      </p:sp>
      <p:sp>
        <p:nvSpPr>
          <p:cNvPr id="430" name="任意多边形 429"/>
          <p:cNvSpPr/>
          <p:nvPr/>
        </p:nvSpPr>
        <p:spPr>
          <a:xfrm>
            <a:off x="4752765" y="2518805"/>
            <a:ext cx="142000" cy="106500"/>
          </a:xfrm>
          <a:custGeom>
            <a:avLst/>
            <a:gdLst/>
            <a:ahLst/>
            <a:cxnLst/>
            <a:rect l="l" t="t" r="r" b="b"/>
            <a:pathLst>
              <a:path w="142000" h="106500" fill="none">
                <a:moveTo>
                  <a:pt x="0" y="0"/>
                </a:moveTo>
                <a:cubicBezTo>
                  <a:pt x="71000" y="23667"/>
                  <a:pt x="118333" y="59167"/>
                  <a:pt x="142000" y="106500"/>
                </a:cubicBezTo>
              </a:path>
            </a:pathLst>
          </a:custGeom>
          <a:noFill/>
          <a:ln w="14200" cap="flat">
            <a:solidFill>
              <a:srgbClr val="8B5CF6"/>
            </a:solidFill>
            <a:miter/>
          </a:ln>
        </p:spPr>
      </p:sp>
      <p:sp>
        <p:nvSpPr>
          <p:cNvPr id="431" name="任意多边形 430"/>
          <p:cNvSpPr/>
          <p:nvPr/>
        </p:nvSpPr>
        <p:spPr>
          <a:xfrm rot="3600000">
            <a:off x="4872687" y="2607655"/>
            <a:ext cx="56608" cy="56608"/>
          </a:xfrm>
          <a:custGeom>
            <a:avLst/>
            <a:gdLst/>
            <a:ahLst/>
            <a:cxnLst/>
            <a:rect l="l" t="t" r="r" b="b"/>
            <a:pathLst>
              <a:path w="56608" h="56608" stroke="0">
                <a:moveTo>
                  <a:pt x="0" y="0"/>
                </a:moveTo>
                <a:lnTo>
                  <a:pt x="56608" y="28304"/>
                </a:lnTo>
                <a:lnTo>
                  <a:pt x="0" y="56608"/>
                </a:lnTo>
                <a:lnTo>
                  <a:pt x="0" y="0"/>
                </a:lnTo>
                <a:close/>
              </a:path>
              <a:path w="56608" h="56608" fill="none">
                <a:moveTo>
                  <a:pt x="0" y="0"/>
                </a:moveTo>
                <a:lnTo>
                  <a:pt x="56608" y="28304"/>
                </a:lnTo>
                <a:lnTo>
                  <a:pt x="0" y="56608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 w="7100" cap="flat">
            <a:noFill/>
            <a:miter/>
          </a:ln>
        </p:spPr>
      </p:sp>
      <p:sp>
        <p:nvSpPr>
          <p:cNvPr id="433" name="任意多边形 432"/>
          <p:cNvSpPr/>
          <p:nvPr/>
        </p:nvSpPr>
        <p:spPr>
          <a:xfrm>
            <a:off x="155515" y="689465"/>
            <a:ext cx="177500" cy="134900"/>
          </a:xfrm>
          <a:custGeom>
            <a:avLst/>
            <a:gdLst>
              <a:gd name="connsiteX0" fmla="*/ 0 w 177500"/>
              <a:gd name="connsiteY0" fmla="*/ 67450 h 134900"/>
              <a:gd name="connsiteX1" fmla="*/ 88750 w 177500"/>
              <a:gd name="connsiteY1" fmla="*/ 0 h 134900"/>
              <a:gd name="connsiteX2" fmla="*/ 177500 w 177500"/>
              <a:gd name="connsiteY2" fmla="*/ 67450 h 134900"/>
              <a:gd name="connsiteX3" fmla="*/ 88750 w 177500"/>
              <a:gd name="connsiteY3" fmla="*/ 134900 h 134900"/>
              <a:gd name="rtl" fmla="*/ 4519150 w 177500"/>
              <a:gd name="rtt" fmla="*/ 1687340 h 134900"/>
              <a:gd name="rtr" fmla="*/ 4732150 w 177500"/>
              <a:gd name="rtb" fmla="*/ 1822240 h 1349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8B5CF6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535" b="1" dirty="0">
                <a:solidFill>
                  <a:srgbClr val="8B5C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TAT</a:t>
            </a:r>
            <a:endParaRPr lang="zh-CN" altLang="en-US" sz="535" b="1" dirty="0">
              <a:solidFill>
                <a:srgbClr val="8B5C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5" name="任意多边形 434"/>
          <p:cNvSpPr/>
          <p:nvPr/>
        </p:nvSpPr>
        <p:spPr>
          <a:xfrm>
            <a:off x="155515" y="689465"/>
            <a:ext cx="667400" cy="170400"/>
          </a:xfrm>
          <a:custGeom>
            <a:avLst/>
            <a:gdLst>
              <a:gd name="connsiteX0" fmla="*/ 0 w 667400"/>
              <a:gd name="connsiteY0" fmla="*/ 85200 h 170400"/>
              <a:gd name="connsiteX1" fmla="*/ 333700 w 667400"/>
              <a:gd name="connsiteY1" fmla="*/ 0 h 170400"/>
              <a:gd name="connsiteX2" fmla="*/ 667400 w 667400"/>
              <a:gd name="connsiteY2" fmla="*/ 85200 h 170400"/>
              <a:gd name="connsiteX3" fmla="*/ 333700 w 667400"/>
              <a:gd name="connsiteY3" fmla="*/ 170400 h 170400"/>
              <a:gd name="rtl" fmla="*/ 3290850 w 667400"/>
              <a:gd name="rtt" fmla="*/ 2581940 h 170400"/>
              <a:gd name="rtr" fmla="*/ 3958250 w 667400"/>
              <a:gd name="rtb" fmla="*/ 2752340 h 1704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关键设计权重</a:t>
            </a:r>
            <a:endParaRPr lang="zh-CN" altLang="en-US" sz="745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6" name="任意多边形 435"/>
          <p:cNvSpPr/>
          <p:nvPr/>
        </p:nvSpPr>
        <p:spPr>
          <a:xfrm>
            <a:off x="3474765" y="3512805"/>
            <a:ext cx="795200" cy="85200"/>
          </a:xfrm>
          <a:custGeom>
            <a:avLst/>
            <a:gdLst/>
            <a:ahLst/>
            <a:cxnLst/>
            <a:rect l="l" t="t" r="r" b="b"/>
            <a:pathLst>
              <a:path w="795200" h="852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766800" y="0"/>
                </a:lnTo>
                <a:cubicBezTo>
                  <a:pt x="782485" y="0"/>
                  <a:pt x="795200" y="12715"/>
                  <a:pt x="795200" y="28400"/>
                </a:cubicBezTo>
                <a:lnTo>
                  <a:pt x="795200" y="56800"/>
                </a:lnTo>
                <a:cubicBezTo>
                  <a:pt x="795200" y="72485"/>
                  <a:pt x="782485" y="85200"/>
                  <a:pt x="7668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  <a:path w="795200" h="852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766800" y="0"/>
                </a:lnTo>
                <a:cubicBezTo>
                  <a:pt x="782485" y="0"/>
                  <a:pt x="795200" y="12715"/>
                  <a:pt x="795200" y="28400"/>
                </a:cubicBezTo>
                <a:lnTo>
                  <a:pt x="795200" y="56800"/>
                </a:lnTo>
                <a:cubicBezTo>
                  <a:pt x="795200" y="72485"/>
                  <a:pt x="782485" y="85200"/>
                  <a:pt x="7668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</a:pathLst>
          </a:custGeom>
          <a:gradFill>
            <a:gsLst>
              <a:gs pos="0">
                <a:srgbClr val="F59E0B"/>
              </a:gs>
              <a:gs pos="100000">
                <a:srgbClr val="FBBF24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437" name="任意多边形 436"/>
          <p:cNvSpPr/>
          <p:nvPr/>
        </p:nvSpPr>
        <p:spPr>
          <a:xfrm>
            <a:off x="4284165" y="3512805"/>
            <a:ext cx="568000" cy="85200"/>
          </a:xfrm>
          <a:custGeom>
            <a:avLst/>
            <a:gdLst/>
            <a:ahLst/>
            <a:cxnLst/>
            <a:rect l="l" t="t" r="r" b="b"/>
            <a:pathLst>
              <a:path w="568000" h="852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539600" y="0"/>
                </a:lnTo>
                <a:cubicBezTo>
                  <a:pt x="555285" y="0"/>
                  <a:pt x="568000" y="12715"/>
                  <a:pt x="568000" y="28400"/>
                </a:cubicBezTo>
                <a:lnTo>
                  <a:pt x="568000" y="56800"/>
                </a:lnTo>
                <a:cubicBezTo>
                  <a:pt x="568000" y="72485"/>
                  <a:pt x="555285" y="85200"/>
                  <a:pt x="5396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  <a:path w="568000" h="852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539600" y="0"/>
                </a:lnTo>
                <a:cubicBezTo>
                  <a:pt x="555285" y="0"/>
                  <a:pt x="568000" y="12715"/>
                  <a:pt x="568000" y="28400"/>
                </a:cubicBezTo>
                <a:lnTo>
                  <a:pt x="568000" y="56800"/>
                </a:lnTo>
                <a:cubicBezTo>
                  <a:pt x="568000" y="72485"/>
                  <a:pt x="555285" y="85200"/>
                  <a:pt x="5396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</a:pathLst>
          </a:custGeom>
          <a:gradFill>
            <a:gsLst>
              <a:gs pos="0">
                <a:srgbClr val="10B981"/>
              </a:gs>
              <a:gs pos="100000">
                <a:srgbClr val="34D399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438" name="任意多边形 437"/>
          <p:cNvSpPr/>
          <p:nvPr/>
        </p:nvSpPr>
        <p:spPr>
          <a:xfrm>
            <a:off x="4866365" y="3512805"/>
            <a:ext cx="454400" cy="85200"/>
          </a:xfrm>
          <a:custGeom>
            <a:avLst/>
            <a:gdLst/>
            <a:ahLst/>
            <a:cxnLst/>
            <a:rect l="l" t="t" r="r" b="b"/>
            <a:pathLst>
              <a:path w="454400" h="852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426000" y="0"/>
                </a:lnTo>
                <a:cubicBezTo>
                  <a:pt x="441685" y="0"/>
                  <a:pt x="454400" y="12715"/>
                  <a:pt x="454400" y="28400"/>
                </a:cubicBezTo>
                <a:lnTo>
                  <a:pt x="454400" y="56800"/>
                </a:lnTo>
                <a:cubicBezTo>
                  <a:pt x="454400" y="72485"/>
                  <a:pt x="441685" y="85200"/>
                  <a:pt x="4260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  <a:path w="454400" h="852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426000" y="0"/>
                </a:lnTo>
                <a:cubicBezTo>
                  <a:pt x="441685" y="0"/>
                  <a:pt x="454400" y="12715"/>
                  <a:pt x="454400" y="28400"/>
                </a:cubicBezTo>
                <a:lnTo>
                  <a:pt x="454400" y="56800"/>
                </a:lnTo>
                <a:cubicBezTo>
                  <a:pt x="454400" y="72485"/>
                  <a:pt x="441685" y="85200"/>
                  <a:pt x="4260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</a:pathLst>
          </a:custGeom>
          <a:gradFill>
            <a:gsLst>
              <a:gs pos="0">
                <a:srgbClr val="8B5CF6"/>
              </a:gs>
              <a:gs pos="100000">
                <a:srgbClr val="A78BFA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439" name="任意多边形 438"/>
          <p:cNvSpPr/>
          <p:nvPr/>
        </p:nvSpPr>
        <p:spPr>
          <a:xfrm>
            <a:off x="5334965" y="3512805"/>
            <a:ext cx="426000" cy="85200"/>
          </a:xfrm>
          <a:custGeom>
            <a:avLst/>
            <a:gdLst/>
            <a:ahLst/>
            <a:cxnLst/>
            <a:rect l="l" t="t" r="r" b="b"/>
            <a:pathLst>
              <a:path w="426000" h="852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397600" y="0"/>
                </a:lnTo>
                <a:cubicBezTo>
                  <a:pt x="413285" y="0"/>
                  <a:pt x="426000" y="12715"/>
                  <a:pt x="426000" y="28400"/>
                </a:cubicBezTo>
                <a:lnTo>
                  <a:pt x="426000" y="56800"/>
                </a:lnTo>
                <a:cubicBezTo>
                  <a:pt x="426000" y="72485"/>
                  <a:pt x="413285" y="85200"/>
                  <a:pt x="3976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  <a:path w="426000" h="852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397600" y="0"/>
                </a:lnTo>
                <a:cubicBezTo>
                  <a:pt x="413285" y="0"/>
                  <a:pt x="426000" y="12715"/>
                  <a:pt x="426000" y="28400"/>
                </a:cubicBezTo>
                <a:lnTo>
                  <a:pt x="426000" y="56800"/>
                </a:lnTo>
                <a:cubicBezTo>
                  <a:pt x="426000" y="72485"/>
                  <a:pt x="413285" y="85200"/>
                  <a:pt x="3976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</a:pathLst>
          </a:custGeom>
          <a:gradFill>
            <a:gsLst>
              <a:gs pos="0">
                <a:srgbClr val="94A3B8"/>
              </a:gs>
              <a:gs pos="100000">
                <a:srgbClr val="CBD5E1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440" name="任意多边形 439"/>
          <p:cNvSpPr/>
          <p:nvPr/>
        </p:nvSpPr>
        <p:spPr>
          <a:xfrm>
            <a:off x="3481865" y="3661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F59E0B"/>
          </a:solidFill>
          <a:ln w="7100" cap="flat">
            <a:noFill/>
            <a:miter/>
          </a:ln>
        </p:spPr>
      </p:sp>
      <p:sp>
        <p:nvSpPr>
          <p:cNvPr id="441" name="任意多边形 440"/>
          <p:cNvSpPr/>
          <p:nvPr/>
        </p:nvSpPr>
        <p:spPr>
          <a:xfrm>
            <a:off x="155515" y="689465"/>
            <a:ext cx="326600" cy="156200"/>
          </a:xfrm>
          <a:custGeom>
            <a:avLst/>
            <a:gdLst>
              <a:gd name="connsiteX0" fmla="*/ 0 w 326600"/>
              <a:gd name="connsiteY0" fmla="*/ 78100 h 156200"/>
              <a:gd name="connsiteX1" fmla="*/ 163300 w 326600"/>
              <a:gd name="connsiteY1" fmla="*/ 0 h 156200"/>
              <a:gd name="connsiteX2" fmla="*/ 326600 w 326600"/>
              <a:gd name="connsiteY2" fmla="*/ 78100 h 156200"/>
              <a:gd name="connsiteX3" fmla="*/ 163300 w 326600"/>
              <a:gd name="connsiteY3" fmla="*/ 156200 h 156200"/>
              <a:gd name="rtl" fmla="*/ 3365400 w 326600"/>
              <a:gd name="rtt" fmla="*/ 2915640 h 156200"/>
              <a:gd name="rtr" fmla="*/ 3755900 w 326600"/>
              <a:gd name="rtb" fmla="*/ 30718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 35%</a:t>
            </a:r>
            <a:endParaRPr lang="zh-CN" altLang="en-US" sz="640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2" name="任意多边形 441"/>
          <p:cNvSpPr/>
          <p:nvPr/>
        </p:nvSpPr>
        <p:spPr>
          <a:xfrm>
            <a:off x="3978865" y="3661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10B981"/>
          </a:solidFill>
          <a:ln w="7100" cap="flat">
            <a:noFill/>
            <a:miter/>
          </a:ln>
        </p:spPr>
      </p:sp>
      <p:sp>
        <p:nvSpPr>
          <p:cNvPr id="443" name="任意多边形 442"/>
          <p:cNvSpPr/>
          <p:nvPr/>
        </p:nvSpPr>
        <p:spPr>
          <a:xfrm>
            <a:off x="155515" y="689465"/>
            <a:ext cx="369200" cy="156200"/>
          </a:xfrm>
          <a:custGeom>
            <a:avLst/>
            <a:gdLst>
              <a:gd name="connsiteX0" fmla="*/ 0 w 369200"/>
              <a:gd name="connsiteY0" fmla="*/ 78100 h 156200"/>
              <a:gd name="connsiteX1" fmla="*/ 184600 w 369200"/>
              <a:gd name="connsiteY1" fmla="*/ 0 h 156200"/>
              <a:gd name="connsiteX2" fmla="*/ 369200 w 369200"/>
              <a:gd name="connsiteY2" fmla="*/ 78100 h 156200"/>
              <a:gd name="connsiteX3" fmla="*/ 184600 w 369200"/>
              <a:gd name="connsiteY3" fmla="*/ 156200 h 156200"/>
              <a:gd name="rtl" fmla="*/ 3883700 w 369200"/>
              <a:gd name="rtt" fmla="*/ 2915640 h 156200"/>
              <a:gd name="rtr" fmla="*/ 4274200 w 369200"/>
              <a:gd name="rtb" fmla="*/ 30718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IRI 25%</a:t>
            </a:r>
            <a:endParaRPr lang="zh-CN" altLang="en-US" sz="640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4" name="任意多边形 443"/>
          <p:cNvSpPr/>
          <p:nvPr/>
        </p:nvSpPr>
        <p:spPr>
          <a:xfrm>
            <a:off x="4475865" y="3661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8B5CF6"/>
          </a:solidFill>
          <a:ln w="7100" cap="flat">
            <a:noFill/>
            <a:miter/>
          </a:ln>
        </p:spPr>
      </p:sp>
      <p:sp>
        <p:nvSpPr>
          <p:cNvPr id="445" name="任意多边形 444"/>
          <p:cNvSpPr/>
          <p:nvPr/>
        </p:nvSpPr>
        <p:spPr>
          <a:xfrm>
            <a:off x="155515" y="689465"/>
            <a:ext cx="497000" cy="156200"/>
          </a:xfrm>
          <a:custGeom>
            <a:avLst/>
            <a:gdLst>
              <a:gd name="connsiteX0" fmla="*/ 0 w 497000"/>
              <a:gd name="connsiteY0" fmla="*/ 78100 h 156200"/>
              <a:gd name="connsiteX1" fmla="*/ 248500 w 497000"/>
              <a:gd name="connsiteY1" fmla="*/ 0 h 156200"/>
              <a:gd name="connsiteX2" fmla="*/ 497000 w 497000"/>
              <a:gd name="connsiteY2" fmla="*/ 78100 h 156200"/>
              <a:gd name="connsiteX3" fmla="*/ 248500 w 497000"/>
              <a:gd name="connsiteY3" fmla="*/ 156200 h 156200"/>
              <a:gd name="rtl" fmla="*/ 4373600 w 497000"/>
              <a:gd name="rtt" fmla="*/ 2915640 h 156200"/>
              <a:gd name="rtr" fmla="*/ 4906100 w 497000"/>
              <a:gd name="rtb" fmla="*/ 30718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安全性 20%</a:t>
            </a:r>
            <a:endParaRPr lang="zh-CN" altLang="en-US" sz="640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6" name="任意多边形 445"/>
          <p:cNvSpPr/>
          <p:nvPr/>
        </p:nvSpPr>
        <p:spPr>
          <a:xfrm>
            <a:off x="3474765" y="3867805"/>
            <a:ext cx="2307500" cy="1737264"/>
          </a:xfrm>
          <a:custGeom>
            <a:avLst/>
            <a:gdLst/>
            <a:ahLst/>
            <a:cxnLst/>
            <a:rect l="l" t="t" r="r" b="b"/>
            <a:pathLst>
              <a:path w="2307500" h="1737264" stroke="0">
                <a:moveTo>
                  <a:pt x="0" y="34745"/>
                </a:moveTo>
                <a:cubicBezTo>
                  <a:pt x="0" y="15556"/>
                  <a:pt x="19073" y="0"/>
                  <a:pt x="42600" y="0"/>
                </a:cubicBezTo>
                <a:lnTo>
                  <a:pt x="2264900" y="0"/>
                </a:lnTo>
                <a:cubicBezTo>
                  <a:pt x="2288427" y="0"/>
                  <a:pt x="2307500" y="15556"/>
                  <a:pt x="2307500" y="34745"/>
                </a:cubicBezTo>
                <a:lnTo>
                  <a:pt x="2307500" y="1702519"/>
                </a:lnTo>
                <a:cubicBezTo>
                  <a:pt x="2307500" y="1721708"/>
                  <a:pt x="2288427" y="1737264"/>
                  <a:pt x="2264900" y="1737264"/>
                </a:cubicBezTo>
                <a:lnTo>
                  <a:pt x="42600" y="1737264"/>
                </a:lnTo>
                <a:cubicBezTo>
                  <a:pt x="19073" y="1737264"/>
                  <a:pt x="0" y="1721708"/>
                  <a:pt x="0" y="1702519"/>
                </a:cubicBezTo>
                <a:lnTo>
                  <a:pt x="0" y="34745"/>
                </a:lnTo>
                <a:close/>
              </a:path>
              <a:path w="2307500" h="1737264" fill="none">
                <a:moveTo>
                  <a:pt x="0" y="34745"/>
                </a:moveTo>
                <a:cubicBezTo>
                  <a:pt x="0" y="15556"/>
                  <a:pt x="19073" y="0"/>
                  <a:pt x="42600" y="0"/>
                </a:cubicBezTo>
                <a:lnTo>
                  <a:pt x="2264900" y="0"/>
                </a:lnTo>
                <a:cubicBezTo>
                  <a:pt x="2288427" y="0"/>
                  <a:pt x="2307500" y="15556"/>
                  <a:pt x="2307500" y="34745"/>
                </a:cubicBezTo>
                <a:lnTo>
                  <a:pt x="2307500" y="1702519"/>
                </a:lnTo>
                <a:cubicBezTo>
                  <a:pt x="2307500" y="1721708"/>
                  <a:pt x="2288427" y="1737264"/>
                  <a:pt x="2264900" y="1737264"/>
                </a:cubicBezTo>
                <a:lnTo>
                  <a:pt x="42600" y="1737264"/>
                </a:lnTo>
                <a:cubicBezTo>
                  <a:pt x="19073" y="1737264"/>
                  <a:pt x="0" y="1721708"/>
                  <a:pt x="0" y="1702519"/>
                </a:cubicBezTo>
                <a:lnTo>
                  <a:pt x="0" y="34745"/>
                </a:lnTo>
                <a:close/>
              </a:path>
            </a:pathLst>
          </a:custGeom>
          <a:solidFill>
            <a:srgbClr val="F8FAFC"/>
          </a:solidFill>
          <a:ln w="7100" cap="flat">
            <a:noFill/>
            <a:miter/>
          </a:ln>
        </p:spPr>
      </p:sp>
      <p:sp>
        <p:nvSpPr>
          <p:cNvPr id="447" name="任意多边形 446"/>
          <p:cNvSpPr/>
          <p:nvPr/>
        </p:nvSpPr>
        <p:spPr>
          <a:xfrm>
            <a:off x="155515" y="689465"/>
            <a:ext cx="816500" cy="170400"/>
          </a:xfrm>
          <a:custGeom>
            <a:avLst/>
            <a:gdLst>
              <a:gd name="connsiteX0" fmla="*/ 0 w 816500"/>
              <a:gd name="connsiteY0" fmla="*/ 85200 h 170400"/>
              <a:gd name="connsiteX1" fmla="*/ 408250 w 816500"/>
              <a:gd name="connsiteY1" fmla="*/ 0 h 170400"/>
              <a:gd name="connsiteX2" fmla="*/ 816500 w 816500"/>
              <a:gd name="connsiteY2" fmla="*/ 85200 h 170400"/>
              <a:gd name="connsiteX3" fmla="*/ 408250 w 816500"/>
              <a:gd name="connsiteY3" fmla="*/ 170400 h 170400"/>
              <a:gd name="rtl" fmla="*/ 3347650 w 816500"/>
              <a:gd name="rtt" fmla="*/ 3220940 h 170400"/>
              <a:gd name="rtr" fmla="*/ 4199650 w 816500"/>
              <a:gd name="rtb" fmla="*/ 3391340 h 1704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293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 年关键证据</a:t>
            </a:r>
            <a:endParaRPr lang="zh-CN" altLang="en-US" sz="745" b="1" dirty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8" name="任意多边形 447"/>
          <p:cNvSpPr/>
          <p:nvPr/>
        </p:nvSpPr>
        <p:spPr>
          <a:xfrm>
            <a:off x="3545765" y="4187305"/>
            <a:ext cx="7100" cy="1242500"/>
          </a:xfrm>
          <a:custGeom>
            <a:avLst/>
            <a:gdLst/>
            <a:ahLst/>
            <a:cxnLst/>
            <a:rect l="l" t="t" r="r" b="b"/>
            <a:pathLst>
              <a:path w="7100" h="1242500" stroke="0">
                <a:moveTo>
                  <a:pt x="0" y="0"/>
                </a:moveTo>
                <a:lnTo>
                  <a:pt x="0" y="1242500"/>
                </a:lnTo>
              </a:path>
              <a:path w="7100" h="1242500" fill="none">
                <a:moveTo>
                  <a:pt x="0" y="0"/>
                </a:moveTo>
                <a:lnTo>
                  <a:pt x="0" y="1242500"/>
                </a:lnTo>
              </a:path>
            </a:pathLst>
          </a:custGeom>
          <a:solidFill>
            <a:srgbClr val="000000"/>
          </a:solidFill>
          <a:ln w="14200" cap="flat">
            <a:solidFill>
              <a:srgbClr val="CBD5E1"/>
            </a:solidFill>
            <a:custDash>
              <a:ds d="1100000" sp="500000"/>
            </a:custDash>
            <a:miter/>
          </a:ln>
        </p:spPr>
      </p:sp>
      <p:sp>
        <p:nvSpPr>
          <p:cNvPr id="449" name="任意多边形 448"/>
          <p:cNvSpPr/>
          <p:nvPr/>
        </p:nvSpPr>
        <p:spPr>
          <a:xfrm>
            <a:off x="3517365" y="4158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8B5CF6"/>
          </a:solidFill>
          <a:ln w="7100" cap="flat">
            <a:noFill/>
            <a:miter/>
          </a:ln>
        </p:spPr>
      </p:sp>
      <p:sp>
        <p:nvSpPr>
          <p:cNvPr id="450" name="任意多边形 449"/>
          <p:cNvSpPr/>
          <p:nvPr/>
        </p:nvSpPr>
        <p:spPr>
          <a:xfrm>
            <a:off x="155515" y="689465"/>
            <a:ext cx="1519400" cy="163300"/>
          </a:xfrm>
          <a:custGeom>
            <a:avLst/>
            <a:gdLst>
              <a:gd name="connsiteX0" fmla="*/ 0 w 1519400"/>
              <a:gd name="connsiteY0" fmla="*/ 81650 h 163300"/>
              <a:gd name="connsiteX1" fmla="*/ 759700 w 1519400"/>
              <a:gd name="connsiteY1" fmla="*/ 0 h 163300"/>
              <a:gd name="connsiteX2" fmla="*/ 1519400 w 1519400"/>
              <a:gd name="connsiteY2" fmla="*/ 81650 h 163300"/>
              <a:gd name="connsiteX3" fmla="*/ 759700 w 1519400"/>
              <a:gd name="connsiteY3" fmla="*/ 163300 h 163300"/>
              <a:gd name="rtl" fmla="*/ 3454150 w 1519400"/>
              <a:gd name="rtt" fmla="*/ 3398440 h 163300"/>
              <a:gd name="rtr" fmla="*/ 4973550 w 1519400"/>
              <a:gd name="rtb" fmla="*/ 35617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工程化雪蚤 rTAT-GS-MU(TH 5°C)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1" name="任意多边形 450"/>
          <p:cNvSpPr/>
          <p:nvPr/>
        </p:nvSpPr>
        <p:spPr>
          <a:xfrm>
            <a:off x="155515" y="689465"/>
            <a:ext cx="1349000" cy="163300"/>
          </a:xfrm>
          <a:custGeom>
            <a:avLst/>
            <a:gdLst>
              <a:gd name="connsiteX0" fmla="*/ 0 w 1349000"/>
              <a:gd name="connsiteY0" fmla="*/ 81650 h 163300"/>
              <a:gd name="connsiteX1" fmla="*/ 674500 w 1349000"/>
              <a:gd name="connsiteY1" fmla="*/ 0 h 163300"/>
              <a:gd name="connsiteX2" fmla="*/ 1349000 w 1349000"/>
              <a:gd name="connsiteY2" fmla="*/ 81650 h 163300"/>
              <a:gd name="connsiteX3" fmla="*/ 674500 w 1349000"/>
              <a:gd name="connsiteY3" fmla="*/ 163300 h 163300"/>
              <a:gd name="rtl" fmla="*/ 3390250 w 1349000"/>
              <a:gd name="rtt" fmla="*/ 3526240 h 163300"/>
              <a:gd name="rtr" fmla="*/ 4867050 w 1349000"/>
              <a:gd name="rtb" fmla="*/ 36895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多种细胞74.7%复苏，媲美DMSO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2" name="任意多边形 451"/>
          <p:cNvSpPr/>
          <p:nvPr/>
        </p:nvSpPr>
        <p:spPr>
          <a:xfrm>
            <a:off x="3517365" y="46204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8B5CF6"/>
          </a:solidFill>
          <a:ln w="7100" cap="flat">
            <a:noFill/>
            <a:miter/>
          </a:ln>
        </p:spPr>
      </p:sp>
      <p:sp>
        <p:nvSpPr>
          <p:cNvPr id="453" name="任意多边形 452"/>
          <p:cNvSpPr/>
          <p:nvPr/>
        </p:nvSpPr>
        <p:spPr>
          <a:xfrm>
            <a:off x="155515" y="689465"/>
            <a:ext cx="1086300" cy="163300"/>
          </a:xfrm>
          <a:custGeom>
            <a:avLst/>
            <a:gdLst>
              <a:gd name="connsiteX0" fmla="*/ 0 w 1086300"/>
              <a:gd name="connsiteY0" fmla="*/ 81650 h 163300"/>
              <a:gd name="connsiteX1" fmla="*/ 543150 w 1086300"/>
              <a:gd name="connsiteY1" fmla="*/ 0 h 163300"/>
              <a:gd name="connsiteX2" fmla="*/ 1086300 w 1086300"/>
              <a:gd name="connsiteY2" fmla="*/ 81650 h 163300"/>
              <a:gd name="connsiteX3" fmla="*/ 543150 w 1086300"/>
              <a:gd name="connsiteY3" fmla="*/ 163300 h 163300"/>
              <a:gd name="rtl" fmla="*/ 3457700 w 1086300"/>
              <a:gd name="rtt" fmla="*/ 3859940 h 163300"/>
              <a:gd name="rtr" fmla="*/ 4544000 w 1086300"/>
              <a:gd name="rtb" fmla="*/ 40232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多功抗冻肽理念被论证：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4" name="任意多边形 453"/>
          <p:cNvSpPr/>
          <p:nvPr/>
        </p:nvSpPr>
        <p:spPr>
          <a:xfrm>
            <a:off x="155515" y="689465"/>
            <a:ext cx="1547800" cy="163300"/>
          </a:xfrm>
          <a:custGeom>
            <a:avLst/>
            <a:gdLst>
              <a:gd name="connsiteX0" fmla="*/ 0 w 1547800"/>
              <a:gd name="connsiteY0" fmla="*/ 81650 h 163300"/>
              <a:gd name="connsiteX1" fmla="*/ 773900 w 1547800"/>
              <a:gd name="connsiteY1" fmla="*/ 0 h 163300"/>
              <a:gd name="connsiteX2" fmla="*/ 1547800 w 1547800"/>
              <a:gd name="connsiteY2" fmla="*/ 81650 h 163300"/>
              <a:gd name="connsiteX3" fmla="*/ 773900 w 1547800"/>
              <a:gd name="connsiteY3" fmla="*/ 163300 h 163300"/>
              <a:gd name="rtl" fmla="*/ 3454150 w 1547800"/>
              <a:gd name="rtt" fmla="*/ 3987740 h 163300"/>
              <a:gd name="rtr" fmla="*/ 5001950 w 1547800"/>
              <a:gd name="rtb" fmla="*/ 41510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抗冻+抗氧化+抗菌+穿透 (Biotech)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5" name="任意多边形 454"/>
          <p:cNvSpPr/>
          <p:nvPr/>
        </p:nvSpPr>
        <p:spPr>
          <a:xfrm>
            <a:off x="6137265" y="1382805"/>
            <a:ext cx="2591500" cy="4423524"/>
          </a:xfrm>
          <a:custGeom>
            <a:avLst/>
            <a:gdLst/>
            <a:ahLst/>
            <a:cxnLst/>
            <a:rect l="l" t="t" r="r" b="b"/>
            <a:pathLst>
              <a:path w="2591500" h="4423524" stroke="0">
                <a:moveTo>
                  <a:pt x="0" y="102574"/>
                </a:moveTo>
                <a:cubicBezTo>
                  <a:pt x="0" y="45924"/>
                  <a:pt x="50860" y="0"/>
                  <a:pt x="113600" y="0"/>
                </a:cubicBezTo>
                <a:lnTo>
                  <a:pt x="2477900" y="0"/>
                </a:lnTo>
                <a:cubicBezTo>
                  <a:pt x="2540640" y="0"/>
                  <a:pt x="2591500" y="45924"/>
                  <a:pt x="2591500" y="102574"/>
                </a:cubicBezTo>
                <a:lnTo>
                  <a:pt x="2591500" y="4320949"/>
                </a:lnTo>
                <a:cubicBezTo>
                  <a:pt x="2591500" y="4377599"/>
                  <a:pt x="2540640" y="4423524"/>
                  <a:pt x="2477900" y="4423524"/>
                </a:cubicBezTo>
                <a:lnTo>
                  <a:pt x="113600" y="4423524"/>
                </a:lnTo>
                <a:cubicBezTo>
                  <a:pt x="50860" y="4423524"/>
                  <a:pt x="0" y="4377599"/>
                  <a:pt x="0" y="4320949"/>
                </a:cubicBezTo>
                <a:lnTo>
                  <a:pt x="0" y="102574"/>
                </a:lnTo>
                <a:close/>
              </a:path>
              <a:path w="2591500" h="4423524" fill="none">
                <a:moveTo>
                  <a:pt x="0" y="102574"/>
                </a:moveTo>
                <a:cubicBezTo>
                  <a:pt x="0" y="45924"/>
                  <a:pt x="50860" y="0"/>
                  <a:pt x="113600" y="0"/>
                </a:cubicBezTo>
                <a:lnTo>
                  <a:pt x="2477900" y="0"/>
                </a:lnTo>
                <a:cubicBezTo>
                  <a:pt x="2540640" y="0"/>
                  <a:pt x="2591500" y="45924"/>
                  <a:pt x="2591500" y="102574"/>
                </a:cubicBezTo>
                <a:lnTo>
                  <a:pt x="2591500" y="4320949"/>
                </a:lnTo>
                <a:cubicBezTo>
                  <a:pt x="2591500" y="4377599"/>
                  <a:pt x="2540640" y="4423524"/>
                  <a:pt x="2477900" y="4423524"/>
                </a:cubicBezTo>
                <a:lnTo>
                  <a:pt x="113600" y="4423524"/>
                </a:lnTo>
                <a:cubicBezTo>
                  <a:pt x="50860" y="4423524"/>
                  <a:pt x="0" y="4377599"/>
                  <a:pt x="0" y="4320949"/>
                </a:cubicBezTo>
                <a:lnTo>
                  <a:pt x="0" y="102574"/>
                </a:lnTo>
                <a:close/>
              </a:path>
            </a:pathLst>
          </a:custGeom>
          <a:solidFill>
            <a:srgbClr val="FFFFFF"/>
          </a:solidFill>
          <a:ln w="7100" cap="flat">
            <a:noFill/>
            <a:miter/>
          </a:ln>
        </p:spPr>
      </p:sp>
      <p:sp>
        <p:nvSpPr>
          <p:cNvPr id="456" name="任意多边形 455"/>
          <p:cNvSpPr/>
          <p:nvPr/>
        </p:nvSpPr>
        <p:spPr>
          <a:xfrm>
            <a:off x="6208265" y="1489305"/>
            <a:ext cx="284000" cy="284000"/>
          </a:xfrm>
          <a:custGeom>
            <a:avLst/>
            <a:gdLst/>
            <a:ahLst/>
            <a:cxnLst/>
            <a:rect l="l" t="t" r="r" b="b"/>
            <a:pathLst>
              <a:path w="284000" h="284000" stroke="0">
                <a:moveTo>
                  <a:pt x="284000" y="142000"/>
                </a:moveTo>
                <a:cubicBezTo>
                  <a:pt x="284000" y="220424"/>
                  <a:pt x="220424" y="284000"/>
                  <a:pt x="142000" y="284000"/>
                </a:cubicBezTo>
                <a:cubicBezTo>
                  <a:pt x="63576" y="284000"/>
                  <a:pt x="0" y="220424"/>
                  <a:pt x="0" y="142000"/>
                </a:cubicBezTo>
                <a:cubicBezTo>
                  <a:pt x="0" y="63576"/>
                  <a:pt x="63576" y="0"/>
                  <a:pt x="142000" y="0"/>
                </a:cubicBezTo>
                <a:cubicBezTo>
                  <a:pt x="220424" y="0"/>
                  <a:pt x="284000" y="63576"/>
                  <a:pt x="284000" y="142000"/>
                </a:cubicBezTo>
                <a:close/>
              </a:path>
              <a:path w="284000" h="284000" fill="none">
                <a:moveTo>
                  <a:pt x="284000" y="142000"/>
                </a:moveTo>
                <a:cubicBezTo>
                  <a:pt x="284000" y="220424"/>
                  <a:pt x="220424" y="284000"/>
                  <a:pt x="142000" y="284000"/>
                </a:cubicBezTo>
                <a:cubicBezTo>
                  <a:pt x="63576" y="284000"/>
                  <a:pt x="0" y="220424"/>
                  <a:pt x="0" y="142000"/>
                </a:cubicBezTo>
                <a:cubicBezTo>
                  <a:pt x="0" y="63576"/>
                  <a:pt x="63576" y="0"/>
                  <a:pt x="142000" y="0"/>
                </a:cubicBezTo>
                <a:cubicBezTo>
                  <a:pt x="220424" y="0"/>
                  <a:pt x="284000" y="63576"/>
                  <a:pt x="284000" y="142000"/>
                </a:cubicBezTo>
                <a:close/>
              </a:path>
            </a:pathLst>
          </a:custGeom>
          <a:solidFill>
            <a:srgbClr val="E0F2FE"/>
          </a:solidFill>
          <a:ln w="7100" cap="flat">
            <a:noFill/>
            <a:miter/>
          </a:ln>
        </p:spPr>
      </p:sp>
      <p:sp>
        <p:nvSpPr>
          <p:cNvPr id="457" name="任意多边形 456"/>
          <p:cNvSpPr/>
          <p:nvPr/>
        </p:nvSpPr>
        <p:spPr>
          <a:xfrm>
            <a:off x="155515" y="689465"/>
            <a:ext cx="284000" cy="291100"/>
          </a:xfrm>
          <a:custGeom>
            <a:avLst/>
            <a:gdLst>
              <a:gd name="connsiteX0" fmla="*/ 0 w 284000"/>
              <a:gd name="connsiteY0" fmla="*/ 145550 h 291100"/>
              <a:gd name="connsiteX1" fmla="*/ 142000 w 284000"/>
              <a:gd name="connsiteY1" fmla="*/ 0 h 291100"/>
              <a:gd name="connsiteX2" fmla="*/ 284000 w 284000"/>
              <a:gd name="connsiteY2" fmla="*/ 145550 h 291100"/>
              <a:gd name="connsiteX3" fmla="*/ 142000 w 284000"/>
              <a:gd name="connsiteY3" fmla="*/ 291100 h 291100"/>
              <a:gd name="rtl" fmla="*/ 6052029 w 284000"/>
              <a:gd name="rtt" fmla="*/ 764340 h 291100"/>
              <a:gd name="rtr" fmla="*/ 6337471 w 284000"/>
              <a:gd name="rtb" fmla="*/ 1055440 h 2911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00000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117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🛩️</a:t>
            </a:r>
            <a:endParaRPr lang="zh-CN" altLang="en-US" sz="117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8" name="任意多边形 457"/>
          <p:cNvSpPr/>
          <p:nvPr/>
        </p:nvSpPr>
        <p:spPr>
          <a:xfrm>
            <a:off x="155515" y="689465"/>
            <a:ext cx="1604600" cy="205900"/>
          </a:xfrm>
          <a:custGeom>
            <a:avLst/>
            <a:gdLst>
              <a:gd name="connsiteX0" fmla="*/ 0 w 1604600"/>
              <a:gd name="connsiteY0" fmla="*/ 102950 h 205900"/>
              <a:gd name="connsiteX1" fmla="*/ 802300 w 1604600"/>
              <a:gd name="connsiteY1" fmla="*/ 0 h 205900"/>
              <a:gd name="connsiteX2" fmla="*/ 1604600 w 1604600"/>
              <a:gd name="connsiteY2" fmla="*/ 102950 h 205900"/>
              <a:gd name="connsiteX3" fmla="*/ 802300 w 1604600"/>
              <a:gd name="connsiteY3" fmla="*/ 205900 h 205900"/>
              <a:gd name="rtl" fmla="*/ 6379350 w 1604600"/>
              <a:gd name="rtt" fmla="*/ 821140 h 205900"/>
              <a:gd name="rtr" fmla="*/ 7983950 w 1604600"/>
              <a:gd name="rtb" fmla="*/ 1027040 h 2059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293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960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防冰涂层（航空/电力）</a:t>
            </a:r>
            <a:endParaRPr lang="zh-CN" altLang="en-US" sz="960" b="1" dirty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9" name="任意多边形 458"/>
          <p:cNvSpPr/>
          <p:nvPr/>
        </p:nvSpPr>
        <p:spPr>
          <a:xfrm>
            <a:off x="6279265" y="1844305"/>
            <a:ext cx="1562000" cy="198800"/>
          </a:xfrm>
          <a:custGeom>
            <a:avLst/>
            <a:gdLst/>
            <a:ahLst/>
            <a:cxnLst/>
            <a:rect l="l" t="t" r="r" b="b"/>
            <a:pathLst>
              <a:path w="1562000" h="198800" stroke="0">
                <a:moveTo>
                  <a:pt x="0" y="99400"/>
                </a:moveTo>
                <a:cubicBezTo>
                  <a:pt x="0" y="44503"/>
                  <a:pt x="44503" y="0"/>
                  <a:pt x="99400" y="0"/>
                </a:cubicBezTo>
                <a:lnTo>
                  <a:pt x="1462600" y="0"/>
                </a:lnTo>
                <a:cubicBezTo>
                  <a:pt x="1517497" y="0"/>
                  <a:pt x="1562000" y="44503"/>
                  <a:pt x="1562000" y="99400"/>
                </a:cubicBezTo>
                <a:cubicBezTo>
                  <a:pt x="1562000" y="154297"/>
                  <a:pt x="1517497" y="198800"/>
                  <a:pt x="1462600" y="198800"/>
                </a:cubicBezTo>
                <a:lnTo>
                  <a:pt x="99400" y="198800"/>
                </a:lnTo>
                <a:cubicBezTo>
                  <a:pt x="44503" y="198800"/>
                  <a:pt x="0" y="154297"/>
                  <a:pt x="0" y="99400"/>
                </a:cubicBezTo>
                <a:close/>
              </a:path>
              <a:path w="1562000" h="198800" fill="none">
                <a:moveTo>
                  <a:pt x="0" y="99400"/>
                </a:moveTo>
                <a:cubicBezTo>
                  <a:pt x="0" y="44503"/>
                  <a:pt x="44503" y="0"/>
                  <a:pt x="99400" y="0"/>
                </a:cubicBezTo>
                <a:lnTo>
                  <a:pt x="1462600" y="0"/>
                </a:lnTo>
                <a:cubicBezTo>
                  <a:pt x="1517497" y="0"/>
                  <a:pt x="1562000" y="44503"/>
                  <a:pt x="1562000" y="99400"/>
                </a:cubicBezTo>
                <a:cubicBezTo>
                  <a:pt x="1562000" y="154297"/>
                  <a:pt x="1517497" y="198800"/>
                  <a:pt x="1462600" y="198800"/>
                </a:cubicBezTo>
                <a:lnTo>
                  <a:pt x="99400" y="198800"/>
                </a:lnTo>
                <a:cubicBezTo>
                  <a:pt x="44503" y="198800"/>
                  <a:pt x="0" y="154297"/>
                  <a:pt x="0" y="99400"/>
                </a:cubicBezTo>
                <a:close/>
              </a:path>
            </a:pathLst>
          </a:custGeom>
          <a:solidFill>
            <a:srgbClr val="FEFCE8"/>
          </a:solidFill>
          <a:ln w="7100" cap="flat">
            <a:solidFill>
              <a:srgbClr val="FEF08A"/>
            </a:solidFill>
            <a:miter/>
          </a:ln>
        </p:spPr>
      </p:sp>
      <p:sp>
        <p:nvSpPr>
          <p:cNvPr id="460" name="任意多边形 459"/>
          <p:cNvSpPr/>
          <p:nvPr/>
        </p:nvSpPr>
        <p:spPr>
          <a:xfrm>
            <a:off x="155515" y="689465"/>
            <a:ext cx="1356100" cy="198800"/>
          </a:xfrm>
          <a:custGeom>
            <a:avLst/>
            <a:gdLst>
              <a:gd name="connsiteX0" fmla="*/ 0 w 1356100"/>
              <a:gd name="connsiteY0" fmla="*/ 99400 h 198800"/>
              <a:gd name="connsiteX1" fmla="*/ 678050 w 1356100"/>
              <a:gd name="connsiteY1" fmla="*/ 0 h 198800"/>
              <a:gd name="connsiteX2" fmla="*/ 1356100 w 1356100"/>
              <a:gd name="connsiteY2" fmla="*/ 99400 h 198800"/>
              <a:gd name="connsiteX3" fmla="*/ 678050 w 1356100"/>
              <a:gd name="connsiteY3" fmla="*/ 198800 h 198800"/>
              <a:gd name="rtl" fmla="*/ 6183712 w 1356100"/>
              <a:gd name="rtt" fmla="*/ 1140640 h 198800"/>
              <a:gd name="rtr" fmla="*/ 7540589 w 1356100"/>
              <a:gd name="rtb" fmla="*/ 1339440 h 1988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A16207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A162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⚠️ 研发火热，尚未见商业产品</a:t>
            </a:r>
            <a:endParaRPr lang="zh-CN" altLang="en-US" sz="690" b="1" dirty="0">
              <a:solidFill>
                <a:srgbClr val="A162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1" name="任意多边形 460"/>
          <p:cNvSpPr/>
          <p:nvPr/>
        </p:nvSpPr>
        <p:spPr>
          <a:xfrm>
            <a:off x="6243765" y="2163805"/>
            <a:ext cx="2378500" cy="1065000"/>
          </a:xfrm>
          <a:custGeom>
            <a:avLst/>
            <a:gdLst/>
            <a:ahLst/>
            <a:cxnLst/>
            <a:rect l="l" t="t" r="r" b="b"/>
            <a:pathLst>
              <a:path w="2378500" h="1065000" stroke="0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2321700" y="0"/>
                </a:lnTo>
                <a:cubicBezTo>
                  <a:pt x="2353070" y="0"/>
                  <a:pt x="2378500" y="25430"/>
                  <a:pt x="2378500" y="56800"/>
                </a:cubicBezTo>
                <a:lnTo>
                  <a:pt x="2378500" y="1008200"/>
                </a:lnTo>
                <a:cubicBezTo>
                  <a:pt x="2378500" y="1039570"/>
                  <a:pt x="2353070" y="1065000"/>
                  <a:pt x="2321700" y="1065000"/>
                </a:cubicBezTo>
                <a:lnTo>
                  <a:pt x="56800" y="1065000"/>
                </a:lnTo>
                <a:cubicBezTo>
                  <a:pt x="25430" y="1065000"/>
                  <a:pt x="0" y="1039570"/>
                  <a:pt x="0" y="1008200"/>
                </a:cubicBezTo>
                <a:lnTo>
                  <a:pt x="0" y="56800"/>
                </a:lnTo>
                <a:close/>
              </a:path>
              <a:path w="2378500" h="1065000" fill="none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2321700" y="0"/>
                </a:lnTo>
                <a:cubicBezTo>
                  <a:pt x="2353070" y="0"/>
                  <a:pt x="2378500" y="25430"/>
                  <a:pt x="2378500" y="56800"/>
                </a:cubicBezTo>
                <a:lnTo>
                  <a:pt x="2378500" y="1008200"/>
                </a:lnTo>
                <a:cubicBezTo>
                  <a:pt x="2378500" y="1039570"/>
                  <a:pt x="2353070" y="1065000"/>
                  <a:pt x="2321700" y="1065000"/>
                </a:cubicBezTo>
                <a:lnTo>
                  <a:pt x="56800" y="1065000"/>
                </a:lnTo>
                <a:cubicBezTo>
                  <a:pt x="25430" y="1065000"/>
                  <a:pt x="0" y="1039570"/>
                  <a:pt x="0" y="1008200"/>
                </a:cubicBezTo>
                <a:lnTo>
                  <a:pt x="0" y="56800"/>
                </a:lnTo>
                <a:close/>
              </a:path>
            </a:pathLst>
          </a:custGeom>
          <a:solidFill>
            <a:srgbClr val="F8FAFC"/>
          </a:solidFill>
          <a:ln w="7100" cap="flat">
            <a:noFill/>
            <a:miter/>
          </a:ln>
        </p:spPr>
      </p:sp>
      <p:sp>
        <p:nvSpPr>
          <p:cNvPr id="462" name="任意多边形 461"/>
          <p:cNvSpPr/>
          <p:nvPr/>
        </p:nvSpPr>
        <p:spPr>
          <a:xfrm>
            <a:off x="155515" y="689465"/>
            <a:ext cx="440200" cy="163300"/>
          </a:xfrm>
          <a:custGeom>
            <a:avLst/>
            <a:gdLst>
              <a:gd name="connsiteX0" fmla="*/ 0 w 440200"/>
              <a:gd name="connsiteY0" fmla="*/ 81650 h 163300"/>
              <a:gd name="connsiteX1" fmla="*/ 220100 w 440200"/>
              <a:gd name="connsiteY1" fmla="*/ 0 h 163300"/>
              <a:gd name="connsiteX2" fmla="*/ 440200 w 440200"/>
              <a:gd name="connsiteY2" fmla="*/ 81650 h 163300"/>
              <a:gd name="connsiteX3" fmla="*/ 220100 w 440200"/>
              <a:gd name="connsiteY3" fmla="*/ 163300 h 163300"/>
              <a:gd name="rtl" fmla="*/ 6414850 w 440200"/>
              <a:gd name="rtt" fmla="*/ 1524040 h 163300"/>
              <a:gd name="rtr" fmla="*/ 6855050 w 440200"/>
              <a:gd name="rtb" fmla="*/ 16873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EF4444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核心痛点</a:t>
            </a:r>
            <a:endParaRPr lang="zh-CN" altLang="en-US" sz="690" b="1" dirty="0">
              <a:solidFill>
                <a:srgbClr val="EF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3" name="任意多边形 462"/>
          <p:cNvSpPr/>
          <p:nvPr/>
        </p:nvSpPr>
        <p:spPr>
          <a:xfrm>
            <a:off x="155515" y="689465"/>
            <a:ext cx="639000" cy="163300"/>
          </a:xfrm>
          <a:custGeom>
            <a:avLst/>
            <a:gdLst>
              <a:gd name="connsiteX0" fmla="*/ 0 w 639000"/>
              <a:gd name="connsiteY0" fmla="*/ 81650 h 163300"/>
              <a:gd name="connsiteX1" fmla="*/ 319500 w 639000"/>
              <a:gd name="connsiteY1" fmla="*/ 0 h 163300"/>
              <a:gd name="connsiteX2" fmla="*/ 639000 w 639000"/>
              <a:gd name="connsiteY2" fmla="*/ 81650 h 163300"/>
              <a:gd name="connsiteX3" fmla="*/ 319500 w 639000"/>
              <a:gd name="connsiteY3" fmla="*/ 163300 h 163300"/>
              <a:gd name="rtl" fmla="*/ 7508250 w 639000"/>
              <a:gd name="rtt" fmla="*/ 1524040 h 163300"/>
              <a:gd name="rtr" fmla="*/ 8161450 w 639000"/>
              <a:gd name="rtb" fmla="*/ 16873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0B981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AFP 作用机制</a:t>
            </a:r>
            <a:endParaRPr lang="zh-CN" altLang="en-US" sz="690" b="1" dirty="0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4" name="任意多边形 463"/>
          <p:cNvSpPr/>
          <p:nvPr/>
        </p:nvSpPr>
        <p:spPr>
          <a:xfrm>
            <a:off x="7095765" y="2731805"/>
            <a:ext cx="248500" cy="7100"/>
          </a:xfrm>
          <a:custGeom>
            <a:avLst/>
            <a:gdLst/>
            <a:ahLst/>
            <a:cxnLst/>
            <a:rect l="l" t="t" r="r" b="b"/>
            <a:pathLst>
              <a:path w="248500" h="7100" fill="none">
                <a:moveTo>
                  <a:pt x="0" y="0"/>
                </a:moveTo>
                <a:lnTo>
                  <a:pt x="248500" y="0"/>
                </a:lnTo>
              </a:path>
            </a:pathLst>
          </a:custGeom>
          <a:noFill/>
          <a:ln w="14200" cap="flat">
            <a:solidFill>
              <a:srgbClr val="94A3B8"/>
            </a:solidFill>
            <a:miter/>
          </a:ln>
        </p:spPr>
      </p:sp>
      <p:sp>
        <p:nvSpPr>
          <p:cNvPr id="465" name="任意多边形 464"/>
          <p:cNvSpPr/>
          <p:nvPr/>
        </p:nvSpPr>
        <p:spPr>
          <a:xfrm>
            <a:off x="7296717" y="2700931"/>
            <a:ext cx="61748" cy="61748"/>
          </a:xfrm>
          <a:custGeom>
            <a:avLst/>
            <a:gdLst/>
            <a:ahLst/>
            <a:cxnLst/>
            <a:rect l="l" t="t" r="r" b="b"/>
            <a:pathLst>
              <a:path w="61748" h="61748" stroke="0">
                <a:moveTo>
                  <a:pt x="0" y="0"/>
                </a:moveTo>
                <a:lnTo>
                  <a:pt x="61748" y="30874"/>
                </a:lnTo>
                <a:lnTo>
                  <a:pt x="0" y="61748"/>
                </a:lnTo>
                <a:lnTo>
                  <a:pt x="0" y="0"/>
                </a:lnTo>
                <a:close/>
              </a:path>
              <a:path w="61748" h="61748" fill="none">
                <a:moveTo>
                  <a:pt x="0" y="0"/>
                </a:moveTo>
                <a:lnTo>
                  <a:pt x="61748" y="30874"/>
                </a:lnTo>
                <a:lnTo>
                  <a:pt x="0" y="61748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 w="7100" cap="flat">
            <a:noFill/>
            <a:miter/>
          </a:ln>
        </p:spPr>
      </p:sp>
      <p:sp>
        <p:nvSpPr>
          <p:cNvPr id="467" name="任意多边形 466"/>
          <p:cNvSpPr/>
          <p:nvPr/>
        </p:nvSpPr>
        <p:spPr>
          <a:xfrm>
            <a:off x="155515" y="689465"/>
            <a:ext cx="1008200" cy="156200"/>
          </a:xfrm>
          <a:custGeom>
            <a:avLst/>
            <a:gdLst>
              <a:gd name="connsiteX0" fmla="*/ 0 w 1008200"/>
              <a:gd name="connsiteY0" fmla="*/ 78100 h 156200"/>
              <a:gd name="connsiteX1" fmla="*/ 504100 w 1008200"/>
              <a:gd name="connsiteY1" fmla="*/ 0 h 156200"/>
              <a:gd name="connsiteX2" fmla="*/ 1008200 w 1008200"/>
              <a:gd name="connsiteY2" fmla="*/ 78100 h 156200"/>
              <a:gd name="connsiteX3" fmla="*/ 504100 w 1008200"/>
              <a:gd name="connsiteY3" fmla="*/ 156200 h 156200"/>
              <a:gd name="rtl" fmla="*/ 6067817 w 1008200"/>
              <a:gd name="rtt" fmla="*/ 2312140 h 156200"/>
              <a:gd name="rtr" fmla="*/ 7076017 w 1008200"/>
              <a:gd name="rtb" fmla="*/ 24683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强结冰附着，除冰液污染</a:t>
            </a:r>
            <a:endParaRPr lang="zh-CN" altLang="en-US" sz="64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8" name="任意多边形 467"/>
          <p:cNvSpPr/>
          <p:nvPr/>
        </p:nvSpPr>
        <p:spPr>
          <a:xfrm>
            <a:off x="155515" y="689465"/>
            <a:ext cx="1263800" cy="156200"/>
          </a:xfrm>
          <a:custGeom>
            <a:avLst/>
            <a:gdLst>
              <a:gd name="connsiteX0" fmla="*/ 0 w 1263800"/>
              <a:gd name="connsiteY0" fmla="*/ 78100 h 156200"/>
              <a:gd name="connsiteX1" fmla="*/ 631900 w 1263800"/>
              <a:gd name="connsiteY1" fmla="*/ 0 h 156200"/>
              <a:gd name="connsiteX2" fmla="*/ 1263800 w 1263800"/>
              <a:gd name="connsiteY2" fmla="*/ 78100 h 156200"/>
              <a:gd name="connsiteX3" fmla="*/ 631900 w 1263800"/>
              <a:gd name="connsiteY3" fmla="*/ 156200 h 156200"/>
              <a:gd name="rtl" fmla="*/ 7053850 w 1263800"/>
              <a:gd name="rtt" fmla="*/ 2312140 h 156200"/>
              <a:gd name="rtr" fmla="*/ 8317650 w 1263800"/>
              <a:gd name="rtb" fmla="*/ 24683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0B981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延迟异质成核，改变形态易脱落</a:t>
            </a:r>
            <a:endParaRPr lang="zh-CN" altLang="en-US" sz="640" dirty="0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9" name="任意多边形 468"/>
          <p:cNvSpPr/>
          <p:nvPr/>
        </p:nvSpPr>
        <p:spPr>
          <a:xfrm>
            <a:off x="6385765" y="2660805"/>
            <a:ext cx="426000" cy="142000"/>
          </a:xfrm>
          <a:custGeom>
            <a:avLst/>
            <a:gdLst/>
            <a:ahLst/>
            <a:cxnLst/>
            <a:rect l="l" t="t" r="r" b="b"/>
            <a:pathLst>
              <a:path w="426000" h="142000" stroke="0">
                <a:moveTo>
                  <a:pt x="0" y="142000"/>
                </a:moveTo>
                <a:cubicBezTo>
                  <a:pt x="142000" y="-47333"/>
                  <a:pt x="284000" y="-47333"/>
                  <a:pt x="426000" y="142000"/>
                </a:cubicBezTo>
              </a:path>
              <a:path w="426000" h="142000" fill="none">
                <a:moveTo>
                  <a:pt x="0" y="142000"/>
                </a:moveTo>
                <a:cubicBezTo>
                  <a:pt x="142000" y="-47333"/>
                  <a:pt x="284000" y="-47333"/>
                  <a:pt x="426000" y="142000"/>
                </a:cubicBezTo>
              </a:path>
            </a:pathLst>
          </a:custGeom>
          <a:noFill/>
          <a:ln w="28400" cap="flat">
            <a:solidFill>
              <a:srgbClr val="64748B"/>
            </a:solidFill>
            <a:miter/>
          </a:ln>
        </p:spPr>
      </p:sp>
      <p:sp>
        <p:nvSpPr>
          <p:cNvPr id="470" name="任意多边形 469"/>
          <p:cNvSpPr/>
          <p:nvPr/>
        </p:nvSpPr>
        <p:spPr>
          <a:xfrm>
            <a:off x="6456765" y="2483305"/>
            <a:ext cx="284000" cy="213000"/>
          </a:xfrm>
          <a:custGeom>
            <a:avLst/>
            <a:gdLst/>
            <a:ahLst/>
            <a:cxnLst/>
            <a:rect l="l" t="t" r="r" b="b"/>
            <a:pathLst>
              <a:path w="284000" h="213000" stroke="0">
                <a:moveTo>
                  <a:pt x="0" y="213000"/>
                </a:moveTo>
                <a:lnTo>
                  <a:pt x="71000" y="35500"/>
                </a:lnTo>
                <a:lnTo>
                  <a:pt x="142000" y="106500"/>
                </a:lnTo>
                <a:lnTo>
                  <a:pt x="213000" y="0"/>
                </a:lnTo>
                <a:lnTo>
                  <a:pt x="284000" y="213000"/>
                </a:lnTo>
                <a:lnTo>
                  <a:pt x="0" y="213000"/>
                </a:lnTo>
                <a:close/>
              </a:path>
              <a:path w="284000" h="213000" fill="none">
                <a:moveTo>
                  <a:pt x="0" y="213000"/>
                </a:moveTo>
                <a:lnTo>
                  <a:pt x="71000" y="35500"/>
                </a:lnTo>
                <a:lnTo>
                  <a:pt x="142000" y="106500"/>
                </a:lnTo>
                <a:lnTo>
                  <a:pt x="213000" y="0"/>
                </a:lnTo>
                <a:lnTo>
                  <a:pt x="284000" y="213000"/>
                </a:lnTo>
                <a:lnTo>
                  <a:pt x="0" y="213000"/>
                </a:lnTo>
                <a:close/>
              </a:path>
            </a:pathLst>
          </a:custGeom>
          <a:solidFill>
            <a:srgbClr val="BFDBFE"/>
          </a:solidFill>
          <a:ln w="7100" cap="flat">
            <a:noFill/>
            <a:miter/>
          </a:ln>
        </p:spPr>
      </p:sp>
      <p:sp>
        <p:nvSpPr>
          <p:cNvPr id="471" name="任意多边形 470"/>
          <p:cNvSpPr/>
          <p:nvPr/>
        </p:nvSpPr>
        <p:spPr>
          <a:xfrm>
            <a:off x="7592765" y="2660805"/>
            <a:ext cx="426000" cy="142000"/>
          </a:xfrm>
          <a:custGeom>
            <a:avLst/>
            <a:gdLst/>
            <a:ahLst/>
            <a:cxnLst/>
            <a:rect l="l" t="t" r="r" b="b"/>
            <a:pathLst>
              <a:path w="426000" h="142000" stroke="0">
                <a:moveTo>
                  <a:pt x="0" y="142000"/>
                </a:moveTo>
                <a:cubicBezTo>
                  <a:pt x="142000" y="-47333"/>
                  <a:pt x="284000" y="-47333"/>
                  <a:pt x="426000" y="142000"/>
                </a:cubicBezTo>
              </a:path>
              <a:path w="426000" h="142000" fill="none">
                <a:moveTo>
                  <a:pt x="0" y="142000"/>
                </a:moveTo>
                <a:cubicBezTo>
                  <a:pt x="142000" y="-47333"/>
                  <a:pt x="284000" y="-47333"/>
                  <a:pt x="426000" y="142000"/>
                </a:cubicBezTo>
              </a:path>
            </a:pathLst>
          </a:custGeom>
          <a:noFill/>
          <a:ln w="28400" cap="flat">
            <a:solidFill>
              <a:srgbClr val="64748B"/>
            </a:solidFill>
            <a:miter/>
          </a:ln>
        </p:spPr>
      </p:sp>
      <p:sp>
        <p:nvSpPr>
          <p:cNvPr id="472" name="任意多边形 471"/>
          <p:cNvSpPr/>
          <p:nvPr/>
        </p:nvSpPr>
        <p:spPr>
          <a:xfrm>
            <a:off x="7592765" y="2632405"/>
            <a:ext cx="426000" cy="142000"/>
          </a:xfrm>
          <a:custGeom>
            <a:avLst/>
            <a:gdLst/>
            <a:ahLst/>
            <a:cxnLst/>
            <a:rect l="l" t="t" r="r" b="b"/>
            <a:pathLst>
              <a:path w="426000" h="142000" stroke="0">
                <a:moveTo>
                  <a:pt x="0" y="142000"/>
                </a:moveTo>
                <a:cubicBezTo>
                  <a:pt x="142000" y="-47333"/>
                  <a:pt x="284000" y="-47333"/>
                  <a:pt x="426000" y="142000"/>
                </a:cubicBezTo>
              </a:path>
              <a:path w="426000" h="142000" fill="none">
                <a:moveTo>
                  <a:pt x="0" y="142000"/>
                </a:moveTo>
                <a:cubicBezTo>
                  <a:pt x="142000" y="-47333"/>
                  <a:pt x="284000" y="-47333"/>
                  <a:pt x="426000" y="142000"/>
                </a:cubicBezTo>
              </a:path>
            </a:pathLst>
          </a:custGeom>
          <a:noFill/>
          <a:ln w="21300" cap="flat">
            <a:solidFill>
              <a:srgbClr val="10B981"/>
            </a:solidFill>
            <a:custDash>
              <a:ds d="250000" sp="250000"/>
            </a:custDash>
            <a:miter/>
          </a:ln>
        </p:spPr>
      </p:sp>
      <p:sp>
        <p:nvSpPr>
          <p:cNvPr id="473" name="任意多边形 472"/>
          <p:cNvSpPr/>
          <p:nvPr/>
        </p:nvSpPr>
        <p:spPr>
          <a:xfrm>
            <a:off x="7706365" y="2383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93C5FD"/>
          </a:solidFill>
          <a:ln w="7100" cap="flat">
            <a:noFill/>
            <a:miter/>
          </a:ln>
        </p:spPr>
      </p:sp>
      <p:sp>
        <p:nvSpPr>
          <p:cNvPr id="474" name="任意多边形 473"/>
          <p:cNvSpPr/>
          <p:nvPr/>
        </p:nvSpPr>
        <p:spPr>
          <a:xfrm>
            <a:off x="7855465" y="2355505"/>
            <a:ext cx="42600" cy="42600"/>
          </a:xfrm>
          <a:custGeom>
            <a:avLst/>
            <a:gdLst/>
            <a:ahLst/>
            <a:cxnLst/>
            <a:rect l="l" t="t" r="r" b="b"/>
            <a:pathLst>
              <a:path w="42600" h="42600" stroke="0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  <a:path w="42600" h="42600" fill="none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</a:pathLst>
          </a:custGeom>
          <a:solidFill>
            <a:srgbClr val="93C5FD"/>
          </a:solidFill>
          <a:ln w="7100" cap="flat">
            <a:noFill/>
            <a:miter/>
          </a:ln>
        </p:spPr>
      </p:sp>
      <p:sp>
        <p:nvSpPr>
          <p:cNvPr id="475" name="任意多边形 474"/>
          <p:cNvSpPr/>
          <p:nvPr/>
        </p:nvSpPr>
        <p:spPr>
          <a:xfrm>
            <a:off x="7734765" y="2462005"/>
            <a:ext cx="7100" cy="71000"/>
          </a:xfrm>
          <a:custGeom>
            <a:avLst/>
            <a:gdLst/>
            <a:ahLst/>
            <a:cxnLst/>
            <a:rect l="l" t="t" r="r" b="b"/>
            <a:pathLst>
              <a:path w="7100" h="71000" fill="none">
                <a:moveTo>
                  <a:pt x="0" y="0"/>
                </a:moveTo>
                <a:lnTo>
                  <a:pt x="0" y="71000"/>
                </a:lnTo>
              </a:path>
            </a:pathLst>
          </a:custGeom>
          <a:noFill/>
          <a:ln w="10650" cap="flat">
            <a:solidFill>
              <a:srgbClr val="94A3B8"/>
            </a:solidFill>
            <a:miter/>
          </a:ln>
        </p:spPr>
      </p:sp>
      <p:sp>
        <p:nvSpPr>
          <p:cNvPr id="476" name="任意多边形 475"/>
          <p:cNvSpPr/>
          <p:nvPr/>
        </p:nvSpPr>
        <p:spPr>
          <a:xfrm rot="5400000">
            <a:off x="7712487" y="2514277"/>
            <a:ext cx="44557" cy="44557"/>
          </a:xfrm>
          <a:custGeom>
            <a:avLst/>
            <a:gdLst/>
            <a:ahLst/>
            <a:cxnLst/>
            <a:rect l="l" t="t" r="r" b="b"/>
            <a:pathLst>
              <a:path w="44557" h="44557" stroke="0">
                <a:moveTo>
                  <a:pt x="0" y="0"/>
                </a:moveTo>
                <a:lnTo>
                  <a:pt x="44557" y="22278"/>
                </a:lnTo>
                <a:lnTo>
                  <a:pt x="0" y="44557"/>
                </a:lnTo>
                <a:lnTo>
                  <a:pt x="0" y="0"/>
                </a:lnTo>
                <a:close/>
              </a:path>
              <a:path w="44557" h="44557" fill="none">
                <a:moveTo>
                  <a:pt x="0" y="0"/>
                </a:moveTo>
                <a:lnTo>
                  <a:pt x="44557" y="22278"/>
                </a:lnTo>
                <a:lnTo>
                  <a:pt x="0" y="44557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 w="7100" cap="flat">
            <a:noFill/>
            <a:miter/>
          </a:ln>
        </p:spPr>
      </p:sp>
      <p:sp>
        <p:nvSpPr>
          <p:cNvPr id="478" name="任意多边形 477"/>
          <p:cNvSpPr/>
          <p:nvPr/>
        </p:nvSpPr>
        <p:spPr>
          <a:xfrm>
            <a:off x="7876765" y="2419405"/>
            <a:ext cx="35500" cy="71000"/>
          </a:xfrm>
          <a:custGeom>
            <a:avLst/>
            <a:gdLst/>
            <a:ahLst/>
            <a:cxnLst/>
            <a:rect l="l" t="t" r="r" b="b"/>
            <a:pathLst>
              <a:path w="35500" h="71000" fill="none">
                <a:moveTo>
                  <a:pt x="0" y="0"/>
                </a:moveTo>
                <a:lnTo>
                  <a:pt x="35500" y="71000"/>
                </a:lnTo>
              </a:path>
            </a:pathLst>
          </a:custGeom>
          <a:noFill/>
          <a:ln w="10650" cap="flat">
            <a:solidFill>
              <a:srgbClr val="94A3B8"/>
            </a:solidFill>
            <a:miter/>
          </a:ln>
        </p:spPr>
      </p:sp>
      <p:sp>
        <p:nvSpPr>
          <p:cNvPr id="479" name="任意多边形 478"/>
          <p:cNvSpPr/>
          <p:nvPr/>
        </p:nvSpPr>
        <p:spPr>
          <a:xfrm rot="4200000">
            <a:off x="7896174" y="2481338"/>
            <a:ext cx="39004" cy="39004"/>
          </a:xfrm>
          <a:custGeom>
            <a:avLst/>
            <a:gdLst/>
            <a:ahLst/>
            <a:cxnLst/>
            <a:rect l="l" t="t" r="r" b="b"/>
            <a:pathLst>
              <a:path w="39004" h="39004" stroke="0">
                <a:moveTo>
                  <a:pt x="0" y="0"/>
                </a:moveTo>
                <a:lnTo>
                  <a:pt x="39004" y="19502"/>
                </a:lnTo>
                <a:lnTo>
                  <a:pt x="0" y="39004"/>
                </a:lnTo>
                <a:lnTo>
                  <a:pt x="0" y="0"/>
                </a:lnTo>
                <a:close/>
              </a:path>
              <a:path w="39004" h="39004" fill="none">
                <a:moveTo>
                  <a:pt x="0" y="0"/>
                </a:moveTo>
                <a:lnTo>
                  <a:pt x="39004" y="19502"/>
                </a:lnTo>
                <a:lnTo>
                  <a:pt x="0" y="39004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 w="7100" cap="flat">
            <a:noFill/>
            <a:miter/>
          </a:ln>
        </p:spPr>
      </p:sp>
      <p:sp>
        <p:nvSpPr>
          <p:cNvPr id="482" name="任意多边形 481"/>
          <p:cNvSpPr/>
          <p:nvPr/>
        </p:nvSpPr>
        <p:spPr>
          <a:xfrm>
            <a:off x="155515" y="689465"/>
            <a:ext cx="667400" cy="170400"/>
          </a:xfrm>
          <a:custGeom>
            <a:avLst/>
            <a:gdLst>
              <a:gd name="connsiteX0" fmla="*/ 0 w 667400"/>
              <a:gd name="connsiteY0" fmla="*/ 85200 h 170400"/>
              <a:gd name="connsiteX1" fmla="*/ 333700 w 667400"/>
              <a:gd name="connsiteY1" fmla="*/ 0 h 170400"/>
              <a:gd name="connsiteX2" fmla="*/ 667400 w 667400"/>
              <a:gd name="connsiteY2" fmla="*/ 85200 h 170400"/>
              <a:gd name="connsiteX3" fmla="*/ 333700 w 667400"/>
              <a:gd name="connsiteY3" fmla="*/ 170400 h 170400"/>
              <a:gd name="rtl" fmla="*/ 6095350 w 667400"/>
              <a:gd name="rtt" fmla="*/ 2581940 h 170400"/>
              <a:gd name="rtr" fmla="*/ 6762750 w 667400"/>
              <a:gd name="rtb" fmla="*/ 2752340 h 1704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关键设计权重</a:t>
            </a:r>
            <a:endParaRPr lang="zh-CN" altLang="en-US" sz="745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3" name="任意多边形 482"/>
          <p:cNvSpPr/>
          <p:nvPr/>
        </p:nvSpPr>
        <p:spPr>
          <a:xfrm>
            <a:off x="6279265" y="3512805"/>
            <a:ext cx="681600" cy="85200"/>
          </a:xfrm>
          <a:custGeom>
            <a:avLst/>
            <a:gdLst/>
            <a:ahLst/>
            <a:cxnLst/>
            <a:rect l="l" t="t" r="r" b="b"/>
            <a:pathLst>
              <a:path w="681600" h="852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653200" y="0"/>
                </a:lnTo>
                <a:cubicBezTo>
                  <a:pt x="668885" y="0"/>
                  <a:pt x="681600" y="12715"/>
                  <a:pt x="681600" y="28400"/>
                </a:cubicBezTo>
                <a:lnTo>
                  <a:pt x="681600" y="56800"/>
                </a:lnTo>
                <a:cubicBezTo>
                  <a:pt x="681600" y="72485"/>
                  <a:pt x="668885" y="85200"/>
                  <a:pt x="6532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  <a:path w="681600" h="852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653200" y="0"/>
                </a:lnTo>
                <a:cubicBezTo>
                  <a:pt x="668885" y="0"/>
                  <a:pt x="681600" y="12715"/>
                  <a:pt x="681600" y="28400"/>
                </a:cubicBezTo>
                <a:lnTo>
                  <a:pt x="681600" y="56800"/>
                </a:lnTo>
                <a:cubicBezTo>
                  <a:pt x="681600" y="72485"/>
                  <a:pt x="668885" y="85200"/>
                  <a:pt x="6532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</a:pathLst>
          </a:custGeom>
          <a:gradFill>
            <a:gsLst>
              <a:gs pos="0">
                <a:srgbClr val="F59E0B"/>
              </a:gs>
              <a:gs pos="100000">
                <a:srgbClr val="FBBF24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484" name="任意多边形 483"/>
          <p:cNvSpPr/>
          <p:nvPr/>
        </p:nvSpPr>
        <p:spPr>
          <a:xfrm>
            <a:off x="6975065" y="3512805"/>
            <a:ext cx="681600" cy="85200"/>
          </a:xfrm>
          <a:custGeom>
            <a:avLst/>
            <a:gdLst/>
            <a:ahLst/>
            <a:cxnLst/>
            <a:rect l="l" t="t" r="r" b="b"/>
            <a:pathLst>
              <a:path w="681600" h="852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653200" y="0"/>
                </a:lnTo>
                <a:cubicBezTo>
                  <a:pt x="668885" y="0"/>
                  <a:pt x="681600" y="12715"/>
                  <a:pt x="681600" y="28400"/>
                </a:cubicBezTo>
                <a:lnTo>
                  <a:pt x="681600" y="56800"/>
                </a:lnTo>
                <a:cubicBezTo>
                  <a:pt x="681600" y="72485"/>
                  <a:pt x="668885" y="85200"/>
                  <a:pt x="6532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  <a:path w="681600" h="852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653200" y="0"/>
                </a:lnTo>
                <a:cubicBezTo>
                  <a:pt x="668885" y="0"/>
                  <a:pt x="681600" y="12715"/>
                  <a:pt x="681600" y="28400"/>
                </a:cubicBezTo>
                <a:lnTo>
                  <a:pt x="681600" y="56800"/>
                </a:lnTo>
                <a:cubicBezTo>
                  <a:pt x="681600" y="72485"/>
                  <a:pt x="668885" y="85200"/>
                  <a:pt x="6532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</a:pathLst>
          </a:custGeom>
          <a:gradFill>
            <a:gsLst>
              <a:gs pos="0">
                <a:srgbClr val="94A3B8"/>
              </a:gs>
              <a:gs pos="100000">
                <a:srgbClr val="CBD5E1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485" name="任意多边形 484"/>
          <p:cNvSpPr/>
          <p:nvPr/>
        </p:nvSpPr>
        <p:spPr>
          <a:xfrm>
            <a:off x="7670865" y="3512805"/>
            <a:ext cx="454400" cy="85200"/>
          </a:xfrm>
          <a:custGeom>
            <a:avLst/>
            <a:gdLst/>
            <a:ahLst/>
            <a:cxnLst/>
            <a:rect l="l" t="t" r="r" b="b"/>
            <a:pathLst>
              <a:path w="454400" h="852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426000" y="0"/>
                </a:lnTo>
                <a:cubicBezTo>
                  <a:pt x="441685" y="0"/>
                  <a:pt x="454400" y="12715"/>
                  <a:pt x="454400" y="28400"/>
                </a:cubicBezTo>
                <a:lnTo>
                  <a:pt x="454400" y="56800"/>
                </a:lnTo>
                <a:cubicBezTo>
                  <a:pt x="454400" y="72485"/>
                  <a:pt x="441685" y="85200"/>
                  <a:pt x="4260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  <a:path w="454400" h="852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426000" y="0"/>
                </a:lnTo>
                <a:cubicBezTo>
                  <a:pt x="441685" y="0"/>
                  <a:pt x="454400" y="12715"/>
                  <a:pt x="454400" y="28400"/>
                </a:cubicBezTo>
                <a:lnTo>
                  <a:pt x="454400" y="56800"/>
                </a:lnTo>
                <a:cubicBezTo>
                  <a:pt x="454400" y="72485"/>
                  <a:pt x="441685" y="85200"/>
                  <a:pt x="4260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</a:pathLst>
          </a:custGeom>
          <a:gradFill>
            <a:gsLst>
              <a:gs pos="0">
                <a:srgbClr val="10B981"/>
              </a:gs>
              <a:gs pos="100000">
                <a:srgbClr val="34D399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486" name="任意多边形 485"/>
          <p:cNvSpPr/>
          <p:nvPr/>
        </p:nvSpPr>
        <p:spPr>
          <a:xfrm>
            <a:off x="8139465" y="3512805"/>
            <a:ext cx="454400" cy="85200"/>
          </a:xfrm>
          <a:custGeom>
            <a:avLst/>
            <a:gdLst/>
            <a:ahLst/>
            <a:cxnLst/>
            <a:rect l="l" t="t" r="r" b="b"/>
            <a:pathLst>
              <a:path w="454400" h="852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426000" y="0"/>
                </a:lnTo>
                <a:cubicBezTo>
                  <a:pt x="441685" y="0"/>
                  <a:pt x="454400" y="12715"/>
                  <a:pt x="454400" y="28400"/>
                </a:cubicBezTo>
                <a:lnTo>
                  <a:pt x="454400" y="56800"/>
                </a:lnTo>
                <a:cubicBezTo>
                  <a:pt x="454400" y="72485"/>
                  <a:pt x="441685" y="85200"/>
                  <a:pt x="4260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  <a:path w="454400" h="852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426000" y="0"/>
                </a:lnTo>
                <a:cubicBezTo>
                  <a:pt x="441685" y="0"/>
                  <a:pt x="454400" y="12715"/>
                  <a:pt x="454400" y="28400"/>
                </a:cubicBezTo>
                <a:lnTo>
                  <a:pt x="454400" y="56800"/>
                </a:lnTo>
                <a:cubicBezTo>
                  <a:pt x="454400" y="72485"/>
                  <a:pt x="441685" y="85200"/>
                  <a:pt x="4260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</a:pathLst>
          </a:custGeom>
          <a:solidFill>
            <a:srgbClr val="E2E8F0"/>
          </a:solidFill>
          <a:ln w="7100" cap="flat">
            <a:noFill/>
            <a:miter/>
          </a:ln>
        </p:spPr>
      </p:sp>
      <p:sp>
        <p:nvSpPr>
          <p:cNvPr id="487" name="任意多边形 486"/>
          <p:cNvSpPr/>
          <p:nvPr/>
        </p:nvSpPr>
        <p:spPr>
          <a:xfrm>
            <a:off x="6286365" y="3661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F59E0B"/>
          </a:solidFill>
          <a:ln w="7100" cap="flat">
            <a:noFill/>
            <a:miter/>
          </a:ln>
        </p:spPr>
      </p:sp>
      <p:sp>
        <p:nvSpPr>
          <p:cNvPr id="488" name="任意多边形 487"/>
          <p:cNvSpPr/>
          <p:nvPr/>
        </p:nvSpPr>
        <p:spPr>
          <a:xfrm>
            <a:off x="155515" y="689465"/>
            <a:ext cx="326600" cy="156200"/>
          </a:xfrm>
          <a:custGeom>
            <a:avLst/>
            <a:gdLst>
              <a:gd name="connsiteX0" fmla="*/ 0 w 326600"/>
              <a:gd name="connsiteY0" fmla="*/ 78100 h 156200"/>
              <a:gd name="connsiteX1" fmla="*/ 163300 w 326600"/>
              <a:gd name="connsiteY1" fmla="*/ 0 h 156200"/>
              <a:gd name="connsiteX2" fmla="*/ 326600 w 326600"/>
              <a:gd name="connsiteY2" fmla="*/ 78100 h 156200"/>
              <a:gd name="connsiteX3" fmla="*/ 163300 w 326600"/>
              <a:gd name="connsiteY3" fmla="*/ 156200 h 156200"/>
              <a:gd name="rtl" fmla="*/ 6169900 w 326600"/>
              <a:gd name="rtt" fmla="*/ 2915640 h 156200"/>
              <a:gd name="rtr" fmla="*/ 6560400 w 326600"/>
              <a:gd name="rtb" fmla="*/ 30718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 30%</a:t>
            </a:r>
            <a:endParaRPr lang="zh-CN" altLang="en-US" sz="640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9" name="任意多边形 488"/>
          <p:cNvSpPr/>
          <p:nvPr/>
        </p:nvSpPr>
        <p:spPr>
          <a:xfrm>
            <a:off x="6783365" y="3661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490" name="任意多边形 489"/>
          <p:cNvSpPr/>
          <p:nvPr/>
        </p:nvSpPr>
        <p:spPr>
          <a:xfrm>
            <a:off x="155515" y="689465"/>
            <a:ext cx="497000" cy="156200"/>
          </a:xfrm>
          <a:custGeom>
            <a:avLst/>
            <a:gdLst>
              <a:gd name="connsiteX0" fmla="*/ 0 w 497000"/>
              <a:gd name="connsiteY0" fmla="*/ 78100 h 156200"/>
              <a:gd name="connsiteX1" fmla="*/ 248500 w 497000"/>
              <a:gd name="connsiteY1" fmla="*/ 0 h 156200"/>
              <a:gd name="connsiteX2" fmla="*/ 497000 w 497000"/>
              <a:gd name="connsiteY2" fmla="*/ 78100 h 156200"/>
              <a:gd name="connsiteX3" fmla="*/ 248500 w 497000"/>
              <a:gd name="connsiteY3" fmla="*/ 156200 h 156200"/>
              <a:gd name="rtl" fmla="*/ 6681100 w 497000"/>
              <a:gd name="rtt" fmla="*/ 2915640 h 156200"/>
              <a:gd name="rtr" fmla="*/ 7213600 w 497000"/>
              <a:gd name="rtb" fmla="*/ 30718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 30%</a:t>
            </a:r>
            <a:endParaRPr lang="zh-CN" altLang="en-US" sz="640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1" name="任意多边形 490"/>
          <p:cNvSpPr/>
          <p:nvPr/>
        </p:nvSpPr>
        <p:spPr>
          <a:xfrm>
            <a:off x="7351365" y="3661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10B981"/>
          </a:solidFill>
          <a:ln w="7100" cap="flat">
            <a:noFill/>
            <a:miter/>
          </a:ln>
        </p:spPr>
      </p:sp>
      <p:sp>
        <p:nvSpPr>
          <p:cNvPr id="492" name="任意多边形 491"/>
          <p:cNvSpPr/>
          <p:nvPr/>
        </p:nvSpPr>
        <p:spPr>
          <a:xfrm>
            <a:off x="155515" y="689465"/>
            <a:ext cx="369200" cy="156200"/>
          </a:xfrm>
          <a:custGeom>
            <a:avLst/>
            <a:gdLst>
              <a:gd name="connsiteX0" fmla="*/ 0 w 369200"/>
              <a:gd name="connsiteY0" fmla="*/ 78100 h 156200"/>
              <a:gd name="connsiteX1" fmla="*/ 184600 w 369200"/>
              <a:gd name="connsiteY1" fmla="*/ 0 h 156200"/>
              <a:gd name="connsiteX2" fmla="*/ 369200 w 369200"/>
              <a:gd name="connsiteY2" fmla="*/ 78100 h 156200"/>
              <a:gd name="connsiteX3" fmla="*/ 184600 w 369200"/>
              <a:gd name="connsiteY3" fmla="*/ 156200 h 156200"/>
              <a:gd name="rtl" fmla="*/ 7256200 w 369200"/>
              <a:gd name="rtt" fmla="*/ 2915640 h 156200"/>
              <a:gd name="rtr" fmla="*/ 7646700 w 369200"/>
              <a:gd name="rtb" fmla="*/ 30718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IRI 20%</a:t>
            </a:r>
            <a:endParaRPr lang="zh-CN" altLang="en-US" sz="640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3" name="任意多边形 492"/>
          <p:cNvSpPr/>
          <p:nvPr/>
        </p:nvSpPr>
        <p:spPr>
          <a:xfrm>
            <a:off x="6279265" y="3867805"/>
            <a:ext cx="2307500" cy="1737264"/>
          </a:xfrm>
          <a:custGeom>
            <a:avLst/>
            <a:gdLst/>
            <a:ahLst/>
            <a:cxnLst/>
            <a:rect l="l" t="t" r="r" b="b"/>
            <a:pathLst>
              <a:path w="2307500" h="1737264" stroke="0">
                <a:moveTo>
                  <a:pt x="0" y="34745"/>
                </a:moveTo>
                <a:cubicBezTo>
                  <a:pt x="0" y="15556"/>
                  <a:pt x="19073" y="0"/>
                  <a:pt x="42600" y="0"/>
                </a:cubicBezTo>
                <a:lnTo>
                  <a:pt x="2264900" y="0"/>
                </a:lnTo>
                <a:cubicBezTo>
                  <a:pt x="2288427" y="0"/>
                  <a:pt x="2307500" y="15556"/>
                  <a:pt x="2307500" y="34745"/>
                </a:cubicBezTo>
                <a:lnTo>
                  <a:pt x="2307500" y="1702519"/>
                </a:lnTo>
                <a:cubicBezTo>
                  <a:pt x="2307500" y="1721708"/>
                  <a:pt x="2288427" y="1737264"/>
                  <a:pt x="2264900" y="1737264"/>
                </a:cubicBezTo>
                <a:lnTo>
                  <a:pt x="42600" y="1737264"/>
                </a:lnTo>
                <a:cubicBezTo>
                  <a:pt x="19073" y="1737264"/>
                  <a:pt x="0" y="1721708"/>
                  <a:pt x="0" y="1702519"/>
                </a:cubicBezTo>
                <a:lnTo>
                  <a:pt x="0" y="34745"/>
                </a:lnTo>
                <a:close/>
              </a:path>
              <a:path w="2307500" h="1737264" fill="none">
                <a:moveTo>
                  <a:pt x="0" y="34745"/>
                </a:moveTo>
                <a:cubicBezTo>
                  <a:pt x="0" y="15556"/>
                  <a:pt x="19073" y="0"/>
                  <a:pt x="42600" y="0"/>
                </a:cubicBezTo>
                <a:lnTo>
                  <a:pt x="2264900" y="0"/>
                </a:lnTo>
                <a:cubicBezTo>
                  <a:pt x="2288427" y="0"/>
                  <a:pt x="2307500" y="15556"/>
                  <a:pt x="2307500" y="34745"/>
                </a:cubicBezTo>
                <a:lnTo>
                  <a:pt x="2307500" y="1702519"/>
                </a:lnTo>
                <a:cubicBezTo>
                  <a:pt x="2307500" y="1721708"/>
                  <a:pt x="2288427" y="1737264"/>
                  <a:pt x="2264900" y="1737264"/>
                </a:cubicBezTo>
                <a:lnTo>
                  <a:pt x="42600" y="1737264"/>
                </a:lnTo>
                <a:cubicBezTo>
                  <a:pt x="19073" y="1737264"/>
                  <a:pt x="0" y="1721708"/>
                  <a:pt x="0" y="1702519"/>
                </a:cubicBezTo>
                <a:lnTo>
                  <a:pt x="0" y="34745"/>
                </a:lnTo>
                <a:close/>
              </a:path>
            </a:pathLst>
          </a:custGeom>
          <a:solidFill>
            <a:srgbClr val="F8FAFC"/>
          </a:solidFill>
          <a:ln w="7100" cap="flat">
            <a:noFill/>
            <a:miter/>
          </a:ln>
        </p:spPr>
      </p:sp>
      <p:sp>
        <p:nvSpPr>
          <p:cNvPr id="494" name="任意多边形 493"/>
          <p:cNvSpPr/>
          <p:nvPr/>
        </p:nvSpPr>
        <p:spPr>
          <a:xfrm>
            <a:off x="155515" y="689465"/>
            <a:ext cx="816500" cy="170400"/>
          </a:xfrm>
          <a:custGeom>
            <a:avLst/>
            <a:gdLst>
              <a:gd name="connsiteX0" fmla="*/ 0 w 816500"/>
              <a:gd name="connsiteY0" fmla="*/ 85200 h 170400"/>
              <a:gd name="connsiteX1" fmla="*/ 408250 w 816500"/>
              <a:gd name="connsiteY1" fmla="*/ 0 h 170400"/>
              <a:gd name="connsiteX2" fmla="*/ 816500 w 816500"/>
              <a:gd name="connsiteY2" fmla="*/ 85200 h 170400"/>
              <a:gd name="connsiteX3" fmla="*/ 408250 w 816500"/>
              <a:gd name="connsiteY3" fmla="*/ 170400 h 170400"/>
              <a:gd name="rtl" fmla="*/ 6152150 w 816500"/>
              <a:gd name="rtt" fmla="*/ 3220940 h 170400"/>
              <a:gd name="rtr" fmla="*/ 7004150 w 816500"/>
              <a:gd name="rtb" fmla="*/ 3391340 h 1704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293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 年关键证据</a:t>
            </a:r>
            <a:endParaRPr lang="zh-CN" altLang="en-US" sz="745" b="1" dirty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5" name="任意多边形 494"/>
          <p:cNvSpPr/>
          <p:nvPr/>
        </p:nvSpPr>
        <p:spPr>
          <a:xfrm>
            <a:off x="6350265" y="4187305"/>
            <a:ext cx="7100" cy="1242500"/>
          </a:xfrm>
          <a:custGeom>
            <a:avLst/>
            <a:gdLst/>
            <a:ahLst/>
            <a:cxnLst/>
            <a:rect l="l" t="t" r="r" b="b"/>
            <a:pathLst>
              <a:path w="7100" h="1242500" stroke="0">
                <a:moveTo>
                  <a:pt x="0" y="0"/>
                </a:moveTo>
                <a:lnTo>
                  <a:pt x="0" y="1242500"/>
                </a:lnTo>
              </a:path>
              <a:path w="7100" h="1242500" fill="none">
                <a:moveTo>
                  <a:pt x="0" y="0"/>
                </a:moveTo>
                <a:lnTo>
                  <a:pt x="0" y="1242500"/>
                </a:lnTo>
              </a:path>
            </a:pathLst>
          </a:custGeom>
          <a:solidFill>
            <a:srgbClr val="000000"/>
          </a:solidFill>
          <a:ln w="14200" cap="flat">
            <a:solidFill>
              <a:srgbClr val="CBD5E1"/>
            </a:solidFill>
            <a:custDash>
              <a:ds d="1100000" sp="500000"/>
            </a:custDash>
            <a:miter/>
          </a:ln>
        </p:spPr>
      </p:sp>
      <p:sp>
        <p:nvSpPr>
          <p:cNvPr id="496" name="任意多边形 495"/>
          <p:cNvSpPr/>
          <p:nvPr/>
        </p:nvSpPr>
        <p:spPr>
          <a:xfrm>
            <a:off x="6321865" y="4158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0284C7"/>
          </a:solidFill>
          <a:ln w="7100" cap="flat">
            <a:noFill/>
            <a:miter/>
          </a:ln>
        </p:spPr>
      </p:sp>
      <p:sp>
        <p:nvSpPr>
          <p:cNvPr id="497" name="任意多边形 496"/>
          <p:cNvSpPr/>
          <p:nvPr/>
        </p:nvSpPr>
        <p:spPr>
          <a:xfrm>
            <a:off x="155515" y="689465"/>
            <a:ext cx="1334800" cy="163300"/>
          </a:xfrm>
          <a:custGeom>
            <a:avLst/>
            <a:gdLst>
              <a:gd name="connsiteX0" fmla="*/ 0 w 1334800"/>
              <a:gd name="connsiteY0" fmla="*/ 81650 h 163300"/>
              <a:gd name="connsiteX1" fmla="*/ 667400 w 1334800"/>
              <a:gd name="connsiteY1" fmla="*/ 0 h 163300"/>
              <a:gd name="connsiteX2" fmla="*/ 1334800 w 1334800"/>
              <a:gd name="connsiteY2" fmla="*/ 81650 h 163300"/>
              <a:gd name="connsiteX3" fmla="*/ 667400 w 1334800"/>
              <a:gd name="connsiteY3" fmla="*/ 163300 h 163300"/>
              <a:gd name="rtl" fmla="*/ 6240900 w 1334800"/>
              <a:gd name="rtt" fmla="*/ 3398440 h 163300"/>
              <a:gd name="rtr" fmla="*/ 7611200 w 1334800"/>
              <a:gd name="rtb" fmla="*/ 35617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14-AA自组装涂层：耐磨透光率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8" name="任意多边形 497"/>
          <p:cNvSpPr/>
          <p:nvPr/>
        </p:nvSpPr>
        <p:spPr>
          <a:xfrm>
            <a:off x="155515" y="689465"/>
            <a:ext cx="1022400" cy="163300"/>
          </a:xfrm>
          <a:custGeom>
            <a:avLst/>
            <a:gdLst>
              <a:gd name="connsiteX0" fmla="*/ 0 w 1022400"/>
              <a:gd name="connsiteY0" fmla="*/ 81650 h 163300"/>
              <a:gd name="connsiteX1" fmla="*/ 511200 w 1022400"/>
              <a:gd name="connsiteY1" fmla="*/ 0 h 163300"/>
              <a:gd name="connsiteX2" fmla="*/ 1022400 w 1022400"/>
              <a:gd name="connsiteY2" fmla="*/ 81650 h 163300"/>
              <a:gd name="connsiteX3" fmla="*/ 511200 w 1022400"/>
              <a:gd name="connsiteY3" fmla="*/ 163300 h 163300"/>
              <a:gd name="rtl" fmla="*/ 6251550 w 1022400"/>
              <a:gd name="rtt" fmla="*/ 3526240 h 163300"/>
              <a:gd name="rtr" fmla="*/ 7288150 w 1022400"/>
              <a:gd name="rtb" fmla="*/ 36895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&gt;98.7%，结冰延迟5°C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9" name="任意多边形 498"/>
          <p:cNvSpPr/>
          <p:nvPr/>
        </p:nvSpPr>
        <p:spPr>
          <a:xfrm>
            <a:off x="6321865" y="46204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0284C7"/>
          </a:solidFill>
          <a:ln w="7100" cap="flat">
            <a:noFill/>
            <a:miter/>
          </a:ln>
        </p:spPr>
      </p:sp>
      <p:sp>
        <p:nvSpPr>
          <p:cNvPr id="500" name="任意多边形 499"/>
          <p:cNvSpPr/>
          <p:nvPr/>
        </p:nvSpPr>
        <p:spPr>
          <a:xfrm>
            <a:off x="155515" y="689465"/>
            <a:ext cx="1412900" cy="163300"/>
          </a:xfrm>
          <a:custGeom>
            <a:avLst/>
            <a:gdLst>
              <a:gd name="connsiteX0" fmla="*/ 0 w 1412900"/>
              <a:gd name="connsiteY0" fmla="*/ 81650 h 163300"/>
              <a:gd name="connsiteX1" fmla="*/ 706450 w 1412900"/>
              <a:gd name="connsiteY1" fmla="*/ 0 h 163300"/>
              <a:gd name="connsiteX2" fmla="*/ 1412900 w 1412900"/>
              <a:gd name="connsiteY2" fmla="*/ 81650 h 163300"/>
              <a:gd name="connsiteX3" fmla="*/ 706450 w 1412900"/>
              <a:gd name="connsiteY3" fmla="*/ 163300 h 163300"/>
              <a:gd name="rtl" fmla="*/ 6262200 w 1412900"/>
              <a:gd name="rtt" fmla="*/ 3859940 h 163300"/>
              <a:gd name="rtr" fmla="*/ 7675100 w 1412900"/>
              <a:gd name="rtb" fmla="*/ 40232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TU Delft：揭示Linker长度决定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1" name="任意多边形 500"/>
          <p:cNvSpPr/>
          <p:nvPr/>
        </p:nvSpPr>
        <p:spPr>
          <a:xfrm>
            <a:off x="155515" y="689465"/>
            <a:ext cx="1278000" cy="163300"/>
          </a:xfrm>
          <a:custGeom>
            <a:avLst/>
            <a:gdLst>
              <a:gd name="connsiteX0" fmla="*/ 0 w 1278000"/>
              <a:gd name="connsiteY0" fmla="*/ 81650 h 163300"/>
              <a:gd name="connsiteX1" fmla="*/ 639000 w 1278000"/>
              <a:gd name="connsiteY1" fmla="*/ 0 h 163300"/>
              <a:gd name="connsiteX2" fmla="*/ 1278000 w 1278000"/>
              <a:gd name="connsiteY2" fmla="*/ 81650 h 163300"/>
              <a:gd name="connsiteX3" fmla="*/ 639000 w 1278000"/>
              <a:gd name="connsiteY3" fmla="*/ 163300 h 163300"/>
              <a:gd name="rtl" fmla="*/ 6258650 w 1278000"/>
              <a:gd name="rtt" fmla="*/ 3987740 h 163300"/>
              <a:gd name="rtr" fmla="*/ 7536650 w 1278000"/>
              <a:gd name="rtb" fmla="*/ 41510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涂层防冰或促冰(短则反效果)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2" name="任意多边形 501"/>
          <p:cNvSpPr/>
          <p:nvPr/>
        </p:nvSpPr>
        <p:spPr>
          <a:xfrm>
            <a:off x="6321865" y="5081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0284C7"/>
          </a:solidFill>
          <a:ln w="7100" cap="flat">
            <a:noFill/>
            <a:miter/>
          </a:ln>
        </p:spPr>
      </p:sp>
      <p:sp>
        <p:nvSpPr>
          <p:cNvPr id="503" name="任意多边形 502"/>
          <p:cNvSpPr/>
          <p:nvPr/>
        </p:nvSpPr>
        <p:spPr>
          <a:xfrm>
            <a:off x="155515" y="689465"/>
            <a:ext cx="1434200" cy="163300"/>
          </a:xfrm>
          <a:custGeom>
            <a:avLst/>
            <a:gdLst>
              <a:gd name="connsiteX0" fmla="*/ 0 w 1434200"/>
              <a:gd name="connsiteY0" fmla="*/ 81650 h 163300"/>
              <a:gd name="connsiteX1" fmla="*/ 717100 w 1434200"/>
              <a:gd name="connsiteY1" fmla="*/ 0 h 163300"/>
              <a:gd name="connsiteX2" fmla="*/ 1434200 w 1434200"/>
              <a:gd name="connsiteY2" fmla="*/ 81650 h 163300"/>
              <a:gd name="connsiteX3" fmla="*/ 717100 w 1434200"/>
              <a:gd name="connsiteY3" fmla="*/ 163300 h 163300"/>
              <a:gd name="rtl" fmla="*/ 6223150 w 1434200"/>
              <a:gd name="rtt" fmla="*/ 4321440 h 163300"/>
              <a:gd name="rtr" fmla="*/ 7728350 w 1434200"/>
              <a:gd name="rtb" fmla="*/ 4484741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中航工业：GO薄膜延迟结冰2010s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4" name="任意多边形 503"/>
          <p:cNvSpPr/>
          <p:nvPr/>
        </p:nvSpPr>
        <p:spPr>
          <a:xfrm>
            <a:off x="6321865" y="52594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0284C7"/>
          </a:solidFill>
          <a:ln w="7100" cap="flat">
            <a:noFill/>
            <a:miter/>
          </a:ln>
        </p:spPr>
      </p:sp>
      <p:sp>
        <p:nvSpPr>
          <p:cNvPr id="505" name="任意多边形 504"/>
          <p:cNvSpPr/>
          <p:nvPr/>
        </p:nvSpPr>
        <p:spPr>
          <a:xfrm>
            <a:off x="155515" y="689465"/>
            <a:ext cx="1356100" cy="163300"/>
          </a:xfrm>
          <a:custGeom>
            <a:avLst/>
            <a:gdLst>
              <a:gd name="connsiteX0" fmla="*/ 0 w 1356100"/>
              <a:gd name="connsiteY0" fmla="*/ 81650 h 163300"/>
              <a:gd name="connsiteX1" fmla="*/ 678050 w 1356100"/>
              <a:gd name="connsiteY1" fmla="*/ 0 h 163300"/>
              <a:gd name="connsiteX2" fmla="*/ 1356100 w 1356100"/>
              <a:gd name="connsiteY2" fmla="*/ 81650 h 163300"/>
              <a:gd name="connsiteX3" fmla="*/ 678050 w 1356100"/>
              <a:gd name="connsiteY3" fmla="*/ 163300 h 163300"/>
              <a:gd name="rtl" fmla="*/ 6262200 w 1356100"/>
              <a:gd name="rtt" fmla="*/ 4498940 h 163300"/>
              <a:gd name="rtr" fmla="*/ 7618300 w 1356100"/>
              <a:gd name="rtb" fmla="*/ 4662241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EU MAI-TAI 列为航空防冰策略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6" name="任意多边形 505"/>
          <p:cNvSpPr/>
          <p:nvPr/>
        </p:nvSpPr>
        <p:spPr>
          <a:xfrm>
            <a:off x="8941765" y="956805"/>
            <a:ext cx="2591500" cy="326600"/>
          </a:xfrm>
          <a:custGeom>
            <a:avLst/>
            <a:gdLst/>
            <a:ahLst/>
            <a:cxnLst/>
            <a:rect l="l" t="t" r="r" b="b"/>
            <a:pathLst>
              <a:path w="2591500" h="326600" stroke="0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2534700" y="0"/>
                </a:lnTo>
                <a:cubicBezTo>
                  <a:pt x="2566070" y="0"/>
                  <a:pt x="2591500" y="25430"/>
                  <a:pt x="2591500" y="56800"/>
                </a:cubicBezTo>
                <a:lnTo>
                  <a:pt x="2591500" y="269800"/>
                </a:lnTo>
                <a:cubicBezTo>
                  <a:pt x="2591500" y="301170"/>
                  <a:pt x="2566070" y="326600"/>
                  <a:pt x="2534700" y="326600"/>
                </a:cubicBezTo>
                <a:lnTo>
                  <a:pt x="56800" y="326600"/>
                </a:lnTo>
                <a:cubicBezTo>
                  <a:pt x="25430" y="326600"/>
                  <a:pt x="0" y="301170"/>
                  <a:pt x="0" y="269800"/>
                </a:cubicBezTo>
                <a:lnTo>
                  <a:pt x="0" y="56800"/>
                </a:lnTo>
                <a:close/>
              </a:path>
              <a:path w="2591500" h="326600" fill="none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2534700" y="0"/>
                </a:lnTo>
                <a:cubicBezTo>
                  <a:pt x="2566070" y="0"/>
                  <a:pt x="2591500" y="25430"/>
                  <a:pt x="2591500" y="56800"/>
                </a:cubicBezTo>
                <a:lnTo>
                  <a:pt x="2591500" y="269800"/>
                </a:lnTo>
                <a:cubicBezTo>
                  <a:pt x="2591500" y="301170"/>
                  <a:pt x="2566070" y="326600"/>
                  <a:pt x="2534700" y="326600"/>
                </a:cubicBezTo>
                <a:lnTo>
                  <a:pt x="56800" y="326600"/>
                </a:lnTo>
                <a:cubicBezTo>
                  <a:pt x="25430" y="326600"/>
                  <a:pt x="0" y="301170"/>
                  <a:pt x="0" y="269800"/>
                </a:cubicBezTo>
                <a:lnTo>
                  <a:pt x="0" y="56800"/>
                </a:lnTo>
                <a:close/>
              </a:path>
            </a:pathLst>
          </a:custGeom>
          <a:gradFill>
            <a:gsLst>
              <a:gs pos="0">
                <a:srgbClr val="9A3412"/>
              </a:gs>
              <a:gs pos="100000">
                <a:srgbClr val="F59E0B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507" name="任意多边形 506"/>
          <p:cNvSpPr/>
          <p:nvPr/>
        </p:nvSpPr>
        <p:spPr>
          <a:xfrm>
            <a:off x="155515" y="689465"/>
            <a:ext cx="1349000" cy="205900"/>
          </a:xfrm>
          <a:custGeom>
            <a:avLst/>
            <a:gdLst>
              <a:gd name="connsiteX0" fmla="*/ 0 w 1349000"/>
              <a:gd name="connsiteY0" fmla="*/ 102950 h 205900"/>
              <a:gd name="connsiteX1" fmla="*/ 674500 w 1349000"/>
              <a:gd name="connsiteY1" fmla="*/ 0 h 205900"/>
              <a:gd name="connsiteX2" fmla="*/ 1349000 w 1349000"/>
              <a:gd name="connsiteY2" fmla="*/ 102950 h 205900"/>
              <a:gd name="connsiteX3" fmla="*/ 674500 w 1349000"/>
              <a:gd name="connsiteY3" fmla="*/ 205900 h 205900"/>
              <a:gd name="rtl" fmla="*/ 8935350 w 1349000"/>
              <a:gd name="rtt" fmla="*/ 309940 h 205900"/>
              <a:gd name="rtr" fmla="*/ 10284350 w 1349000"/>
              <a:gd name="rtb" fmla="*/ 515840 h 2059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FFFF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96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第二梯队：商业化初现</a:t>
            </a:r>
            <a:endParaRPr lang="zh-CN" altLang="en-US" sz="96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8" name="任意多边形 507"/>
          <p:cNvSpPr/>
          <p:nvPr/>
        </p:nvSpPr>
        <p:spPr>
          <a:xfrm>
            <a:off x="8941765" y="1382805"/>
            <a:ext cx="2591500" cy="4423524"/>
          </a:xfrm>
          <a:custGeom>
            <a:avLst/>
            <a:gdLst/>
            <a:ahLst/>
            <a:cxnLst/>
            <a:rect l="l" t="t" r="r" b="b"/>
            <a:pathLst>
              <a:path w="2591500" h="4423524" stroke="0">
                <a:moveTo>
                  <a:pt x="0" y="102574"/>
                </a:moveTo>
                <a:cubicBezTo>
                  <a:pt x="0" y="45924"/>
                  <a:pt x="50860" y="0"/>
                  <a:pt x="113600" y="0"/>
                </a:cubicBezTo>
                <a:lnTo>
                  <a:pt x="2477900" y="0"/>
                </a:lnTo>
                <a:cubicBezTo>
                  <a:pt x="2540640" y="0"/>
                  <a:pt x="2591500" y="45924"/>
                  <a:pt x="2591500" y="102574"/>
                </a:cubicBezTo>
                <a:lnTo>
                  <a:pt x="2591500" y="4320949"/>
                </a:lnTo>
                <a:cubicBezTo>
                  <a:pt x="2591500" y="4377599"/>
                  <a:pt x="2540640" y="4423524"/>
                  <a:pt x="2477900" y="4423524"/>
                </a:cubicBezTo>
                <a:lnTo>
                  <a:pt x="113600" y="4423524"/>
                </a:lnTo>
                <a:cubicBezTo>
                  <a:pt x="50860" y="4423524"/>
                  <a:pt x="0" y="4377599"/>
                  <a:pt x="0" y="4320949"/>
                </a:cubicBezTo>
                <a:lnTo>
                  <a:pt x="0" y="102574"/>
                </a:lnTo>
                <a:close/>
              </a:path>
              <a:path w="2591500" h="4423524" fill="none">
                <a:moveTo>
                  <a:pt x="0" y="102574"/>
                </a:moveTo>
                <a:cubicBezTo>
                  <a:pt x="0" y="45924"/>
                  <a:pt x="50860" y="0"/>
                  <a:pt x="113600" y="0"/>
                </a:cubicBezTo>
                <a:lnTo>
                  <a:pt x="2477900" y="0"/>
                </a:lnTo>
                <a:cubicBezTo>
                  <a:pt x="2540640" y="0"/>
                  <a:pt x="2591500" y="45924"/>
                  <a:pt x="2591500" y="102574"/>
                </a:cubicBezTo>
                <a:lnTo>
                  <a:pt x="2591500" y="4320949"/>
                </a:lnTo>
                <a:cubicBezTo>
                  <a:pt x="2591500" y="4377599"/>
                  <a:pt x="2540640" y="4423524"/>
                  <a:pt x="2477900" y="4423524"/>
                </a:cubicBezTo>
                <a:lnTo>
                  <a:pt x="113600" y="4423524"/>
                </a:lnTo>
                <a:cubicBezTo>
                  <a:pt x="50860" y="4423524"/>
                  <a:pt x="0" y="4377599"/>
                  <a:pt x="0" y="4320949"/>
                </a:cubicBezTo>
                <a:lnTo>
                  <a:pt x="0" y="102574"/>
                </a:lnTo>
                <a:close/>
              </a:path>
            </a:pathLst>
          </a:custGeom>
          <a:solidFill>
            <a:srgbClr val="FFFFFF"/>
          </a:solidFill>
          <a:ln w="7100" cap="flat">
            <a:noFill/>
            <a:miter/>
          </a:ln>
        </p:spPr>
      </p:sp>
      <p:sp>
        <p:nvSpPr>
          <p:cNvPr id="509" name="任意多边形 508"/>
          <p:cNvSpPr/>
          <p:nvPr/>
        </p:nvSpPr>
        <p:spPr>
          <a:xfrm>
            <a:off x="9012765" y="1489305"/>
            <a:ext cx="284000" cy="284000"/>
          </a:xfrm>
          <a:custGeom>
            <a:avLst/>
            <a:gdLst/>
            <a:ahLst/>
            <a:cxnLst/>
            <a:rect l="l" t="t" r="r" b="b"/>
            <a:pathLst>
              <a:path w="284000" h="284000" stroke="0">
                <a:moveTo>
                  <a:pt x="284000" y="142000"/>
                </a:moveTo>
                <a:cubicBezTo>
                  <a:pt x="284000" y="220424"/>
                  <a:pt x="220424" y="284000"/>
                  <a:pt x="142000" y="284000"/>
                </a:cubicBezTo>
                <a:cubicBezTo>
                  <a:pt x="63576" y="284000"/>
                  <a:pt x="0" y="220424"/>
                  <a:pt x="0" y="142000"/>
                </a:cubicBezTo>
                <a:cubicBezTo>
                  <a:pt x="0" y="63576"/>
                  <a:pt x="63576" y="0"/>
                  <a:pt x="142000" y="0"/>
                </a:cubicBezTo>
                <a:cubicBezTo>
                  <a:pt x="220424" y="0"/>
                  <a:pt x="284000" y="63576"/>
                  <a:pt x="284000" y="142000"/>
                </a:cubicBezTo>
                <a:close/>
              </a:path>
              <a:path w="284000" h="284000" fill="none">
                <a:moveTo>
                  <a:pt x="284000" y="142000"/>
                </a:moveTo>
                <a:cubicBezTo>
                  <a:pt x="284000" y="220424"/>
                  <a:pt x="220424" y="284000"/>
                  <a:pt x="142000" y="284000"/>
                </a:cubicBezTo>
                <a:cubicBezTo>
                  <a:pt x="63576" y="284000"/>
                  <a:pt x="0" y="220424"/>
                  <a:pt x="0" y="142000"/>
                </a:cubicBezTo>
                <a:cubicBezTo>
                  <a:pt x="0" y="63576"/>
                  <a:pt x="63576" y="0"/>
                  <a:pt x="142000" y="0"/>
                </a:cubicBezTo>
                <a:cubicBezTo>
                  <a:pt x="220424" y="0"/>
                  <a:pt x="284000" y="63576"/>
                  <a:pt x="284000" y="142000"/>
                </a:cubicBezTo>
                <a:close/>
              </a:path>
            </a:pathLst>
          </a:custGeom>
          <a:solidFill>
            <a:srgbClr val="FFF7ED"/>
          </a:solidFill>
          <a:ln w="7100" cap="flat">
            <a:noFill/>
            <a:miter/>
          </a:ln>
        </p:spPr>
      </p:sp>
      <p:sp>
        <p:nvSpPr>
          <p:cNvPr id="510" name="任意多边形 509"/>
          <p:cNvSpPr/>
          <p:nvPr/>
        </p:nvSpPr>
        <p:spPr>
          <a:xfrm>
            <a:off x="155515" y="689465"/>
            <a:ext cx="284000" cy="291100"/>
          </a:xfrm>
          <a:custGeom>
            <a:avLst/>
            <a:gdLst>
              <a:gd name="connsiteX0" fmla="*/ 0 w 284000"/>
              <a:gd name="connsiteY0" fmla="*/ 145550 h 291100"/>
              <a:gd name="connsiteX1" fmla="*/ 142000 w 284000"/>
              <a:gd name="connsiteY1" fmla="*/ 0 h 291100"/>
              <a:gd name="connsiteX2" fmla="*/ 284000 w 284000"/>
              <a:gd name="connsiteY2" fmla="*/ 145550 h 291100"/>
              <a:gd name="connsiteX3" fmla="*/ 142000 w 284000"/>
              <a:gd name="connsiteY3" fmla="*/ 291100 h 291100"/>
              <a:gd name="rtl" fmla="*/ 8856529 w 284000"/>
              <a:gd name="rtt" fmla="*/ 764340 h 291100"/>
              <a:gd name="rtr" fmla="*/ 9141972 w 284000"/>
              <a:gd name="rtb" fmla="*/ 1055440 h 2911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00000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117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🍞</a:t>
            </a:r>
            <a:endParaRPr lang="zh-CN" altLang="en-US" sz="117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1" name="任意多边形 510"/>
          <p:cNvSpPr/>
          <p:nvPr/>
        </p:nvSpPr>
        <p:spPr>
          <a:xfrm>
            <a:off x="155515" y="689465"/>
            <a:ext cx="1157300" cy="205900"/>
          </a:xfrm>
          <a:custGeom>
            <a:avLst/>
            <a:gdLst>
              <a:gd name="connsiteX0" fmla="*/ 0 w 1157300"/>
              <a:gd name="connsiteY0" fmla="*/ 102950 h 205900"/>
              <a:gd name="connsiteX1" fmla="*/ 578650 w 1157300"/>
              <a:gd name="connsiteY1" fmla="*/ 0 h 205900"/>
              <a:gd name="connsiteX2" fmla="*/ 1157300 w 1157300"/>
              <a:gd name="connsiteY2" fmla="*/ 102950 h 205900"/>
              <a:gd name="connsiteX3" fmla="*/ 578650 w 1157300"/>
              <a:gd name="connsiteY3" fmla="*/ 205900 h 205900"/>
              <a:gd name="rtl" fmla="*/ 9187400 w 1157300"/>
              <a:gd name="rtt" fmla="*/ 821140 h 205900"/>
              <a:gd name="rtr" fmla="*/ 10344700 w 1157300"/>
              <a:gd name="rtb" fmla="*/ 1027040 h 2059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293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960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冷冻面团与烘焙</a:t>
            </a:r>
            <a:endParaRPr lang="zh-CN" altLang="en-US" sz="960" b="1" dirty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2" name="任意多边形 511"/>
          <p:cNvSpPr/>
          <p:nvPr/>
        </p:nvSpPr>
        <p:spPr>
          <a:xfrm>
            <a:off x="9083765" y="1844305"/>
            <a:ext cx="1562000" cy="198800"/>
          </a:xfrm>
          <a:custGeom>
            <a:avLst/>
            <a:gdLst/>
            <a:ahLst/>
            <a:cxnLst/>
            <a:rect l="l" t="t" r="r" b="b"/>
            <a:pathLst>
              <a:path w="1562000" h="198800" stroke="0">
                <a:moveTo>
                  <a:pt x="0" y="99400"/>
                </a:moveTo>
                <a:cubicBezTo>
                  <a:pt x="0" y="44503"/>
                  <a:pt x="44503" y="0"/>
                  <a:pt x="99400" y="0"/>
                </a:cubicBezTo>
                <a:lnTo>
                  <a:pt x="1462600" y="0"/>
                </a:lnTo>
                <a:cubicBezTo>
                  <a:pt x="1517497" y="0"/>
                  <a:pt x="1562000" y="44503"/>
                  <a:pt x="1562000" y="99400"/>
                </a:cubicBezTo>
                <a:cubicBezTo>
                  <a:pt x="1562000" y="154297"/>
                  <a:pt x="1517497" y="198800"/>
                  <a:pt x="1462600" y="198800"/>
                </a:cubicBezTo>
                <a:lnTo>
                  <a:pt x="99400" y="198800"/>
                </a:lnTo>
                <a:cubicBezTo>
                  <a:pt x="44503" y="198800"/>
                  <a:pt x="0" y="154297"/>
                  <a:pt x="0" y="99400"/>
                </a:cubicBezTo>
                <a:close/>
              </a:path>
              <a:path w="1562000" h="198800" fill="none">
                <a:moveTo>
                  <a:pt x="0" y="99400"/>
                </a:moveTo>
                <a:cubicBezTo>
                  <a:pt x="0" y="44503"/>
                  <a:pt x="44503" y="0"/>
                  <a:pt x="99400" y="0"/>
                </a:cubicBezTo>
                <a:lnTo>
                  <a:pt x="1462600" y="0"/>
                </a:lnTo>
                <a:cubicBezTo>
                  <a:pt x="1517497" y="0"/>
                  <a:pt x="1562000" y="44503"/>
                  <a:pt x="1562000" y="99400"/>
                </a:cubicBezTo>
                <a:cubicBezTo>
                  <a:pt x="1562000" y="154297"/>
                  <a:pt x="1517497" y="198800"/>
                  <a:pt x="1462600" y="198800"/>
                </a:cubicBezTo>
                <a:lnTo>
                  <a:pt x="99400" y="198800"/>
                </a:lnTo>
                <a:cubicBezTo>
                  <a:pt x="44503" y="198800"/>
                  <a:pt x="0" y="154297"/>
                  <a:pt x="0" y="99400"/>
                </a:cubicBezTo>
                <a:close/>
              </a:path>
            </a:pathLst>
          </a:custGeom>
          <a:solidFill>
            <a:srgbClr val="FEFCE8"/>
          </a:solidFill>
          <a:ln w="7100" cap="flat">
            <a:solidFill>
              <a:srgbClr val="FEF08A"/>
            </a:solidFill>
            <a:miter/>
          </a:ln>
        </p:spPr>
      </p:sp>
      <p:sp>
        <p:nvSpPr>
          <p:cNvPr id="513" name="任意多边形 512"/>
          <p:cNvSpPr/>
          <p:nvPr/>
        </p:nvSpPr>
        <p:spPr>
          <a:xfrm>
            <a:off x="155515" y="689465"/>
            <a:ext cx="1356100" cy="198800"/>
          </a:xfrm>
          <a:custGeom>
            <a:avLst/>
            <a:gdLst>
              <a:gd name="connsiteX0" fmla="*/ 0 w 1356100"/>
              <a:gd name="connsiteY0" fmla="*/ 99400 h 198800"/>
              <a:gd name="connsiteX1" fmla="*/ 678050 w 1356100"/>
              <a:gd name="connsiteY1" fmla="*/ 0 h 198800"/>
              <a:gd name="connsiteX2" fmla="*/ 1356100 w 1356100"/>
              <a:gd name="connsiteY2" fmla="*/ 99400 h 198800"/>
              <a:gd name="connsiteX3" fmla="*/ 678050 w 1356100"/>
              <a:gd name="connsiteY3" fmla="*/ 198800 h 198800"/>
              <a:gd name="rtl" fmla="*/ 8988212 w 1356100"/>
              <a:gd name="rtt" fmla="*/ 1140640 h 198800"/>
              <a:gd name="rtr" fmla="*/ 10345088 w 1356100"/>
              <a:gd name="rtb" fmla="*/ 1339440 h 1988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A16207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A1620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⚠️ 研究充分，规模化受阻成本</a:t>
            </a:r>
            <a:endParaRPr lang="zh-CN" altLang="en-US" sz="690" b="1" dirty="0">
              <a:solidFill>
                <a:srgbClr val="A1620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4" name="任意多边形 513"/>
          <p:cNvSpPr/>
          <p:nvPr/>
        </p:nvSpPr>
        <p:spPr>
          <a:xfrm>
            <a:off x="9048265" y="2163805"/>
            <a:ext cx="2378500" cy="1065000"/>
          </a:xfrm>
          <a:custGeom>
            <a:avLst/>
            <a:gdLst/>
            <a:ahLst/>
            <a:cxnLst/>
            <a:rect l="l" t="t" r="r" b="b"/>
            <a:pathLst>
              <a:path w="2378500" h="1065000" stroke="0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2321700" y="0"/>
                </a:lnTo>
                <a:cubicBezTo>
                  <a:pt x="2353070" y="0"/>
                  <a:pt x="2378500" y="25430"/>
                  <a:pt x="2378500" y="56800"/>
                </a:cubicBezTo>
                <a:lnTo>
                  <a:pt x="2378500" y="1008200"/>
                </a:lnTo>
                <a:cubicBezTo>
                  <a:pt x="2378500" y="1039570"/>
                  <a:pt x="2353070" y="1065000"/>
                  <a:pt x="2321700" y="1065000"/>
                </a:cubicBezTo>
                <a:lnTo>
                  <a:pt x="56800" y="1065000"/>
                </a:lnTo>
                <a:cubicBezTo>
                  <a:pt x="25430" y="1065000"/>
                  <a:pt x="0" y="1039570"/>
                  <a:pt x="0" y="1008200"/>
                </a:cubicBezTo>
                <a:lnTo>
                  <a:pt x="0" y="56800"/>
                </a:lnTo>
                <a:close/>
              </a:path>
              <a:path w="2378500" h="1065000" fill="none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2321700" y="0"/>
                </a:lnTo>
                <a:cubicBezTo>
                  <a:pt x="2353070" y="0"/>
                  <a:pt x="2378500" y="25430"/>
                  <a:pt x="2378500" y="56800"/>
                </a:cubicBezTo>
                <a:lnTo>
                  <a:pt x="2378500" y="1008200"/>
                </a:lnTo>
                <a:cubicBezTo>
                  <a:pt x="2378500" y="1039570"/>
                  <a:pt x="2353070" y="1065000"/>
                  <a:pt x="2321700" y="1065000"/>
                </a:cubicBezTo>
                <a:lnTo>
                  <a:pt x="56800" y="1065000"/>
                </a:lnTo>
                <a:cubicBezTo>
                  <a:pt x="25430" y="1065000"/>
                  <a:pt x="0" y="1039570"/>
                  <a:pt x="0" y="1008200"/>
                </a:cubicBezTo>
                <a:lnTo>
                  <a:pt x="0" y="56800"/>
                </a:lnTo>
                <a:close/>
              </a:path>
            </a:pathLst>
          </a:custGeom>
          <a:solidFill>
            <a:srgbClr val="F8FAFC"/>
          </a:solidFill>
          <a:ln w="7100" cap="flat">
            <a:noFill/>
            <a:miter/>
          </a:ln>
        </p:spPr>
      </p:sp>
      <p:sp>
        <p:nvSpPr>
          <p:cNvPr id="515" name="任意多边形 514"/>
          <p:cNvSpPr/>
          <p:nvPr/>
        </p:nvSpPr>
        <p:spPr>
          <a:xfrm>
            <a:off x="155515" y="689465"/>
            <a:ext cx="440200" cy="163300"/>
          </a:xfrm>
          <a:custGeom>
            <a:avLst/>
            <a:gdLst>
              <a:gd name="connsiteX0" fmla="*/ 0 w 440200"/>
              <a:gd name="connsiteY0" fmla="*/ 81650 h 163300"/>
              <a:gd name="connsiteX1" fmla="*/ 220100 w 440200"/>
              <a:gd name="connsiteY1" fmla="*/ 0 h 163300"/>
              <a:gd name="connsiteX2" fmla="*/ 440200 w 440200"/>
              <a:gd name="connsiteY2" fmla="*/ 81650 h 163300"/>
              <a:gd name="connsiteX3" fmla="*/ 220100 w 440200"/>
              <a:gd name="connsiteY3" fmla="*/ 163300 h 163300"/>
              <a:gd name="rtl" fmla="*/ 9219350 w 440200"/>
              <a:gd name="rtt" fmla="*/ 1524040 h 163300"/>
              <a:gd name="rtr" fmla="*/ 9659550 w 440200"/>
              <a:gd name="rtb" fmla="*/ 16873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EF4444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核心痛点</a:t>
            </a:r>
            <a:endParaRPr lang="zh-CN" altLang="en-US" sz="690" b="1" dirty="0">
              <a:solidFill>
                <a:srgbClr val="EF44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6" name="任意多边形 515"/>
          <p:cNvSpPr/>
          <p:nvPr/>
        </p:nvSpPr>
        <p:spPr>
          <a:xfrm>
            <a:off x="155515" y="689465"/>
            <a:ext cx="639000" cy="163300"/>
          </a:xfrm>
          <a:custGeom>
            <a:avLst/>
            <a:gdLst>
              <a:gd name="connsiteX0" fmla="*/ 0 w 639000"/>
              <a:gd name="connsiteY0" fmla="*/ 81650 h 163300"/>
              <a:gd name="connsiteX1" fmla="*/ 319500 w 639000"/>
              <a:gd name="connsiteY1" fmla="*/ 0 h 163300"/>
              <a:gd name="connsiteX2" fmla="*/ 639000 w 639000"/>
              <a:gd name="connsiteY2" fmla="*/ 81650 h 163300"/>
              <a:gd name="connsiteX3" fmla="*/ 319500 w 639000"/>
              <a:gd name="connsiteY3" fmla="*/ 163300 h 163300"/>
              <a:gd name="rtl" fmla="*/ 10277250 w 639000"/>
              <a:gd name="rtt" fmla="*/ 1524040 h 163300"/>
              <a:gd name="rtr" fmla="*/ 10930450 w 639000"/>
              <a:gd name="rtb" fmla="*/ 16873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0B981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AFP 作用机制</a:t>
            </a:r>
            <a:endParaRPr lang="zh-CN" altLang="en-US" sz="690" b="1" dirty="0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7" name="任意多边形 516"/>
          <p:cNvSpPr/>
          <p:nvPr/>
        </p:nvSpPr>
        <p:spPr>
          <a:xfrm>
            <a:off x="9900265" y="2731805"/>
            <a:ext cx="248500" cy="7100"/>
          </a:xfrm>
          <a:custGeom>
            <a:avLst/>
            <a:gdLst/>
            <a:ahLst/>
            <a:cxnLst/>
            <a:rect l="l" t="t" r="r" b="b"/>
            <a:pathLst>
              <a:path w="248500" h="7100" fill="none">
                <a:moveTo>
                  <a:pt x="0" y="0"/>
                </a:moveTo>
                <a:lnTo>
                  <a:pt x="248500" y="0"/>
                </a:lnTo>
              </a:path>
            </a:pathLst>
          </a:custGeom>
          <a:noFill/>
          <a:ln w="14200" cap="flat">
            <a:solidFill>
              <a:srgbClr val="94A3B8"/>
            </a:solidFill>
            <a:miter/>
          </a:ln>
        </p:spPr>
      </p:sp>
      <p:sp>
        <p:nvSpPr>
          <p:cNvPr id="518" name="任意多边形 517"/>
          <p:cNvSpPr/>
          <p:nvPr/>
        </p:nvSpPr>
        <p:spPr>
          <a:xfrm>
            <a:off x="10106165" y="2699855"/>
            <a:ext cx="71000" cy="71000"/>
          </a:xfrm>
          <a:custGeom>
            <a:avLst/>
            <a:gdLst/>
            <a:ahLst/>
            <a:cxnLst/>
            <a:rect l="l" t="t" r="r" b="b"/>
            <a:pathLst>
              <a:path w="71000" h="71000" stroke="0">
                <a:moveTo>
                  <a:pt x="0" y="0"/>
                </a:moveTo>
                <a:lnTo>
                  <a:pt x="71000" y="35500"/>
                </a:lnTo>
                <a:lnTo>
                  <a:pt x="0" y="71000"/>
                </a:lnTo>
                <a:lnTo>
                  <a:pt x="0" y="0"/>
                </a:lnTo>
                <a:close/>
              </a:path>
              <a:path w="71000" h="71000" fill="none">
                <a:moveTo>
                  <a:pt x="0" y="0"/>
                </a:moveTo>
                <a:lnTo>
                  <a:pt x="71000" y="35500"/>
                </a:lnTo>
                <a:lnTo>
                  <a:pt x="0" y="71000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 w="7100" cap="flat">
            <a:noFill/>
            <a:miter/>
          </a:ln>
        </p:spPr>
      </p:sp>
      <p:sp>
        <p:nvSpPr>
          <p:cNvPr id="520" name="任意多边形 519"/>
          <p:cNvSpPr/>
          <p:nvPr/>
        </p:nvSpPr>
        <p:spPr>
          <a:xfrm>
            <a:off x="155515" y="689465"/>
            <a:ext cx="965600" cy="156200"/>
          </a:xfrm>
          <a:custGeom>
            <a:avLst/>
            <a:gdLst>
              <a:gd name="connsiteX0" fmla="*/ 0 w 965600"/>
              <a:gd name="connsiteY0" fmla="*/ 78100 h 156200"/>
              <a:gd name="connsiteX1" fmla="*/ 482800 w 965600"/>
              <a:gd name="connsiteY1" fmla="*/ 0 h 156200"/>
              <a:gd name="connsiteX2" fmla="*/ 965600 w 965600"/>
              <a:gd name="connsiteY2" fmla="*/ 78100 h 156200"/>
              <a:gd name="connsiteX3" fmla="*/ 482800 w 965600"/>
              <a:gd name="connsiteY3" fmla="*/ 156200 h 156200"/>
              <a:gd name="rtl" fmla="*/ 8956650 w 965600"/>
              <a:gd name="rtt" fmla="*/ 2312140 h 156200"/>
              <a:gd name="rtr" fmla="*/ 9922250 w 965600"/>
              <a:gd name="rtb" fmla="*/ 24683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重结晶破坏面筋/死酵母</a:t>
            </a:r>
            <a:endParaRPr lang="zh-CN" altLang="en-US" sz="640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1" name="任意多边形 520"/>
          <p:cNvSpPr/>
          <p:nvPr/>
        </p:nvSpPr>
        <p:spPr>
          <a:xfrm>
            <a:off x="155515" y="689465"/>
            <a:ext cx="1008200" cy="156200"/>
          </a:xfrm>
          <a:custGeom>
            <a:avLst/>
            <a:gdLst>
              <a:gd name="connsiteX0" fmla="*/ 0 w 1008200"/>
              <a:gd name="connsiteY0" fmla="*/ 78100 h 156200"/>
              <a:gd name="connsiteX1" fmla="*/ 504100 w 1008200"/>
              <a:gd name="connsiteY1" fmla="*/ 0 h 156200"/>
              <a:gd name="connsiteX2" fmla="*/ 1008200 w 1008200"/>
              <a:gd name="connsiteY2" fmla="*/ 78100 h 156200"/>
              <a:gd name="connsiteX3" fmla="*/ 504100 w 1008200"/>
              <a:gd name="connsiteY3" fmla="*/ 156200 h 156200"/>
              <a:gd name="rtl" fmla="*/ 9950650 w 1008200"/>
              <a:gd name="rtt" fmla="*/ 2312140 h 156200"/>
              <a:gd name="rtr" fmla="*/ 10958850 w 1008200"/>
              <a:gd name="rtb" fmla="*/ 24683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0B981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10B98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护网络保酵母(不增甜味)</a:t>
            </a:r>
            <a:endParaRPr lang="zh-CN" altLang="en-US" sz="640" dirty="0">
              <a:solidFill>
                <a:srgbClr val="10B98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2" name="任意多边形 521"/>
          <p:cNvSpPr/>
          <p:nvPr/>
        </p:nvSpPr>
        <p:spPr>
          <a:xfrm>
            <a:off x="9225765" y="2518805"/>
            <a:ext cx="355000" cy="284000"/>
          </a:xfrm>
          <a:custGeom>
            <a:avLst/>
            <a:gdLst/>
            <a:ahLst/>
            <a:cxnLst/>
            <a:rect l="l" t="t" r="r" b="b"/>
            <a:pathLst>
              <a:path w="355000" h="284000" stroke="0">
                <a:moveTo>
                  <a:pt x="0" y="0"/>
                </a:moveTo>
                <a:lnTo>
                  <a:pt x="355000" y="284000"/>
                </a:lnTo>
                <a:moveTo>
                  <a:pt x="0" y="284000"/>
                </a:moveTo>
                <a:lnTo>
                  <a:pt x="355000" y="0"/>
                </a:lnTo>
              </a:path>
              <a:path w="355000" h="284000" fill="none">
                <a:moveTo>
                  <a:pt x="0" y="0"/>
                </a:moveTo>
                <a:lnTo>
                  <a:pt x="355000" y="284000"/>
                </a:lnTo>
                <a:moveTo>
                  <a:pt x="0" y="284000"/>
                </a:moveTo>
                <a:lnTo>
                  <a:pt x="355000" y="0"/>
                </a:lnTo>
              </a:path>
            </a:pathLst>
          </a:custGeom>
          <a:solidFill>
            <a:srgbClr val="000000"/>
          </a:solidFill>
          <a:ln w="21300" cap="flat">
            <a:solidFill>
              <a:srgbClr val="FDBA74"/>
            </a:solidFill>
            <a:custDash>
              <a:ds d="1100000" sp="500000"/>
            </a:custDash>
            <a:miter/>
          </a:ln>
        </p:spPr>
      </p:sp>
      <p:sp>
        <p:nvSpPr>
          <p:cNvPr id="523" name="任意多边形 522"/>
          <p:cNvSpPr/>
          <p:nvPr/>
        </p:nvSpPr>
        <p:spPr>
          <a:xfrm>
            <a:off x="9296765" y="2589805"/>
            <a:ext cx="142000" cy="177500"/>
          </a:xfrm>
          <a:custGeom>
            <a:avLst/>
            <a:gdLst/>
            <a:ahLst/>
            <a:cxnLst/>
            <a:rect l="l" t="t" r="r" b="b"/>
            <a:pathLst>
              <a:path w="142000" h="177500" stroke="0">
                <a:moveTo>
                  <a:pt x="71000" y="0"/>
                </a:moveTo>
                <a:lnTo>
                  <a:pt x="142000" y="71000"/>
                </a:lnTo>
                <a:lnTo>
                  <a:pt x="106500" y="177500"/>
                </a:lnTo>
                <a:lnTo>
                  <a:pt x="0" y="106500"/>
                </a:lnTo>
                <a:lnTo>
                  <a:pt x="71000" y="0"/>
                </a:lnTo>
                <a:close/>
              </a:path>
              <a:path w="142000" h="177500" fill="none">
                <a:moveTo>
                  <a:pt x="71000" y="0"/>
                </a:moveTo>
                <a:lnTo>
                  <a:pt x="142000" y="71000"/>
                </a:lnTo>
                <a:lnTo>
                  <a:pt x="106500" y="177500"/>
                </a:lnTo>
                <a:lnTo>
                  <a:pt x="0" y="106500"/>
                </a:lnTo>
                <a:lnTo>
                  <a:pt x="71000" y="0"/>
                </a:lnTo>
                <a:close/>
              </a:path>
            </a:pathLst>
          </a:custGeom>
          <a:solidFill>
            <a:srgbClr val="BFDBFE"/>
          </a:solidFill>
          <a:ln w="7100" cap="flat">
            <a:noFill/>
            <a:miter/>
          </a:ln>
        </p:spPr>
      </p:sp>
      <p:sp>
        <p:nvSpPr>
          <p:cNvPr id="524" name="任意多边形 523"/>
          <p:cNvSpPr/>
          <p:nvPr/>
        </p:nvSpPr>
        <p:spPr>
          <a:xfrm>
            <a:off x="9445865" y="2525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FCA5A5"/>
          </a:solidFill>
          <a:ln w="7100" cap="flat">
            <a:noFill/>
            <a:miter/>
          </a:ln>
        </p:spPr>
      </p:sp>
      <p:sp>
        <p:nvSpPr>
          <p:cNvPr id="525" name="任意多边形 524"/>
          <p:cNvSpPr/>
          <p:nvPr/>
        </p:nvSpPr>
        <p:spPr>
          <a:xfrm>
            <a:off x="9452965" y="2533005"/>
            <a:ext cx="42600" cy="42600"/>
          </a:xfrm>
          <a:custGeom>
            <a:avLst/>
            <a:gdLst/>
            <a:ahLst/>
            <a:cxnLst/>
            <a:rect l="l" t="t" r="r" b="b"/>
            <a:pathLst>
              <a:path w="42600" h="42600" stroke="0">
                <a:moveTo>
                  <a:pt x="0" y="0"/>
                </a:moveTo>
                <a:lnTo>
                  <a:pt x="42600" y="42600"/>
                </a:lnTo>
              </a:path>
              <a:path w="42600" h="42600" stroke="0">
                <a:moveTo>
                  <a:pt x="42600" y="0"/>
                </a:moveTo>
                <a:lnTo>
                  <a:pt x="0" y="42600"/>
                </a:lnTo>
              </a:path>
              <a:path w="42600" h="42600" fill="none">
                <a:moveTo>
                  <a:pt x="0" y="0"/>
                </a:moveTo>
                <a:lnTo>
                  <a:pt x="42600" y="42600"/>
                </a:lnTo>
              </a:path>
              <a:path w="42600" h="42600" fill="none">
                <a:moveTo>
                  <a:pt x="42600" y="0"/>
                </a:moveTo>
                <a:lnTo>
                  <a:pt x="0" y="42600"/>
                </a:lnTo>
              </a:path>
            </a:pathLst>
          </a:custGeom>
          <a:solidFill>
            <a:srgbClr val="000000"/>
          </a:solidFill>
          <a:ln w="7100" cap="flat">
            <a:solidFill>
              <a:srgbClr val="B91C1C"/>
            </a:solidFill>
            <a:miter/>
          </a:ln>
        </p:spPr>
      </p:sp>
      <p:sp>
        <p:nvSpPr>
          <p:cNvPr id="526" name="任意多边形 525"/>
          <p:cNvSpPr/>
          <p:nvPr/>
        </p:nvSpPr>
        <p:spPr>
          <a:xfrm>
            <a:off x="10432765" y="2518805"/>
            <a:ext cx="355000" cy="284000"/>
          </a:xfrm>
          <a:custGeom>
            <a:avLst/>
            <a:gdLst/>
            <a:ahLst/>
            <a:cxnLst/>
            <a:rect l="l" t="t" r="r" b="b"/>
            <a:pathLst>
              <a:path w="355000" h="284000" stroke="0">
                <a:moveTo>
                  <a:pt x="0" y="0"/>
                </a:moveTo>
                <a:lnTo>
                  <a:pt x="355000" y="284000"/>
                </a:lnTo>
                <a:moveTo>
                  <a:pt x="0" y="284000"/>
                </a:moveTo>
                <a:lnTo>
                  <a:pt x="355000" y="0"/>
                </a:lnTo>
              </a:path>
              <a:path w="355000" h="284000" fill="none">
                <a:moveTo>
                  <a:pt x="0" y="0"/>
                </a:moveTo>
                <a:lnTo>
                  <a:pt x="355000" y="284000"/>
                </a:lnTo>
                <a:moveTo>
                  <a:pt x="0" y="284000"/>
                </a:moveTo>
                <a:lnTo>
                  <a:pt x="355000" y="0"/>
                </a:lnTo>
              </a:path>
            </a:pathLst>
          </a:custGeom>
          <a:solidFill>
            <a:srgbClr val="000000"/>
          </a:solidFill>
          <a:ln w="21300" cap="flat">
            <a:solidFill>
              <a:srgbClr val="FDBA74"/>
            </a:solidFill>
            <a:miter/>
          </a:ln>
        </p:spPr>
      </p:sp>
      <p:sp>
        <p:nvSpPr>
          <p:cNvPr id="527" name="任意多边形 526"/>
          <p:cNvSpPr/>
          <p:nvPr/>
        </p:nvSpPr>
        <p:spPr>
          <a:xfrm>
            <a:off x="10539265" y="2589805"/>
            <a:ext cx="71000" cy="71000"/>
          </a:xfrm>
          <a:custGeom>
            <a:avLst/>
            <a:gdLst/>
            <a:ahLst/>
            <a:cxnLst/>
            <a:rect l="l" t="t" r="r" b="b"/>
            <a:pathLst>
              <a:path w="71000" h="71000" stroke="0">
                <a:moveTo>
                  <a:pt x="35500" y="0"/>
                </a:moveTo>
                <a:lnTo>
                  <a:pt x="71000" y="35500"/>
                </a:lnTo>
                <a:lnTo>
                  <a:pt x="49700" y="71000"/>
                </a:lnTo>
                <a:lnTo>
                  <a:pt x="0" y="35500"/>
                </a:lnTo>
                <a:lnTo>
                  <a:pt x="35500" y="0"/>
                </a:lnTo>
                <a:close/>
              </a:path>
              <a:path w="71000" h="71000" fill="none">
                <a:moveTo>
                  <a:pt x="35500" y="0"/>
                </a:moveTo>
                <a:lnTo>
                  <a:pt x="71000" y="35500"/>
                </a:lnTo>
                <a:lnTo>
                  <a:pt x="49700" y="71000"/>
                </a:lnTo>
                <a:lnTo>
                  <a:pt x="0" y="35500"/>
                </a:lnTo>
                <a:lnTo>
                  <a:pt x="35500" y="0"/>
                </a:lnTo>
                <a:close/>
              </a:path>
            </a:pathLst>
          </a:custGeom>
          <a:solidFill>
            <a:srgbClr val="DBEAFE"/>
          </a:solidFill>
          <a:ln w="7100" cap="flat">
            <a:noFill/>
            <a:miter/>
          </a:ln>
        </p:spPr>
      </p:sp>
      <p:sp>
        <p:nvSpPr>
          <p:cNvPr id="528" name="任意多边形 527"/>
          <p:cNvSpPr/>
          <p:nvPr/>
        </p:nvSpPr>
        <p:spPr>
          <a:xfrm>
            <a:off x="10525065" y="2575605"/>
            <a:ext cx="99400" cy="99400"/>
          </a:xfrm>
          <a:custGeom>
            <a:avLst/>
            <a:gdLst/>
            <a:ahLst/>
            <a:cxnLst/>
            <a:rect l="l" t="t" r="r" b="b"/>
            <a:pathLst>
              <a:path w="99400" h="99400" stroke="0">
                <a:moveTo>
                  <a:pt x="99400" y="49700"/>
                </a:moveTo>
                <a:cubicBezTo>
                  <a:pt x="99400" y="77149"/>
                  <a:pt x="77149" y="99400"/>
                  <a:pt x="49700" y="99400"/>
                </a:cubicBezTo>
                <a:cubicBezTo>
                  <a:pt x="22251" y="99400"/>
                  <a:pt x="0" y="77149"/>
                  <a:pt x="0" y="49700"/>
                </a:cubicBezTo>
                <a:cubicBezTo>
                  <a:pt x="0" y="22251"/>
                  <a:pt x="22251" y="0"/>
                  <a:pt x="49700" y="0"/>
                </a:cubicBezTo>
                <a:cubicBezTo>
                  <a:pt x="77149" y="0"/>
                  <a:pt x="99400" y="22251"/>
                  <a:pt x="99400" y="49700"/>
                </a:cubicBezTo>
                <a:close/>
              </a:path>
              <a:path w="99400" h="99400" fill="none">
                <a:moveTo>
                  <a:pt x="99400" y="49700"/>
                </a:moveTo>
                <a:cubicBezTo>
                  <a:pt x="99400" y="77149"/>
                  <a:pt x="77149" y="99400"/>
                  <a:pt x="49700" y="99400"/>
                </a:cubicBezTo>
                <a:cubicBezTo>
                  <a:pt x="22251" y="99400"/>
                  <a:pt x="0" y="77149"/>
                  <a:pt x="0" y="49700"/>
                </a:cubicBezTo>
                <a:cubicBezTo>
                  <a:pt x="0" y="22251"/>
                  <a:pt x="22251" y="0"/>
                  <a:pt x="49700" y="0"/>
                </a:cubicBezTo>
                <a:cubicBezTo>
                  <a:pt x="77149" y="0"/>
                  <a:pt x="99400" y="22251"/>
                  <a:pt x="99400" y="49700"/>
                </a:cubicBezTo>
                <a:close/>
              </a:path>
            </a:pathLst>
          </a:custGeom>
          <a:noFill/>
          <a:ln w="10650" cap="flat">
            <a:solidFill>
              <a:srgbClr val="10B981"/>
            </a:solidFill>
            <a:custDash>
              <a:ds d="1100000" sp="500000"/>
            </a:custDash>
            <a:miter/>
          </a:ln>
        </p:spPr>
      </p:sp>
      <p:sp>
        <p:nvSpPr>
          <p:cNvPr id="529" name="任意多边形 528"/>
          <p:cNvSpPr/>
          <p:nvPr/>
        </p:nvSpPr>
        <p:spPr>
          <a:xfrm>
            <a:off x="10645765" y="2518805"/>
            <a:ext cx="71000" cy="71000"/>
          </a:xfrm>
          <a:custGeom>
            <a:avLst/>
            <a:gdLst/>
            <a:ahLst/>
            <a:cxnLst/>
            <a:rect l="l" t="t" r="r" b="b"/>
            <a:pathLst>
              <a:path w="71000" h="71000" stroke="0">
                <a:moveTo>
                  <a:pt x="71000" y="35500"/>
                </a:moveTo>
                <a:cubicBezTo>
                  <a:pt x="71000" y="55106"/>
                  <a:pt x="55106" y="71000"/>
                  <a:pt x="35500" y="71000"/>
                </a:cubicBezTo>
                <a:cubicBezTo>
                  <a:pt x="15894" y="71000"/>
                  <a:pt x="0" y="55106"/>
                  <a:pt x="0" y="35500"/>
                </a:cubicBez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close/>
              </a:path>
              <a:path w="71000" h="71000" fill="none">
                <a:moveTo>
                  <a:pt x="71000" y="35500"/>
                </a:moveTo>
                <a:cubicBezTo>
                  <a:pt x="71000" y="55106"/>
                  <a:pt x="55106" y="71000"/>
                  <a:pt x="35500" y="71000"/>
                </a:cubicBezTo>
                <a:cubicBezTo>
                  <a:pt x="15894" y="71000"/>
                  <a:pt x="0" y="55106"/>
                  <a:pt x="0" y="35500"/>
                </a:cubicBez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close/>
              </a:path>
            </a:pathLst>
          </a:custGeom>
          <a:solidFill>
            <a:srgbClr val="D97706"/>
          </a:solidFill>
          <a:ln w="7100" cap="flat">
            <a:noFill/>
            <a:miter/>
          </a:ln>
        </p:spPr>
      </p:sp>
      <p:sp>
        <p:nvSpPr>
          <p:cNvPr id="530" name="任意多边形 529"/>
          <p:cNvSpPr/>
          <p:nvPr/>
        </p:nvSpPr>
        <p:spPr>
          <a:xfrm>
            <a:off x="10468265" y="2731805"/>
            <a:ext cx="71000" cy="71000"/>
          </a:xfrm>
          <a:custGeom>
            <a:avLst/>
            <a:gdLst/>
            <a:ahLst/>
            <a:cxnLst/>
            <a:rect l="l" t="t" r="r" b="b"/>
            <a:pathLst>
              <a:path w="71000" h="71000" stroke="0">
                <a:moveTo>
                  <a:pt x="71000" y="35500"/>
                </a:moveTo>
                <a:cubicBezTo>
                  <a:pt x="71000" y="55106"/>
                  <a:pt x="55106" y="71000"/>
                  <a:pt x="35500" y="71000"/>
                </a:cubicBezTo>
                <a:cubicBezTo>
                  <a:pt x="15894" y="71000"/>
                  <a:pt x="0" y="55106"/>
                  <a:pt x="0" y="35500"/>
                </a:cubicBez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close/>
              </a:path>
              <a:path w="71000" h="71000" fill="none">
                <a:moveTo>
                  <a:pt x="71000" y="35500"/>
                </a:moveTo>
                <a:cubicBezTo>
                  <a:pt x="71000" y="55106"/>
                  <a:pt x="55106" y="71000"/>
                  <a:pt x="35500" y="71000"/>
                </a:cubicBezTo>
                <a:cubicBezTo>
                  <a:pt x="15894" y="71000"/>
                  <a:pt x="0" y="55106"/>
                  <a:pt x="0" y="35500"/>
                </a:cubicBez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close/>
              </a:path>
            </a:pathLst>
          </a:custGeom>
          <a:solidFill>
            <a:srgbClr val="D97706"/>
          </a:solidFill>
          <a:ln w="7100" cap="flat">
            <a:noFill/>
            <a:miter/>
          </a:ln>
        </p:spPr>
      </p:sp>
      <p:sp>
        <p:nvSpPr>
          <p:cNvPr id="532" name="任意多边形 531"/>
          <p:cNvSpPr/>
          <p:nvPr/>
        </p:nvSpPr>
        <p:spPr>
          <a:xfrm>
            <a:off x="155515" y="689465"/>
            <a:ext cx="667400" cy="170400"/>
          </a:xfrm>
          <a:custGeom>
            <a:avLst/>
            <a:gdLst>
              <a:gd name="connsiteX0" fmla="*/ 0 w 667400"/>
              <a:gd name="connsiteY0" fmla="*/ 85200 h 170400"/>
              <a:gd name="connsiteX1" fmla="*/ 333700 w 667400"/>
              <a:gd name="connsiteY1" fmla="*/ 0 h 170400"/>
              <a:gd name="connsiteX2" fmla="*/ 667400 w 667400"/>
              <a:gd name="connsiteY2" fmla="*/ 85200 h 170400"/>
              <a:gd name="connsiteX3" fmla="*/ 333700 w 667400"/>
              <a:gd name="connsiteY3" fmla="*/ 170400 h 170400"/>
              <a:gd name="rtl" fmla="*/ 8899850 w 667400"/>
              <a:gd name="rtt" fmla="*/ 2581940 h 170400"/>
              <a:gd name="rtr" fmla="*/ 9567250 w 667400"/>
              <a:gd name="rtb" fmla="*/ 2752340 h 1704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关键设计权重</a:t>
            </a:r>
            <a:endParaRPr lang="zh-CN" altLang="en-US" sz="745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3" name="任意多边形 532"/>
          <p:cNvSpPr/>
          <p:nvPr/>
        </p:nvSpPr>
        <p:spPr>
          <a:xfrm>
            <a:off x="9083765" y="3512805"/>
            <a:ext cx="1022400" cy="85200"/>
          </a:xfrm>
          <a:custGeom>
            <a:avLst/>
            <a:gdLst/>
            <a:ahLst/>
            <a:cxnLst/>
            <a:rect l="l" t="t" r="r" b="b"/>
            <a:pathLst>
              <a:path w="1022400" h="852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994000" y="0"/>
                </a:lnTo>
                <a:cubicBezTo>
                  <a:pt x="1009685" y="0"/>
                  <a:pt x="1022400" y="12715"/>
                  <a:pt x="1022400" y="28400"/>
                </a:cubicBezTo>
                <a:lnTo>
                  <a:pt x="1022400" y="56800"/>
                </a:lnTo>
                <a:cubicBezTo>
                  <a:pt x="1022400" y="72485"/>
                  <a:pt x="1009685" y="85200"/>
                  <a:pt x="9940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  <a:path w="1022400" h="852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994000" y="0"/>
                </a:lnTo>
                <a:cubicBezTo>
                  <a:pt x="1009685" y="0"/>
                  <a:pt x="1022400" y="12715"/>
                  <a:pt x="1022400" y="28400"/>
                </a:cubicBezTo>
                <a:lnTo>
                  <a:pt x="1022400" y="56800"/>
                </a:lnTo>
                <a:cubicBezTo>
                  <a:pt x="1022400" y="72485"/>
                  <a:pt x="1009685" y="85200"/>
                  <a:pt x="9940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</a:pathLst>
          </a:custGeom>
          <a:gradFill>
            <a:gsLst>
              <a:gs pos="0">
                <a:srgbClr val="10B981"/>
              </a:gs>
              <a:gs pos="100000">
                <a:srgbClr val="34D399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534" name="任意多边形 533"/>
          <p:cNvSpPr/>
          <p:nvPr/>
        </p:nvSpPr>
        <p:spPr>
          <a:xfrm>
            <a:off x="10120365" y="3512805"/>
            <a:ext cx="454400" cy="85200"/>
          </a:xfrm>
          <a:custGeom>
            <a:avLst/>
            <a:gdLst/>
            <a:ahLst/>
            <a:cxnLst/>
            <a:rect l="l" t="t" r="r" b="b"/>
            <a:pathLst>
              <a:path w="454400" h="852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426000" y="0"/>
                </a:lnTo>
                <a:cubicBezTo>
                  <a:pt x="441685" y="0"/>
                  <a:pt x="454400" y="12715"/>
                  <a:pt x="454400" y="28400"/>
                </a:cubicBezTo>
                <a:lnTo>
                  <a:pt x="454400" y="56800"/>
                </a:lnTo>
                <a:cubicBezTo>
                  <a:pt x="454400" y="72485"/>
                  <a:pt x="441685" y="85200"/>
                  <a:pt x="4260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  <a:path w="454400" h="852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426000" y="0"/>
                </a:lnTo>
                <a:cubicBezTo>
                  <a:pt x="441685" y="0"/>
                  <a:pt x="454400" y="12715"/>
                  <a:pt x="454400" y="28400"/>
                </a:cubicBezTo>
                <a:lnTo>
                  <a:pt x="454400" y="56800"/>
                </a:lnTo>
                <a:cubicBezTo>
                  <a:pt x="454400" y="72485"/>
                  <a:pt x="441685" y="85200"/>
                  <a:pt x="4260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60A5FA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535" name="任意多边形 534"/>
          <p:cNvSpPr/>
          <p:nvPr/>
        </p:nvSpPr>
        <p:spPr>
          <a:xfrm>
            <a:off x="10588965" y="3512805"/>
            <a:ext cx="340800" cy="85200"/>
          </a:xfrm>
          <a:custGeom>
            <a:avLst/>
            <a:gdLst/>
            <a:ahLst/>
            <a:cxnLst/>
            <a:rect l="l" t="t" r="r" b="b"/>
            <a:pathLst>
              <a:path w="340800" h="852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312400" y="0"/>
                </a:lnTo>
                <a:cubicBezTo>
                  <a:pt x="328085" y="0"/>
                  <a:pt x="340800" y="12715"/>
                  <a:pt x="340800" y="28400"/>
                </a:cubicBezTo>
                <a:lnTo>
                  <a:pt x="340800" y="56800"/>
                </a:lnTo>
                <a:cubicBezTo>
                  <a:pt x="340800" y="72485"/>
                  <a:pt x="328085" y="85200"/>
                  <a:pt x="3124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  <a:path w="340800" h="852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312400" y="0"/>
                </a:lnTo>
                <a:cubicBezTo>
                  <a:pt x="328085" y="0"/>
                  <a:pt x="340800" y="12715"/>
                  <a:pt x="340800" y="28400"/>
                </a:cubicBezTo>
                <a:lnTo>
                  <a:pt x="340800" y="56800"/>
                </a:lnTo>
                <a:cubicBezTo>
                  <a:pt x="340800" y="72485"/>
                  <a:pt x="328085" y="85200"/>
                  <a:pt x="3124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</a:pathLst>
          </a:custGeom>
          <a:gradFill>
            <a:gsLst>
              <a:gs pos="0">
                <a:srgbClr val="94A3B8"/>
              </a:gs>
              <a:gs pos="100000">
                <a:srgbClr val="CBD5E1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536" name="任意多边形 535"/>
          <p:cNvSpPr/>
          <p:nvPr/>
        </p:nvSpPr>
        <p:spPr>
          <a:xfrm>
            <a:off x="10943965" y="3512805"/>
            <a:ext cx="426000" cy="85200"/>
          </a:xfrm>
          <a:custGeom>
            <a:avLst/>
            <a:gdLst/>
            <a:ahLst/>
            <a:cxnLst/>
            <a:rect l="l" t="t" r="r" b="b"/>
            <a:pathLst>
              <a:path w="426000" h="852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397600" y="0"/>
                </a:lnTo>
                <a:cubicBezTo>
                  <a:pt x="413285" y="0"/>
                  <a:pt x="426000" y="12715"/>
                  <a:pt x="426000" y="28400"/>
                </a:cubicBezTo>
                <a:lnTo>
                  <a:pt x="426000" y="56800"/>
                </a:lnTo>
                <a:cubicBezTo>
                  <a:pt x="426000" y="72485"/>
                  <a:pt x="413285" y="85200"/>
                  <a:pt x="3976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  <a:path w="426000" h="852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397600" y="0"/>
                </a:lnTo>
                <a:cubicBezTo>
                  <a:pt x="413285" y="0"/>
                  <a:pt x="426000" y="12715"/>
                  <a:pt x="426000" y="28400"/>
                </a:cubicBezTo>
                <a:lnTo>
                  <a:pt x="426000" y="56800"/>
                </a:lnTo>
                <a:cubicBezTo>
                  <a:pt x="426000" y="72485"/>
                  <a:pt x="413285" y="85200"/>
                  <a:pt x="397600" y="85200"/>
                </a:cubicBezTo>
                <a:lnTo>
                  <a:pt x="28400" y="85200"/>
                </a:lnTo>
                <a:cubicBezTo>
                  <a:pt x="12715" y="85200"/>
                  <a:pt x="0" y="72485"/>
                  <a:pt x="0" y="56800"/>
                </a:cubicBezTo>
                <a:lnTo>
                  <a:pt x="0" y="28400"/>
                </a:lnTo>
                <a:close/>
              </a:path>
            </a:pathLst>
          </a:custGeom>
          <a:solidFill>
            <a:srgbClr val="E2E8F0"/>
          </a:solidFill>
          <a:ln w="7100" cap="flat">
            <a:noFill/>
            <a:miter/>
          </a:ln>
        </p:spPr>
      </p:sp>
      <p:sp>
        <p:nvSpPr>
          <p:cNvPr id="537" name="任意多边形 536"/>
          <p:cNvSpPr/>
          <p:nvPr/>
        </p:nvSpPr>
        <p:spPr>
          <a:xfrm>
            <a:off x="9090865" y="3661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10B981"/>
          </a:solidFill>
          <a:ln w="7100" cap="flat">
            <a:noFill/>
            <a:miter/>
          </a:ln>
        </p:spPr>
      </p:sp>
      <p:sp>
        <p:nvSpPr>
          <p:cNvPr id="538" name="任意多边形 537"/>
          <p:cNvSpPr/>
          <p:nvPr/>
        </p:nvSpPr>
        <p:spPr>
          <a:xfrm>
            <a:off x="155515" y="689465"/>
            <a:ext cx="369200" cy="156200"/>
          </a:xfrm>
          <a:custGeom>
            <a:avLst/>
            <a:gdLst>
              <a:gd name="connsiteX0" fmla="*/ 0 w 369200"/>
              <a:gd name="connsiteY0" fmla="*/ 78100 h 156200"/>
              <a:gd name="connsiteX1" fmla="*/ 184600 w 369200"/>
              <a:gd name="connsiteY1" fmla="*/ 0 h 156200"/>
              <a:gd name="connsiteX2" fmla="*/ 369200 w 369200"/>
              <a:gd name="connsiteY2" fmla="*/ 78100 h 156200"/>
              <a:gd name="connsiteX3" fmla="*/ 184600 w 369200"/>
              <a:gd name="connsiteY3" fmla="*/ 156200 h 156200"/>
              <a:gd name="rtl" fmla="*/ 8995700 w 369200"/>
              <a:gd name="rtt" fmla="*/ 2915640 h 156200"/>
              <a:gd name="rtr" fmla="*/ 9386200 w 369200"/>
              <a:gd name="rtb" fmla="*/ 30718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IRI 45%</a:t>
            </a:r>
            <a:endParaRPr lang="zh-CN" altLang="en-US" sz="640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9" name="任意多边形 538"/>
          <p:cNvSpPr/>
          <p:nvPr/>
        </p:nvSpPr>
        <p:spPr>
          <a:xfrm>
            <a:off x="9587865" y="3661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3B82F6"/>
          </a:solidFill>
          <a:ln w="7100" cap="flat">
            <a:noFill/>
            <a:miter/>
          </a:ln>
        </p:spPr>
      </p:sp>
      <p:sp>
        <p:nvSpPr>
          <p:cNvPr id="540" name="任意多边形 539"/>
          <p:cNvSpPr/>
          <p:nvPr/>
        </p:nvSpPr>
        <p:spPr>
          <a:xfrm>
            <a:off x="155515" y="689465"/>
            <a:ext cx="497000" cy="156200"/>
          </a:xfrm>
          <a:custGeom>
            <a:avLst/>
            <a:gdLst>
              <a:gd name="connsiteX0" fmla="*/ 0 w 497000"/>
              <a:gd name="connsiteY0" fmla="*/ 78100 h 156200"/>
              <a:gd name="connsiteX1" fmla="*/ 248500 w 497000"/>
              <a:gd name="connsiteY1" fmla="*/ 0 h 156200"/>
              <a:gd name="connsiteX2" fmla="*/ 497000 w 497000"/>
              <a:gd name="connsiteY2" fmla="*/ 78100 h 156200"/>
              <a:gd name="connsiteX3" fmla="*/ 248500 w 497000"/>
              <a:gd name="connsiteY3" fmla="*/ 156200 h 156200"/>
              <a:gd name="rtl" fmla="*/ 9485600 w 497000"/>
              <a:gd name="rtt" fmla="*/ 2915640 h 156200"/>
              <a:gd name="rtr" fmla="*/ 10018100 w 497000"/>
              <a:gd name="rtb" fmla="*/ 30718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表达量 20%</a:t>
            </a:r>
            <a:endParaRPr lang="zh-CN" altLang="en-US" sz="640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1" name="任意多边形 540"/>
          <p:cNvSpPr/>
          <p:nvPr/>
        </p:nvSpPr>
        <p:spPr>
          <a:xfrm>
            <a:off x="10226865" y="3661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542" name="任意多边形 541"/>
          <p:cNvSpPr/>
          <p:nvPr/>
        </p:nvSpPr>
        <p:spPr>
          <a:xfrm>
            <a:off x="155515" y="689465"/>
            <a:ext cx="497000" cy="156200"/>
          </a:xfrm>
          <a:custGeom>
            <a:avLst/>
            <a:gdLst>
              <a:gd name="connsiteX0" fmla="*/ 0 w 497000"/>
              <a:gd name="connsiteY0" fmla="*/ 78100 h 156200"/>
              <a:gd name="connsiteX1" fmla="*/ 248500 w 497000"/>
              <a:gd name="connsiteY1" fmla="*/ 0 h 156200"/>
              <a:gd name="connsiteX2" fmla="*/ 497000 w 497000"/>
              <a:gd name="connsiteY2" fmla="*/ 78100 h 156200"/>
              <a:gd name="connsiteX3" fmla="*/ 248500 w 497000"/>
              <a:gd name="connsiteY3" fmla="*/ 156200 h 156200"/>
              <a:gd name="rtl" fmla="*/ 10124600 w 497000"/>
              <a:gd name="rtt" fmla="*/ 2915640 h 156200"/>
              <a:gd name="rtr" fmla="*/ 10657100 w 497000"/>
              <a:gd name="rtb" fmla="*/ 307184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 15%</a:t>
            </a:r>
            <a:endParaRPr lang="zh-CN" altLang="en-US" sz="640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3" name="任意多边形 542"/>
          <p:cNvSpPr/>
          <p:nvPr/>
        </p:nvSpPr>
        <p:spPr>
          <a:xfrm>
            <a:off x="9083765" y="3867805"/>
            <a:ext cx="2307500" cy="1737264"/>
          </a:xfrm>
          <a:custGeom>
            <a:avLst/>
            <a:gdLst/>
            <a:ahLst/>
            <a:cxnLst/>
            <a:rect l="l" t="t" r="r" b="b"/>
            <a:pathLst>
              <a:path w="2307500" h="1737264" stroke="0">
                <a:moveTo>
                  <a:pt x="0" y="34745"/>
                </a:moveTo>
                <a:cubicBezTo>
                  <a:pt x="0" y="15556"/>
                  <a:pt x="19073" y="0"/>
                  <a:pt x="42600" y="0"/>
                </a:cubicBezTo>
                <a:lnTo>
                  <a:pt x="2264900" y="0"/>
                </a:lnTo>
                <a:cubicBezTo>
                  <a:pt x="2288427" y="0"/>
                  <a:pt x="2307500" y="15556"/>
                  <a:pt x="2307500" y="34745"/>
                </a:cubicBezTo>
                <a:lnTo>
                  <a:pt x="2307500" y="1702519"/>
                </a:lnTo>
                <a:cubicBezTo>
                  <a:pt x="2307500" y="1721708"/>
                  <a:pt x="2288427" y="1737264"/>
                  <a:pt x="2264900" y="1737264"/>
                </a:cubicBezTo>
                <a:lnTo>
                  <a:pt x="42600" y="1737264"/>
                </a:lnTo>
                <a:cubicBezTo>
                  <a:pt x="19073" y="1737264"/>
                  <a:pt x="0" y="1721708"/>
                  <a:pt x="0" y="1702519"/>
                </a:cubicBezTo>
                <a:lnTo>
                  <a:pt x="0" y="34745"/>
                </a:lnTo>
                <a:close/>
              </a:path>
              <a:path w="2307500" h="1737264" fill="none">
                <a:moveTo>
                  <a:pt x="0" y="34745"/>
                </a:moveTo>
                <a:cubicBezTo>
                  <a:pt x="0" y="15556"/>
                  <a:pt x="19073" y="0"/>
                  <a:pt x="42600" y="0"/>
                </a:cubicBezTo>
                <a:lnTo>
                  <a:pt x="2264900" y="0"/>
                </a:lnTo>
                <a:cubicBezTo>
                  <a:pt x="2288427" y="0"/>
                  <a:pt x="2307500" y="15556"/>
                  <a:pt x="2307500" y="34745"/>
                </a:cubicBezTo>
                <a:lnTo>
                  <a:pt x="2307500" y="1702519"/>
                </a:lnTo>
                <a:cubicBezTo>
                  <a:pt x="2307500" y="1721708"/>
                  <a:pt x="2288427" y="1737264"/>
                  <a:pt x="2264900" y="1737264"/>
                </a:cubicBezTo>
                <a:lnTo>
                  <a:pt x="42600" y="1737264"/>
                </a:lnTo>
                <a:cubicBezTo>
                  <a:pt x="19073" y="1737264"/>
                  <a:pt x="0" y="1721708"/>
                  <a:pt x="0" y="1702519"/>
                </a:cubicBezTo>
                <a:lnTo>
                  <a:pt x="0" y="34745"/>
                </a:lnTo>
                <a:close/>
              </a:path>
            </a:pathLst>
          </a:custGeom>
          <a:solidFill>
            <a:srgbClr val="F8FAFC"/>
          </a:solidFill>
          <a:ln w="7100" cap="flat">
            <a:noFill/>
            <a:miter/>
          </a:ln>
        </p:spPr>
      </p:sp>
      <p:sp>
        <p:nvSpPr>
          <p:cNvPr id="544" name="任意多边形 543"/>
          <p:cNvSpPr/>
          <p:nvPr/>
        </p:nvSpPr>
        <p:spPr>
          <a:xfrm>
            <a:off x="155515" y="689465"/>
            <a:ext cx="866200" cy="170400"/>
          </a:xfrm>
          <a:custGeom>
            <a:avLst/>
            <a:gdLst>
              <a:gd name="connsiteX0" fmla="*/ 0 w 866200"/>
              <a:gd name="connsiteY0" fmla="*/ 85200 h 170400"/>
              <a:gd name="connsiteX1" fmla="*/ 433100 w 866200"/>
              <a:gd name="connsiteY1" fmla="*/ 0 h 170400"/>
              <a:gd name="connsiteX2" fmla="*/ 866200 w 866200"/>
              <a:gd name="connsiteY2" fmla="*/ 85200 h 170400"/>
              <a:gd name="connsiteX3" fmla="*/ 433100 w 866200"/>
              <a:gd name="connsiteY3" fmla="*/ 170400 h 170400"/>
              <a:gd name="rtl" fmla="*/ 8956650 w 866200"/>
              <a:gd name="rtt" fmla="*/ 3220940 h 170400"/>
              <a:gd name="rtr" fmla="*/ 9851250 w 866200"/>
              <a:gd name="rtb" fmla="*/ 3391340 h 1704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293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24-25 年关键证据</a:t>
            </a:r>
            <a:endParaRPr lang="zh-CN" altLang="en-US" sz="745" b="1" dirty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5" name="任意多边形 544"/>
          <p:cNvSpPr/>
          <p:nvPr/>
        </p:nvSpPr>
        <p:spPr>
          <a:xfrm>
            <a:off x="9154765" y="4187305"/>
            <a:ext cx="7100" cy="1242500"/>
          </a:xfrm>
          <a:custGeom>
            <a:avLst/>
            <a:gdLst/>
            <a:ahLst/>
            <a:cxnLst/>
            <a:rect l="l" t="t" r="r" b="b"/>
            <a:pathLst>
              <a:path w="7100" h="1242500" stroke="0">
                <a:moveTo>
                  <a:pt x="0" y="0"/>
                </a:moveTo>
                <a:lnTo>
                  <a:pt x="0" y="1242500"/>
                </a:lnTo>
              </a:path>
              <a:path w="7100" h="1242500" fill="none">
                <a:moveTo>
                  <a:pt x="0" y="0"/>
                </a:moveTo>
                <a:lnTo>
                  <a:pt x="0" y="1242500"/>
                </a:lnTo>
              </a:path>
            </a:pathLst>
          </a:custGeom>
          <a:solidFill>
            <a:srgbClr val="000000"/>
          </a:solidFill>
          <a:ln w="14200" cap="flat">
            <a:solidFill>
              <a:srgbClr val="CBD5E1"/>
            </a:solidFill>
            <a:custDash>
              <a:ds d="1100000" sp="500000"/>
            </a:custDash>
            <a:miter/>
          </a:ln>
        </p:spPr>
      </p:sp>
      <p:sp>
        <p:nvSpPr>
          <p:cNvPr id="546" name="任意多边形 545"/>
          <p:cNvSpPr/>
          <p:nvPr/>
        </p:nvSpPr>
        <p:spPr>
          <a:xfrm>
            <a:off x="9126365" y="41589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EA580C"/>
          </a:solidFill>
          <a:ln w="7100" cap="flat">
            <a:noFill/>
            <a:miter/>
          </a:ln>
        </p:spPr>
      </p:sp>
      <p:sp>
        <p:nvSpPr>
          <p:cNvPr id="547" name="任意多边形 546"/>
          <p:cNvSpPr/>
          <p:nvPr/>
        </p:nvSpPr>
        <p:spPr>
          <a:xfrm>
            <a:off x="155515" y="689465"/>
            <a:ext cx="1199900" cy="163300"/>
          </a:xfrm>
          <a:custGeom>
            <a:avLst/>
            <a:gdLst>
              <a:gd name="connsiteX0" fmla="*/ 0 w 1199900"/>
              <a:gd name="connsiteY0" fmla="*/ 81650 h 163300"/>
              <a:gd name="connsiteX1" fmla="*/ 599950 w 1199900"/>
              <a:gd name="connsiteY1" fmla="*/ 0 h 163300"/>
              <a:gd name="connsiteX2" fmla="*/ 1199900 w 1199900"/>
              <a:gd name="connsiteY2" fmla="*/ 81650 h 163300"/>
              <a:gd name="connsiteX3" fmla="*/ 599950 w 1199900"/>
              <a:gd name="connsiteY3" fmla="*/ 163300 h 163300"/>
              <a:gd name="rtl" fmla="*/ 9045400 w 1199900"/>
              <a:gd name="rtt" fmla="*/ 3398440 h 163300"/>
              <a:gd name="rtr" fmla="*/ 10287900 w 1199900"/>
              <a:gd name="rtb" fmla="*/ 35617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三类系统对比：rTmAFP（黄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8" name="任意多边形 547"/>
          <p:cNvSpPr/>
          <p:nvPr/>
        </p:nvSpPr>
        <p:spPr>
          <a:xfrm>
            <a:off x="155515" y="689465"/>
            <a:ext cx="1462600" cy="163300"/>
          </a:xfrm>
          <a:custGeom>
            <a:avLst/>
            <a:gdLst>
              <a:gd name="connsiteX0" fmla="*/ 0 w 1462600"/>
              <a:gd name="connsiteY0" fmla="*/ 81650 h 163300"/>
              <a:gd name="connsiteX1" fmla="*/ 731300 w 1462600"/>
              <a:gd name="connsiteY1" fmla="*/ 0 h 163300"/>
              <a:gd name="connsiteX2" fmla="*/ 1462600 w 1462600"/>
              <a:gd name="connsiteY2" fmla="*/ 81650 h 163300"/>
              <a:gd name="connsiteX3" fmla="*/ 731300 w 1462600"/>
              <a:gd name="connsiteY3" fmla="*/ 163300 h 163300"/>
              <a:gd name="rtl" fmla="*/ 9063150 w 1462600"/>
              <a:gd name="rtt" fmla="*/ 3526240 h 163300"/>
              <a:gd name="rtr" fmla="*/ 10525750 w 1462600"/>
              <a:gd name="rtb" fmla="*/ 36895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粉虫 β-螺旋）保护面筋效果最优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9" name="任意多边形 548"/>
          <p:cNvSpPr/>
          <p:nvPr/>
        </p:nvSpPr>
        <p:spPr>
          <a:xfrm>
            <a:off x="9126365" y="4620405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EA580C"/>
          </a:solidFill>
          <a:ln w="7100" cap="flat">
            <a:noFill/>
            <a:miter/>
          </a:ln>
        </p:spPr>
      </p:sp>
      <p:sp>
        <p:nvSpPr>
          <p:cNvPr id="550" name="任意多边形 549"/>
          <p:cNvSpPr/>
          <p:nvPr/>
        </p:nvSpPr>
        <p:spPr>
          <a:xfrm>
            <a:off x="155515" y="689465"/>
            <a:ext cx="1150200" cy="163300"/>
          </a:xfrm>
          <a:custGeom>
            <a:avLst/>
            <a:gdLst>
              <a:gd name="connsiteX0" fmla="*/ 0 w 1150200"/>
              <a:gd name="connsiteY0" fmla="*/ 81650 h 163300"/>
              <a:gd name="connsiteX1" fmla="*/ 575100 w 1150200"/>
              <a:gd name="connsiteY1" fmla="*/ 0 h 163300"/>
              <a:gd name="connsiteX2" fmla="*/ 1150200 w 1150200"/>
              <a:gd name="connsiteY2" fmla="*/ 81650 h 163300"/>
              <a:gd name="connsiteX3" fmla="*/ 575100 w 1150200"/>
              <a:gd name="connsiteY3" fmla="*/ 163300 h 163300"/>
              <a:gd name="rtl" fmla="*/ 9063150 w 1150200"/>
              <a:gd name="rtt" fmla="*/ 3859940 h 163300"/>
              <a:gd name="rtr" fmla="*/ 10213350 w 1150200"/>
              <a:gd name="rtb" fmla="*/ 40232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食品级乳酸菌表达 rAFP：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1" name="任意多边形 550"/>
          <p:cNvSpPr/>
          <p:nvPr/>
        </p:nvSpPr>
        <p:spPr>
          <a:xfrm>
            <a:off x="155515" y="689465"/>
            <a:ext cx="1270900" cy="163300"/>
          </a:xfrm>
          <a:custGeom>
            <a:avLst/>
            <a:gdLst>
              <a:gd name="connsiteX0" fmla="*/ 0 w 1270900"/>
              <a:gd name="connsiteY0" fmla="*/ 81650 h 163300"/>
              <a:gd name="connsiteX1" fmla="*/ 635450 w 1270900"/>
              <a:gd name="connsiteY1" fmla="*/ 0 h 163300"/>
              <a:gd name="connsiteX2" fmla="*/ 1270900 w 1270900"/>
              <a:gd name="connsiteY2" fmla="*/ 81650 h 163300"/>
              <a:gd name="connsiteX3" fmla="*/ 635450 w 1270900"/>
              <a:gd name="connsiteY3" fmla="*/ 163300 h 163300"/>
              <a:gd name="rtl" fmla="*/ 9066700 w 1270900"/>
              <a:gd name="rtt" fmla="*/ 3987740 h 163300"/>
              <a:gd name="rtr" fmla="*/ 10337600 w 1270900"/>
              <a:gd name="rtb" fmla="*/ 4151040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显著改善冷冻面团发酵能力和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2" name="任意多边形 551"/>
          <p:cNvSpPr/>
          <p:nvPr/>
        </p:nvSpPr>
        <p:spPr>
          <a:xfrm>
            <a:off x="155515" y="689465"/>
            <a:ext cx="1363200" cy="163300"/>
          </a:xfrm>
          <a:custGeom>
            <a:avLst/>
            <a:gdLst>
              <a:gd name="connsiteX0" fmla="*/ 0 w 1363200"/>
              <a:gd name="connsiteY0" fmla="*/ 81650 h 163300"/>
              <a:gd name="connsiteX1" fmla="*/ 681600 w 1363200"/>
              <a:gd name="connsiteY1" fmla="*/ 0 h 163300"/>
              <a:gd name="connsiteX2" fmla="*/ 1363200 w 1363200"/>
              <a:gd name="connsiteY2" fmla="*/ 81650 h 163300"/>
              <a:gd name="connsiteX3" fmla="*/ 681600 w 1363200"/>
              <a:gd name="connsiteY3" fmla="*/ 163300 h 163300"/>
              <a:gd name="rtl" fmla="*/ 9063150 w 1363200"/>
              <a:gd name="rtt" fmla="*/ 4115540 h 163300"/>
              <a:gd name="rtr" fmla="*/ 10426350 w 1363200"/>
              <a:gd name="rtb" fmla="*/ 4278841 h 163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品质，验证食品级可规模化路径</a:t>
            </a:r>
            <a:endParaRPr lang="zh-CN" altLang="en-US" sz="690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635000" y="5806440"/>
            <a:ext cx="10756265" cy="52197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zh-CN" altLang="en-US" sz="14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抗冻蛋白（</a:t>
            </a:r>
            <a:r>
              <a:rPr lang="en-US" altLang="zh-CN" sz="14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AFP</a:t>
            </a:r>
            <a:r>
              <a:rPr lang="zh-CN" altLang="en-US" sz="14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）凭借其独特的</a:t>
            </a:r>
            <a:r>
              <a:rPr lang="zh-CN" altLang="en-US" sz="14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冰晶生长调控机制（主要是抑制重结晶</a:t>
            </a:r>
            <a:r>
              <a:rPr lang="en-US" altLang="zh-CN" sz="14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IRI</a:t>
            </a:r>
            <a:r>
              <a:rPr lang="zh-CN" altLang="en-US" sz="14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和延迟成核</a:t>
            </a:r>
            <a:r>
              <a:rPr lang="en-US" altLang="zh-CN" sz="14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TH</a:t>
            </a:r>
            <a:r>
              <a:rPr lang="zh-CN" altLang="en-US" sz="14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）</a:t>
            </a:r>
            <a:r>
              <a:rPr lang="zh-CN" altLang="en-US" sz="14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，被广泛应用于</a:t>
            </a:r>
            <a:r>
              <a:rPr lang="zh-CN" altLang="en-US" sz="1400" b="1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改善冷冻食品质构（如冰淇淋、面团）、实现低毒高效的细胞冻存以及开发工业级防冰涂层</a:t>
            </a:r>
            <a:r>
              <a:rPr lang="zh-CN" altLang="en-US" sz="1400">
                <a:latin typeface="Times New Roman" panose="02020503050405090304" charset="0"/>
                <a:ea typeface="宋体" pitchFamily="2" charset="-122"/>
                <a:cs typeface="Times New Roman" panose="02020503050405090304" charset="0"/>
              </a:rPr>
              <a:t>，核心特点在于能精准管理冰晶形态以防止冷冻损伤或积冰危害</a:t>
            </a:r>
            <a:endParaRPr lang="zh-CN" altLang="en-US" sz="1400">
              <a:latin typeface="Times New Roman" panose="02020503050405090304" charset="0"/>
              <a:ea typeface="宋体" pitchFamily="2" charset="-122"/>
              <a:cs typeface="Times New Roman" panose="0202050305040509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59385" y="117475"/>
            <a:ext cx="63563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业务痛点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5" name="任意多边形 554"/>
          <p:cNvSpPr/>
          <p:nvPr/>
        </p:nvSpPr>
        <p:spPr>
          <a:xfrm>
            <a:off x="563630" y="925330"/>
            <a:ext cx="4260000" cy="5122874"/>
          </a:xfrm>
          <a:custGeom>
            <a:avLst/>
            <a:gdLst/>
            <a:ahLst/>
            <a:cxnLst/>
            <a:rect l="l" t="t" r="r" b="b"/>
            <a:pathLst>
              <a:path w="4260000" h="5122874" stroke="0">
                <a:moveTo>
                  <a:pt x="0" y="161775"/>
                </a:moveTo>
                <a:cubicBezTo>
                  <a:pt x="0" y="72429"/>
                  <a:pt x="76291" y="0"/>
                  <a:pt x="170400" y="0"/>
                </a:cubicBezTo>
                <a:lnTo>
                  <a:pt x="4089600" y="0"/>
                </a:lnTo>
                <a:cubicBezTo>
                  <a:pt x="4183709" y="0"/>
                  <a:pt x="4260000" y="72429"/>
                  <a:pt x="4260000" y="161775"/>
                </a:cubicBezTo>
                <a:lnTo>
                  <a:pt x="4260000" y="4961099"/>
                </a:lnTo>
                <a:cubicBezTo>
                  <a:pt x="4260000" y="5050445"/>
                  <a:pt x="4183709" y="5122874"/>
                  <a:pt x="4089600" y="5122874"/>
                </a:cubicBezTo>
                <a:lnTo>
                  <a:pt x="170400" y="5122874"/>
                </a:lnTo>
                <a:cubicBezTo>
                  <a:pt x="76291" y="5122874"/>
                  <a:pt x="0" y="5050445"/>
                  <a:pt x="0" y="4961099"/>
                </a:cubicBezTo>
                <a:lnTo>
                  <a:pt x="0" y="161775"/>
                </a:lnTo>
                <a:close/>
              </a:path>
              <a:path w="4260000" h="5122874" fill="none">
                <a:moveTo>
                  <a:pt x="0" y="161775"/>
                </a:moveTo>
                <a:cubicBezTo>
                  <a:pt x="0" y="72429"/>
                  <a:pt x="76291" y="0"/>
                  <a:pt x="170400" y="0"/>
                </a:cubicBezTo>
                <a:lnTo>
                  <a:pt x="4089600" y="0"/>
                </a:lnTo>
                <a:cubicBezTo>
                  <a:pt x="4183709" y="0"/>
                  <a:pt x="4260000" y="72429"/>
                  <a:pt x="4260000" y="161775"/>
                </a:cubicBezTo>
                <a:lnTo>
                  <a:pt x="4260000" y="4961099"/>
                </a:lnTo>
                <a:cubicBezTo>
                  <a:pt x="4260000" y="5050445"/>
                  <a:pt x="4183709" y="5122874"/>
                  <a:pt x="4089600" y="5122874"/>
                </a:cubicBezTo>
                <a:lnTo>
                  <a:pt x="170400" y="5122874"/>
                </a:lnTo>
                <a:cubicBezTo>
                  <a:pt x="76291" y="5122874"/>
                  <a:pt x="0" y="5050445"/>
                  <a:pt x="0" y="4961099"/>
                </a:cubicBezTo>
                <a:lnTo>
                  <a:pt x="0" y="161775"/>
                </a:lnTo>
                <a:close/>
              </a:path>
            </a:pathLst>
          </a:custGeom>
          <a:solidFill>
            <a:srgbClr val="FFFFFF">
              <a:alpha val="40000"/>
            </a:srgbClr>
          </a:solidFill>
          <a:ln w="14200" cap="flat">
            <a:solidFill>
              <a:srgbClr val="E2E8F0"/>
            </a:solidFill>
            <a:miter/>
          </a:ln>
        </p:spPr>
      </p:sp>
      <p:sp>
        <p:nvSpPr>
          <p:cNvPr id="556" name="任意多边形 555"/>
          <p:cNvSpPr/>
          <p:nvPr/>
        </p:nvSpPr>
        <p:spPr>
          <a:xfrm>
            <a:off x="27580" y="644880"/>
            <a:ext cx="1476800" cy="234300"/>
          </a:xfrm>
          <a:custGeom>
            <a:avLst/>
            <a:gdLst>
              <a:gd name="connsiteX0" fmla="*/ 0 w 1476800"/>
              <a:gd name="connsiteY0" fmla="*/ 117150 h 234300"/>
              <a:gd name="connsiteX1" fmla="*/ 738400 w 1476800"/>
              <a:gd name="connsiteY1" fmla="*/ 0 h 234300"/>
              <a:gd name="connsiteX2" fmla="*/ 1476800 w 1476800"/>
              <a:gd name="connsiteY2" fmla="*/ 117150 h 234300"/>
              <a:gd name="connsiteX3" fmla="*/ 738400 w 1476800"/>
              <a:gd name="connsiteY3" fmla="*/ 234300 h 234300"/>
              <a:gd name="rtl" fmla="*/ 1927650 w 1476800"/>
              <a:gd name="rtt" fmla="*/ 330150 h 234300"/>
              <a:gd name="rtr" fmla="*/ 3404450 w 1476800"/>
              <a:gd name="rtb" fmla="*/ 564450 h 234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2D3436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1170" b="1" dirty="0">
                <a:solidFill>
                  <a:srgbClr val="2D3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当前痛点闭环因果链</a:t>
            </a:r>
            <a:endParaRPr lang="zh-CN" altLang="en-US" sz="1170" b="1" dirty="0">
              <a:solidFill>
                <a:srgbClr val="2D3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7" name="任意多边形 556"/>
          <p:cNvSpPr/>
          <p:nvPr/>
        </p:nvSpPr>
        <p:spPr>
          <a:xfrm>
            <a:off x="27580" y="644880"/>
            <a:ext cx="1661400" cy="170400"/>
          </a:xfrm>
          <a:custGeom>
            <a:avLst/>
            <a:gdLst>
              <a:gd name="connsiteX0" fmla="*/ 0 w 1661400"/>
              <a:gd name="connsiteY0" fmla="*/ 85200 h 170400"/>
              <a:gd name="connsiteX1" fmla="*/ 830700 w 1661400"/>
              <a:gd name="connsiteY1" fmla="*/ 0 h 170400"/>
              <a:gd name="connsiteX2" fmla="*/ 1661400 w 1661400"/>
              <a:gd name="connsiteY2" fmla="*/ 85200 h 170400"/>
              <a:gd name="connsiteX3" fmla="*/ 830700 w 1661400"/>
              <a:gd name="connsiteY3" fmla="*/ 170400 h 170400"/>
              <a:gd name="rtl" fmla="*/ 1835350 w 1661400"/>
              <a:gd name="rtt" fmla="*/ 536050 h 170400"/>
              <a:gd name="rtr" fmla="*/ 3496750 w 1661400"/>
              <a:gd name="rtb" fmla="*/ 706450 h 1704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36E72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单一解决治标不治本，痛点相互嵌套</a:t>
            </a:r>
            <a:endParaRPr lang="zh-CN" altLang="en-US" sz="745" dirty="0">
              <a:solidFill>
                <a:srgbClr val="636E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8" name="任意多边形 557"/>
          <p:cNvSpPr/>
          <p:nvPr/>
        </p:nvSpPr>
        <p:spPr>
          <a:xfrm>
            <a:off x="2693630" y="2061330"/>
            <a:ext cx="7100" cy="284000"/>
          </a:xfrm>
          <a:custGeom>
            <a:avLst/>
            <a:gdLst/>
            <a:ahLst/>
            <a:cxnLst/>
            <a:rect l="l" t="t" r="r" b="b"/>
            <a:pathLst>
              <a:path w="7100" h="284000" fill="none">
                <a:moveTo>
                  <a:pt x="0" y="0"/>
                </a:moveTo>
                <a:lnTo>
                  <a:pt x="0" y="284000"/>
                </a:lnTo>
              </a:path>
            </a:pathLst>
          </a:custGeom>
          <a:noFill/>
          <a:ln w="21300" cap="flat">
            <a:solidFill>
              <a:srgbClr val="EE5253"/>
            </a:solidFill>
            <a:miter/>
          </a:ln>
        </p:spPr>
      </p:sp>
      <p:sp>
        <p:nvSpPr>
          <p:cNvPr id="559" name="任意多边形 558"/>
          <p:cNvSpPr/>
          <p:nvPr/>
        </p:nvSpPr>
        <p:spPr>
          <a:xfrm rot="5400000">
            <a:off x="2651855" y="2332779"/>
            <a:ext cx="83551" cy="83551"/>
          </a:xfrm>
          <a:custGeom>
            <a:avLst/>
            <a:gdLst/>
            <a:ahLst/>
            <a:cxnLst/>
            <a:rect l="l" t="t" r="r" b="b"/>
            <a:pathLst>
              <a:path w="83551" h="83551" stroke="0">
                <a:moveTo>
                  <a:pt x="0" y="0"/>
                </a:moveTo>
                <a:lnTo>
                  <a:pt x="83551" y="41775"/>
                </a:lnTo>
                <a:lnTo>
                  <a:pt x="0" y="83551"/>
                </a:lnTo>
                <a:lnTo>
                  <a:pt x="0" y="0"/>
                </a:lnTo>
                <a:close/>
              </a:path>
              <a:path w="83551" h="83551" fill="none">
                <a:moveTo>
                  <a:pt x="0" y="0"/>
                </a:moveTo>
                <a:lnTo>
                  <a:pt x="83551" y="41775"/>
                </a:lnTo>
                <a:lnTo>
                  <a:pt x="0" y="83551"/>
                </a:lnTo>
                <a:lnTo>
                  <a:pt x="0" y="0"/>
                </a:lnTo>
                <a:close/>
              </a:path>
            </a:pathLst>
          </a:custGeom>
          <a:solidFill>
            <a:srgbClr val="EE5253"/>
          </a:solidFill>
          <a:ln w="7100" cap="flat">
            <a:noFill/>
            <a:miter/>
          </a:ln>
        </p:spPr>
      </p:sp>
      <p:sp>
        <p:nvSpPr>
          <p:cNvPr id="561" name="任意多边形 560"/>
          <p:cNvSpPr/>
          <p:nvPr/>
        </p:nvSpPr>
        <p:spPr>
          <a:xfrm>
            <a:off x="2480630" y="2132330"/>
            <a:ext cx="426000" cy="142000"/>
          </a:xfrm>
          <a:custGeom>
            <a:avLst/>
            <a:gdLst/>
            <a:ahLst/>
            <a:cxnLst/>
            <a:rect l="l" t="t" r="r" b="b"/>
            <a:pathLst>
              <a:path w="426000" h="142000" stroke="0">
                <a:moveTo>
                  <a:pt x="0" y="71000"/>
                </a:moveTo>
                <a:cubicBezTo>
                  <a:pt x="0" y="31788"/>
                  <a:pt x="31788" y="0"/>
                  <a:pt x="71000" y="0"/>
                </a:cubicBezTo>
                <a:lnTo>
                  <a:pt x="355000" y="0"/>
                </a:lnTo>
                <a:cubicBezTo>
                  <a:pt x="394212" y="0"/>
                  <a:pt x="426000" y="31788"/>
                  <a:pt x="426000" y="71000"/>
                </a:cubicBezTo>
                <a:cubicBezTo>
                  <a:pt x="426000" y="110212"/>
                  <a:pt x="394212" y="142000"/>
                  <a:pt x="355000" y="142000"/>
                </a:cubicBezTo>
                <a:lnTo>
                  <a:pt x="71000" y="142000"/>
                </a:lnTo>
                <a:cubicBezTo>
                  <a:pt x="31788" y="142000"/>
                  <a:pt x="0" y="110212"/>
                  <a:pt x="0" y="71000"/>
                </a:cubicBezTo>
                <a:close/>
              </a:path>
              <a:path w="426000" h="142000" fill="none">
                <a:moveTo>
                  <a:pt x="0" y="71000"/>
                </a:moveTo>
                <a:cubicBezTo>
                  <a:pt x="0" y="31788"/>
                  <a:pt x="31788" y="0"/>
                  <a:pt x="71000" y="0"/>
                </a:cubicBezTo>
                <a:lnTo>
                  <a:pt x="355000" y="0"/>
                </a:lnTo>
                <a:cubicBezTo>
                  <a:pt x="394212" y="0"/>
                  <a:pt x="426000" y="31788"/>
                  <a:pt x="426000" y="71000"/>
                </a:cubicBezTo>
                <a:cubicBezTo>
                  <a:pt x="426000" y="110212"/>
                  <a:pt x="394212" y="142000"/>
                  <a:pt x="355000" y="142000"/>
                </a:cubicBezTo>
                <a:lnTo>
                  <a:pt x="71000" y="142000"/>
                </a:lnTo>
                <a:cubicBezTo>
                  <a:pt x="31788" y="142000"/>
                  <a:pt x="0" y="110212"/>
                  <a:pt x="0" y="71000"/>
                </a:cubicBez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EE5253"/>
            </a:solidFill>
            <a:miter/>
          </a:ln>
        </p:spPr>
      </p:sp>
      <p:sp>
        <p:nvSpPr>
          <p:cNvPr id="562" name="任意多边形 561"/>
          <p:cNvSpPr/>
          <p:nvPr/>
        </p:nvSpPr>
        <p:spPr>
          <a:xfrm>
            <a:off x="27580" y="644880"/>
            <a:ext cx="241400" cy="156200"/>
          </a:xfrm>
          <a:custGeom>
            <a:avLst/>
            <a:gdLst>
              <a:gd name="connsiteX0" fmla="*/ 0 w 241400"/>
              <a:gd name="connsiteY0" fmla="*/ 78100 h 156200"/>
              <a:gd name="connsiteX1" fmla="*/ 120700 w 241400"/>
              <a:gd name="connsiteY1" fmla="*/ 0 h 156200"/>
              <a:gd name="connsiteX2" fmla="*/ 241400 w 241400"/>
              <a:gd name="connsiteY2" fmla="*/ 78100 h 156200"/>
              <a:gd name="connsiteX3" fmla="*/ 120700 w 241400"/>
              <a:gd name="connsiteY3" fmla="*/ 156200 h 156200"/>
              <a:gd name="rtl" fmla="*/ 2545350 w 241400"/>
              <a:gd name="rtt" fmla="*/ 1466150 h 156200"/>
              <a:gd name="rtr" fmla="*/ 2786750 w 241400"/>
              <a:gd name="rtb" fmla="*/ 162235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EE5253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EE52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导致</a:t>
            </a:r>
            <a:endParaRPr lang="zh-CN" altLang="en-US" sz="640" b="1" dirty="0">
              <a:solidFill>
                <a:srgbClr val="EE52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3" name="任意多边形 562"/>
          <p:cNvSpPr/>
          <p:nvPr/>
        </p:nvSpPr>
        <p:spPr>
          <a:xfrm>
            <a:off x="2693630" y="3055330"/>
            <a:ext cx="7100" cy="284000"/>
          </a:xfrm>
          <a:custGeom>
            <a:avLst/>
            <a:gdLst/>
            <a:ahLst/>
            <a:cxnLst/>
            <a:rect l="l" t="t" r="r" b="b"/>
            <a:pathLst>
              <a:path w="7100" h="284000" fill="none">
                <a:moveTo>
                  <a:pt x="0" y="0"/>
                </a:moveTo>
                <a:lnTo>
                  <a:pt x="0" y="284000"/>
                </a:lnTo>
              </a:path>
            </a:pathLst>
          </a:custGeom>
          <a:noFill/>
          <a:ln w="21300" cap="flat">
            <a:solidFill>
              <a:srgbClr val="EE5253"/>
            </a:solidFill>
            <a:miter/>
          </a:ln>
        </p:spPr>
      </p:sp>
      <p:sp>
        <p:nvSpPr>
          <p:cNvPr id="564" name="任意多边形 563"/>
          <p:cNvSpPr/>
          <p:nvPr/>
        </p:nvSpPr>
        <p:spPr>
          <a:xfrm rot="5400000">
            <a:off x="2651855" y="3326779"/>
            <a:ext cx="83551" cy="83551"/>
          </a:xfrm>
          <a:custGeom>
            <a:avLst/>
            <a:gdLst/>
            <a:ahLst/>
            <a:cxnLst/>
            <a:rect l="l" t="t" r="r" b="b"/>
            <a:pathLst>
              <a:path w="83551" h="83551" stroke="0">
                <a:moveTo>
                  <a:pt x="0" y="0"/>
                </a:moveTo>
                <a:lnTo>
                  <a:pt x="83551" y="41775"/>
                </a:lnTo>
                <a:lnTo>
                  <a:pt x="0" y="83551"/>
                </a:lnTo>
                <a:lnTo>
                  <a:pt x="0" y="0"/>
                </a:lnTo>
                <a:close/>
              </a:path>
              <a:path w="83551" h="83551" fill="none">
                <a:moveTo>
                  <a:pt x="0" y="0"/>
                </a:moveTo>
                <a:lnTo>
                  <a:pt x="83551" y="41775"/>
                </a:lnTo>
                <a:lnTo>
                  <a:pt x="0" y="83551"/>
                </a:lnTo>
                <a:lnTo>
                  <a:pt x="0" y="0"/>
                </a:lnTo>
                <a:close/>
              </a:path>
            </a:pathLst>
          </a:custGeom>
          <a:solidFill>
            <a:srgbClr val="EE5253"/>
          </a:solidFill>
          <a:ln w="7100" cap="flat">
            <a:noFill/>
            <a:miter/>
          </a:ln>
        </p:spPr>
      </p:sp>
      <p:sp>
        <p:nvSpPr>
          <p:cNvPr id="566" name="任意多边形 565"/>
          <p:cNvSpPr/>
          <p:nvPr/>
        </p:nvSpPr>
        <p:spPr>
          <a:xfrm>
            <a:off x="2480630" y="3126330"/>
            <a:ext cx="426000" cy="142000"/>
          </a:xfrm>
          <a:custGeom>
            <a:avLst/>
            <a:gdLst/>
            <a:ahLst/>
            <a:cxnLst/>
            <a:rect l="l" t="t" r="r" b="b"/>
            <a:pathLst>
              <a:path w="426000" h="142000" stroke="0">
                <a:moveTo>
                  <a:pt x="0" y="71000"/>
                </a:moveTo>
                <a:cubicBezTo>
                  <a:pt x="0" y="31788"/>
                  <a:pt x="31788" y="0"/>
                  <a:pt x="71000" y="0"/>
                </a:cubicBezTo>
                <a:lnTo>
                  <a:pt x="355000" y="0"/>
                </a:lnTo>
                <a:cubicBezTo>
                  <a:pt x="394212" y="0"/>
                  <a:pt x="426000" y="31788"/>
                  <a:pt x="426000" y="71000"/>
                </a:cubicBezTo>
                <a:cubicBezTo>
                  <a:pt x="426000" y="110212"/>
                  <a:pt x="394212" y="142000"/>
                  <a:pt x="355000" y="142000"/>
                </a:cubicBezTo>
                <a:lnTo>
                  <a:pt x="71000" y="142000"/>
                </a:lnTo>
                <a:cubicBezTo>
                  <a:pt x="31788" y="142000"/>
                  <a:pt x="0" y="110212"/>
                  <a:pt x="0" y="71000"/>
                </a:cubicBezTo>
                <a:close/>
              </a:path>
              <a:path w="426000" h="142000" fill="none">
                <a:moveTo>
                  <a:pt x="0" y="71000"/>
                </a:moveTo>
                <a:cubicBezTo>
                  <a:pt x="0" y="31788"/>
                  <a:pt x="31788" y="0"/>
                  <a:pt x="71000" y="0"/>
                </a:cubicBezTo>
                <a:lnTo>
                  <a:pt x="355000" y="0"/>
                </a:lnTo>
                <a:cubicBezTo>
                  <a:pt x="394212" y="0"/>
                  <a:pt x="426000" y="31788"/>
                  <a:pt x="426000" y="71000"/>
                </a:cubicBezTo>
                <a:cubicBezTo>
                  <a:pt x="426000" y="110212"/>
                  <a:pt x="394212" y="142000"/>
                  <a:pt x="355000" y="142000"/>
                </a:cubicBezTo>
                <a:lnTo>
                  <a:pt x="71000" y="142000"/>
                </a:lnTo>
                <a:cubicBezTo>
                  <a:pt x="31788" y="142000"/>
                  <a:pt x="0" y="110212"/>
                  <a:pt x="0" y="71000"/>
                </a:cubicBez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EE5253"/>
            </a:solidFill>
            <a:miter/>
          </a:ln>
        </p:spPr>
      </p:sp>
      <p:sp>
        <p:nvSpPr>
          <p:cNvPr id="567" name="任意多边形 566"/>
          <p:cNvSpPr/>
          <p:nvPr/>
        </p:nvSpPr>
        <p:spPr>
          <a:xfrm>
            <a:off x="27580" y="644880"/>
            <a:ext cx="241400" cy="156200"/>
          </a:xfrm>
          <a:custGeom>
            <a:avLst/>
            <a:gdLst>
              <a:gd name="connsiteX0" fmla="*/ 0 w 241400"/>
              <a:gd name="connsiteY0" fmla="*/ 78100 h 156200"/>
              <a:gd name="connsiteX1" fmla="*/ 120700 w 241400"/>
              <a:gd name="connsiteY1" fmla="*/ 0 h 156200"/>
              <a:gd name="connsiteX2" fmla="*/ 241400 w 241400"/>
              <a:gd name="connsiteY2" fmla="*/ 78100 h 156200"/>
              <a:gd name="connsiteX3" fmla="*/ 120700 w 241400"/>
              <a:gd name="connsiteY3" fmla="*/ 156200 h 156200"/>
              <a:gd name="rtl" fmla="*/ 2545350 w 241400"/>
              <a:gd name="rtt" fmla="*/ 2460150 h 156200"/>
              <a:gd name="rtr" fmla="*/ 2786750 w 241400"/>
              <a:gd name="rtb" fmla="*/ 261635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EE5253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EE52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导致</a:t>
            </a:r>
            <a:endParaRPr lang="zh-CN" altLang="en-US" sz="640" b="1" dirty="0">
              <a:solidFill>
                <a:srgbClr val="EE52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8" name="任意多边形 567"/>
          <p:cNvSpPr/>
          <p:nvPr/>
        </p:nvSpPr>
        <p:spPr>
          <a:xfrm>
            <a:off x="1841630" y="4049330"/>
            <a:ext cx="852000" cy="426000"/>
          </a:xfrm>
          <a:custGeom>
            <a:avLst/>
            <a:gdLst/>
            <a:ahLst/>
            <a:cxnLst/>
            <a:rect l="l" t="t" r="r" b="b"/>
            <a:pathLst>
              <a:path w="852000" h="426000" fill="none">
                <a:moveTo>
                  <a:pt x="852000" y="0"/>
                </a:moveTo>
                <a:cubicBezTo>
                  <a:pt x="852000" y="213000"/>
                  <a:pt x="0" y="213000"/>
                  <a:pt x="0" y="426000"/>
                </a:cubicBezTo>
              </a:path>
            </a:pathLst>
          </a:custGeom>
          <a:noFill/>
          <a:ln w="21300" cap="flat">
            <a:solidFill>
              <a:srgbClr val="EE5253"/>
            </a:solidFill>
            <a:miter/>
          </a:ln>
        </p:spPr>
      </p:sp>
      <p:sp>
        <p:nvSpPr>
          <p:cNvPr id="569" name="任意多边形 568"/>
          <p:cNvSpPr/>
          <p:nvPr/>
        </p:nvSpPr>
        <p:spPr>
          <a:xfrm rot="5400000">
            <a:off x="1800386" y="4469488"/>
            <a:ext cx="76842" cy="76842"/>
          </a:xfrm>
          <a:custGeom>
            <a:avLst/>
            <a:gdLst/>
            <a:ahLst/>
            <a:cxnLst/>
            <a:rect l="l" t="t" r="r" b="b"/>
            <a:pathLst>
              <a:path w="76842" h="76842" stroke="0">
                <a:moveTo>
                  <a:pt x="0" y="0"/>
                </a:moveTo>
                <a:lnTo>
                  <a:pt x="76842" y="38421"/>
                </a:lnTo>
                <a:lnTo>
                  <a:pt x="0" y="76842"/>
                </a:lnTo>
                <a:lnTo>
                  <a:pt x="0" y="0"/>
                </a:lnTo>
                <a:close/>
              </a:path>
              <a:path w="76842" h="76842" fill="none">
                <a:moveTo>
                  <a:pt x="0" y="0"/>
                </a:moveTo>
                <a:lnTo>
                  <a:pt x="76842" y="38421"/>
                </a:lnTo>
                <a:lnTo>
                  <a:pt x="0" y="76842"/>
                </a:lnTo>
                <a:lnTo>
                  <a:pt x="0" y="0"/>
                </a:lnTo>
                <a:close/>
              </a:path>
            </a:pathLst>
          </a:custGeom>
          <a:solidFill>
            <a:srgbClr val="EE5253"/>
          </a:solidFill>
          <a:ln w="7100" cap="flat">
            <a:noFill/>
            <a:miter/>
          </a:ln>
        </p:spPr>
      </p:sp>
      <p:sp>
        <p:nvSpPr>
          <p:cNvPr id="571" name="任意多边形 570"/>
          <p:cNvSpPr/>
          <p:nvPr/>
        </p:nvSpPr>
        <p:spPr>
          <a:xfrm>
            <a:off x="1983630" y="4191330"/>
            <a:ext cx="426000" cy="142000"/>
          </a:xfrm>
          <a:custGeom>
            <a:avLst/>
            <a:gdLst/>
            <a:ahLst/>
            <a:cxnLst/>
            <a:rect l="l" t="t" r="r" b="b"/>
            <a:pathLst>
              <a:path w="426000" h="142000" stroke="0">
                <a:moveTo>
                  <a:pt x="0" y="71000"/>
                </a:moveTo>
                <a:cubicBezTo>
                  <a:pt x="0" y="31788"/>
                  <a:pt x="31788" y="0"/>
                  <a:pt x="71000" y="0"/>
                </a:cubicBezTo>
                <a:lnTo>
                  <a:pt x="355000" y="0"/>
                </a:lnTo>
                <a:cubicBezTo>
                  <a:pt x="394212" y="0"/>
                  <a:pt x="426000" y="31788"/>
                  <a:pt x="426000" y="71000"/>
                </a:cubicBezTo>
                <a:cubicBezTo>
                  <a:pt x="426000" y="110212"/>
                  <a:pt x="394212" y="142000"/>
                  <a:pt x="355000" y="142000"/>
                </a:cubicBezTo>
                <a:lnTo>
                  <a:pt x="71000" y="142000"/>
                </a:lnTo>
                <a:cubicBezTo>
                  <a:pt x="31788" y="142000"/>
                  <a:pt x="0" y="110212"/>
                  <a:pt x="0" y="71000"/>
                </a:cubicBezTo>
                <a:close/>
              </a:path>
              <a:path w="426000" h="142000" fill="none">
                <a:moveTo>
                  <a:pt x="0" y="71000"/>
                </a:moveTo>
                <a:cubicBezTo>
                  <a:pt x="0" y="31788"/>
                  <a:pt x="31788" y="0"/>
                  <a:pt x="71000" y="0"/>
                </a:cubicBezTo>
                <a:lnTo>
                  <a:pt x="355000" y="0"/>
                </a:lnTo>
                <a:cubicBezTo>
                  <a:pt x="394212" y="0"/>
                  <a:pt x="426000" y="31788"/>
                  <a:pt x="426000" y="71000"/>
                </a:cubicBezTo>
                <a:cubicBezTo>
                  <a:pt x="426000" y="110212"/>
                  <a:pt x="394212" y="142000"/>
                  <a:pt x="355000" y="142000"/>
                </a:cubicBezTo>
                <a:lnTo>
                  <a:pt x="71000" y="142000"/>
                </a:lnTo>
                <a:cubicBezTo>
                  <a:pt x="31788" y="142000"/>
                  <a:pt x="0" y="110212"/>
                  <a:pt x="0" y="71000"/>
                </a:cubicBez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EE5253"/>
            </a:solidFill>
            <a:miter/>
          </a:ln>
        </p:spPr>
      </p:sp>
      <p:sp>
        <p:nvSpPr>
          <p:cNvPr id="572" name="任意多边形 571"/>
          <p:cNvSpPr/>
          <p:nvPr/>
        </p:nvSpPr>
        <p:spPr>
          <a:xfrm>
            <a:off x="27580" y="644880"/>
            <a:ext cx="241400" cy="156200"/>
          </a:xfrm>
          <a:custGeom>
            <a:avLst/>
            <a:gdLst>
              <a:gd name="connsiteX0" fmla="*/ 0 w 241400"/>
              <a:gd name="connsiteY0" fmla="*/ 78100 h 156200"/>
              <a:gd name="connsiteX1" fmla="*/ 120700 w 241400"/>
              <a:gd name="connsiteY1" fmla="*/ 0 h 156200"/>
              <a:gd name="connsiteX2" fmla="*/ 241400 w 241400"/>
              <a:gd name="connsiteY2" fmla="*/ 78100 h 156200"/>
              <a:gd name="connsiteX3" fmla="*/ 120700 w 241400"/>
              <a:gd name="connsiteY3" fmla="*/ 156200 h 156200"/>
              <a:gd name="rtl" fmla="*/ 2048350 w 241400"/>
              <a:gd name="rtt" fmla="*/ 3525150 h 156200"/>
              <a:gd name="rtr" fmla="*/ 2289750 w 241400"/>
              <a:gd name="rtb" fmla="*/ 368135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EE5253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EE52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导致</a:t>
            </a:r>
            <a:endParaRPr lang="zh-CN" altLang="en-US" sz="640" b="1" dirty="0">
              <a:solidFill>
                <a:srgbClr val="EE52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3" name="任意多边形 572"/>
          <p:cNvSpPr/>
          <p:nvPr/>
        </p:nvSpPr>
        <p:spPr>
          <a:xfrm>
            <a:off x="2835630" y="4865830"/>
            <a:ext cx="355000" cy="7100"/>
          </a:xfrm>
          <a:custGeom>
            <a:avLst/>
            <a:gdLst/>
            <a:ahLst/>
            <a:cxnLst/>
            <a:rect l="l" t="t" r="r" b="b"/>
            <a:pathLst>
              <a:path w="355000" h="7100" stroke="0">
                <a:moveTo>
                  <a:pt x="0" y="0"/>
                </a:moveTo>
                <a:lnTo>
                  <a:pt x="355000" y="0"/>
                </a:lnTo>
              </a:path>
              <a:path w="355000" h="7100" fill="none">
                <a:moveTo>
                  <a:pt x="0" y="0"/>
                </a:moveTo>
                <a:lnTo>
                  <a:pt x="355000" y="0"/>
                </a:lnTo>
              </a:path>
            </a:pathLst>
          </a:custGeom>
          <a:noFill/>
          <a:ln w="21300" cap="flat">
            <a:solidFill>
              <a:srgbClr val="EE5253"/>
            </a:solidFill>
            <a:custDash>
              <a:ds d="250000" sp="250000"/>
            </a:custDash>
            <a:miter/>
          </a:ln>
        </p:spPr>
      </p:sp>
      <p:sp>
        <p:nvSpPr>
          <p:cNvPr id="574" name="任意多边形 573"/>
          <p:cNvSpPr/>
          <p:nvPr/>
        </p:nvSpPr>
        <p:spPr>
          <a:xfrm>
            <a:off x="2764630" y="4794830"/>
            <a:ext cx="497000" cy="142000"/>
          </a:xfrm>
          <a:custGeom>
            <a:avLst/>
            <a:gdLst/>
            <a:ahLst/>
            <a:cxnLst/>
            <a:rect l="l" t="t" r="r" b="b"/>
            <a:pathLst>
              <a:path w="497000" h="142000" stroke="0">
                <a:moveTo>
                  <a:pt x="0" y="71000"/>
                </a:moveTo>
                <a:cubicBezTo>
                  <a:pt x="0" y="31788"/>
                  <a:pt x="31788" y="0"/>
                  <a:pt x="71000" y="0"/>
                </a:cubicBezTo>
                <a:lnTo>
                  <a:pt x="426000" y="0"/>
                </a:lnTo>
                <a:cubicBezTo>
                  <a:pt x="465212" y="0"/>
                  <a:pt x="497000" y="31788"/>
                  <a:pt x="497000" y="71000"/>
                </a:cubicBezTo>
                <a:cubicBezTo>
                  <a:pt x="497000" y="110212"/>
                  <a:pt x="465212" y="142000"/>
                  <a:pt x="426000" y="142000"/>
                </a:cubicBezTo>
                <a:lnTo>
                  <a:pt x="71000" y="142000"/>
                </a:lnTo>
                <a:cubicBezTo>
                  <a:pt x="31788" y="142000"/>
                  <a:pt x="0" y="110212"/>
                  <a:pt x="0" y="71000"/>
                </a:cubicBezTo>
                <a:close/>
              </a:path>
              <a:path w="497000" h="142000" fill="none">
                <a:moveTo>
                  <a:pt x="0" y="71000"/>
                </a:moveTo>
                <a:cubicBezTo>
                  <a:pt x="0" y="31788"/>
                  <a:pt x="31788" y="0"/>
                  <a:pt x="71000" y="0"/>
                </a:cubicBezTo>
                <a:lnTo>
                  <a:pt x="426000" y="0"/>
                </a:lnTo>
                <a:cubicBezTo>
                  <a:pt x="465212" y="0"/>
                  <a:pt x="497000" y="31788"/>
                  <a:pt x="497000" y="71000"/>
                </a:cubicBezTo>
                <a:cubicBezTo>
                  <a:pt x="497000" y="110212"/>
                  <a:pt x="465212" y="142000"/>
                  <a:pt x="426000" y="142000"/>
                </a:cubicBezTo>
                <a:lnTo>
                  <a:pt x="71000" y="142000"/>
                </a:lnTo>
                <a:cubicBezTo>
                  <a:pt x="31788" y="142000"/>
                  <a:pt x="0" y="110212"/>
                  <a:pt x="0" y="71000"/>
                </a:cubicBez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EE5253"/>
            </a:solidFill>
            <a:miter/>
          </a:ln>
        </p:spPr>
      </p:sp>
      <p:sp>
        <p:nvSpPr>
          <p:cNvPr id="575" name="任意多边形 574"/>
          <p:cNvSpPr/>
          <p:nvPr/>
        </p:nvSpPr>
        <p:spPr>
          <a:xfrm>
            <a:off x="27580" y="644880"/>
            <a:ext cx="497000" cy="156200"/>
          </a:xfrm>
          <a:custGeom>
            <a:avLst/>
            <a:gdLst>
              <a:gd name="connsiteX0" fmla="*/ 0 w 497000"/>
              <a:gd name="connsiteY0" fmla="*/ 78100 h 156200"/>
              <a:gd name="connsiteX1" fmla="*/ 248500 w 497000"/>
              <a:gd name="connsiteY1" fmla="*/ 0 h 156200"/>
              <a:gd name="connsiteX2" fmla="*/ 497000 w 497000"/>
              <a:gd name="connsiteY2" fmla="*/ 78100 h 156200"/>
              <a:gd name="connsiteX3" fmla="*/ 248500 w 497000"/>
              <a:gd name="connsiteY3" fmla="*/ 156200 h 156200"/>
              <a:gd name="rtl" fmla="*/ 2737050 w 497000"/>
              <a:gd name="rtt" fmla="*/ 4142850 h 156200"/>
              <a:gd name="rtr" fmla="*/ 3234050 w 497000"/>
              <a:gd name="rtb" fmla="*/ 429905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EE5253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EE52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且同时面临</a:t>
            </a:r>
            <a:endParaRPr lang="zh-CN" altLang="en-US" sz="640" b="1" dirty="0">
              <a:solidFill>
                <a:srgbClr val="EE52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6" name="任意多边形 575"/>
          <p:cNvSpPr/>
          <p:nvPr/>
        </p:nvSpPr>
        <p:spPr>
          <a:xfrm>
            <a:off x="705630" y="1699697"/>
            <a:ext cx="1136000" cy="4229247"/>
          </a:xfrm>
          <a:custGeom>
            <a:avLst/>
            <a:gdLst/>
            <a:ahLst/>
            <a:cxnLst/>
            <a:rect l="l" t="t" r="r" b="b"/>
            <a:pathLst>
              <a:path w="1136000" h="4229247" fill="none">
                <a:moveTo>
                  <a:pt x="1136000" y="3627633"/>
                </a:moveTo>
                <a:cubicBezTo>
                  <a:pt x="1136000" y="4621633"/>
                  <a:pt x="0" y="4621633"/>
                  <a:pt x="0" y="1781633"/>
                </a:cubicBezTo>
                <a:cubicBezTo>
                  <a:pt x="0" y="-206367"/>
                  <a:pt x="639000" y="6633"/>
                  <a:pt x="852000" y="6633"/>
                </a:cubicBezTo>
              </a:path>
            </a:pathLst>
          </a:custGeom>
          <a:noFill/>
          <a:ln w="28400" cap="flat">
            <a:solidFill>
              <a:srgbClr val="FF9F43"/>
            </a:solidFill>
            <a:custDash>
              <a:ds d="600000" sp="400000"/>
            </a:custDash>
            <a:miter/>
          </a:ln>
        </p:spPr>
      </p:sp>
      <p:sp>
        <p:nvSpPr>
          <p:cNvPr id="579" name="任意多边形 578"/>
          <p:cNvSpPr/>
          <p:nvPr/>
        </p:nvSpPr>
        <p:spPr>
          <a:xfrm>
            <a:off x="563630" y="3197330"/>
            <a:ext cx="284000" cy="1136000"/>
          </a:xfrm>
          <a:custGeom>
            <a:avLst/>
            <a:gdLst/>
            <a:ahLst/>
            <a:cxnLst/>
            <a:rect l="l" t="t" r="r" b="b"/>
            <a:pathLst>
              <a:path w="284000" h="1136000" stroke="0">
                <a:moveTo>
                  <a:pt x="0" y="162286"/>
                </a:moveTo>
                <a:cubicBezTo>
                  <a:pt x="0" y="72658"/>
                  <a:pt x="63576" y="0"/>
                  <a:pt x="142000" y="0"/>
                </a:cubicBezTo>
                <a:cubicBezTo>
                  <a:pt x="220424" y="0"/>
                  <a:pt x="284000" y="72658"/>
                  <a:pt x="284000" y="162286"/>
                </a:cubicBezTo>
                <a:lnTo>
                  <a:pt x="284000" y="973714"/>
                </a:lnTo>
                <a:cubicBezTo>
                  <a:pt x="284000" y="1063342"/>
                  <a:pt x="220424" y="1136000"/>
                  <a:pt x="142000" y="1136000"/>
                </a:cubicBezTo>
                <a:cubicBezTo>
                  <a:pt x="63576" y="1136000"/>
                  <a:pt x="0" y="1063342"/>
                  <a:pt x="0" y="973714"/>
                </a:cubicBezTo>
                <a:lnTo>
                  <a:pt x="0" y="162286"/>
                </a:lnTo>
                <a:close/>
              </a:path>
              <a:path w="284000" h="1136000" fill="none">
                <a:moveTo>
                  <a:pt x="0" y="162286"/>
                </a:moveTo>
                <a:cubicBezTo>
                  <a:pt x="0" y="72658"/>
                  <a:pt x="63576" y="0"/>
                  <a:pt x="142000" y="0"/>
                </a:cubicBezTo>
                <a:cubicBezTo>
                  <a:pt x="220424" y="0"/>
                  <a:pt x="284000" y="72658"/>
                  <a:pt x="284000" y="162286"/>
                </a:cubicBezTo>
                <a:lnTo>
                  <a:pt x="284000" y="973714"/>
                </a:lnTo>
                <a:cubicBezTo>
                  <a:pt x="284000" y="1063342"/>
                  <a:pt x="220424" y="1136000"/>
                  <a:pt x="142000" y="1136000"/>
                </a:cubicBezTo>
                <a:cubicBezTo>
                  <a:pt x="63576" y="1136000"/>
                  <a:pt x="0" y="1063342"/>
                  <a:pt x="0" y="973714"/>
                </a:cubicBezTo>
                <a:lnTo>
                  <a:pt x="0" y="162286"/>
                </a:ln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FF9F43"/>
            </a:solidFill>
            <a:miter/>
          </a:ln>
        </p:spPr>
      </p:sp>
      <p:sp>
        <p:nvSpPr>
          <p:cNvPr id="580" name="任意多边形 579"/>
          <p:cNvSpPr/>
          <p:nvPr/>
        </p:nvSpPr>
        <p:spPr>
          <a:xfrm>
            <a:off x="27580" y="644880"/>
            <a:ext cx="816500" cy="170400"/>
          </a:xfrm>
          <a:custGeom>
            <a:avLst/>
            <a:gdLst>
              <a:gd name="connsiteX0" fmla="*/ 0 w 816500"/>
              <a:gd name="connsiteY0" fmla="*/ 85200 h 170400"/>
              <a:gd name="connsiteX1" fmla="*/ 408250 w 816500"/>
              <a:gd name="connsiteY1" fmla="*/ 0 h 170400"/>
              <a:gd name="connsiteX2" fmla="*/ 816500 w 816500"/>
              <a:gd name="connsiteY2" fmla="*/ 85200 h 170400"/>
              <a:gd name="connsiteX3" fmla="*/ 408250 w 816500"/>
              <a:gd name="connsiteY3" fmla="*/ 170400 h 170400"/>
              <a:gd name="rtl" fmla="*/ 269800 w 816500"/>
              <a:gd name="rtt" fmla="*/ 3035250 h 170400"/>
              <a:gd name="rtr" fmla="*/ 1086300 w 816500"/>
              <a:gd name="rtb" fmla="*/ 3205650 h 1704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9F43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ctr"/>
            <a:r>
              <a:rPr lang="zh-CN" altLang="en-US" sz="745" b="1" dirty="0">
                <a:solidFill>
                  <a:srgbClr val="FF9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lang="zh-CN" altLang="en-US" sz="745" b="1" dirty="0">
              <a:solidFill>
                <a:srgbClr val="FF9F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745" b="1" dirty="0">
                <a:solidFill>
                  <a:srgbClr val="FF9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</a:t>
            </a:r>
            <a:endParaRPr lang="zh-CN" altLang="en-US" sz="745" b="1" dirty="0">
              <a:solidFill>
                <a:srgbClr val="FF9F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745" b="1" dirty="0">
                <a:solidFill>
                  <a:srgbClr val="FF9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</a:t>
            </a:r>
            <a:endParaRPr lang="zh-CN" altLang="en-US" sz="745" b="1" dirty="0">
              <a:solidFill>
                <a:srgbClr val="FF9F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745" b="1" dirty="0">
                <a:solidFill>
                  <a:srgbClr val="FF9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</a:t>
            </a:r>
            <a:endParaRPr lang="zh-CN" altLang="en-US" sz="745" b="1" dirty="0">
              <a:solidFill>
                <a:srgbClr val="FF9F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745" b="1" dirty="0">
                <a:solidFill>
                  <a:srgbClr val="FF9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</a:t>
            </a:r>
            <a:endParaRPr lang="zh-CN" altLang="en-US" sz="745" b="1" dirty="0">
              <a:solidFill>
                <a:srgbClr val="FF9F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745" b="1" dirty="0">
                <a:solidFill>
                  <a:srgbClr val="FF9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</a:t>
            </a:r>
            <a:endParaRPr lang="zh-CN" altLang="en-US" sz="745" b="1" dirty="0">
              <a:solidFill>
                <a:srgbClr val="FF9F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745" b="1" dirty="0">
                <a:solidFill>
                  <a:srgbClr val="FF9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</a:t>
            </a:r>
            <a:endParaRPr lang="zh-CN" altLang="en-US" sz="745" b="1" dirty="0">
              <a:solidFill>
                <a:srgbClr val="FF9F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en-US" sz="745" b="1" dirty="0">
                <a:solidFill>
                  <a:srgbClr val="FF9F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</a:t>
            </a:r>
            <a:endParaRPr lang="zh-CN" altLang="en-US" sz="745" b="1" dirty="0">
              <a:solidFill>
                <a:srgbClr val="FF9F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1" name="任意多边形 580"/>
          <p:cNvSpPr/>
          <p:nvPr/>
        </p:nvSpPr>
        <p:spPr>
          <a:xfrm>
            <a:off x="1628630" y="1422330"/>
            <a:ext cx="2130000" cy="639000"/>
          </a:xfrm>
          <a:custGeom>
            <a:avLst/>
            <a:gdLst/>
            <a:ahLst/>
            <a:cxnLst/>
            <a:rect l="l" t="t" r="r" b="b"/>
            <a:pathLst>
              <a:path w="2130000" h="639000" stroke="0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2044800" y="0"/>
                </a:lnTo>
                <a:cubicBezTo>
                  <a:pt x="2091855" y="0"/>
                  <a:pt x="2130000" y="38145"/>
                  <a:pt x="2130000" y="85200"/>
                </a:cubicBezTo>
                <a:lnTo>
                  <a:pt x="2130000" y="553800"/>
                </a:lnTo>
                <a:cubicBezTo>
                  <a:pt x="2130000" y="600855"/>
                  <a:pt x="2091855" y="639000"/>
                  <a:pt x="2044800" y="639000"/>
                </a:cubicBezTo>
                <a:lnTo>
                  <a:pt x="85200" y="639000"/>
                </a:lnTo>
                <a:cubicBezTo>
                  <a:pt x="38145" y="639000"/>
                  <a:pt x="0" y="600855"/>
                  <a:pt x="0" y="553800"/>
                </a:cubicBezTo>
                <a:lnTo>
                  <a:pt x="0" y="85200"/>
                </a:lnTo>
                <a:close/>
              </a:path>
              <a:path w="2130000" h="639000" fill="none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2044800" y="0"/>
                </a:lnTo>
                <a:cubicBezTo>
                  <a:pt x="2091855" y="0"/>
                  <a:pt x="2130000" y="38145"/>
                  <a:pt x="2130000" y="85200"/>
                </a:cubicBezTo>
                <a:lnTo>
                  <a:pt x="2130000" y="553800"/>
                </a:lnTo>
                <a:cubicBezTo>
                  <a:pt x="2130000" y="600855"/>
                  <a:pt x="2091855" y="639000"/>
                  <a:pt x="2044800" y="639000"/>
                </a:cubicBezTo>
                <a:lnTo>
                  <a:pt x="85200" y="639000"/>
                </a:lnTo>
                <a:cubicBezTo>
                  <a:pt x="38145" y="639000"/>
                  <a:pt x="0" y="600855"/>
                  <a:pt x="0" y="553800"/>
                </a:cubicBezTo>
                <a:lnTo>
                  <a:pt x="0" y="85200"/>
                </a:lnTo>
                <a:close/>
              </a:path>
            </a:pathLst>
          </a:custGeom>
          <a:solidFill>
            <a:srgbClr val="FFFFFF"/>
          </a:solidFill>
          <a:ln w="14200" cap="flat">
            <a:solidFill>
              <a:srgbClr val="FFEAA7"/>
            </a:solidFill>
            <a:miter/>
          </a:ln>
        </p:spPr>
      </p:sp>
      <p:sp>
        <p:nvSpPr>
          <p:cNvPr id="582" name="任意多边形 581"/>
          <p:cNvSpPr/>
          <p:nvPr/>
        </p:nvSpPr>
        <p:spPr>
          <a:xfrm>
            <a:off x="1628630" y="1422330"/>
            <a:ext cx="56800" cy="639000"/>
          </a:xfrm>
          <a:custGeom>
            <a:avLst/>
            <a:gdLst/>
            <a:ahLst/>
            <a:cxnLst/>
            <a:rect l="l" t="t" r="r" b="b"/>
            <a:pathLst>
              <a:path w="56800" h="6390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lnTo>
                  <a:pt x="56800" y="610600"/>
                </a:lnTo>
                <a:cubicBezTo>
                  <a:pt x="56800" y="626285"/>
                  <a:pt x="44085" y="639000"/>
                  <a:pt x="28400" y="639000"/>
                </a:cubicBezTo>
                <a:cubicBezTo>
                  <a:pt x="12715" y="639000"/>
                  <a:pt x="0" y="626285"/>
                  <a:pt x="0" y="610600"/>
                </a:cubicBezTo>
                <a:lnTo>
                  <a:pt x="0" y="28400"/>
                </a:lnTo>
                <a:close/>
              </a:path>
              <a:path w="56800" h="6390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lnTo>
                  <a:pt x="56800" y="610600"/>
                </a:lnTo>
                <a:cubicBezTo>
                  <a:pt x="56800" y="626285"/>
                  <a:pt x="44085" y="639000"/>
                  <a:pt x="28400" y="639000"/>
                </a:cubicBezTo>
                <a:cubicBezTo>
                  <a:pt x="12715" y="639000"/>
                  <a:pt x="0" y="626285"/>
                  <a:pt x="0" y="610600"/>
                </a:cubicBezTo>
                <a:lnTo>
                  <a:pt x="0" y="28400"/>
                </a:lnTo>
                <a:close/>
              </a:path>
            </a:pathLst>
          </a:custGeom>
          <a:gradFill>
            <a:gsLst>
              <a:gs pos="0">
                <a:srgbClr val="FF6B6B"/>
              </a:gs>
              <a:gs pos="100000">
                <a:srgbClr val="EE5253"/>
              </a:gs>
            </a:gsLst>
            <a:lin ang="2700000" scaled="0"/>
          </a:gradFill>
          <a:ln w="7100" cap="flat">
            <a:noFill/>
            <a:miter/>
          </a:ln>
        </p:spPr>
      </p:sp>
      <p:sp>
        <p:nvSpPr>
          <p:cNvPr id="583" name="任意多边形 582"/>
          <p:cNvSpPr/>
          <p:nvPr/>
        </p:nvSpPr>
        <p:spPr>
          <a:xfrm>
            <a:off x="27580" y="644880"/>
            <a:ext cx="1207000" cy="184600"/>
          </a:xfrm>
          <a:custGeom>
            <a:avLst/>
            <a:gdLst>
              <a:gd name="connsiteX0" fmla="*/ 0 w 1207000"/>
              <a:gd name="connsiteY0" fmla="*/ 92300 h 184600"/>
              <a:gd name="connsiteX1" fmla="*/ 603500 w 1207000"/>
              <a:gd name="connsiteY1" fmla="*/ 0 h 184600"/>
              <a:gd name="connsiteX2" fmla="*/ 1207000 w 1207000"/>
              <a:gd name="connsiteY2" fmla="*/ 92300 h 184600"/>
              <a:gd name="connsiteX3" fmla="*/ 603500 w 1207000"/>
              <a:gd name="connsiteY3" fmla="*/ 184600 h 184600"/>
              <a:gd name="rtl" fmla="*/ 1750150 w 1207000"/>
              <a:gd name="rtt" fmla="*/ 834250 h 184600"/>
              <a:gd name="rtr" fmla="*/ 2957150 w 1207000"/>
              <a:gd name="rtb" fmla="*/ 1018850 h 184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2D3436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50" b="1" dirty="0">
                <a:solidFill>
                  <a:srgbClr val="2D3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 1（知识碎片化）</a:t>
            </a:r>
            <a:endParaRPr lang="zh-CN" altLang="en-US" sz="850" b="1" dirty="0">
              <a:solidFill>
                <a:srgbClr val="2D3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4" name="任意多边形 583"/>
          <p:cNvSpPr/>
          <p:nvPr/>
        </p:nvSpPr>
        <p:spPr>
          <a:xfrm>
            <a:off x="3446230" y="1500430"/>
            <a:ext cx="198800" cy="198800"/>
          </a:xfrm>
          <a:custGeom>
            <a:avLst/>
            <a:gdLst/>
            <a:ahLst/>
            <a:cxnLst/>
            <a:rect l="l" t="t" r="r" b="b"/>
            <a:pathLst>
              <a:path w="198800" h="198800" stroke="0">
                <a:moveTo>
                  <a:pt x="198800" y="99400"/>
                </a:moveTo>
                <a:cubicBezTo>
                  <a:pt x="198800" y="154297"/>
                  <a:pt x="154297" y="198800"/>
                  <a:pt x="99400" y="198800"/>
                </a:cubicBezTo>
                <a:cubicBezTo>
                  <a:pt x="44503" y="198800"/>
                  <a:pt x="0" y="154297"/>
                  <a:pt x="0" y="99400"/>
                </a:cubicBezTo>
                <a:cubicBezTo>
                  <a:pt x="0" y="44503"/>
                  <a:pt x="44503" y="0"/>
                  <a:pt x="99400" y="0"/>
                </a:cubicBezTo>
                <a:cubicBezTo>
                  <a:pt x="154297" y="0"/>
                  <a:pt x="198800" y="44503"/>
                  <a:pt x="198800" y="99400"/>
                </a:cubicBezTo>
                <a:close/>
              </a:path>
              <a:path w="198800" h="198800" fill="none">
                <a:moveTo>
                  <a:pt x="198800" y="99400"/>
                </a:moveTo>
                <a:cubicBezTo>
                  <a:pt x="198800" y="154297"/>
                  <a:pt x="154297" y="198800"/>
                  <a:pt x="99400" y="198800"/>
                </a:cubicBezTo>
                <a:cubicBezTo>
                  <a:pt x="44503" y="198800"/>
                  <a:pt x="0" y="154297"/>
                  <a:pt x="0" y="99400"/>
                </a:cubicBezTo>
                <a:cubicBezTo>
                  <a:pt x="0" y="44503"/>
                  <a:pt x="44503" y="0"/>
                  <a:pt x="99400" y="0"/>
                </a:cubicBezTo>
                <a:cubicBezTo>
                  <a:pt x="154297" y="0"/>
                  <a:pt x="198800" y="44503"/>
                  <a:pt x="198800" y="99400"/>
                </a:cubicBezTo>
                <a:close/>
              </a:path>
            </a:pathLst>
          </a:custGeom>
          <a:solidFill>
            <a:srgbClr val="FFEAA7"/>
          </a:solidFill>
          <a:ln w="7100" cap="flat">
            <a:noFill/>
            <a:miter/>
          </a:ln>
        </p:spPr>
      </p:sp>
      <p:sp>
        <p:nvSpPr>
          <p:cNvPr id="585" name="任意多边形 584"/>
          <p:cNvSpPr/>
          <p:nvPr/>
        </p:nvSpPr>
        <p:spPr>
          <a:xfrm>
            <a:off x="3510130" y="1550130"/>
            <a:ext cx="71000" cy="99400"/>
          </a:xfrm>
          <a:custGeom>
            <a:avLst/>
            <a:gdLst/>
            <a:ahLst/>
            <a:cxnLst/>
            <a:rect l="l" t="t" r="r" b="b"/>
            <a:pathLst>
              <a:path w="71000" h="99400" stroke="0">
                <a:moveTo>
                  <a:pt x="0" y="0"/>
                </a:moveTo>
                <a:lnTo>
                  <a:pt x="71000" y="0"/>
                </a:lnTo>
                <a:lnTo>
                  <a:pt x="71000" y="99400"/>
                </a:lnTo>
                <a:lnTo>
                  <a:pt x="0" y="99400"/>
                </a:lnTo>
                <a:lnTo>
                  <a:pt x="0" y="0"/>
                </a:lnTo>
                <a:close/>
              </a:path>
              <a:path w="71000" h="99400" fill="none">
                <a:moveTo>
                  <a:pt x="0" y="0"/>
                </a:moveTo>
                <a:lnTo>
                  <a:pt x="71000" y="0"/>
                </a:lnTo>
                <a:lnTo>
                  <a:pt x="71000" y="99400"/>
                </a:lnTo>
                <a:lnTo>
                  <a:pt x="0" y="99400"/>
                </a:lnTo>
                <a:lnTo>
                  <a:pt x="0" y="0"/>
                </a:lnTo>
                <a:close/>
              </a:path>
            </a:pathLst>
          </a:custGeom>
          <a:noFill/>
          <a:ln w="14200" cap="flat">
            <a:solidFill>
              <a:srgbClr val="D35400"/>
            </a:solidFill>
            <a:miter/>
          </a:ln>
        </p:spPr>
      </p:sp>
      <p:sp>
        <p:nvSpPr>
          <p:cNvPr id="586" name="任意多边形 585"/>
          <p:cNvSpPr/>
          <p:nvPr/>
        </p:nvSpPr>
        <p:spPr>
          <a:xfrm>
            <a:off x="3524330" y="1578530"/>
            <a:ext cx="42600" cy="28400"/>
          </a:xfrm>
          <a:custGeom>
            <a:avLst/>
            <a:gdLst/>
            <a:ahLst/>
            <a:cxnLst/>
            <a:rect l="l" t="t" r="r" b="b"/>
            <a:pathLst>
              <a:path w="42600" h="28400" stroke="0">
                <a:moveTo>
                  <a:pt x="0" y="0"/>
                </a:moveTo>
                <a:lnTo>
                  <a:pt x="42600" y="0"/>
                </a:lnTo>
                <a:moveTo>
                  <a:pt x="0" y="28400"/>
                </a:moveTo>
                <a:lnTo>
                  <a:pt x="42600" y="28400"/>
                </a:lnTo>
              </a:path>
              <a:path w="42600" h="28400" fill="none">
                <a:moveTo>
                  <a:pt x="0" y="0"/>
                </a:moveTo>
                <a:lnTo>
                  <a:pt x="42600" y="0"/>
                </a:lnTo>
                <a:moveTo>
                  <a:pt x="0" y="28400"/>
                </a:moveTo>
                <a:lnTo>
                  <a:pt x="42600" y="28400"/>
                </a:lnTo>
              </a:path>
            </a:pathLst>
          </a:custGeom>
          <a:solidFill>
            <a:srgbClr val="000000"/>
          </a:solidFill>
          <a:ln w="14200" cap="flat">
            <a:solidFill>
              <a:srgbClr val="D35400"/>
            </a:solidFill>
            <a:miter/>
          </a:ln>
        </p:spPr>
      </p:sp>
      <p:grpSp>
        <p:nvGrpSpPr>
          <p:cNvPr id="706" name="Group 706"/>
          <p:cNvGrpSpPr/>
          <p:nvPr/>
        </p:nvGrpSpPr>
        <p:grpSpPr>
          <a:xfrm>
            <a:off x="27580" y="644880"/>
            <a:ext cx="1420000" cy="319500"/>
            <a:chOff x="-1526900" y="589000"/>
            <a:chExt cx="1420000" cy="319500"/>
          </a:xfrm>
        </p:grpSpPr>
        <p:sp>
          <p:nvSpPr>
            <p:cNvPr id="587" name="任意多边形 586"/>
            <p:cNvSpPr/>
            <p:nvPr/>
          </p:nvSpPr>
          <p:spPr>
            <a:xfrm>
              <a:off x="-1526900" y="589000"/>
              <a:ext cx="1420000" cy="319500"/>
            </a:xfrm>
            <a:custGeom>
              <a:avLst/>
              <a:gdLst>
                <a:gd name="connsiteX0" fmla="*/ 0 w 1420000"/>
                <a:gd name="connsiteY0" fmla="*/ 159750 h 319500"/>
                <a:gd name="connsiteX1" fmla="*/ 710000 w 1420000"/>
                <a:gd name="connsiteY1" fmla="*/ 0 h 319500"/>
                <a:gd name="connsiteX2" fmla="*/ 1420000 w 1420000"/>
                <a:gd name="connsiteY2" fmla="*/ 159750 h 319500"/>
                <a:gd name="connsiteX3" fmla="*/ 710000 w 1420000"/>
                <a:gd name="connsiteY3" fmla="*/ 319500 h 3195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/>
            </a:custGeom>
            <a:solidFill>
              <a:srgbClr val="636E72"/>
            </a:solidFill>
            <a:ln w="7100" cap="flat">
              <a:noFill/>
              <a:miter/>
            </a:ln>
          </p:spPr>
        </p:sp>
        <p:sp>
          <p:nvSpPr>
            <p:cNvPr id="707" name="Text 707"/>
            <p:cNvSpPr txBox="1"/>
            <p:nvPr/>
          </p:nvSpPr>
          <p:spPr>
            <a:xfrm>
              <a:off x="223250" y="1629150"/>
              <a:ext cx="1420000" cy="1775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4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数千篇文献散落，设计禁区呈隐性</a:t>
              </a:r>
              <a:endParaRPr lang="zh-CN" altLang="en-US" sz="64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08" name="Text 708"/>
            <p:cNvSpPr txBox="1"/>
            <p:nvPr/>
          </p:nvSpPr>
          <p:spPr>
            <a:xfrm>
              <a:off x="223250" y="1771150"/>
              <a:ext cx="1420000" cy="1775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4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缺乏结构化、可查询、可推理系统</a:t>
              </a:r>
              <a:endParaRPr lang="zh-CN" altLang="en-US" sz="64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589" name="任意多边形 588"/>
          <p:cNvSpPr/>
          <p:nvPr/>
        </p:nvSpPr>
        <p:spPr>
          <a:xfrm>
            <a:off x="1628630" y="2416330"/>
            <a:ext cx="2130000" cy="639000"/>
          </a:xfrm>
          <a:custGeom>
            <a:avLst/>
            <a:gdLst/>
            <a:ahLst/>
            <a:cxnLst/>
            <a:rect l="l" t="t" r="r" b="b"/>
            <a:pathLst>
              <a:path w="2130000" h="639000" stroke="0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2044800" y="0"/>
                </a:lnTo>
                <a:cubicBezTo>
                  <a:pt x="2091855" y="0"/>
                  <a:pt x="2130000" y="38145"/>
                  <a:pt x="2130000" y="85200"/>
                </a:cubicBezTo>
                <a:lnTo>
                  <a:pt x="2130000" y="553800"/>
                </a:lnTo>
                <a:cubicBezTo>
                  <a:pt x="2130000" y="600855"/>
                  <a:pt x="2091855" y="639000"/>
                  <a:pt x="2044800" y="639000"/>
                </a:cubicBezTo>
                <a:lnTo>
                  <a:pt x="85200" y="639000"/>
                </a:lnTo>
                <a:cubicBezTo>
                  <a:pt x="38145" y="639000"/>
                  <a:pt x="0" y="600855"/>
                  <a:pt x="0" y="553800"/>
                </a:cubicBezTo>
                <a:lnTo>
                  <a:pt x="0" y="85200"/>
                </a:lnTo>
                <a:close/>
              </a:path>
              <a:path w="2130000" h="639000" fill="none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2044800" y="0"/>
                </a:lnTo>
                <a:cubicBezTo>
                  <a:pt x="2091855" y="0"/>
                  <a:pt x="2130000" y="38145"/>
                  <a:pt x="2130000" y="85200"/>
                </a:cubicBezTo>
                <a:lnTo>
                  <a:pt x="2130000" y="553800"/>
                </a:lnTo>
                <a:cubicBezTo>
                  <a:pt x="2130000" y="600855"/>
                  <a:pt x="2091855" y="639000"/>
                  <a:pt x="2044800" y="639000"/>
                </a:cubicBezTo>
                <a:lnTo>
                  <a:pt x="85200" y="639000"/>
                </a:lnTo>
                <a:cubicBezTo>
                  <a:pt x="38145" y="639000"/>
                  <a:pt x="0" y="600855"/>
                  <a:pt x="0" y="553800"/>
                </a:cubicBezTo>
                <a:lnTo>
                  <a:pt x="0" y="85200"/>
                </a:lnTo>
                <a:close/>
              </a:path>
            </a:pathLst>
          </a:custGeom>
          <a:solidFill>
            <a:srgbClr val="FFFFFF"/>
          </a:solidFill>
          <a:ln w="14200" cap="flat">
            <a:solidFill>
              <a:srgbClr val="FFEAA7"/>
            </a:solidFill>
            <a:miter/>
          </a:ln>
        </p:spPr>
      </p:sp>
      <p:sp>
        <p:nvSpPr>
          <p:cNvPr id="590" name="任意多边形 589"/>
          <p:cNvSpPr/>
          <p:nvPr/>
        </p:nvSpPr>
        <p:spPr>
          <a:xfrm>
            <a:off x="1628630" y="2416330"/>
            <a:ext cx="56800" cy="639000"/>
          </a:xfrm>
          <a:custGeom>
            <a:avLst/>
            <a:gdLst/>
            <a:ahLst/>
            <a:cxnLst/>
            <a:rect l="l" t="t" r="r" b="b"/>
            <a:pathLst>
              <a:path w="56800" h="6390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lnTo>
                  <a:pt x="56800" y="610600"/>
                </a:lnTo>
                <a:cubicBezTo>
                  <a:pt x="56800" y="626285"/>
                  <a:pt x="44085" y="639000"/>
                  <a:pt x="28400" y="639000"/>
                </a:cubicBezTo>
                <a:cubicBezTo>
                  <a:pt x="12715" y="639000"/>
                  <a:pt x="0" y="626285"/>
                  <a:pt x="0" y="610600"/>
                </a:cubicBezTo>
                <a:lnTo>
                  <a:pt x="0" y="28400"/>
                </a:lnTo>
                <a:close/>
              </a:path>
              <a:path w="56800" h="6390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lnTo>
                  <a:pt x="56800" y="610600"/>
                </a:lnTo>
                <a:cubicBezTo>
                  <a:pt x="56800" y="626285"/>
                  <a:pt x="44085" y="639000"/>
                  <a:pt x="28400" y="639000"/>
                </a:cubicBezTo>
                <a:cubicBezTo>
                  <a:pt x="12715" y="639000"/>
                  <a:pt x="0" y="626285"/>
                  <a:pt x="0" y="610600"/>
                </a:cubicBezTo>
                <a:lnTo>
                  <a:pt x="0" y="28400"/>
                </a:lnTo>
                <a:close/>
              </a:path>
            </a:pathLst>
          </a:custGeom>
          <a:gradFill>
            <a:gsLst>
              <a:gs pos="0">
                <a:srgbClr val="FF6B6B"/>
              </a:gs>
              <a:gs pos="100000">
                <a:srgbClr val="EE5253"/>
              </a:gs>
            </a:gsLst>
            <a:lin ang="2700000" scaled="0"/>
          </a:gradFill>
          <a:ln w="7100" cap="flat">
            <a:noFill/>
            <a:miter/>
          </a:ln>
        </p:spPr>
      </p:sp>
      <p:sp>
        <p:nvSpPr>
          <p:cNvPr id="591" name="任意多边形 590"/>
          <p:cNvSpPr/>
          <p:nvPr/>
        </p:nvSpPr>
        <p:spPr>
          <a:xfrm>
            <a:off x="27580" y="644880"/>
            <a:ext cx="1604600" cy="184600"/>
          </a:xfrm>
          <a:custGeom>
            <a:avLst/>
            <a:gdLst>
              <a:gd name="connsiteX0" fmla="*/ 0 w 1604600"/>
              <a:gd name="connsiteY0" fmla="*/ 92300 h 184600"/>
              <a:gd name="connsiteX1" fmla="*/ 802300 w 1604600"/>
              <a:gd name="connsiteY1" fmla="*/ 0 h 184600"/>
              <a:gd name="connsiteX2" fmla="*/ 1604600 w 1604600"/>
              <a:gd name="connsiteY2" fmla="*/ 92300 h 184600"/>
              <a:gd name="connsiteX3" fmla="*/ 802300 w 1604600"/>
              <a:gd name="connsiteY3" fmla="*/ 184600 h 184600"/>
              <a:gd name="rtl" fmla="*/ 1709367 w 1604600"/>
              <a:gd name="rtt" fmla="*/ 1847775 h 184600"/>
              <a:gd name="rtr" fmla="*/ 3313967 w 1604600"/>
              <a:gd name="rtb" fmla="*/ 2032375 h 184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2D3436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50" b="1" dirty="0">
                <a:solidFill>
                  <a:srgbClr val="2D3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 2（全局构效规律缺失）</a:t>
            </a:r>
            <a:endParaRPr lang="zh-CN" altLang="en-US" sz="850" b="1" dirty="0">
              <a:solidFill>
                <a:srgbClr val="2D3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2" name="任意多边形 591"/>
          <p:cNvSpPr/>
          <p:nvPr/>
        </p:nvSpPr>
        <p:spPr>
          <a:xfrm>
            <a:off x="3446230" y="2494430"/>
            <a:ext cx="198800" cy="198800"/>
          </a:xfrm>
          <a:custGeom>
            <a:avLst/>
            <a:gdLst/>
            <a:ahLst/>
            <a:cxnLst/>
            <a:rect l="l" t="t" r="r" b="b"/>
            <a:pathLst>
              <a:path w="198800" h="198800" stroke="0">
                <a:moveTo>
                  <a:pt x="198800" y="99400"/>
                </a:moveTo>
                <a:cubicBezTo>
                  <a:pt x="198800" y="154297"/>
                  <a:pt x="154297" y="198800"/>
                  <a:pt x="99400" y="198800"/>
                </a:cubicBezTo>
                <a:cubicBezTo>
                  <a:pt x="44503" y="198800"/>
                  <a:pt x="0" y="154297"/>
                  <a:pt x="0" y="99400"/>
                </a:cubicBezTo>
                <a:cubicBezTo>
                  <a:pt x="0" y="44503"/>
                  <a:pt x="44503" y="0"/>
                  <a:pt x="99400" y="0"/>
                </a:cubicBezTo>
                <a:cubicBezTo>
                  <a:pt x="154297" y="0"/>
                  <a:pt x="198800" y="44503"/>
                  <a:pt x="198800" y="99400"/>
                </a:cubicBezTo>
                <a:close/>
              </a:path>
              <a:path w="198800" h="198800" fill="none">
                <a:moveTo>
                  <a:pt x="198800" y="99400"/>
                </a:moveTo>
                <a:cubicBezTo>
                  <a:pt x="198800" y="154297"/>
                  <a:pt x="154297" y="198800"/>
                  <a:pt x="99400" y="198800"/>
                </a:cubicBezTo>
                <a:cubicBezTo>
                  <a:pt x="44503" y="198800"/>
                  <a:pt x="0" y="154297"/>
                  <a:pt x="0" y="99400"/>
                </a:cubicBezTo>
                <a:cubicBezTo>
                  <a:pt x="0" y="44503"/>
                  <a:pt x="44503" y="0"/>
                  <a:pt x="99400" y="0"/>
                </a:cubicBezTo>
                <a:cubicBezTo>
                  <a:pt x="154297" y="0"/>
                  <a:pt x="198800" y="44503"/>
                  <a:pt x="198800" y="99400"/>
                </a:cubicBezTo>
                <a:close/>
              </a:path>
            </a:pathLst>
          </a:custGeom>
          <a:solidFill>
            <a:srgbClr val="FFEAA7"/>
          </a:solidFill>
          <a:ln w="7100" cap="flat">
            <a:noFill/>
            <a:miter/>
          </a:ln>
        </p:spPr>
      </p:sp>
      <p:sp>
        <p:nvSpPr>
          <p:cNvPr id="593" name="任意多边形 592"/>
          <p:cNvSpPr/>
          <p:nvPr/>
        </p:nvSpPr>
        <p:spPr>
          <a:xfrm>
            <a:off x="3495930" y="2540580"/>
            <a:ext cx="106500" cy="88750"/>
          </a:xfrm>
          <a:custGeom>
            <a:avLst/>
            <a:gdLst/>
            <a:ahLst/>
            <a:cxnLst/>
            <a:rect l="l" t="t" r="r" b="b"/>
            <a:pathLst>
              <a:path w="106500" h="88750" stroke="0">
                <a:moveTo>
                  <a:pt x="0" y="17750"/>
                </a:moveTo>
                <a:cubicBezTo>
                  <a:pt x="23667" y="-5917"/>
                  <a:pt x="47333" y="-5917"/>
                  <a:pt x="71000" y="17750"/>
                </a:cubicBezTo>
                <a:cubicBezTo>
                  <a:pt x="94667" y="41417"/>
                  <a:pt x="106500" y="65083"/>
                  <a:pt x="106500" y="88750"/>
                </a:cubicBezTo>
              </a:path>
              <a:path w="106500" h="88750" fill="none">
                <a:moveTo>
                  <a:pt x="0" y="17750"/>
                </a:moveTo>
                <a:cubicBezTo>
                  <a:pt x="23667" y="-5917"/>
                  <a:pt x="47333" y="-5917"/>
                  <a:pt x="71000" y="17750"/>
                </a:cubicBezTo>
                <a:cubicBezTo>
                  <a:pt x="94667" y="41417"/>
                  <a:pt x="106500" y="65083"/>
                  <a:pt x="106500" y="88750"/>
                </a:cubicBezTo>
              </a:path>
            </a:pathLst>
          </a:custGeom>
          <a:noFill/>
          <a:ln w="14200" cap="flat">
            <a:solidFill>
              <a:srgbClr val="D35400"/>
            </a:solidFill>
            <a:miter/>
          </a:ln>
        </p:spPr>
      </p:sp>
      <p:sp>
        <p:nvSpPr>
          <p:cNvPr id="594" name="任意多边形 593"/>
          <p:cNvSpPr/>
          <p:nvPr/>
        </p:nvSpPr>
        <p:spPr>
          <a:xfrm>
            <a:off x="3517230" y="2579630"/>
            <a:ext cx="28400" cy="28400"/>
          </a:xfrm>
          <a:custGeom>
            <a:avLst/>
            <a:gdLst/>
            <a:ahLst/>
            <a:cxnLst/>
            <a:rect l="l" t="t" r="r" b="b"/>
            <a:pathLst>
              <a:path w="28400" h="28400" stroke="0">
                <a:moveTo>
                  <a:pt x="28400" y="14200"/>
                </a:moveTo>
                <a:cubicBezTo>
                  <a:pt x="28400" y="22042"/>
                  <a:pt x="22042" y="28400"/>
                  <a:pt x="14200" y="28400"/>
                </a:cubicBezTo>
                <a:cubicBezTo>
                  <a:pt x="6358" y="28400"/>
                  <a:pt x="0" y="22042"/>
                  <a:pt x="0" y="14200"/>
                </a:cubicBezTo>
                <a:cubicBezTo>
                  <a:pt x="0" y="6358"/>
                  <a:pt x="6358" y="0"/>
                  <a:pt x="14200" y="0"/>
                </a:cubicBezTo>
                <a:cubicBezTo>
                  <a:pt x="22042" y="0"/>
                  <a:pt x="28400" y="6358"/>
                  <a:pt x="28400" y="14200"/>
                </a:cubicBezTo>
                <a:close/>
              </a:path>
              <a:path w="28400" h="28400" fill="none">
                <a:moveTo>
                  <a:pt x="28400" y="14200"/>
                </a:moveTo>
                <a:cubicBezTo>
                  <a:pt x="28400" y="22042"/>
                  <a:pt x="22042" y="28400"/>
                  <a:pt x="14200" y="28400"/>
                </a:cubicBezTo>
                <a:cubicBezTo>
                  <a:pt x="6358" y="28400"/>
                  <a:pt x="0" y="22042"/>
                  <a:pt x="0" y="14200"/>
                </a:cubicBezTo>
                <a:cubicBezTo>
                  <a:pt x="0" y="6358"/>
                  <a:pt x="6358" y="0"/>
                  <a:pt x="14200" y="0"/>
                </a:cubicBezTo>
                <a:cubicBezTo>
                  <a:pt x="22042" y="0"/>
                  <a:pt x="28400" y="6358"/>
                  <a:pt x="28400" y="14200"/>
                </a:cubicBezTo>
                <a:close/>
              </a:path>
            </a:pathLst>
          </a:custGeom>
          <a:solidFill>
            <a:srgbClr val="D35400"/>
          </a:solidFill>
          <a:ln w="7100" cap="flat">
            <a:noFill/>
            <a:miter/>
          </a:ln>
        </p:spPr>
      </p:sp>
      <p:grpSp>
        <p:nvGrpSpPr>
          <p:cNvPr id="709" name="Group 709"/>
          <p:cNvGrpSpPr/>
          <p:nvPr/>
        </p:nvGrpSpPr>
        <p:grpSpPr>
          <a:xfrm>
            <a:off x="27580" y="644880"/>
            <a:ext cx="1462600" cy="319500"/>
            <a:chOff x="-1526900" y="589000"/>
            <a:chExt cx="1462600" cy="319500"/>
          </a:xfrm>
        </p:grpSpPr>
        <p:sp>
          <p:nvSpPr>
            <p:cNvPr id="595" name="任意多边形 594"/>
            <p:cNvSpPr/>
            <p:nvPr/>
          </p:nvSpPr>
          <p:spPr>
            <a:xfrm>
              <a:off x="-1526900" y="589000"/>
              <a:ext cx="1462600" cy="319500"/>
            </a:xfrm>
            <a:custGeom>
              <a:avLst/>
              <a:gdLst>
                <a:gd name="connsiteX0" fmla="*/ 0 w 1462600"/>
                <a:gd name="connsiteY0" fmla="*/ 159750 h 319500"/>
                <a:gd name="connsiteX1" fmla="*/ 731300 w 1462600"/>
                <a:gd name="connsiteY1" fmla="*/ 0 h 319500"/>
                <a:gd name="connsiteX2" fmla="*/ 1462600 w 1462600"/>
                <a:gd name="connsiteY2" fmla="*/ 159750 h 319500"/>
                <a:gd name="connsiteX3" fmla="*/ 731300 w 1462600"/>
                <a:gd name="connsiteY3" fmla="*/ 319500 h 3195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/>
            </a:custGeom>
            <a:solidFill>
              <a:srgbClr val="636E72"/>
            </a:solidFill>
            <a:ln w="7100" cap="flat">
              <a:noFill/>
              <a:miter/>
            </a:ln>
          </p:spPr>
        </p:sp>
        <p:sp>
          <p:nvSpPr>
            <p:cNvPr id="710" name="Text 710"/>
            <p:cNvSpPr txBox="1"/>
            <p:nvPr/>
          </p:nvSpPr>
          <p:spPr>
            <a:xfrm>
              <a:off x="223250" y="2623150"/>
              <a:ext cx="1334800" cy="1775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4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50年零散数据未聚合成可学模式</a:t>
              </a:r>
              <a:endParaRPr lang="zh-CN" altLang="en-US" sz="64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11" name="Text 711"/>
            <p:cNvSpPr txBox="1"/>
            <p:nvPr/>
          </p:nvSpPr>
          <p:spPr>
            <a:xfrm>
              <a:off x="216150" y="2765150"/>
              <a:ext cx="1476800" cy="1775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4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AFP构效关系复杂，传统生信难预测</a:t>
              </a:r>
              <a:endParaRPr lang="zh-CN" altLang="en-US" sz="64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597" name="任意多边形 596"/>
          <p:cNvSpPr/>
          <p:nvPr/>
        </p:nvSpPr>
        <p:spPr>
          <a:xfrm>
            <a:off x="1628630" y="3410330"/>
            <a:ext cx="2130000" cy="639000"/>
          </a:xfrm>
          <a:custGeom>
            <a:avLst/>
            <a:gdLst/>
            <a:ahLst/>
            <a:cxnLst/>
            <a:rect l="l" t="t" r="r" b="b"/>
            <a:pathLst>
              <a:path w="2130000" h="639000" stroke="0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2044800" y="0"/>
                </a:lnTo>
                <a:cubicBezTo>
                  <a:pt x="2091855" y="0"/>
                  <a:pt x="2130000" y="38145"/>
                  <a:pt x="2130000" y="85200"/>
                </a:cubicBezTo>
                <a:lnTo>
                  <a:pt x="2130000" y="553800"/>
                </a:lnTo>
                <a:cubicBezTo>
                  <a:pt x="2130000" y="600855"/>
                  <a:pt x="2091855" y="639000"/>
                  <a:pt x="2044800" y="639000"/>
                </a:cubicBezTo>
                <a:lnTo>
                  <a:pt x="85200" y="639000"/>
                </a:lnTo>
                <a:cubicBezTo>
                  <a:pt x="38145" y="639000"/>
                  <a:pt x="0" y="600855"/>
                  <a:pt x="0" y="553800"/>
                </a:cubicBezTo>
                <a:lnTo>
                  <a:pt x="0" y="85200"/>
                </a:lnTo>
                <a:close/>
              </a:path>
              <a:path w="2130000" h="639000" fill="none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2044800" y="0"/>
                </a:lnTo>
                <a:cubicBezTo>
                  <a:pt x="2091855" y="0"/>
                  <a:pt x="2130000" y="38145"/>
                  <a:pt x="2130000" y="85200"/>
                </a:cubicBezTo>
                <a:lnTo>
                  <a:pt x="2130000" y="553800"/>
                </a:lnTo>
                <a:cubicBezTo>
                  <a:pt x="2130000" y="600855"/>
                  <a:pt x="2091855" y="639000"/>
                  <a:pt x="2044800" y="639000"/>
                </a:cubicBezTo>
                <a:lnTo>
                  <a:pt x="85200" y="639000"/>
                </a:lnTo>
                <a:cubicBezTo>
                  <a:pt x="38145" y="639000"/>
                  <a:pt x="0" y="600855"/>
                  <a:pt x="0" y="553800"/>
                </a:cubicBezTo>
                <a:lnTo>
                  <a:pt x="0" y="85200"/>
                </a:lnTo>
                <a:close/>
              </a:path>
            </a:pathLst>
          </a:custGeom>
          <a:solidFill>
            <a:srgbClr val="FFFFFF"/>
          </a:solidFill>
          <a:ln w="14200" cap="flat">
            <a:solidFill>
              <a:srgbClr val="FFEAA7"/>
            </a:solidFill>
            <a:miter/>
          </a:ln>
        </p:spPr>
      </p:sp>
      <p:sp>
        <p:nvSpPr>
          <p:cNvPr id="598" name="任意多边形 597"/>
          <p:cNvSpPr/>
          <p:nvPr/>
        </p:nvSpPr>
        <p:spPr>
          <a:xfrm>
            <a:off x="1628630" y="3410330"/>
            <a:ext cx="56800" cy="639000"/>
          </a:xfrm>
          <a:custGeom>
            <a:avLst/>
            <a:gdLst/>
            <a:ahLst/>
            <a:cxnLst/>
            <a:rect l="l" t="t" r="r" b="b"/>
            <a:pathLst>
              <a:path w="56800" h="6390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lnTo>
                  <a:pt x="56800" y="610600"/>
                </a:lnTo>
                <a:cubicBezTo>
                  <a:pt x="56800" y="626285"/>
                  <a:pt x="44085" y="639000"/>
                  <a:pt x="28400" y="639000"/>
                </a:cubicBezTo>
                <a:cubicBezTo>
                  <a:pt x="12715" y="639000"/>
                  <a:pt x="0" y="626285"/>
                  <a:pt x="0" y="610600"/>
                </a:cubicBezTo>
                <a:lnTo>
                  <a:pt x="0" y="28400"/>
                </a:lnTo>
                <a:close/>
              </a:path>
              <a:path w="56800" h="6390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lnTo>
                  <a:pt x="56800" y="610600"/>
                </a:lnTo>
                <a:cubicBezTo>
                  <a:pt x="56800" y="626285"/>
                  <a:pt x="44085" y="639000"/>
                  <a:pt x="28400" y="639000"/>
                </a:cubicBezTo>
                <a:cubicBezTo>
                  <a:pt x="12715" y="639000"/>
                  <a:pt x="0" y="626285"/>
                  <a:pt x="0" y="610600"/>
                </a:cubicBezTo>
                <a:lnTo>
                  <a:pt x="0" y="28400"/>
                </a:lnTo>
                <a:close/>
              </a:path>
            </a:pathLst>
          </a:custGeom>
          <a:gradFill>
            <a:gsLst>
              <a:gs pos="0">
                <a:srgbClr val="FF6B6B"/>
              </a:gs>
              <a:gs pos="100000">
                <a:srgbClr val="EE5253"/>
              </a:gs>
            </a:gsLst>
            <a:lin ang="2700000" scaled="0"/>
          </a:gradFill>
          <a:ln w="7100" cap="flat">
            <a:noFill/>
            <a:miter/>
          </a:ln>
        </p:spPr>
      </p:sp>
      <p:sp>
        <p:nvSpPr>
          <p:cNvPr id="599" name="任意多边形 598"/>
          <p:cNvSpPr/>
          <p:nvPr/>
        </p:nvSpPr>
        <p:spPr>
          <a:xfrm>
            <a:off x="27580" y="644880"/>
            <a:ext cx="1434200" cy="184600"/>
          </a:xfrm>
          <a:custGeom>
            <a:avLst/>
            <a:gdLst>
              <a:gd name="connsiteX0" fmla="*/ 0 w 1434200"/>
              <a:gd name="connsiteY0" fmla="*/ 92300 h 184600"/>
              <a:gd name="connsiteX1" fmla="*/ 717100 w 1434200"/>
              <a:gd name="connsiteY1" fmla="*/ 0 h 184600"/>
              <a:gd name="connsiteX2" fmla="*/ 1434200 w 1434200"/>
              <a:gd name="connsiteY2" fmla="*/ 92300 h 184600"/>
              <a:gd name="connsiteX3" fmla="*/ 717100 w 1434200"/>
              <a:gd name="connsiteY3" fmla="*/ 184600 h 184600"/>
              <a:gd name="rtl" fmla="*/ 1750150 w 1434200"/>
              <a:gd name="rtt" fmla="*/ 2822250 h 184600"/>
              <a:gd name="rtr" fmla="*/ 3184350 w 1434200"/>
              <a:gd name="rtb" fmla="*/ 3006850 h 184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2D3436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50" b="1" dirty="0">
                <a:solidFill>
                  <a:srgbClr val="2D3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 3（经验无系统复用）</a:t>
            </a:r>
            <a:endParaRPr lang="zh-CN" altLang="en-US" sz="850" b="1" dirty="0">
              <a:solidFill>
                <a:srgbClr val="2D3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0" name="任意多边形 599"/>
          <p:cNvSpPr/>
          <p:nvPr/>
        </p:nvSpPr>
        <p:spPr>
          <a:xfrm>
            <a:off x="3446230" y="3488430"/>
            <a:ext cx="198800" cy="198800"/>
          </a:xfrm>
          <a:custGeom>
            <a:avLst/>
            <a:gdLst/>
            <a:ahLst/>
            <a:cxnLst/>
            <a:rect l="l" t="t" r="r" b="b"/>
            <a:pathLst>
              <a:path w="198800" h="198800" stroke="0">
                <a:moveTo>
                  <a:pt x="198800" y="99400"/>
                </a:moveTo>
                <a:cubicBezTo>
                  <a:pt x="198800" y="154297"/>
                  <a:pt x="154297" y="198800"/>
                  <a:pt x="99400" y="198800"/>
                </a:cubicBezTo>
                <a:cubicBezTo>
                  <a:pt x="44503" y="198800"/>
                  <a:pt x="0" y="154297"/>
                  <a:pt x="0" y="99400"/>
                </a:cubicBezTo>
                <a:cubicBezTo>
                  <a:pt x="0" y="44503"/>
                  <a:pt x="44503" y="0"/>
                  <a:pt x="99400" y="0"/>
                </a:cubicBezTo>
                <a:cubicBezTo>
                  <a:pt x="154297" y="0"/>
                  <a:pt x="198800" y="44503"/>
                  <a:pt x="198800" y="99400"/>
                </a:cubicBezTo>
                <a:close/>
              </a:path>
              <a:path w="198800" h="198800" fill="none">
                <a:moveTo>
                  <a:pt x="198800" y="99400"/>
                </a:moveTo>
                <a:cubicBezTo>
                  <a:pt x="198800" y="154297"/>
                  <a:pt x="154297" y="198800"/>
                  <a:pt x="99400" y="198800"/>
                </a:cubicBezTo>
                <a:cubicBezTo>
                  <a:pt x="44503" y="198800"/>
                  <a:pt x="0" y="154297"/>
                  <a:pt x="0" y="99400"/>
                </a:cubicBezTo>
                <a:cubicBezTo>
                  <a:pt x="0" y="44503"/>
                  <a:pt x="44503" y="0"/>
                  <a:pt x="99400" y="0"/>
                </a:cubicBezTo>
                <a:cubicBezTo>
                  <a:pt x="154297" y="0"/>
                  <a:pt x="198800" y="44503"/>
                  <a:pt x="198800" y="99400"/>
                </a:cubicBezTo>
                <a:close/>
              </a:path>
            </a:pathLst>
          </a:custGeom>
          <a:solidFill>
            <a:srgbClr val="FFEAA7"/>
          </a:solidFill>
          <a:ln w="7100" cap="flat">
            <a:noFill/>
            <a:miter/>
          </a:ln>
        </p:spPr>
      </p:sp>
      <p:sp>
        <p:nvSpPr>
          <p:cNvPr id="601" name="任意多边形 600"/>
          <p:cNvSpPr/>
          <p:nvPr/>
        </p:nvSpPr>
        <p:spPr>
          <a:xfrm>
            <a:off x="3495930" y="3538130"/>
            <a:ext cx="99400" cy="49700"/>
          </a:xfrm>
          <a:custGeom>
            <a:avLst/>
            <a:gdLst/>
            <a:ahLst/>
            <a:cxnLst/>
            <a:rect l="l" t="t" r="r" b="b"/>
            <a:pathLst>
              <a:path w="99400" h="49700" stroke="0">
                <a:moveTo>
                  <a:pt x="0" y="49700"/>
                </a:moveTo>
                <a:cubicBezTo>
                  <a:pt x="0" y="22251"/>
                  <a:pt x="22251" y="0"/>
                  <a:pt x="49700" y="0"/>
                </a:cubicBezTo>
                <a:cubicBezTo>
                  <a:pt x="77149" y="0"/>
                  <a:pt x="99400" y="22251"/>
                  <a:pt x="99400" y="49700"/>
                </a:cubicBezTo>
              </a:path>
              <a:path w="99400" h="49700" fill="none">
                <a:moveTo>
                  <a:pt x="0" y="49700"/>
                </a:moveTo>
                <a:cubicBezTo>
                  <a:pt x="0" y="22251"/>
                  <a:pt x="22251" y="0"/>
                  <a:pt x="49700" y="0"/>
                </a:cubicBezTo>
                <a:cubicBezTo>
                  <a:pt x="77149" y="0"/>
                  <a:pt x="99400" y="22251"/>
                  <a:pt x="99400" y="49700"/>
                </a:cubicBezTo>
              </a:path>
            </a:pathLst>
          </a:custGeom>
          <a:noFill/>
          <a:ln w="14200" cap="flat">
            <a:solidFill>
              <a:srgbClr val="D35400"/>
            </a:solidFill>
            <a:miter/>
          </a:ln>
        </p:spPr>
      </p:sp>
      <p:sp>
        <p:nvSpPr>
          <p:cNvPr id="602" name="任意多边形 601"/>
          <p:cNvSpPr/>
          <p:nvPr/>
        </p:nvSpPr>
        <p:spPr>
          <a:xfrm>
            <a:off x="3517230" y="3587830"/>
            <a:ext cx="56800" cy="42600"/>
          </a:xfrm>
          <a:custGeom>
            <a:avLst/>
            <a:gdLst/>
            <a:ahLst/>
            <a:cxnLst/>
            <a:rect l="l" t="t" r="r" b="b"/>
            <a:pathLst>
              <a:path w="56800" h="42600" stroke="0">
                <a:moveTo>
                  <a:pt x="0" y="0"/>
                </a:moveTo>
                <a:lnTo>
                  <a:pt x="0" y="42600"/>
                </a:lnTo>
              </a:path>
              <a:path w="56800" h="42600" stroke="0">
                <a:moveTo>
                  <a:pt x="56800" y="0"/>
                </a:moveTo>
                <a:lnTo>
                  <a:pt x="56800" y="42600"/>
                </a:lnTo>
              </a:path>
              <a:path w="56800" h="42600" fill="none">
                <a:moveTo>
                  <a:pt x="0" y="0"/>
                </a:moveTo>
                <a:lnTo>
                  <a:pt x="0" y="42600"/>
                </a:lnTo>
              </a:path>
              <a:path w="56800" h="42600" fill="none">
                <a:moveTo>
                  <a:pt x="56800" y="0"/>
                </a:moveTo>
                <a:lnTo>
                  <a:pt x="56800" y="42600"/>
                </a:lnTo>
              </a:path>
            </a:pathLst>
          </a:custGeom>
          <a:solidFill>
            <a:srgbClr val="000000"/>
          </a:solidFill>
          <a:ln w="14200" cap="flat">
            <a:solidFill>
              <a:srgbClr val="D35400"/>
            </a:solidFill>
            <a:miter/>
          </a:ln>
        </p:spPr>
      </p:sp>
      <p:grpSp>
        <p:nvGrpSpPr>
          <p:cNvPr id="712" name="Group 712"/>
          <p:cNvGrpSpPr/>
          <p:nvPr/>
        </p:nvGrpSpPr>
        <p:grpSpPr>
          <a:xfrm>
            <a:off x="27580" y="644880"/>
            <a:ext cx="1420000" cy="319500"/>
            <a:chOff x="-1526900" y="589000"/>
            <a:chExt cx="1420000" cy="319500"/>
          </a:xfrm>
        </p:grpSpPr>
        <p:sp>
          <p:nvSpPr>
            <p:cNvPr id="603" name="任意多边形 602"/>
            <p:cNvSpPr/>
            <p:nvPr/>
          </p:nvSpPr>
          <p:spPr>
            <a:xfrm>
              <a:off x="-1526900" y="589000"/>
              <a:ext cx="1420000" cy="319500"/>
            </a:xfrm>
            <a:custGeom>
              <a:avLst/>
              <a:gdLst>
                <a:gd name="connsiteX0" fmla="*/ 0 w 1420000"/>
                <a:gd name="connsiteY0" fmla="*/ 159750 h 319500"/>
                <a:gd name="connsiteX1" fmla="*/ 710000 w 1420000"/>
                <a:gd name="connsiteY1" fmla="*/ 0 h 319500"/>
                <a:gd name="connsiteX2" fmla="*/ 1420000 w 1420000"/>
                <a:gd name="connsiteY2" fmla="*/ 159750 h 319500"/>
                <a:gd name="connsiteX3" fmla="*/ 710000 w 1420000"/>
                <a:gd name="connsiteY3" fmla="*/ 319500 h 3195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/>
            </a:custGeom>
            <a:solidFill>
              <a:srgbClr val="636E72"/>
            </a:solidFill>
            <a:ln w="7100" cap="flat">
              <a:noFill/>
              <a:miter/>
            </a:ln>
          </p:spPr>
        </p:sp>
        <p:sp>
          <p:nvSpPr>
            <p:cNvPr id="713" name="Text 713"/>
            <p:cNvSpPr txBox="1"/>
            <p:nvPr/>
          </p:nvSpPr>
          <p:spPr>
            <a:xfrm>
              <a:off x="223250" y="3617150"/>
              <a:ext cx="1420000" cy="1775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4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突变效应与禁区分散，缺主动调用</a:t>
              </a:r>
              <a:endParaRPr lang="zh-CN" altLang="en-US" sz="64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14" name="Text 714"/>
            <p:cNvSpPr txBox="1"/>
            <p:nvPr/>
          </p:nvSpPr>
          <p:spPr>
            <a:xfrm>
              <a:off x="223250" y="3759150"/>
              <a:ext cx="1420000" cy="1775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4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每次设计靠人工回忆而非系统推荐</a:t>
              </a:r>
              <a:endParaRPr lang="zh-CN" altLang="en-US" sz="64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605" name="任意多边形 604"/>
          <p:cNvSpPr/>
          <p:nvPr/>
        </p:nvSpPr>
        <p:spPr>
          <a:xfrm>
            <a:off x="776630" y="4546330"/>
            <a:ext cx="1988000" cy="781000"/>
          </a:xfrm>
          <a:custGeom>
            <a:avLst/>
            <a:gdLst/>
            <a:ahLst/>
            <a:cxnLst/>
            <a:rect l="l" t="t" r="r" b="b"/>
            <a:pathLst>
              <a:path w="1988000" h="781000" stroke="0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1902800" y="0"/>
                </a:lnTo>
                <a:cubicBezTo>
                  <a:pt x="1949855" y="0"/>
                  <a:pt x="1988000" y="38145"/>
                  <a:pt x="1988000" y="85200"/>
                </a:cubicBezTo>
                <a:lnTo>
                  <a:pt x="1988000" y="695800"/>
                </a:lnTo>
                <a:cubicBezTo>
                  <a:pt x="1988000" y="742855"/>
                  <a:pt x="1949855" y="781000"/>
                  <a:pt x="1902800" y="781000"/>
                </a:cubicBezTo>
                <a:lnTo>
                  <a:pt x="85200" y="781000"/>
                </a:lnTo>
                <a:cubicBezTo>
                  <a:pt x="38145" y="781000"/>
                  <a:pt x="0" y="742855"/>
                  <a:pt x="0" y="695800"/>
                </a:cubicBezTo>
                <a:lnTo>
                  <a:pt x="0" y="85200"/>
                </a:lnTo>
                <a:close/>
              </a:path>
              <a:path w="1988000" h="781000" fill="none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1902800" y="0"/>
                </a:lnTo>
                <a:cubicBezTo>
                  <a:pt x="1949855" y="0"/>
                  <a:pt x="1988000" y="38145"/>
                  <a:pt x="1988000" y="85200"/>
                </a:cubicBezTo>
                <a:lnTo>
                  <a:pt x="1988000" y="695800"/>
                </a:lnTo>
                <a:cubicBezTo>
                  <a:pt x="1988000" y="742855"/>
                  <a:pt x="1949855" y="781000"/>
                  <a:pt x="1902800" y="781000"/>
                </a:cubicBezTo>
                <a:lnTo>
                  <a:pt x="85200" y="781000"/>
                </a:lnTo>
                <a:cubicBezTo>
                  <a:pt x="38145" y="781000"/>
                  <a:pt x="0" y="742855"/>
                  <a:pt x="0" y="695800"/>
                </a:cubicBezTo>
                <a:lnTo>
                  <a:pt x="0" y="85200"/>
                </a:lnTo>
                <a:close/>
              </a:path>
            </a:pathLst>
          </a:custGeom>
          <a:solidFill>
            <a:srgbClr val="FFFFFF"/>
          </a:solidFill>
          <a:ln w="14200" cap="flat">
            <a:solidFill>
              <a:srgbClr val="FFEAA7"/>
            </a:solidFill>
            <a:miter/>
          </a:ln>
        </p:spPr>
      </p:sp>
      <p:sp>
        <p:nvSpPr>
          <p:cNvPr id="606" name="任意多边形 605"/>
          <p:cNvSpPr/>
          <p:nvPr/>
        </p:nvSpPr>
        <p:spPr>
          <a:xfrm>
            <a:off x="776630" y="4546330"/>
            <a:ext cx="56800" cy="781000"/>
          </a:xfrm>
          <a:custGeom>
            <a:avLst/>
            <a:gdLst/>
            <a:ahLst/>
            <a:cxnLst/>
            <a:rect l="l" t="t" r="r" b="b"/>
            <a:pathLst>
              <a:path w="56800" h="7810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lnTo>
                  <a:pt x="56800" y="752600"/>
                </a:lnTo>
                <a:cubicBezTo>
                  <a:pt x="56800" y="768285"/>
                  <a:pt x="44085" y="781000"/>
                  <a:pt x="28400" y="781000"/>
                </a:cubicBezTo>
                <a:cubicBezTo>
                  <a:pt x="12715" y="781000"/>
                  <a:pt x="0" y="768285"/>
                  <a:pt x="0" y="752600"/>
                </a:cubicBezTo>
                <a:lnTo>
                  <a:pt x="0" y="28400"/>
                </a:lnTo>
                <a:close/>
              </a:path>
              <a:path w="56800" h="7810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lnTo>
                  <a:pt x="56800" y="752600"/>
                </a:lnTo>
                <a:cubicBezTo>
                  <a:pt x="56800" y="768285"/>
                  <a:pt x="44085" y="781000"/>
                  <a:pt x="28400" y="781000"/>
                </a:cubicBezTo>
                <a:cubicBezTo>
                  <a:pt x="12715" y="781000"/>
                  <a:pt x="0" y="768285"/>
                  <a:pt x="0" y="752600"/>
                </a:cubicBezTo>
                <a:lnTo>
                  <a:pt x="0" y="28400"/>
                </a:lnTo>
                <a:close/>
              </a:path>
            </a:pathLst>
          </a:custGeom>
          <a:gradFill>
            <a:gsLst>
              <a:gs pos="0">
                <a:srgbClr val="FF6B6B"/>
              </a:gs>
              <a:gs pos="100000">
                <a:srgbClr val="EE5253"/>
              </a:gs>
            </a:gsLst>
            <a:lin ang="2700000" scaled="0"/>
          </a:gradFill>
          <a:ln w="7100" cap="flat">
            <a:noFill/>
            <a:miter/>
          </a:ln>
        </p:spPr>
      </p:sp>
      <p:sp>
        <p:nvSpPr>
          <p:cNvPr id="607" name="任意多边形 606"/>
          <p:cNvSpPr/>
          <p:nvPr/>
        </p:nvSpPr>
        <p:spPr>
          <a:xfrm>
            <a:off x="27580" y="644880"/>
            <a:ext cx="1434200" cy="184600"/>
          </a:xfrm>
          <a:custGeom>
            <a:avLst/>
            <a:gdLst>
              <a:gd name="connsiteX0" fmla="*/ 0 w 1434200"/>
              <a:gd name="connsiteY0" fmla="*/ 92300 h 184600"/>
              <a:gd name="connsiteX1" fmla="*/ 717100 w 1434200"/>
              <a:gd name="connsiteY1" fmla="*/ 0 h 184600"/>
              <a:gd name="connsiteX2" fmla="*/ 1434200 w 1434200"/>
              <a:gd name="connsiteY2" fmla="*/ 92300 h 184600"/>
              <a:gd name="connsiteX3" fmla="*/ 717100 w 1434200"/>
              <a:gd name="connsiteY3" fmla="*/ 184600 h 184600"/>
              <a:gd name="rtl" fmla="*/ 898150 w 1434200"/>
              <a:gd name="rtt" fmla="*/ 3958250 h 184600"/>
              <a:gd name="rtr" fmla="*/ 2332350 w 1434200"/>
              <a:gd name="rtb" fmla="*/ 4142850 h 184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2D3436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50" b="1" dirty="0">
                <a:solidFill>
                  <a:srgbClr val="2D3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 4（实验筛选成本高）</a:t>
            </a:r>
            <a:endParaRPr lang="zh-CN" altLang="en-US" sz="850" b="1" dirty="0">
              <a:solidFill>
                <a:srgbClr val="2D3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8" name="任意多边形 607"/>
          <p:cNvSpPr/>
          <p:nvPr/>
        </p:nvSpPr>
        <p:spPr>
          <a:xfrm>
            <a:off x="2452230" y="4624430"/>
            <a:ext cx="198800" cy="198800"/>
          </a:xfrm>
          <a:custGeom>
            <a:avLst/>
            <a:gdLst/>
            <a:ahLst/>
            <a:cxnLst/>
            <a:rect l="l" t="t" r="r" b="b"/>
            <a:pathLst>
              <a:path w="198800" h="198800" stroke="0">
                <a:moveTo>
                  <a:pt x="198800" y="99400"/>
                </a:moveTo>
                <a:cubicBezTo>
                  <a:pt x="198800" y="154297"/>
                  <a:pt x="154297" y="198800"/>
                  <a:pt x="99400" y="198800"/>
                </a:cubicBezTo>
                <a:cubicBezTo>
                  <a:pt x="44503" y="198800"/>
                  <a:pt x="0" y="154297"/>
                  <a:pt x="0" y="99400"/>
                </a:cubicBezTo>
                <a:cubicBezTo>
                  <a:pt x="0" y="44503"/>
                  <a:pt x="44503" y="0"/>
                  <a:pt x="99400" y="0"/>
                </a:cubicBezTo>
                <a:cubicBezTo>
                  <a:pt x="154297" y="0"/>
                  <a:pt x="198800" y="44503"/>
                  <a:pt x="198800" y="99400"/>
                </a:cubicBezTo>
                <a:close/>
              </a:path>
              <a:path w="198800" h="198800" fill="none">
                <a:moveTo>
                  <a:pt x="198800" y="99400"/>
                </a:moveTo>
                <a:cubicBezTo>
                  <a:pt x="198800" y="154297"/>
                  <a:pt x="154297" y="198800"/>
                  <a:pt x="99400" y="198800"/>
                </a:cubicBezTo>
                <a:cubicBezTo>
                  <a:pt x="44503" y="198800"/>
                  <a:pt x="0" y="154297"/>
                  <a:pt x="0" y="99400"/>
                </a:cubicBezTo>
                <a:cubicBezTo>
                  <a:pt x="0" y="44503"/>
                  <a:pt x="44503" y="0"/>
                  <a:pt x="99400" y="0"/>
                </a:cubicBezTo>
                <a:cubicBezTo>
                  <a:pt x="154297" y="0"/>
                  <a:pt x="198800" y="44503"/>
                  <a:pt x="198800" y="99400"/>
                </a:cubicBezTo>
                <a:close/>
              </a:path>
            </a:pathLst>
          </a:custGeom>
          <a:solidFill>
            <a:srgbClr val="FFEAA7"/>
          </a:solidFill>
          <a:ln w="7100" cap="flat">
            <a:noFill/>
            <a:miter/>
          </a:ln>
        </p:spPr>
      </p:sp>
      <p:sp>
        <p:nvSpPr>
          <p:cNvPr id="609" name="任意多边形 608"/>
          <p:cNvSpPr/>
          <p:nvPr/>
        </p:nvSpPr>
        <p:spPr>
          <a:xfrm>
            <a:off x="2516130" y="4674130"/>
            <a:ext cx="71000" cy="71000"/>
          </a:xfrm>
          <a:custGeom>
            <a:avLst/>
            <a:gdLst/>
            <a:ahLst/>
            <a:cxnLst/>
            <a:rect l="l" t="t" r="r" b="b"/>
            <a:pathLst>
              <a:path w="71000" h="71000" stroke="0">
                <a:moveTo>
                  <a:pt x="0" y="0"/>
                </a:moveTo>
                <a:lnTo>
                  <a:pt x="28400" y="71000"/>
                </a:lnTo>
                <a:lnTo>
                  <a:pt x="42600" y="71000"/>
                </a:lnTo>
                <a:lnTo>
                  <a:pt x="71000" y="0"/>
                </a:lnTo>
                <a:lnTo>
                  <a:pt x="0" y="0"/>
                </a:lnTo>
                <a:close/>
              </a:path>
              <a:path w="71000" h="71000" fill="none">
                <a:moveTo>
                  <a:pt x="0" y="0"/>
                </a:moveTo>
                <a:lnTo>
                  <a:pt x="28400" y="71000"/>
                </a:lnTo>
                <a:lnTo>
                  <a:pt x="42600" y="71000"/>
                </a:lnTo>
                <a:lnTo>
                  <a:pt x="71000" y="0"/>
                </a:lnTo>
                <a:lnTo>
                  <a:pt x="0" y="0"/>
                </a:lnTo>
                <a:close/>
              </a:path>
            </a:pathLst>
          </a:custGeom>
          <a:noFill/>
          <a:ln w="14200" cap="flat">
            <a:solidFill>
              <a:srgbClr val="D35400"/>
            </a:solidFill>
            <a:miter/>
          </a:ln>
        </p:spPr>
      </p:sp>
      <p:grpSp>
        <p:nvGrpSpPr>
          <p:cNvPr id="715" name="Group 715"/>
          <p:cNvGrpSpPr/>
          <p:nvPr/>
        </p:nvGrpSpPr>
        <p:grpSpPr>
          <a:xfrm>
            <a:off x="27580" y="644880"/>
            <a:ext cx="1334800" cy="461500"/>
            <a:chOff x="-1526900" y="589000"/>
            <a:chExt cx="1334800" cy="461500"/>
          </a:xfrm>
        </p:grpSpPr>
        <p:sp>
          <p:nvSpPr>
            <p:cNvPr id="610" name="任意多边形 609"/>
            <p:cNvSpPr/>
            <p:nvPr/>
          </p:nvSpPr>
          <p:spPr>
            <a:xfrm>
              <a:off x="-1526900" y="589000"/>
              <a:ext cx="1334800" cy="461500"/>
            </a:xfrm>
            <a:custGeom>
              <a:avLst/>
              <a:gdLst>
                <a:gd name="connsiteX0" fmla="*/ 0 w 1334800"/>
                <a:gd name="connsiteY0" fmla="*/ 230750 h 461500"/>
                <a:gd name="connsiteX1" fmla="*/ 667400 w 1334800"/>
                <a:gd name="connsiteY1" fmla="*/ 0 h 461500"/>
                <a:gd name="connsiteX2" fmla="*/ 1334800 w 1334800"/>
                <a:gd name="connsiteY2" fmla="*/ 230750 h 461500"/>
                <a:gd name="connsiteX3" fmla="*/ 667400 w 1334800"/>
                <a:gd name="connsiteY3" fmla="*/ 461500 h 4615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/>
            </a:custGeom>
            <a:solidFill>
              <a:srgbClr val="636E72"/>
            </a:solidFill>
            <a:ln w="7100" cap="flat">
              <a:noFill/>
              <a:miter/>
            </a:ln>
          </p:spPr>
        </p:sp>
        <p:sp>
          <p:nvSpPr>
            <p:cNvPr id="716" name="Text 716"/>
            <p:cNvSpPr txBox="1"/>
            <p:nvPr/>
          </p:nvSpPr>
          <p:spPr>
            <a:xfrm>
              <a:off x="-628750" y="4753150"/>
              <a:ext cx="1334800" cy="1775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4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缺乏计算预筛，海量湿实验试错</a:t>
              </a:r>
              <a:endParaRPr lang="zh-CN" altLang="en-US" sz="64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17" name="Text 717"/>
            <p:cNvSpPr txBox="1"/>
            <p:nvPr/>
          </p:nvSpPr>
          <p:spPr>
            <a:xfrm>
              <a:off x="-628750" y="4895150"/>
              <a:ext cx="1334800" cy="1775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4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从海量序列中筛选抗冻活性蛋白</a:t>
              </a:r>
              <a:endParaRPr lang="zh-CN" altLang="en-US" sz="64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18" name="Text 718"/>
            <p:cNvSpPr txBox="1"/>
            <p:nvPr/>
          </p:nvSpPr>
          <p:spPr>
            <a:xfrm>
              <a:off x="-628750" y="5037150"/>
              <a:ext cx="1249600" cy="1775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4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研发验证周期漫长，成本高昂</a:t>
              </a:r>
              <a:endParaRPr lang="zh-CN" altLang="en-US" sz="64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612" name="任意多边形 611"/>
          <p:cNvSpPr/>
          <p:nvPr/>
        </p:nvSpPr>
        <p:spPr>
          <a:xfrm>
            <a:off x="3261630" y="4546330"/>
            <a:ext cx="1502153" cy="781000"/>
          </a:xfrm>
          <a:custGeom>
            <a:avLst/>
            <a:gdLst/>
            <a:ahLst/>
            <a:cxnLst/>
            <a:rect l="l" t="t" r="r" b="b"/>
            <a:pathLst>
              <a:path w="1502153" h="781000" stroke="0">
                <a:moveTo>
                  <a:pt x="0" y="85200"/>
                </a:moveTo>
                <a:cubicBezTo>
                  <a:pt x="0" y="38145"/>
                  <a:pt x="40352" y="0"/>
                  <a:pt x="90129" y="0"/>
                </a:cubicBezTo>
                <a:lnTo>
                  <a:pt x="1412024" y="0"/>
                </a:lnTo>
                <a:cubicBezTo>
                  <a:pt x="1461801" y="0"/>
                  <a:pt x="1502153" y="38145"/>
                  <a:pt x="1502153" y="85200"/>
                </a:cubicBezTo>
                <a:lnTo>
                  <a:pt x="1502153" y="695800"/>
                </a:lnTo>
                <a:cubicBezTo>
                  <a:pt x="1502153" y="742855"/>
                  <a:pt x="1461801" y="781000"/>
                  <a:pt x="1412024" y="781000"/>
                </a:cubicBezTo>
                <a:lnTo>
                  <a:pt x="90129" y="781000"/>
                </a:lnTo>
                <a:cubicBezTo>
                  <a:pt x="40352" y="781000"/>
                  <a:pt x="0" y="742855"/>
                  <a:pt x="0" y="695800"/>
                </a:cubicBezTo>
                <a:lnTo>
                  <a:pt x="0" y="85200"/>
                </a:lnTo>
                <a:close/>
              </a:path>
              <a:path w="1502153" h="781000" fill="none">
                <a:moveTo>
                  <a:pt x="0" y="85200"/>
                </a:moveTo>
                <a:cubicBezTo>
                  <a:pt x="0" y="38145"/>
                  <a:pt x="40352" y="0"/>
                  <a:pt x="90129" y="0"/>
                </a:cubicBezTo>
                <a:lnTo>
                  <a:pt x="1412024" y="0"/>
                </a:lnTo>
                <a:cubicBezTo>
                  <a:pt x="1461801" y="0"/>
                  <a:pt x="1502153" y="38145"/>
                  <a:pt x="1502153" y="85200"/>
                </a:cubicBezTo>
                <a:lnTo>
                  <a:pt x="1502153" y="695800"/>
                </a:lnTo>
                <a:cubicBezTo>
                  <a:pt x="1502153" y="742855"/>
                  <a:pt x="1461801" y="781000"/>
                  <a:pt x="1412024" y="781000"/>
                </a:cubicBezTo>
                <a:lnTo>
                  <a:pt x="90129" y="781000"/>
                </a:lnTo>
                <a:cubicBezTo>
                  <a:pt x="40352" y="781000"/>
                  <a:pt x="0" y="742855"/>
                  <a:pt x="0" y="695800"/>
                </a:cubicBezTo>
                <a:lnTo>
                  <a:pt x="0" y="85200"/>
                </a:lnTo>
                <a:close/>
              </a:path>
            </a:pathLst>
          </a:custGeom>
          <a:solidFill>
            <a:srgbClr val="FFFFFF"/>
          </a:solidFill>
          <a:ln w="14200" cap="flat">
            <a:solidFill>
              <a:srgbClr val="FFEAA7"/>
            </a:solidFill>
            <a:miter/>
          </a:ln>
        </p:spPr>
      </p:sp>
      <p:sp>
        <p:nvSpPr>
          <p:cNvPr id="613" name="任意多边形 612"/>
          <p:cNvSpPr/>
          <p:nvPr/>
        </p:nvSpPr>
        <p:spPr>
          <a:xfrm>
            <a:off x="3261630" y="4546330"/>
            <a:ext cx="56800" cy="781000"/>
          </a:xfrm>
          <a:custGeom>
            <a:avLst/>
            <a:gdLst/>
            <a:ahLst/>
            <a:cxnLst/>
            <a:rect l="l" t="t" r="r" b="b"/>
            <a:pathLst>
              <a:path w="56800" h="7810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lnTo>
                  <a:pt x="56800" y="752600"/>
                </a:lnTo>
                <a:cubicBezTo>
                  <a:pt x="56800" y="768285"/>
                  <a:pt x="44085" y="781000"/>
                  <a:pt x="28400" y="781000"/>
                </a:cubicBezTo>
                <a:cubicBezTo>
                  <a:pt x="12715" y="781000"/>
                  <a:pt x="0" y="768285"/>
                  <a:pt x="0" y="752600"/>
                </a:cubicBezTo>
                <a:lnTo>
                  <a:pt x="0" y="28400"/>
                </a:lnTo>
                <a:close/>
              </a:path>
              <a:path w="56800" h="7810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lnTo>
                  <a:pt x="56800" y="752600"/>
                </a:lnTo>
                <a:cubicBezTo>
                  <a:pt x="56800" y="768285"/>
                  <a:pt x="44085" y="781000"/>
                  <a:pt x="28400" y="781000"/>
                </a:cubicBezTo>
                <a:cubicBezTo>
                  <a:pt x="12715" y="781000"/>
                  <a:pt x="0" y="768285"/>
                  <a:pt x="0" y="752600"/>
                </a:cubicBezTo>
                <a:lnTo>
                  <a:pt x="0" y="28400"/>
                </a:lnTo>
                <a:close/>
              </a:path>
            </a:pathLst>
          </a:custGeom>
          <a:gradFill>
            <a:gsLst>
              <a:gs pos="0">
                <a:srgbClr val="FF6B6B"/>
              </a:gs>
              <a:gs pos="100000">
                <a:srgbClr val="EE5253"/>
              </a:gs>
            </a:gsLst>
            <a:lin ang="2700000" scaled="0"/>
          </a:gradFill>
          <a:ln w="7100" cap="flat">
            <a:noFill/>
            <a:miter/>
          </a:ln>
        </p:spPr>
      </p:sp>
      <p:sp>
        <p:nvSpPr>
          <p:cNvPr id="614" name="任意多边形 613"/>
          <p:cNvSpPr/>
          <p:nvPr/>
        </p:nvSpPr>
        <p:spPr>
          <a:xfrm>
            <a:off x="27580" y="644880"/>
            <a:ext cx="1320600" cy="184600"/>
          </a:xfrm>
          <a:custGeom>
            <a:avLst/>
            <a:gdLst>
              <a:gd name="connsiteX0" fmla="*/ 0 w 1320600"/>
              <a:gd name="connsiteY0" fmla="*/ 92300 h 184600"/>
              <a:gd name="connsiteX1" fmla="*/ 660300 w 1320600"/>
              <a:gd name="connsiteY1" fmla="*/ 0 h 184600"/>
              <a:gd name="connsiteX2" fmla="*/ 1320600 w 1320600"/>
              <a:gd name="connsiteY2" fmla="*/ 92300 h 184600"/>
              <a:gd name="connsiteX3" fmla="*/ 660300 w 1320600"/>
              <a:gd name="connsiteY3" fmla="*/ 184600 h 184600"/>
              <a:gd name="rtl" fmla="*/ 3287803 w 1320600"/>
              <a:gd name="rtt" fmla="*/ 3958250 h 184600"/>
              <a:gd name="rtr" fmla="*/ 4608403 w 1320600"/>
              <a:gd name="rtb" fmla="*/ 4142850 h 184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2D3436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50" b="1" dirty="0">
                <a:solidFill>
                  <a:srgbClr val="2D3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 </a:t>
            </a:r>
            <a:r>
              <a:rPr lang="en-US" altLang="zh-CN" sz="850" b="1" dirty="0">
                <a:solidFill>
                  <a:srgbClr val="2D3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850" b="1" dirty="0">
                <a:solidFill>
                  <a:srgbClr val="2D3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（多目标难权衡）</a:t>
            </a:r>
            <a:endParaRPr lang="zh-CN" altLang="en-US" sz="850" b="1" dirty="0">
              <a:solidFill>
                <a:srgbClr val="2D3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5" name="任意多边形 614"/>
          <p:cNvSpPr/>
          <p:nvPr/>
        </p:nvSpPr>
        <p:spPr>
          <a:xfrm>
            <a:off x="4538149" y="4603130"/>
            <a:ext cx="198800" cy="198800"/>
          </a:xfrm>
          <a:custGeom>
            <a:avLst/>
            <a:gdLst/>
            <a:ahLst/>
            <a:cxnLst/>
            <a:rect l="l" t="t" r="r" b="b"/>
            <a:pathLst>
              <a:path w="198800" h="198800" stroke="0">
                <a:moveTo>
                  <a:pt x="198800" y="99400"/>
                </a:moveTo>
                <a:cubicBezTo>
                  <a:pt x="198800" y="154297"/>
                  <a:pt x="154297" y="198800"/>
                  <a:pt x="99400" y="198800"/>
                </a:cubicBezTo>
                <a:cubicBezTo>
                  <a:pt x="44503" y="198800"/>
                  <a:pt x="0" y="154297"/>
                  <a:pt x="0" y="99400"/>
                </a:cubicBezTo>
                <a:cubicBezTo>
                  <a:pt x="0" y="44503"/>
                  <a:pt x="44503" y="0"/>
                  <a:pt x="99400" y="0"/>
                </a:cubicBezTo>
                <a:cubicBezTo>
                  <a:pt x="154297" y="0"/>
                  <a:pt x="198800" y="44503"/>
                  <a:pt x="198800" y="99400"/>
                </a:cubicBezTo>
                <a:close/>
              </a:path>
              <a:path w="198800" h="198800" fill="none">
                <a:moveTo>
                  <a:pt x="198800" y="99400"/>
                </a:moveTo>
                <a:cubicBezTo>
                  <a:pt x="198800" y="154297"/>
                  <a:pt x="154297" y="198800"/>
                  <a:pt x="99400" y="198800"/>
                </a:cubicBezTo>
                <a:cubicBezTo>
                  <a:pt x="44503" y="198800"/>
                  <a:pt x="0" y="154297"/>
                  <a:pt x="0" y="99400"/>
                </a:cubicBezTo>
                <a:cubicBezTo>
                  <a:pt x="0" y="44503"/>
                  <a:pt x="44503" y="0"/>
                  <a:pt x="99400" y="0"/>
                </a:cubicBezTo>
                <a:cubicBezTo>
                  <a:pt x="154297" y="0"/>
                  <a:pt x="198800" y="44503"/>
                  <a:pt x="198800" y="99400"/>
                </a:cubicBezTo>
                <a:close/>
              </a:path>
            </a:pathLst>
          </a:custGeom>
          <a:solidFill>
            <a:srgbClr val="FFEAA7"/>
          </a:solidFill>
          <a:ln w="7100" cap="flat">
            <a:noFill/>
            <a:miter/>
          </a:ln>
        </p:spPr>
      </p:sp>
      <p:sp>
        <p:nvSpPr>
          <p:cNvPr id="616" name="任意多边形 615"/>
          <p:cNvSpPr/>
          <p:nvPr/>
        </p:nvSpPr>
        <p:spPr>
          <a:xfrm>
            <a:off x="4602049" y="4667030"/>
            <a:ext cx="71000" cy="71000"/>
          </a:xfrm>
          <a:custGeom>
            <a:avLst/>
            <a:gdLst/>
            <a:ahLst/>
            <a:cxnLst/>
            <a:rect l="l" t="t" r="r" b="b"/>
            <a:pathLst>
              <a:path w="71000" h="71000" stroke="0">
                <a:moveTo>
                  <a:pt x="0" y="0"/>
                </a:moveTo>
                <a:lnTo>
                  <a:pt x="71000" y="0"/>
                </a:lnTo>
                <a:moveTo>
                  <a:pt x="0" y="35500"/>
                </a:moveTo>
                <a:lnTo>
                  <a:pt x="71000" y="35500"/>
                </a:lnTo>
                <a:moveTo>
                  <a:pt x="0" y="71000"/>
                </a:moveTo>
                <a:lnTo>
                  <a:pt x="71000" y="71000"/>
                </a:lnTo>
              </a:path>
              <a:path w="71000" h="71000" fill="none">
                <a:moveTo>
                  <a:pt x="0" y="0"/>
                </a:moveTo>
                <a:lnTo>
                  <a:pt x="71000" y="0"/>
                </a:lnTo>
                <a:moveTo>
                  <a:pt x="0" y="35500"/>
                </a:moveTo>
                <a:lnTo>
                  <a:pt x="71000" y="35500"/>
                </a:lnTo>
                <a:moveTo>
                  <a:pt x="0" y="71000"/>
                </a:moveTo>
                <a:lnTo>
                  <a:pt x="71000" y="71000"/>
                </a:lnTo>
              </a:path>
            </a:pathLst>
          </a:custGeom>
          <a:solidFill>
            <a:srgbClr val="000000"/>
          </a:solidFill>
          <a:ln w="14200" cap="flat">
            <a:solidFill>
              <a:srgbClr val="D35400"/>
            </a:solidFill>
            <a:miter/>
          </a:ln>
        </p:spPr>
      </p:sp>
      <p:sp>
        <p:nvSpPr>
          <p:cNvPr id="617" name="任意多边形 616"/>
          <p:cNvSpPr/>
          <p:nvPr/>
        </p:nvSpPr>
        <p:spPr>
          <a:xfrm>
            <a:off x="4609149" y="4652830"/>
            <a:ext cx="28400" cy="28400"/>
          </a:xfrm>
          <a:custGeom>
            <a:avLst/>
            <a:gdLst/>
            <a:ahLst/>
            <a:cxnLst/>
            <a:rect l="l" t="t" r="r" b="b"/>
            <a:pathLst>
              <a:path w="28400" h="28400" stroke="0">
                <a:moveTo>
                  <a:pt x="28400" y="14200"/>
                </a:moveTo>
                <a:cubicBezTo>
                  <a:pt x="28400" y="22042"/>
                  <a:pt x="22042" y="28400"/>
                  <a:pt x="14200" y="28400"/>
                </a:cubicBezTo>
                <a:cubicBezTo>
                  <a:pt x="6358" y="28400"/>
                  <a:pt x="0" y="22042"/>
                  <a:pt x="0" y="14200"/>
                </a:cubicBezTo>
                <a:cubicBezTo>
                  <a:pt x="0" y="6358"/>
                  <a:pt x="6358" y="0"/>
                  <a:pt x="14200" y="0"/>
                </a:cubicBezTo>
                <a:cubicBezTo>
                  <a:pt x="22042" y="0"/>
                  <a:pt x="28400" y="6358"/>
                  <a:pt x="28400" y="14200"/>
                </a:cubicBezTo>
                <a:close/>
              </a:path>
              <a:path w="28400" h="28400" fill="none">
                <a:moveTo>
                  <a:pt x="28400" y="14200"/>
                </a:moveTo>
                <a:cubicBezTo>
                  <a:pt x="28400" y="22042"/>
                  <a:pt x="22042" y="28400"/>
                  <a:pt x="14200" y="28400"/>
                </a:cubicBezTo>
                <a:cubicBezTo>
                  <a:pt x="6358" y="28400"/>
                  <a:pt x="0" y="22042"/>
                  <a:pt x="0" y="14200"/>
                </a:cubicBezTo>
                <a:cubicBezTo>
                  <a:pt x="0" y="6358"/>
                  <a:pt x="6358" y="0"/>
                  <a:pt x="14200" y="0"/>
                </a:cubicBezTo>
                <a:cubicBezTo>
                  <a:pt x="22042" y="0"/>
                  <a:pt x="28400" y="6358"/>
                  <a:pt x="28400" y="14200"/>
                </a:cubicBezTo>
                <a:close/>
              </a:path>
            </a:pathLst>
          </a:custGeom>
          <a:solidFill>
            <a:srgbClr val="D35400"/>
          </a:solidFill>
          <a:ln w="7100" cap="flat">
            <a:noFill/>
            <a:miter/>
          </a:ln>
        </p:spPr>
      </p:sp>
      <p:sp>
        <p:nvSpPr>
          <p:cNvPr id="618" name="任意多边形 617"/>
          <p:cNvSpPr/>
          <p:nvPr/>
        </p:nvSpPr>
        <p:spPr>
          <a:xfrm>
            <a:off x="4637549" y="4688330"/>
            <a:ext cx="28400" cy="28400"/>
          </a:xfrm>
          <a:custGeom>
            <a:avLst/>
            <a:gdLst/>
            <a:ahLst/>
            <a:cxnLst/>
            <a:rect l="l" t="t" r="r" b="b"/>
            <a:pathLst>
              <a:path w="28400" h="28400" stroke="0">
                <a:moveTo>
                  <a:pt x="28400" y="14200"/>
                </a:moveTo>
                <a:cubicBezTo>
                  <a:pt x="28400" y="22042"/>
                  <a:pt x="22042" y="28400"/>
                  <a:pt x="14200" y="28400"/>
                </a:cubicBezTo>
                <a:cubicBezTo>
                  <a:pt x="6358" y="28400"/>
                  <a:pt x="0" y="22042"/>
                  <a:pt x="0" y="14200"/>
                </a:cubicBezTo>
                <a:cubicBezTo>
                  <a:pt x="0" y="6358"/>
                  <a:pt x="6358" y="0"/>
                  <a:pt x="14200" y="0"/>
                </a:cubicBezTo>
                <a:cubicBezTo>
                  <a:pt x="22042" y="0"/>
                  <a:pt x="28400" y="6358"/>
                  <a:pt x="28400" y="14200"/>
                </a:cubicBezTo>
                <a:close/>
              </a:path>
              <a:path w="28400" h="28400" fill="none">
                <a:moveTo>
                  <a:pt x="28400" y="14200"/>
                </a:moveTo>
                <a:cubicBezTo>
                  <a:pt x="28400" y="22042"/>
                  <a:pt x="22042" y="28400"/>
                  <a:pt x="14200" y="28400"/>
                </a:cubicBezTo>
                <a:cubicBezTo>
                  <a:pt x="6358" y="28400"/>
                  <a:pt x="0" y="22042"/>
                  <a:pt x="0" y="14200"/>
                </a:cubicBezTo>
                <a:cubicBezTo>
                  <a:pt x="0" y="6358"/>
                  <a:pt x="6358" y="0"/>
                  <a:pt x="14200" y="0"/>
                </a:cubicBezTo>
                <a:cubicBezTo>
                  <a:pt x="22042" y="0"/>
                  <a:pt x="28400" y="6358"/>
                  <a:pt x="28400" y="14200"/>
                </a:cubicBezTo>
                <a:close/>
              </a:path>
            </a:pathLst>
          </a:custGeom>
          <a:solidFill>
            <a:srgbClr val="D35400"/>
          </a:solidFill>
          <a:ln w="7100" cap="flat">
            <a:noFill/>
            <a:miter/>
          </a:ln>
        </p:spPr>
      </p:sp>
      <p:sp>
        <p:nvSpPr>
          <p:cNvPr id="619" name="任意多边形 618"/>
          <p:cNvSpPr/>
          <p:nvPr/>
        </p:nvSpPr>
        <p:spPr>
          <a:xfrm>
            <a:off x="4594949" y="4723830"/>
            <a:ext cx="28400" cy="28400"/>
          </a:xfrm>
          <a:custGeom>
            <a:avLst/>
            <a:gdLst/>
            <a:ahLst/>
            <a:cxnLst/>
            <a:rect l="l" t="t" r="r" b="b"/>
            <a:pathLst>
              <a:path w="28400" h="28400" stroke="0">
                <a:moveTo>
                  <a:pt x="28400" y="14200"/>
                </a:moveTo>
                <a:cubicBezTo>
                  <a:pt x="28400" y="22042"/>
                  <a:pt x="22042" y="28400"/>
                  <a:pt x="14200" y="28400"/>
                </a:cubicBezTo>
                <a:cubicBezTo>
                  <a:pt x="6358" y="28400"/>
                  <a:pt x="0" y="22042"/>
                  <a:pt x="0" y="14200"/>
                </a:cubicBezTo>
                <a:cubicBezTo>
                  <a:pt x="0" y="6358"/>
                  <a:pt x="6358" y="0"/>
                  <a:pt x="14200" y="0"/>
                </a:cubicBezTo>
                <a:cubicBezTo>
                  <a:pt x="22042" y="0"/>
                  <a:pt x="28400" y="6358"/>
                  <a:pt x="28400" y="14200"/>
                </a:cubicBezTo>
                <a:close/>
              </a:path>
              <a:path w="28400" h="28400" fill="none">
                <a:moveTo>
                  <a:pt x="28400" y="14200"/>
                </a:moveTo>
                <a:cubicBezTo>
                  <a:pt x="28400" y="22042"/>
                  <a:pt x="22042" y="28400"/>
                  <a:pt x="14200" y="28400"/>
                </a:cubicBezTo>
                <a:cubicBezTo>
                  <a:pt x="6358" y="28400"/>
                  <a:pt x="0" y="22042"/>
                  <a:pt x="0" y="14200"/>
                </a:cubicBezTo>
                <a:cubicBezTo>
                  <a:pt x="0" y="6358"/>
                  <a:pt x="6358" y="0"/>
                  <a:pt x="14200" y="0"/>
                </a:cubicBezTo>
                <a:cubicBezTo>
                  <a:pt x="22042" y="0"/>
                  <a:pt x="28400" y="6358"/>
                  <a:pt x="28400" y="14200"/>
                </a:cubicBezTo>
                <a:close/>
              </a:path>
            </a:pathLst>
          </a:custGeom>
          <a:solidFill>
            <a:srgbClr val="D35400"/>
          </a:solidFill>
          <a:ln w="7100" cap="flat">
            <a:noFill/>
            <a:miter/>
          </a:ln>
        </p:spPr>
      </p:sp>
      <p:grpSp>
        <p:nvGrpSpPr>
          <p:cNvPr id="719" name="Group 719"/>
          <p:cNvGrpSpPr/>
          <p:nvPr/>
        </p:nvGrpSpPr>
        <p:grpSpPr>
          <a:xfrm>
            <a:off x="27580" y="644880"/>
            <a:ext cx="951400" cy="461500"/>
            <a:chOff x="-1526900" y="589000"/>
            <a:chExt cx="951400" cy="461500"/>
          </a:xfrm>
        </p:grpSpPr>
        <p:sp>
          <p:nvSpPr>
            <p:cNvPr id="620" name="任意多边形 619"/>
            <p:cNvSpPr/>
            <p:nvPr/>
          </p:nvSpPr>
          <p:spPr>
            <a:xfrm>
              <a:off x="-1526900" y="589000"/>
              <a:ext cx="951400" cy="461500"/>
            </a:xfrm>
            <a:custGeom>
              <a:avLst/>
              <a:gdLst>
                <a:gd name="connsiteX0" fmla="*/ 0 w 951400"/>
                <a:gd name="connsiteY0" fmla="*/ 230750 h 461500"/>
                <a:gd name="connsiteX1" fmla="*/ 475700 w 951400"/>
                <a:gd name="connsiteY1" fmla="*/ 0 h 461500"/>
                <a:gd name="connsiteX2" fmla="*/ 951400 w 951400"/>
                <a:gd name="connsiteY2" fmla="*/ 230750 h 461500"/>
                <a:gd name="connsiteX3" fmla="*/ 475700 w 951400"/>
                <a:gd name="connsiteY3" fmla="*/ 461500 h 4615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/>
            </a:custGeom>
            <a:solidFill>
              <a:srgbClr val="636E72"/>
            </a:solidFill>
            <a:ln w="7100" cap="flat">
              <a:noFill/>
              <a:miter/>
            </a:ln>
          </p:spPr>
        </p:sp>
        <p:sp>
          <p:nvSpPr>
            <p:cNvPr id="720" name="Text 720"/>
            <p:cNvSpPr txBox="1"/>
            <p:nvPr/>
          </p:nvSpPr>
          <p:spPr>
            <a:xfrm>
              <a:off x="1838500" y="4753150"/>
              <a:ext cx="986900" cy="1775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4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各个应用场景权重全变</a:t>
              </a:r>
              <a:endParaRPr lang="zh-CN" altLang="en-US" sz="64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21" name="Text 721"/>
            <p:cNvSpPr txBox="1"/>
            <p:nvPr/>
          </p:nvSpPr>
          <p:spPr>
            <a:xfrm>
              <a:off x="1856250" y="4895150"/>
              <a:ext cx="951400" cy="1775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4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TH/IRI/产量等难兼顾</a:t>
              </a:r>
              <a:endParaRPr lang="zh-CN" altLang="en-US" sz="64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22" name="Text 722"/>
            <p:cNvSpPr txBox="1"/>
            <p:nvPr/>
          </p:nvSpPr>
          <p:spPr>
            <a:xfrm>
              <a:off x="1856250" y="5037150"/>
              <a:ext cx="908800" cy="1775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4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难同追多条优化曲线</a:t>
              </a:r>
              <a:endParaRPr lang="zh-CN" altLang="en-US" sz="64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622" name="任意多边形 621"/>
          <p:cNvSpPr/>
          <p:nvPr/>
        </p:nvSpPr>
        <p:spPr>
          <a:xfrm>
            <a:off x="4965630" y="2558330"/>
            <a:ext cx="1704000" cy="2130000"/>
          </a:xfrm>
          <a:custGeom>
            <a:avLst/>
            <a:gdLst/>
            <a:ahLst/>
            <a:cxnLst/>
            <a:rect l="l" t="t" r="r" b="b"/>
            <a:pathLst>
              <a:path w="1704000" h="2130000" stroke="0">
                <a:moveTo>
                  <a:pt x="0" y="0"/>
                </a:moveTo>
                <a:lnTo>
                  <a:pt x="1278000" y="0"/>
                </a:lnTo>
                <a:lnTo>
                  <a:pt x="1704000" y="1065000"/>
                </a:lnTo>
                <a:lnTo>
                  <a:pt x="1278000" y="2130000"/>
                </a:lnTo>
                <a:lnTo>
                  <a:pt x="0" y="2130000"/>
                </a:lnTo>
                <a:lnTo>
                  <a:pt x="426000" y="1065000"/>
                </a:lnTo>
                <a:lnTo>
                  <a:pt x="0" y="0"/>
                </a:lnTo>
                <a:close/>
              </a:path>
              <a:path w="1704000" h="2130000" fill="none">
                <a:moveTo>
                  <a:pt x="0" y="0"/>
                </a:moveTo>
                <a:lnTo>
                  <a:pt x="1278000" y="0"/>
                </a:lnTo>
                <a:lnTo>
                  <a:pt x="1704000" y="1065000"/>
                </a:lnTo>
                <a:lnTo>
                  <a:pt x="1278000" y="2130000"/>
                </a:lnTo>
                <a:lnTo>
                  <a:pt x="0" y="2130000"/>
                </a:lnTo>
                <a:lnTo>
                  <a:pt x="426000" y="1065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C5CE7">
                  <a:alpha val="10000"/>
                </a:srgbClr>
              </a:gs>
              <a:gs pos="100000">
                <a:srgbClr val="A29BFE">
                  <a:alpha val="10000"/>
                </a:srgbClr>
              </a:gs>
            </a:gsLst>
            <a:lin ang="2700000" scaled="0"/>
          </a:gradFill>
          <a:ln w="14200" cap="flat">
            <a:gradFill>
              <a:gsLst>
                <a:gs pos="0">
                  <a:srgbClr val="6C5CE7"/>
                </a:gs>
                <a:gs pos="100000">
                  <a:srgbClr val="A29BFE"/>
                </a:gs>
              </a:gsLst>
              <a:lin ang="2700000" scaled="0"/>
            </a:gradFill>
            <a:miter/>
          </a:ln>
        </p:spPr>
      </p:sp>
      <p:sp>
        <p:nvSpPr>
          <p:cNvPr id="623" name="任意多边形 622"/>
          <p:cNvSpPr/>
          <p:nvPr/>
        </p:nvSpPr>
        <p:spPr>
          <a:xfrm>
            <a:off x="27580" y="644880"/>
            <a:ext cx="923000" cy="220100"/>
          </a:xfrm>
          <a:custGeom>
            <a:avLst/>
            <a:gdLst>
              <a:gd name="connsiteX0" fmla="*/ 0 w 923000"/>
              <a:gd name="connsiteY0" fmla="*/ 110050 h 220100"/>
              <a:gd name="connsiteX1" fmla="*/ 461500 w 923000"/>
              <a:gd name="connsiteY1" fmla="*/ 0 h 220100"/>
              <a:gd name="connsiteX2" fmla="*/ 923000 w 923000"/>
              <a:gd name="connsiteY2" fmla="*/ 110050 h 220100"/>
              <a:gd name="connsiteX3" fmla="*/ 461500 w 923000"/>
              <a:gd name="connsiteY3" fmla="*/ 220100 h 220100"/>
              <a:gd name="rtl" fmla="*/ 5328550 w 923000"/>
              <a:gd name="rtt" fmla="*/ 2012850 h 220100"/>
              <a:gd name="rtr" fmla="*/ 6251550 w 923000"/>
              <a:gd name="rtb" fmla="*/ 2232950 h 2201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C5CE7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1065" b="1" dirty="0">
                <a:solidFill>
                  <a:srgbClr val="6C5C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三位一体路线</a:t>
            </a:r>
            <a:endParaRPr lang="zh-CN" altLang="en-US" sz="1065" b="1" dirty="0">
              <a:solidFill>
                <a:srgbClr val="6C5CE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4" name="任意多边形 623"/>
          <p:cNvSpPr/>
          <p:nvPr/>
        </p:nvSpPr>
        <p:spPr>
          <a:xfrm>
            <a:off x="27580" y="644880"/>
            <a:ext cx="923000" cy="156200"/>
          </a:xfrm>
          <a:custGeom>
            <a:avLst/>
            <a:gdLst>
              <a:gd name="connsiteX0" fmla="*/ 0 w 923000"/>
              <a:gd name="connsiteY0" fmla="*/ 78100 h 156200"/>
              <a:gd name="connsiteX1" fmla="*/ 461500 w 923000"/>
              <a:gd name="connsiteY1" fmla="*/ 0 h 156200"/>
              <a:gd name="connsiteX2" fmla="*/ 923000 w 923000"/>
              <a:gd name="connsiteY2" fmla="*/ 78100 h 156200"/>
              <a:gd name="connsiteX3" fmla="*/ 461500 w 923000"/>
              <a:gd name="connsiteY3" fmla="*/ 156200 h 156200"/>
              <a:gd name="rtl" fmla="*/ 5364050 w 923000"/>
              <a:gd name="rtt" fmla="*/ 2232950 h 156200"/>
              <a:gd name="rtr" fmla="*/ 6287050 w 923000"/>
              <a:gd name="rtb" fmla="*/ 2389150 h 1562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C5CE7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dirty="0">
                <a:solidFill>
                  <a:srgbClr val="6C5CE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打破因果链，治本之策</a:t>
            </a:r>
            <a:endParaRPr lang="zh-CN" altLang="en-US" sz="640" dirty="0">
              <a:solidFill>
                <a:srgbClr val="6C5CE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5" name="任意多边形 624"/>
          <p:cNvSpPr/>
          <p:nvPr/>
        </p:nvSpPr>
        <p:spPr>
          <a:xfrm>
            <a:off x="5372035" y="3197330"/>
            <a:ext cx="1136000" cy="326600"/>
          </a:xfrm>
          <a:custGeom>
            <a:avLst/>
            <a:gdLst/>
            <a:ahLst/>
            <a:cxnLst/>
            <a:rect l="l" t="t" r="r" b="b"/>
            <a:pathLst>
              <a:path w="1136000" h="326600" stroke="0">
                <a:moveTo>
                  <a:pt x="0" y="163300"/>
                </a:moveTo>
                <a:cubicBezTo>
                  <a:pt x="0" y="73112"/>
                  <a:pt x="73112" y="0"/>
                  <a:pt x="163300" y="0"/>
                </a:cubicBezTo>
                <a:lnTo>
                  <a:pt x="972700" y="0"/>
                </a:lnTo>
                <a:cubicBezTo>
                  <a:pt x="1062888" y="0"/>
                  <a:pt x="1136000" y="73112"/>
                  <a:pt x="1136000" y="163300"/>
                </a:cubicBezTo>
                <a:cubicBezTo>
                  <a:pt x="1136000" y="253488"/>
                  <a:pt x="1062888" y="326600"/>
                  <a:pt x="972700" y="326600"/>
                </a:cubicBezTo>
                <a:lnTo>
                  <a:pt x="163300" y="326600"/>
                </a:lnTo>
                <a:cubicBezTo>
                  <a:pt x="73112" y="326600"/>
                  <a:pt x="0" y="253488"/>
                  <a:pt x="0" y="163300"/>
                </a:cubicBezTo>
                <a:close/>
              </a:path>
              <a:path w="1136000" h="326600" fill="none">
                <a:moveTo>
                  <a:pt x="0" y="163300"/>
                </a:moveTo>
                <a:cubicBezTo>
                  <a:pt x="0" y="73112"/>
                  <a:pt x="73112" y="0"/>
                  <a:pt x="163300" y="0"/>
                </a:cubicBezTo>
                <a:lnTo>
                  <a:pt x="972700" y="0"/>
                </a:lnTo>
                <a:cubicBezTo>
                  <a:pt x="1062888" y="0"/>
                  <a:pt x="1136000" y="73112"/>
                  <a:pt x="1136000" y="163300"/>
                </a:cubicBezTo>
                <a:cubicBezTo>
                  <a:pt x="1136000" y="253488"/>
                  <a:pt x="1062888" y="326600"/>
                  <a:pt x="972700" y="326600"/>
                </a:cubicBezTo>
                <a:lnTo>
                  <a:pt x="163300" y="326600"/>
                </a:lnTo>
                <a:cubicBezTo>
                  <a:pt x="73112" y="326600"/>
                  <a:pt x="0" y="253488"/>
                  <a:pt x="0" y="163300"/>
                </a:cubicBezTo>
                <a:close/>
              </a:path>
            </a:pathLst>
          </a:custGeom>
          <a:solidFill>
            <a:srgbClr val="FFFFFF"/>
          </a:solidFill>
          <a:ln w="14200" cap="flat">
            <a:solidFill>
              <a:srgbClr val="A29BFE"/>
            </a:solidFill>
            <a:miter/>
          </a:ln>
        </p:spPr>
      </p:sp>
      <p:sp>
        <p:nvSpPr>
          <p:cNvPr id="626" name="任意多边形 625"/>
          <p:cNvSpPr/>
          <p:nvPr/>
        </p:nvSpPr>
        <p:spPr>
          <a:xfrm>
            <a:off x="5514035" y="3254130"/>
            <a:ext cx="213000" cy="213000"/>
          </a:xfrm>
          <a:custGeom>
            <a:avLst/>
            <a:gdLst/>
            <a:ahLst/>
            <a:cxnLst/>
            <a:rect l="l" t="t" r="r" b="b"/>
            <a:pathLst>
              <a:path w="213000" h="213000" stroke="0">
                <a:moveTo>
                  <a:pt x="213000" y="106500"/>
                </a:moveTo>
                <a:cubicBezTo>
                  <a:pt x="213000" y="165318"/>
                  <a:pt x="165318" y="213000"/>
                  <a:pt x="106500" y="213000"/>
                </a:cubicBezTo>
                <a:cubicBezTo>
                  <a:pt x="47682" y="213000"/>
                  <a:pt x="0" y="165318"/>
                  <a:pt x="0" y="106500"/>
                </a:cubicBezTo>
                <a:cubicBezTo>
                  <a:pt x="0" y="47682"/>
                  <a:pt x="47682" y="0"/>
                  <a:pt x="106500" y="0"/>
                </a:cubicBezTo>
                <a:cubicBezTo>
                  <a:pt x="165318" y="0"/>
                  <a:pt x="213000" y="47682"/>
                  <a:pt x="213000" y="106500"/>
                </a:cubicBezTo>
                <a:close/>
              </a:path>
              <a:path w="213000" h="213000" fill="none">
                <a:moveTo>
                  <a:pt x="213000" y="106500"/>
                </a:moveTo>
                <a:cubicBezTo>
                  <a:pt x="213000" y="165318"/>
                  <a:pt x="165318" y="213000"/>
                  <a:pt x="106500" y="213000"/>
                </a:cubicBezTo>
                <a:cubicBezTo>
                  <a:pt x="47682" y="213000"/>
                  <a:pt x="0" y="165318"/>
                  <a:pt x="0" y="106500"/>
                </a:cubicBezTo>
                <a:cubicBezTo>
                  <a:pt x="0" y="47682"/>
                  <a:pt x="47682" y="0"/>
                  <a:pt x="106500" y="0"/>
                </a:cubicBezTo>
                <a:cubicBezTo>
                  <a:pt x="165318" y="0"/>
                  <a:pt x="213000" y="47682"/>
                  <a:pt x="213000" y="106500"/>
                </a:cubicBezTo>
                <a:close/>
              </a:path>
            </a:pathLst>
          </a:custGeom>
          <a:solidFill>
            <a:srgbClr val="6C5CE7"/>
          </a:solidFill>
          <a:ln w="7100" cap="flat">
            <a:noFill/>
            <a:miter/>
          </a:ln>
        </p:spPr>
      </p:sp>
      <p:sp>
        <p:nvSpPr>
          <p:cNvPr id="627" name="任意多边形 626"/>
          <p:cNvSpPr/>
          <p:nvPr/>
        </p:nvSpPr>
        <p:spPr>
          <a:xfrm>
            <a:off x="27580" y="644880"/>
            <a:ext cx="120700" cy="170400"/>
          </a:xfrm>
          <a:custGeom>
            <a:avLst/>
            <a:gdLst>
              <a:gd name="connsiteX0" fmla="*/ 0 w 120700"/>
              <a:gd name="connsiteY0" fmla="*/ 85200 h 170400"/>
              <a:gd name="connsiteX1" fmla="*/ 60350 w 120700"/>
              <a:gd name="connsiteY1" fmla="*/ 0 h 170400"/>
              <a:gd name="connsiteX2" fmla="*/ 120700 w 120700"/>
              <a:gd name="connsiteY2" fmla="*/ 85200 h 170400"/>
              <a:gd name="connsiteX3" fmla="*/ 60350 w 120700"/>
              <a:gd name="connsiteY3" fmla="*/ 170400 h 170400"/>
              <a:gd name="rtl" fmla="*/ 5534450 w 120700"/>
              <a:gd name="rtt" fmla="*/ 2619900 h 170400"/>
              <a:gd name="rtr" fmla="*/ 5669350 w 120700"/>
              <a:gd name="rtb" fmla="*/ 2790300 h 1704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FFFF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zh-CN" altLang="en-US" sz="74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8" name="任意多边形 627"/>
          <p:cNvSpPr/>
          <p:nvPr/>
        </p:nvSpPr>
        <p:spPr>
          <a:xfrm>
            <a:off x="27580" y="644880"/>
            <a:ext cx="603500" cy="177500"/>
          </a:xfrm>
          <a:custGeom>
            <a:avLst/>
            <a:gdLst>
              <a:gd name="connsiteX0" fmla="*/ 0 w 603500"/>
              <a:gd name="connsiteY0" fmla="*/ 88750 h 177500"/>
              <a:gd name="connsiteX1" fmla="*/ 301750 w 603500"/>
              <a:gd name="connsiteY1" fmla="*/ 0 h 177500"/>
              <a:gd name="connsiteX2" fmla="*/ 603500 w 603500"/>
              <a:gd name="connsiteY2" fmla="*/ 88750 h 177500"/>
              <a:gd name="connsiteX3" fmla="*/ 301750 w 603500"/>
              <a:gd name="connsiteY3" fmla="*/ 177500 h 177500"/>
              <a:gd name="rtl" fmla="*/ 5710748 w 603500"/>
              <a:gd name="rtt" fmla="*/ 2616350 h 177500"/>
              <a:gd name="rtr" fmla="*/ 6314248 w 603500"/>
              <a:gd name="rtb" fmla="*/ 2793850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2D3436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00" b="1" dirty="0">
                <a:solidFill>
                  <a:srgbClr val="2D3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知识结构化</a:t>
            </a:r>
            <a:endParaRPr lang="zh-CN" altLang="en-US" sz="800" b="1" dirty="0">
              <a:solidFill>
                <a:srgbClr val="2D3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9" name="任意多边形 628"/>
          <p:cNvSpPr/>
          <p:nvPr/>
        </p:nvSpPr>
        <p:spPr>
          <a:xfrm>
            <a:off x="5391630" y="3623330"/>
            <a:ext cx="1136000" cy="326600"/>
          </a:xfrm>
          <a:custGeom>
            <a:avLst/>
            <a:gdLst/>
            <a:ahLst/>
            <a:cxnLst/>
            <a:rect l="l" t="t" r="r" b="b"/>
            <a:pathLst>
              <a:path w="1136000" h="326600" stroke="0">
                <a:moveTo>
                  <a:pt x="0" y="163300"/>
                </a:moveTo>
                <a:cubicBezTo>
                  <a:pt x="0" y="73112"/>
                  <a:pt x="73112" y="0"/>
                  <a:pt x="163300" y="0"/>
                </a:cubicBezTo>
                <a:lnTo>
                  <a:pt x="972700" y="0"/>
                </a:lnTo>
                <a:cubicBezTo>
                  <a:pt x="1062888" y="0"/>
                  <a:pt x="1136000" y="73112"/>
                  <a:pt x="1136000" y="163300"/>
                </a:cubicBezTo>
                <a:cubicBezTo>
                  <a:pt x="1136000" y="253488"/>
                  <a:pt x="1062888" y="326600"/>
                  <a:pt x="972700" y="326600"/>
                </a:cubicBezTo>
                <a:lnTo>
                  <a:pt x="163300" y="326600"/>
                </a:lnTo>
                <a:cubicBezTo>
                  <a:pt x="73112" y="326600"/>
                  <a:pt x="0" y="253488"/>
                  <a:pt x="0" y="163300"/>
                </a:cubicBezTo>
                <a:close/>
              </a:path>
              <a:path w="1136000" h="326600" fill="none">
                <a:moveTo>
                  <a:pt x="0" y="163300"/>
                </a:moveTo>
                <a:cubicBezTo>
                  <a:pt x="0" y="73112"/>
                  <a:pt x="73112" y="0"/>
                  <a:pt x="163300" y="0"/>
                </a:cubicBezTo>
                <a:lnTo>
                  <a:pt x="972700" y="0"/>
                </a:lnTo>
                <a:cubicBezTo>
                  <a:pt x="1062888" y="0"/>
                  <a:pt x="1136000" y="73112"/>
                  <a:pt x="1136000" y="163300"/>
                </a:cubicBezTo>
                <a:cubicBezTo>
                  <a:pt x="1136000" y="253488"/>
                  <a:pt x="1062888" y="326600"/>
                  <a:pt x="972700" y="326600"/>
                </a:cubicBezTo>
                <a:lnTo>
                  <a:pt x="163300" y="326600"/>
                </a:lnTo>
                <a:cubicBezTo>
                  <a:pt x="73112" y="326600"/>
                  <a:pt x="0" y="253488"/>
                  <a:pt x="0" y="163300"/>
                </a:cubicBezTo>
                <a:close/>
              </a:path>
            </a:pathLst>
          </a:custGeom>
          <a:solidFill>
            <a:srgbClr val="FFFFFF"/>
          </a:solidFill>
          <a:ln w="14200" cap="flat">
            <a:solidFill>
              <a:srgbClr val="A29BFE"/>
            </a:solidFill>
            <a:miter/>
          </a:ln>
        </p:spPr>
      </p:sp>
      <p:sp>
        <p:nvSpPr>
          <p:cNvPr id="630" name="任意多边形 629"/>
          <p:cNvSpPr/>
          <p:nvPr/>
        </p:nvSpPr>
        <p:spPr>
          <a:xfrm>
            <a:off x="5517585" y="3680130"/>
            <a:ext cx="213000" cy="213000"/>
          </a:xfrm>
          <a:custGeom>
            <a:avLst/>
            <a:gdLst/>
            <a:ahLst/>
            <a:cxnLst/>
            <a:rect l="l" t="t" r="r" b="b"/>
            <a:pathLst>
              <a:path w="213000" h="213000" stroke="0">
                <a:moveTo>
                  <a:pt x="213000" y="106500"/>
                </a:moveTo>
                <a:cubicBezTo>
                  <a:pt x="213000" y="165318"/>
                  <a:pt x="165318" y="213000"/>
                  <a:pt x="106500" y="213000"/>
                </a:cubicBezTo>
                <a:cubicBezTo>
                  <a:pt x="47682" y="213000"/>
                  <a:pt x="0" y="165318"/>
                  <a:pt x="0" y="106500"/>
                </a:cubicBezTo>
                <a:cubicBezTo>
                  <a:pt x="0" y="47682"/>
                  <a:pt x="47682" y="0"/>
                  <a:pt x="106500" y="0"/>
                </a:cubicBezTo>
                <a:cubicBezTo>
                  <a:pt x="165318" y="0"/>
                  <a:pt x="213000" y="47682"/>
                  <a:pt x="213000" y="106500"/>
                </a:cubicBezTo>
                <a:close/>
              </a:path>
              <a:path w="213000" h="213000" fill="none">
                <a:moveTo>
                  <a:pt x="213000" y="106500"/>
                </a:moveTo>
                <a:cubicBezTo>
                  <a:pt x="213000" y="165318"/>
                  <a:pt x="165318" y="213000"/>
                  <a:pt x="106500" y="213000"/>
                </a:cubicBezTo>
                <a:cubicBezTo>
                  <a:pt x="47682" y="213000"/>
                  <a:pt x="0" y="165318"/>
                  <a:pt x="0" y="106500"/>
                </a:cubicBezTo>
                <a:cubicBezTo>
                  <a:pt x="0" y="47682"/>
                  <a:pt x="47682" y="0"/>
                  <a:pt x="106500" y="0"/>
                </a:cubicBezTo>
                <a:cubicBezTo>
                  <a:pt x="165318" y="0"/>
                  <a:pt x="213000" y="47682"/>
                  <a:pt x="213000" y="106500"/>
                </a:cubicBezTo>
                <a:close/>
              </a:path>
            </a:pathLst>
          </a:custGeom>
          <a:solidFill>
            <a:srgbClr val="6C5CE7"/>
          </a:solidFill>
          <a:ln w="7100" cap="flat">
            <a:noFill/>
            <a:miter/>
          </a:ln>
        </p:spPr>
      </p:sp>
      <p:sp>
        <p:nvSpPr>
          <p:cNvPr id="631" name="任意多边形 630"/>
          <p:cNvSpPr/>
          <p:nvPr/>
        </p:nvSpPr>
        <p:spPr>
          <a:xfrm>
            <a:off x="27580" y="644880"/>
            <a:ext cx="120700" cy="170400"/>
          </a:xfrm>
          <a:custGeom>
            <a:avLst/>
            <a:gdLst>
              <a:gd name="connsiteX0" fmla="*/ 0 w 120700"/>
              <a:gd name="connsiteY0" fmla="*/ 85200 h 170400"/>
              <a:gd name="connsiteX1" fmla="*/ 60350 w 120700"/>
              <a:gd name="connsiteY1" fmla="*/ 0 h 170400"/>
              <a:gd name="connsiteX2" fmla="*/ 120700 w 120700"/>
              <a:gd name="connsiteY2" fmla="*/ 85200 h 170400"/>
              <a:gd name="connsiteX3" fmla="*/ 60350 w 120700"/>
              <a:gd name="connsiteY3" fmla="*/ 170400 h 170400"/>
              <a:gd name="rtl" fmla="*/ 5534450 w 120700"/>
              <a:gd name="rtt" fmla="*/ 3060100 h 170400"/>
              <a:gd name="rtr" fmla="*/ 5669350 w 120700"/>
              <a:gd name="rtb" fmla="*/ 3230500 h 1704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FFFF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zh-CN" altLang="en-US" sz="74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2" name="任意多边形 631"/>
          <p:cNvSpPr/>
          <p:nvPr/>
        </p:nvSpPr>
        <p:spPr>
          <a:xfrm>
            <a:off x="27580" y="644880"/>
            <a:ext cx="710000" cy="177500"/>
          </a:xfrm>
          <a:custGeom>
            <a:avLst/>
            <a:gdLst>
              <a:gd name="connsiteX0" fmla="*/ 0 w 710000"/>
              <a:gd name="connsiteY0" fmla="*/ 88750 h 177500"/>
              <a:gd name="connsiteX1" fmla="*/ 355000 w 710000"/>
              <a:gd name="connsiteY1" fmla="*/ 0 h 177500"/>
              <a:gd name="connsiteX2" fmla="*/ 710000 w 710000"/>
              <a:gd name="connsiteY2" fmla="*/ 88750 h 177500"/>
              <a:gd name="connsiteX3" fmla="*/ 355000 w 710000"/>
              <a:gd name="connsiteY3" fmla="*/ 177500 h 177500"/>
              <a:gd name="rtl" fmla="*/ 5696101 w 710000"/>
              <a:gd name="rtt" fmla="*/ 3053000 h 177500"/>
              <a:gd name="rtr" fmla="*/ 6406101 w 710000"/>
              <a:gd name="rtb" fmla="*/ 3230500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2D3436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00" b="1" dirty="0">
                <a:solidFill>
                  <a:srgbClr val="2D3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计算评分引擎</a:t>
            </a:r>
            <a:endParaRPr lang="zh-CN" altLang="en-US" sz="800" b="1" dirty="0">
              <a:solidFill>
                <a:srgbClr val="2D3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3" name="任意多边形 632"/>
          <p:cNvSpPr/>
          <p:nvPr/>
        </p:nvSpPr>
        <p:spPr>
          <a:xfrm>
            <a:off x="5249630" y="4049330"/>
            <a:ext cx="1136000" cy="326600"/>
          </a:xfrm>
          <a:custGeom>
            <a:avLst/>
            <a:gdLst/>
            <a:ahLst/>
            <a:cxnLst/>
            <a:rect l="l" t="t" r="r" b="b"/>
            <a:pathLst>
              <a:path w="1136000" h="326600" stroke="0">
                <a:moveTo>
                  <a:pt x="0" y="163300"/>
                </a:moveTo>
                <a:cubicBezTo>
                  <a:pt x="0" y="73112"/>
                  <a:pt x="73112" y="0"/>
                  <a:pt x="163300" y="0"/>
                </a:cubicBezTo>
                <a:lnTo>
                  <a:pt x="972700" y="0"/>
                </a:lnTo>
                <a:cubicBezTo>
                  <a:pt x="1062888" y="0"/>
                  <a:pt x="1136000" y="73112"/>
                  <a:pt x="1136000" y="163300"/>
                </a:cubicBezTo>
                <a:cubicBezTo>
                  <a:pt x="1136000" y="253488"/>
                  <a:pt x="1062888" y="326600"/>
                  <a:pt x="972700" y="326600"/>
                </a:cubicBezTo>
                <a:lnTo>
                  <a:pt x="163300" y="326600"/>
                </a:lnTo>
                <a:cubicBezTo>
                  <a:pt x="73112" y="326600"/>
                  <a:pt x="0" y="253488"/>
                  <a:pt x="0" y="163300"/>
                </a:cubicBezTo>
                <a:close/>
              </a:path>
              <a:path w="1136000" h="326600" fill="none">
                <a:moveTo>
                  <a:pt x="0" y="163300"/>
                </a:moveTo>
                <a:cubicBezTo>
                  <a:pt x="0" y="73112"/>
                  <a:pt x="73112" y="0"/>
                  <a:pt x="163300" y="0"/>
                </a:cubicBezTo>
                <a:lnTo>
                  <a:pt x="972700" y="0"/>
                </a:lnTo>
                <a:cubicBezTo>
                  <a:pt x="1062888" y="0"/>
                  <a:pt x="1136000" y="73112"/>
                  <a:pt x="1136000" y="163300"/>
                </a:cubicBezTo>
                <a:cubicBezTo>
                  <a:pt x="1136000" y="253488"/>
                  <a:pt x="1062888" y="326600"/>
                  <a:pt x="972700" y="326600"/>
                </a:cubicBezTo>
                <a:lnTo>
                  <a:pt x="163300" y="326600"/>
                </a:lnTo>
                <a:cubicBezTo>
                  <a:pt x="73112" y="326600"/>
                  <a:pt x="0" y="253488"/>
                  <a:pt x="0" y="163300"/>
                </a:cubicBezTo>
                <a:close/>
              </a:path>
            </a:pathLst>
          </a:custGeom>
          <a:solidFill>
            <a:srgbClr val="FFFFFF"/>
          </a:solidFill>
          <a:ln w="14200" cap="flat">
            <a:solidFill>
              <a:srgbClr val="A29BFE"/>
            </a:solidFill>
            <a:miter/>
          </a:ln>
        </p:spPr>
      </p:sp>
      <p:sp>
        <p:nvSpPr>
          <p:cNvPr id="634" name="任意多边形 633"/>
          <p:cNvSpPr/>
          <p:nvPr/>
        </p:nvSpPr>
        <p:spPr>
          <a:xfrm>
            <a:off x="5356130" y="4106130"/>
            <a:ext cx="213000" cy="213000"/>
          </a:xfrm>
          <a:custGeom>
            <a:avLst/>
            <a:gdLst/>
            <a:ahLst/>
            <a:cxnLst/>
            <a:rect l="l" t="t" r="r" b="b"/>
            <a:pathLst>
              <a:path w="213000" h="213000" stroke="0">
                <a:moveTo>
                  <a:pt x="213000" y="106500"/>
                </a:moveTo>
                <a:cubicBezTo>
                  <a:pt x="213000" y="165318"/>
                  <a:pt x="165318" y="213000"/>
                  <a:pt x="106500" y="213000"/>
                </a:cubicBezTo>
                <a:cubicBezTo>
                  <a:pt x="47682" y="213000"/>
                  <a:pt x="0" y="165318"/>
                  <a:pt x="0" y="106500"/>
                </a:cubicBezTo>
                <a:cubicBezTo>
                  <a:pt x="0" y="47682"/>
                  <a:pt x="47682" y="0"/>
                  <a:pt x="106500" y="0"/>
                </a:cubicBezTo>
                <a:cubicBezTo>
                  <a:pt x="165318" y="0"/>
                  <a:pt x="213000" y="47682"/>
                  <a:pt x="213000" y="106500"/>
                </a:cubicBezTo>
                <a:close/>
              </a:path>
              <a:path w="213000" h="213000" fill="none">
                <a:moveTo>
                  <a:pt x="213000" y="106500"/>
                </a:moveTo>
                <a:cubicBezTo>
                  <a:pt x="213000" y="165318"/>
                  <a:pt x="165318" y="213000"/>
                  <a:pt x="106500" y="213000"/>
                </a:cubicBezTo>
                <a:cubicBezTo>
                  <a:pt x="47682" y="213000"/>
                  <a:pt x="0" y="165318"/>
                  <a:pt x="0" y="106500"/>
                </a:cubicBezTo>
                <a:cubicBezTo>
                  <a:pt x="0" y="47682"/>
                  <a:pt x="47682" y="0"/>
                  <a:pt x="106500" y="0"/>
                </a:cubicBezTo>
                <a:cubicBezTo>
                  <a:pt x="165318" y="0"/>
                  <a:pt x="213000" y="47682"/>
                  <a:pt x="213000" y="106500"/>
                </a:cubicBezTo>
                <a:close/>
              </a:path>
            </a:pathLst>
          </a:custGeom>
          <a:solidFill>
            <a:srgbClr val="6C5CE7"/>
          </a:solidFill>
          <a:ln w="7100" cap="flat">
            <a:noFill/>
            <a:miter/>
          </a:ln>
        </p:spPr>
      </p:sp>
      <p:sp>
        <p:nvSpPr>
          <p:cNvPr id="635" name="任意多边形 634"/>
          <p:cNvSpPr/>
          <p:nvPr/>
        </p:nvSpPr>
        <p:spPr>
          <a:xfrm>
            <a:off x="27580" y="644880"/>
            <a:ext cx="120700" cy="170400"/>
          </a:xfrm>
          <a:custGeom>
            <a:avLst/>
            <a:gdLst>
              <a:gd name="connsiteX0" fmla="*/ 0 w 120700"/>
              <a:gd name="connsiteY0" fmla="*/ 85200 h 170400"/>
              <a:gd name="connsiteX1" fmla="*/ 60350 w 120700"/>
              <a:gd name="connsiteY1" fmla="*/ 0 h 170400"/>
              <a:gd name="connsiteX2" fmla="*/ 120700 w 120700"/>
              <a:gd name="connsiteY2" fmla="*/ 85200 h 170400"/>
              <a:gd name="connsiteX3" fmla="*/ 60350 w 120700"/>
              <a:gd name="connsiteY3" fmla="*/ 170400 h 170400"/>
              <a:gd name="rtl" fmla="*/ 5367600 w 120700"/>
              <a:gd name="rtt" fmla="*/ 3479000 h 170400"/>
              <a:gd name="rtr" fmla="*/ 5502500 w 120700"/>
              <a:gd name="rtb" fmla="*/ 3649400 h 1704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FFFF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zh-CN" altLang="en-US" sz="74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6" name="任意多边形 635"/>
          <p:cNvSpPr/>
          <p:nvPr/>
        </p:nvSpPr>
        <p:spPr>
          <a:xfrm>
            <a:off x="27580" y="644880"/>
            <a:ext cx="710000" cy="177500"/>
          </a:xfrm>
          <a:custGeom>
            <a:avLst/>
            <a:gdLst>
              <a:gd name="connsiteX0" fmla="*/ 0 w 710000"/>
              <a:gd name="connsiteY0" fmla="*/ 88750 h 177500"/>
              <a:gd name="connsiteX1" fmla="*/ 355000 w 710000"/>
              <a:gd name="connsiteY1" fmla="*/ 0 h 177500"/>
              <a:gd name="connsiteX2" fmla="*/ 710000 w 710000"/>
              <a:gd name="connsiteY2" fmla="*/ 88750 h 177500"/>
              <a:gd name="connsiteX3" fmla="*/ 355000 w 710000"/>
              <a:gd name="connsiteY3" fmla="*/ 177500 h 177500"/>
              <a:gd name="rtl" fmla="*/ 5541550 w 710000"/>
              <a:gd name="rtt" fmla="*/ 3479000 h 177500"/>
              <a:gd name="rtr" fmla="*/ 6251550 w 710000"/>
              <a:gd name="rtb" fmla="*/ 3656500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2D3436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00" b="1" dirty="0">
                <a:solidFill>
                  <a:srgbClr val="2D3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记忆学习闭环</a:t>
            </a:r>
            <a:endParaRPr lang="zh-CN" altLang="en-US" sz="800" b="1" dirty="0">
              <a:solidFill>
                <a:srgbClr val="2D3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8" name="任意多边形 637"/>
          <p:cNvSpPr/>
          <p:nvPr/>
        </p:nvSpPr>
        <p:spPr>
          <a:xfrm>
            <a:off x="3758630" y="1741830"/>
            <a:ext cx="1420000" cy="1618800"/>
          </a:xfrm>
          <a:custGeom>
            <a:avLst/>
            <a:gdLst/>
            <a:ahLst/>
            <a:cxnLst/>
            <a:rect l="l" t="t" r="r" b="b"/>
            <a:pathLst>
              <a:path w="1420000" h="1618800" fill="none">
                <a:moveTo>
                  <a:pt x="0" y="0"/>
                </a:moveTo>
                <a:cubicBezTo>
                  <a:pt x="639000" y="0"/>
                  <a:pt x="923000" y="1618800"/>
                  <a:pt x="1420000" y="1618800"/>
                </a:cubicBezTo>
              </a:path>
            </a:pathLst>
          </a:custGeom>
          <a:noFill/>
          <a:ln w="21300" cap="flat">
            <a:gradFill>
              <a:gsLst>
                <a:gs pos="0">
                  <a:srgbClr val="FF6B6B"/>
                </a:gs>
                <a:gs pos="50000">
                  <a:srgbClr val="6C5CE7"/>
                </a:gs>
                <a:gs pos="100000">
                  <a:srgbClr val="0984E3"/>
                </a:gs>
              </a:gsLst>
              <a:lin ang="0" scaled="0"/>
            </a:gradFill>
            <a:custDash>
              <a:ds d="600000" sp="400000"/>
            </a:custDash>
            <a:miter/>
          </a:ln>
        </p:spPr>
      </p:sp>
      <p:sp>
        <p:nvSpPr>
          <p:cNvPr id="639" name="任意多边形 638"/>
          <p:cNvSpPr/>
          <p:nvPr/>
        </p:nvSpPr>
        <p:spPr>
          <a:xfrm>
            <a:off x="5157637" y="3325130"/>
            <a:ext cx="71000" cy="71000"/>
          </a:xfrm>
          <a:custGeom>
            <a:avLst/>
            <a:gdLst/>
            <a:ahLst/>
            <a:cxnLst/>
            <a:rect l="l" t="t" r="r" b="b"/>
            <a:pathLst>
              <a:path w="71000" h="71000" stroke="0">
                <a:moveTo>
                  <a:pt x="0" y="0"/>
                </a:moveTo>
                <a:lnTo>
                  <a:pt x="71000" y="35500"/>
                </a:lnTo>
                <a:lnTo>
                  <a:pt x="0" y="71000"/>
                </a:lnTo>
                <a:lnTo>
                  <a:pt x="0" y="0"/>
                </a:lnTo>
                <a:close/>
              </a:path>
              <a:path w="71000" h="71000" fill="none">
                <a:moveTo>
                  <a:pt x="0" y="0"/>
                </a:moveTo>
                <a:lnTo>
                  <a:pt x="71000" y="35500"/>
                </a:lnTo>
                <a:lnTo>
                  <a:pt x="0" y="71000"/>
                </a:lnTo>
                <a:lnTo>
                  <a:pt x="0" y="0"/>
                </a:lnTo>
                <a:close/>
              </a:path>
            </a:pathLst>
          </a:custGeom>
          <a:solidFill>
            <a:srgbClr val="6C5CE7"/>
          </a:solidFill>
          <a:ln w="7100" cap="flat">
            <a:noFill/>
            <a:miter/>
          </a:ln>
        </p:spPr>
      </p:sp>
      <p:sp>
        <p:nvSpPr>
          <p:cNvPr id="641" name="任意多边形 640"/>
          <p:cNvSpPr/>
          <p:nvPr/>
        </p:nvSpPr>
        <p:spPr>
          <a:xfrm>
            <a:off x="3758630" y="2735830"/>
            <a:ext cx="1562000" cy="1050800"/>
          </a:xfrm>
          <a:custGeom>
            <a:avLst/>
            <a:gdLst/>
            <a:ahLst/>
            <a:cxnLst/>
            <a:rect l="l" t="t" r="r" b="b"/>
            <a:pathLst>
              <a:path w="1562000" h="1050800" fill="none">
                <a:moveTo>
                  <a:pt x="0" y="0"/>
                </a:moveTo>
                <a:cubicBezTo>
                  <a:pt x="639000" y="0"/>
                  <a:pt x="1065000" y="1050800"/>
                  <a:pt x="1562000" y="1050800"/>
                </a:cubicBezTo>
              </a:path>
            </a:pathLst>
          </a:custGeom>
          <a:noFill/>
          <a:ln w="21300" cap="flat">
            <a:gradFill>
              <a:gsLst>
                <a:gs pos="0">
                  <a:srgbClr val="FF6B6B"/>
                </a:gs>
                <a:gs pos="50000">
                  <a:srgbClr val="6C5CE7"/>
                </a:gs>
                <a:gs pos="100000">
                  <a:srgbClr val="0984E3"/>
                </a:gs>
              </a:gsLst>
              <a:lin ang="0" scaled="0"/>
            </a:gradFill>
            <a:custDash>
              <a:ds d="600000" sp="400000"/>
            </a:custDash>
            <a:miter/>
          </a:ln>
        </p:spPr>
      </p:sp>
      <p:sp>
        <p:nvSpPr>
          <p:cNvPr id="642" name="任意多边形 641"/>
          <p:cNvSpPr/>
          <p:nvPr/>
        </p:nvSpPr>
        <p:spPr>
          <a:xfrm>
            <a:off x="5249630" y="3745777"/>
            <a:ext cx="81706" cy="81706"/>
          </a:xfrm>
          <a:custGeom>
            <a:avLst/>
            <a:gdLst/>
            <a:ahLst/>
            <a:cxnLst/>
            <a:rect l="l" t="t" r="r" b="b"/>
            <a:pathLst>
              <a:path w="81706" h="81706" stroke="0">
                <a:moveTo>
                  <a:pt x="0" y="0"/>
                </a:moveTo>
                <a:lnTo>
                  <a:pt x="81706" y="40853"/>
                </a:lnTo>
                <a:lnTo>
                  <a:pt x="0" y="81706"/>
                </a:lnTo>
                <a:lnTo>
                  <a:pt x="0" y="0"/>
                </a:lnTo>
                <a:close/>
              </a:path>
              <a:path w="81706" h="81706" fill="none">
                <a:moveTo>
                  <a:pt x="0" y="0"/>
                </a:moveTo>
                <a:lnTo>
                  <a:pt x="81706" y="40853"/>
                </a:lnTo>
                <a:lnTo>
                  <a:pt x="0" y="81706"/>
                </a:lnTo>
                <a:lnTo>
                  <a:pt x="0" y="0"/>
                </a:lnTo>
                <a:close/>
              </a:path>
            </a:pathLst>
          </a:custGeom>
          <a:solidFill>
            <a:srgbClr val="6C5CE7"/>
          </a:solidFill>
          <a:ln w="7100" cap="flat">
            <a:noFill/>
            <a:miter/>
          </a:ln>
        </p:spPr>
      </p:sp>
      <p:sp>
        <p:nvSpPr>
          <p:cNvPr id="644" name="任意多边形 643"/>
          <p:cNvSpPr/>
          <p:nvPr/>
        </p:nvSpPr>
        <p:spPr>
          <a:xfrm>
            <a:off x="3758630" y="3729830"/>
            <a:ext cx="1420000" cy="482800"/>
          </a:xfrm>
          <a:custGeom>
            <a:avLst/>
            <a:gdLst/>
            <a:ahLst/>
            <a:cxnLst/>
            <a:rect l="l" t="t" r="r" b="b"/>
            <a:pathLst>
              <a:path w="1420000" h="482800" fill="none">
                <a:moveTo>
                  <a:pt x="0" y="0"/>
                </a:moveTo>
                <a:cubicBezTo>
                  <a:pt x="639000" y="0"/>
                  <a:pt x="923000" y="482800"/>
                  <a:pt x="1420000" y="482800"/>
                </a:cubicBezTo>
              </a:path>
            </a:pathLst>
          </a:custGeom>
          <a:noFill/>
          <a:ln w="21300" cap="flat">
            <a:gradFill>
              <a:gsLst>
                <a:gs pos="0">
                  <a:srgbClr val="FF6B6B"/>
                </a:gs>
                <a:gs pos="50000">
                  <a:srgbClr val="6C5CE7"/>
                </a:gs>
                <a:gs pos="100000">
                  <a:srgbClr val="0984E3"/>
                </a:gs>
              </a:gsLst>
              <a:lin ang="0" scaled="0"/>
            </a:gradFill>
            <a:custDash>
              <a:ds d="600000" sp="400000"/>
            </a:custDash>
            <a:miter/>
          </a:ln>
        </p:spPr>
      </p:sp>
      <p:sp>
        <p:nvSpPr>
          <p:cNvPr id="645" name="任意多边形 644"/>
          <p:cNvSpPr/>
          <p:nvPr/>
        </p:nvSpPr>
        <p:spPr>
          <a:xfrm>
            <a:off x="5077036" y="4156361"/>
            <a:ext cx="89267" cy="89267"/>
          </a:xfrm>
          <a:custGeom>
            <a:avLst/>
            <a:gdLst/>
            <a:ahLst/>
            <a:cxnLst/>
            <a:rect l="l" t="t" r="r" b="b"/>
            <a:pathLst>
              <a:path w="89267" h="89267" stroke="0">
                <a:moveTo>
                  <a:pt x="0" y="0"/>
                </a:moveTo>
                <a:lnTo>
                  <a:pt x="89267" y="44634"/>
                </a:lnTo>
                <a:lnTo>
                  <a:pt x="0" y="89267"/>
                </a:lnTo>
                <a:lnTo>
                  <a:pt x="0" y="0"/>
                </a:lnTo>
                <a:close/>
              </a:path>
              <a:path w="89267" h="89267" fill="none">
                <a:moveTo>
                  <a:pt x="0" y="0"/>
                </a:moveTo>
                <a:lnTo>
                  <a:pt x="89267" y="44634"/>
                </a:lnTo>
                <a:lnTo>
                  <a:pt x="0" y="89267"/>
                </a:lnTo>
                <a:lnTo>
                  <a:pt x="0" y="0"/>
                </a:lnTo>
                <a:close/>
              </a:path>
            </a:pathLst>
          </a:custGeom>
          <a:solidFill>
            <a:srgbClr val="6C5CE7"/>
          </a:solidFill>
          <a:ln w="7100" cap="flat">
            <a:noFill/>
            <a:miter/>
          </a:ln>
        </p:spPr>
      </p:sp>
      <p:sp>
        <p:nvSpPr>
          <p:cNvPr id="647" name="任意多边形 646"/>
          <p:cNvSpPr/>
          <p:nvPr/>
        </p:nvSpPr>
        <p:spPr>
          <a:xfrm>
            <a:off x="7095630" y="925330"/>
            <a:ext cx="4544000" cy="5122874"/>
          </a:xfrm>
          <a:custGeom>
            <a:avLst/>
            <a:gdLst/>
            <a:ahLst/>
            <a:cxnLst/>
            <a:rect l="l" t="t" r="r" b="b"/>
            <a:pathLst>
              <a:path w="4544000" h="5122874" stroke="0">
                <a:moveTo>
                  <a:pt x="0" y="161775"/>
                </a:moveTo>
                <a:cubicBezTo>
                  <a:pt x="0" y="72429"/>
                  <a:pt x="76291" y="0"/>
                  <a:pt x="170400" y="0"/>
                </a:cubicBezTo>
                <a:lnTo>
                  <a:pt x="4373600" y="0"/>
                </a:lnTo>
                <a:cubicBezTo>
                  <a:pt x="4467709" y="0"/>
                  <a:pt x="4544000" y="72429"/>
                  <a:pt x="4544000" y="161775"/>
                </a:cubicBezTo>
                <a:lnTo>
                  <a:pt x="4544000" y="4961099"/>
                </a:lnTo>
                <a:cubicBezTo>
                  <a:pt x="4544000" y="5050445"/>
                  <a:pt x="4467709" y="5122874"/>
                  <a:pt x="4373600" y="5122874"/>
                </a:cubicBezTo>
                <a:lnTo>
                  <a:pt x="170400" y="5122874"/>
                </a:lnTo>
                <a:cubicBezTo>
                  <a:pt x="76291" y="5122874"/>
                  <a:pt x="0" y="5050445"/>
                  <a:pt x="0" y="4961099"/>
                </a:cubicBezTo>
                <a:lnTo>
                  <a:pt x="0" y="161775"/>
                </a:lnTo>
                <a:close/>
              </a:path>
              <a:path w="4544000" h="5122874" fill="none">
                <a:moveTo>
                  <a:pt x="0" y="161775"/>
                </a:moveTo>
                <a:cubicBezTo>
                  <a:pt x="0" y="72429"/>
                  <a:pt x="76291" y="0"/>
                  <a:pt x="170400" y="0"/>
                </a:cubicBezTo>
                <a:lnTo>
                  <a:pt x="4373600" y="0"/>
                </a:lnTo>
                <a:cubicBezTo>
                  <a:pt x="4467709" y="0"/>
                  <a:pt x="4544000" y="72429"/>
                  <a:pt x="4544000" y="161775"/>
                </a:cubicBezTo>
                <a:lnTo>
                  <a:pt x="4544000" y="4961099"/>
                </a:lnTo>
                <a:cubicBezTo>
                  <a:pt x="4544000" y="5050445"/>
                  <a:pt x="4467709" y="5122874"/>
                  <a:pt x="4373600" y="5122874"/>
                </a:cubicBezTo>
                <a:lnTo>
                  <a:pt x="170400" y="5122874"/>
                </a:lnTo>
                <a:cubicBezTo>
                  <a:pt x="76291" y="5122874"/>
                  <a:pt x="0" y="5050445"/>
                  <a:pt x="0" y="4961099"/>
                </a:cubicBezTo>
                <a:lnTo>
                  <a:pt x="0" y="161775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 w="14200" cap="flat">
            <a:solidFill>
              <a:srgbClr val="74B9FF"/>
            </a:solidFill>
            <a:miter/>
          </a:ln>
        </p:spPr>
      </p:sp>
      <p:sp>
        <p:nvSpPr>
          <p:cNvPr id="648" name="任意多边形 647"/>
          <p:cNvSpPr/>
          <p:nvPr/>
        </p:nvSpPr>
        <p:spPr>
          <a:xfrm>
            <a:off x="27580" y="644880"/>
            <a:ext cx="1008200" cy="234300"/>
          </a:xfrm>
          <a:custGeom>
            <a:avLst/>
            <a:gdLst>
              <a:gd name="connsiteX0" fmla="*/ 0 w 1008200"/>
              <a:gd name="connsiteY0" fmla="*/ 117150 h 234300"/>
              <a:gd name="connsiteX1" fmla="*/ 504100 w 1008200"/>
              <a:gd name="connsiteY1" fmla="*/ 0 h 234300"/>
              <a:gd name="connsiteX2" fmla="*/ 1008200 w 1008200"/>
              <a:gd name="connsiteY2" fmla="*/ 117150 h 234300"/>
              <a:gd name="connsiteX3" fmla="*/ 504100 w 1008200"/>
              <a:gd name="connsiteY3" fmla="*/ 234300 h 234300"/>
              <a:gd name="rtl" fmla="*/ 8910500 w 1008200"/>
              <a:gd name="rtt" fmla="*/ 387761 h 234300"/>
              <a:gd name="rtr" fmla="*/ 9918700 w 1008200"/>
              <a:gd name="rtb" fmla="*/ 622061 h 2343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984E3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1170" b="1" dirty="0">
                <a:solidFill>
                  <a:srgbClr val="0984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系统架构拆解</a:t>
            </a:r>
            <a:endParaRPr lang="zh-CN" altLang="en-US" sz="1170" b="1" dirty="0">
              <a:solidFill>
                <a:srgbClr val="0984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9" name="任意多边形 648"/>
          <p:cNvSpPr/>
          <p:nvPr/>
        </p:nvSpPr>
        <p:spPr>
          <a:xfrm>
            <a:off x="27580" y="644880"/>
            <a:ext cx="1760800" cy="170400"/>
          </a:xfrm>
          <a:custGeom>
            <a:avLst/>
            <a:gdLst>
              <a:gd name="connsiteX0" fmla="*/ 0 w 1760800"/>
              <a:gd name="connsiteY0" fmla="*/ 85200 h 170400"/>
              <a:gd name="connsiteX1" fmla="*/ 880400 w 1760800"/>
              <a:gd name="connsiteY1" fmla="*/ 0 h 170400"/>
              <a:gd name="connsiteX2" fmla="*/ 1760800 w 1760800"/>
              <a:gd name="connsiteY2" fmla="*/ 85200 h 170400"/>
              <a:gd name="connsiteX3" fmla="*/ 880400 w 1760800"/>
              <a:gd name="connsiteY3" fmla="*/ 170400 h 170400"/>
              <a:gd name="rtl" fmla="*/ 8534200 w 1760800"/>
              <a:gd name="rtt" fmla="*/ 622061 h 170400"/>
              <a:gd name="rtr" fmla="*/ 10295000 w 1760800"/>
              <a:gd name="rtb" fmla="*/ 792461 h 1704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36E72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沿着因果链逐一攻克，实现系统性进化</a:t>
            </a:r>
            <a:endParaRPr lang="zh-CN" altLang="en-US" sz="745" dirty="0">
              <a:solidFill>
                <a:srgbClr val="636E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0" name="任意多边形 649"/>
          <p:cNvSpPr/>
          <p:nvPr/>
        </p:nvSpPr>
        <p:spPr>
          <a:xfrm>
            <a:off x="7734630" y="2061330"/>
            <a:ext cx="7100" cy="3337000"/>
          </a:xfrm>
          <a:custGeom>
            <a:avLst/>
            <a:gdLst/>
            <a:ahLst/>
            <a:cxnLst/>
            <a:rect l="l" t="t" r="r" b="b"/>
            <a:pathLst>
              <a:path w="7100" h="3337000" fill="none">
                <a:moveTo>
                  <a:pt x="0" y="3337000"/>
                </a:moveTo>
                <a:lnTo>
                  <a:pt x="0" y="0"/>
                </a:lnTo>
              </a:path>
            </a:pathLst>
          </a:custGeom>
          <a:noFill/>
          <a:ln w="28400" cap="flat">
            <a:solidFill>
              <a:srgbClr val="74B9FF"/>
            </a:solidFill>
            <a:miter/>
          </a:ln>
        </p:spPr>
      </p:sp>
      <p:sp>
        <p:nvSpPr>
          <p:cNvPr id="651" name="任意多边形 650"/>
          <p:cNvSpPr/>
          <p:nvPr/>
        </p:nvSpPr>
        <p:spPr>
          <a:xfrm rot="-5400000">
            <a:off x="7649863" y="1984097"/>
            <a:ext cx="176633" cy="176633"/>
          </a:xfrm>
          <a:custGeom>
            <a:avLst/>
            <a:gdLst/>
            <a:ahLst/>
            <a:cxnLst/>
            <a:rect l="l" t="t" r="r" b="b"/>
            <a:pathLst>
              <a:path w="176633" h="176633" stroke="0">
                <a:moveTo>
                  <a:pt x="0" y="0"/>
                </a:moveTo>
                <a:lnTo>
                  <a:pt x="176633" y="88317"/>
                </a:lnTo>
                <a:lnTo>
                  <a:pt x="0" y="176633"/>
                </a:lnTo>
                <a:lnTo>
                  <a:pt x="0" y="0"/>
                </a:lnTo>
                <a:close/>
              </a:path>
              <a:path w="176633" h="176633" fill="none">
                <a:moveTo>
                  <a:pt x="0" y="0"/>
                </a:moveTo>
                <a:lnTo>
                  <a:pt x="176633" y="88317"/>
                </a:lnTo>
                <a:lnTo>
                  <a:pt x="0" y="176633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 w="7100" cap="flat">
            <a:noFill/>
            <a:miter/>
          </a:ln>
        </p:spPr>
      </p:sp>
      <p:sp>
        <p:nvSpPr>
          <p:cNvPr id="653" name="任意多边形 652"/>
          <p:cNvSpPr/>
          <p:nvPr/>
        </p:nvSpPr>
        <p:spPr>
          <a:xfrm>
            <a:off x="27580" y="644880"/>
            <a:ext cx="866200" cy="170400"/>
          </a:xfrm>
          <a:custGeom>
            <a:avLst/>
            <a:gdLst>
              <a:gd name="connsiteX0" fmla="*/ 0 w 866200"/>
              <a:gd name="connsiteY0" fmla="*/ 85200 h 170400"/>
              <a:gd name="connsiteX1" fmla="*/ 433100 w 866200"/>
              <a:gd name="connsiteY1" fmla="*/ 0 h 170400"/>
              <a:gd name="connsiteX2" fmla="*/ 866200 w 866200"/>
              <a:gd name="connsiteY2" fmla="*/ 85200 h 170400"/>
              <a:gd name="connsiteX3" fmla="*/ 433100 w 866200"/>
              <a:gd name="connsiteY3" fmla="*/ 170400 h 170400"/>
              <a:gd name="rtl" fmla="*/ 6677061 w 866200"/>
              <a:gd name="rtt" fmla="*/ 2985550 h 170400"/>
              <a:gd name="rtr" fmla="*/ 7543261 w 866200"/>
              <a:gd name="rtb" fmla="*/ 3155950 h 1704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984E3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0984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知识流与计算驱动</a:t>
            </a:r>
            <a:endParaRPr lang="zh-CN" altLang="en-US" sz="745" b="1" dirty="0">
              <a:solidFill>
                <a:srgbClr val="0984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4" name="任意多边形 653"/>
          <p:cNvSpPr/>
          <p:nvPr/>
        </p:nvSpPr>
        <p:spPr>
          <a:xfrm>
            <a:off x="7947630" y="1564330"/>
            <a:ext cx="3408000" cy="852000"/>
          </a:xfrm>
          <a:custGeom>
            <a:avLst/>
            <a:gdLst/>
            <a:ahLst/>
            <a:cxnLst/>
            <a:rect l="l" t="t" r="r" b="b"/>
            <a:pathLst>
              <a:path w="3408000" h="852000" stroke="0">
                <a:moveTo>
                  <a:pt x="0" y="113600"/>
                </a:moveTo>
                <a:cubicBezTo>
                  <a:pt x="0" y="50860"/>
                  <a:pt x="50860" y="0"/>
                  <a:pt x="113600" y="0"/>
                </a:cubicBezTo>
                <a:lnTo>
                  <a:pt x="3294400" y="0"/>
                </a:lnTo>
                <a:cubicBezTo>
                  <a:pt x="3357140" y="0"/>
                  <a:pt x="3408000" y="50860"/>
                  <a:pt x="3408000" y="113600"/>
                </a:cubicBezTo>
                <a:lnTo>
                  <a:pt x="3408000" y="738400"/>
                </a:lnTo>
                <a:cubicBezTo>
                  <a:pt x="3408000" y="801140"/>
                  <a:pt x="3357140" y="852000"/>
                  <a:pt x="3294400" y="852000"/>
                </a:cubicBezTo>
                <a:lnTo>
                  <a:pt x="113600" y="852000"/>
                </a:lnTo>
                <a:cubicBezTo>
                  <a:pt x="50860" y="852000"/>
                  <a:pt x="0" y="801140"/>
                  <a:pt x="0" y="738400"/>
                </a:cubicBezTo>
                <a:lnTo>
                  <a:pt x="0" y="113600"/>
                </a:lnTo>
                <a:close/>
              </a:path>
              <a:path w="3408000" h="852000" fill="none">
                <a:moveTo>
                  <a:pt x="0" y="113600"/>
                </a:moveTo>
                <a:cubicBezTo>
                  <a:pt x="0" y="50860"/>
                  <a:pt x="50860" y="0"/>
                  <a:pt x="113600" y="0"/>
                </a:cubicBezTo>
                <a:lnTo>
                  <a:pt x="3294400" y="0"/>
                </a:lnTo>
                <a:cubicBezTo>
                  <a:pt x="3357140" y="0"/>
                  <a:pt x="3408000" y="50860"/>
                  <a:pt x="3408000" y="113600"/>
                </a:cubicBezTo>
                <a:lnTo>
                  <a:pt x="3408000" y="738400"/>
                </a:lnTo>
                <a:cubicBezTo>
                  <a:pt x="3408000" y="801140"/>
                  <a:pt x="3357140" y="852000"/>
                  <a:pt x="3294400" y="852000"/>
                </a:cubicBezTo>
                <a:lnTo>
                  <a:pt x="113600" y="852000"/>
                </a:lnTo>
                <a:cubicBezTo>
                  <a:pt x="50860" y="852000"/>
                  <a:pt x="0" y="801140"/>
                  <a:pt x="0" y="738400"/>
                </a:cubicBezTo>
                <a:lnTo>
                  <a:pt x="0" y="113600"/>
                </a:lnTo>
                <a:close/>
              </a:path>
            </a:pathLst>
          </a:custGeom>
          <a:solidFill>
            <a:srgbClr val="FFFFFF"/>
          </a:solidFill>
          <a:ln w="14200" cap="flat">
            <a:solidFill>
              <a:srgbClr val="81ECEC"/>
            </a:solidFill>
            <a:miter/>
          </a:ln>
        </p:spPr>
      </p:sp>
      <p:sp>
        <p:nvSpPr>
          <p:cNvPr id="655" name="任意多边形 654"/>
          <p:cNvSpPr/>
          <p:nvPr/>
        </p:nvSpPr>
        <p:spPr>
          <a:xfrm>
            <a:off x="7947630" y="1564330"/>
            <a:ext cx="71000" cy="852000"/>
          </a:xfrm>
          <a:custGeom>
            <a:avLst/>
            <a:gdLst/>
            <a:ahLst/>
            <a:cxnLst/>
            <a:rect l="l" t="t" r="r" b="b"/>
            <a:pathLst>
              <a:path w="71000" h="852000" stroke="0">
                <a:moveTo>
                  <a:pt x="0" y="35500"/>
                </a:move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lnTo>
                  <a:pt x="71000" y="816500"/>
                </a:lnTo>
                <a:cubicBezTo>
                  <a:pt x="71000" y="836106"/>
                  <a:pt x="55106" y="852000"/>
                  <a:pt x="35500" y="852000"/>
                </a:cubicBezTo>
                <a:cubicBezTo>
                  <a:pt x="15894" y="852000"/>
                  <a:pt x="0" y="836106"/>
                  <a:pt x="0" y="816500"/>
                </a:cubicBezTo>
                <a:lnTo>
                  <a:pt x="0" y="35500"/>
                </a:lnTo>
                <a:close/>
              </a:path>
              <a:path w="71000" h="852000" fill="none">
                <a:moveTo>
                  <a:pt x="0" y="35500"/>
                </a:move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lnTo>
                  <a:pt x="71000" y="816500"/>
                </a:lnTo>
                <a:cubicBezTo>
                  <a:pt x="71000" y="836106"/>
                  <a:pt x="55106" y="852000"/>
                  <a:pt x="35500" y="852000"/>
                </a:cubicBezTo>
                <a:cubicBezTo>
                  <a:pt x="15894" y="852000"/>
                  <a:pt x="0" y="836106"/>
                  <a:pt x="0" y="816500"/>
                </a:cubicBezTo>
                <a:lnTo>
                  <a:pt x="0" y="35500"/>
                </a:lnTo>
                <a:close/>
              </a:path>
            </a:pathLst>
          </a:custGeom>
          <a:gradFill>
            <a:gsLst>
              <a:gs pos="0">
                <a:srgbClr val="0984E3"/>
              </a:gs>
              <a:gs pos="100000">
                <a:srgbClr val="00CEC9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656" name="任意多边形 655"/>
          <p:cNvSpPr/>
          <p:nvPr/>
        </p:nvSpPr>
        <p:spPr>
          <a:xfrm>
            <a:off x="27580" y="644880"/>
            <a:ext cx="994000" cy="220100"/>
          </a:xfrm>
          <a:custGeom>
            <a:avLst/>
            <a:gdLst>
              <a:gd name="connsiteX0" fmla="*/ 0 w 994000"/>
              <a:gd name="connsiteY0" fmla="*/ 110050 h 220100"/>
              <a:gd name="connsiteX1" fmla="*/ 497000 w 994000"/>
              <a:gd name="connsiteY1" fmla="*/ 0 h 220100"/>
              <a:gd name="connsiteX2" fmla="*/ 994000 w 994000"/>
              <a:gd name="connsiteY2" fmla="*/ 110050 h 220100"/>
              <a:gd name="connsiteX3" fmla="*/ 497000 w 994000"/>
              <a:gd name="connsiteY3" fmla="*/ 220100 h 220100"/>
              <a:gd name="rtl" fmla="*/ 8530650 w 994000"/>
              <a:gd name="rtt" fmla="*/ 983350 h 220100"/>
              <a:gd name="rtr" fmla="*/ 9524650 w 994000"/>
              <a:gd name="rtb" fmla="*/ 1203450 h 2201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2D3436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1065" b="1" dirty="0">
                <a:solidFill>
                  <a:srgbClr val="2D3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记忆/技能模块</a:t>
            </a:r>
            <a:endParaRPr lang="zh-CN" altLang="en-US" sz="1065" b="1" dirty="0">
              <a:solidFill>
                <a:srgbClr val="2D3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7" name="任意多边形 656"/>
          <p:cNvSpPr/>
          <p:nvPr/>
        </p:nvSpPr>
        <p:spPr>
          <a:xfrm>
            <a:off x="8096730" y="1819930"/>
            <a:ext cx="340800" cy="340800"/>
          </a:xfrm>
          <a:custGeom>
            <a:avLst/>
            <a:gdLst/>
            <a:ahLst/>
            <a:cxnLst/>
            <a:rect l="l" t="t" r="r" b="b"/>
            <a:pathLst>
              <a:path w="340800" h="340800" stroke="0">
                <a:moveTo>
                  <a:pt x="340800" y="170400"/>
                </a:moveTo>
                <a:cubicBezTo>
                  <a:pt x="340800" y="264509"/>
                  <a:pt x="264509" y="340800"/>
                  <a:pt x="170400" y="340800"/>
                </a:cubicBezTo>
                <a:cubicBezTo>
                  <a:pt x="76291" y="340800"/>
                  <a:pt x="0" y="264509"/>
                  <a:pt x="0" y="170400"/>
                </a:cubicBezTo>
                <a:cubicBezTo>
                  <a:pt x="0" y="76291"/>
                  <a:pt x="76291" y="0"/>
                  <a:pt x="170400" y="0"/>
                </a:cubicBezTo>
                <a:cubicBezTo>
                  <a:pt x="264509" y="0"/>
                  <a:pt x="340800" y="76291"/>
                  <a:pt x="340800" y="170400"/>
                </a:cubicBezTo>
                <a:close/>
              </a:path>
              <a:path w="340800" h="340800" fill="none">
                <a:moveTo>
                  <a:pt x="340800" y="170400"/>
                </a:moveTo>
                <a:cubicBezTo>
                  <a:pt x="340800" y="264509"/>
                  <a:pt x="264509" y="340800"/>
                  <a:pt x="170400" y="340800"/>
                </a:cubicBezTo>
                <a:cubicBezTo>
                  <a:pt x="76291" y="340800"/>
                  <a:pt x="0" y="264509"/>
                  <a:pt x="0" y="170400"/>
                </a:cubicBezTo>
                <a:cubicBezTo>
                  <a:pt x="0" y="76291"/>
                  <a:pt x="76291" y="0"/>
                  <a:pt x="170400" y="0"/>
                </a:cubicBezTo>
                <a:cubicBezTo>
                  <a:pt x="264509" y="0"/>
                  <a:pt x="340800" y="76291"/>
                  <a:pt x="340800" y="170400"/>
                </a:cubicBezTo>
                <a:close/>
              </a:path>
            </a:pathLst>
          </a:custGeom>
          <a:solidFill>
            <a:srgbClr val="E0F7FA"/>
          </a:solidFill>
          <a:ln w="7100" cap="flat">
            <a:noFill/>
            <a:miter/>
          </a:ln>
        </p:spPr>
      </p:sp>
      <p:sp>
        <p:nvSpPr>
          <p:cNvPr id="658" name="任意多边形 657"/>
          <p:cNvSpPr/>
          <p:nvPr/>
        </p:nvSpPr>
        <p:spPr>
          <a:xfrm>
            <a:off x="8187255" y="1883830"/>
            <a:ext cx="159750" cy="213000"/>
          </a:xfrm>
          <a:custGeom>
            <a:avLst/>
            <a:gdLst/>
            <a:ahLst/>
            <a:cxnLst/>
            <a:rect l="l" t="t" r="r" b="b"/>
            <a:pathLst>
              <a:path w="159750" h="213000" stroke="0">
                <a:moveTo>
                  <a:pt x="79875" y="0"/>
                </a:moveTo>
                <a:cubicBezTo>
                  <a:pt x="-26625" y="0"/>
                  <a:pt x="-26625" y="142000"/>
                  <a:pt x="79875" y="213000"/>
                </a:cubicBezTo>
                <a:cubicBezTo>
                  <a:pt x="186375" y="142000"/>
                  <a:pt x="186375" y="0"/>
                  <a:pt x="79875" y="0"/>
                </a:cubicBezTo>
                <a:close/>
              </a:path>
              <a:path w="159750" h="213000" fill="none">
                <a:moveTo>
                  <a:pt x="79875" y="0"/>
                </a:moveTo>
                <a:cubicBezTo>
                  <a:pt x="-26625" y="0"/>
                  <a:pt x="-26625" y="142000"/>
                  <a:pt x="79875" y="213000"/>
                </a:cubicBezTo>
                <a:cubicBezTo>
                  <a:pt x="186375" y="142000"/>
                  <a:pt x="186375" y="0"/>
                  <a:pt x="79875" y="0"/>
                </a:cubicBezTo>
                <a:close/>
              </a:path>
            </a:pathLst>
          </a:custGeom>
          <a:noFill/>
          <a:ln w="21300" cap="flat">
            <a:solidFill>
              <a:srgbClr val="00CEC9"/>
            </a:solidFill>
            <a:miter/>
          </a:ln>
        </p:spPr>
      </p:sp>
      <p:sp>
        <p:nvSpPr>
          <p:cNvPr id="659" name="任意多边形 658"/>
          <p:cNvSpPr/>
          <p:nvPr/>
        </p:nvSpPr>
        <p:spPr>
          <a:xfrm>
            <a:off x="8238730" y="1926430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00CEC9"/>
          </a:solidFill>
          <a:ln w="7100" cap="flat">
            <a:noFill/>
            <a:miter/>
          </a:ln>
        </p:spPr>
      </p:sp>
      <p:grpSp>
        <p:nvGrpSpPr>
          <p:cNvPr id="723" name="Group 723"/>
          <p:cNvGrpSpPr/>
          <p:nvPr/>
        </p:nvGrpSpPr>
        <p:grpSpPr>
          <a:xfrm>
            <a:off x="27580" y="644880"/>
            <a:ext cx="1909900" cy="511200"/>
            <a:chOff x="-1526900" y="589000"/>
            <a:chExt cx="1909900" cy="511200"/>
          </a:xfrm>
        </p:grpSpPr>
        <p:sp>
          <p:nvSpPr>
            <p:cNvPr id="660" name="任意多边形 659"/>
            <p:cNvSpPr/>
            <p:nvPr/>
          </p:nvSpPr>
          <p:spPr>
            <a:xfrm>
              <a:off x="-1526900" y="589000"/>
              <a:ext cx="1909900" cy="511200"/>
            </a:xfrm>
            <a:custGeom>
              <a:avLst/>
              <a:gdLst>
                <a:gd name="connsiteX0" fmla="*/ 0 w 1909900"/>
                <a:gd name="connsiteY0" fmla="*/ 255600 h 511200"/>
                <a:gd name="connsiteX1" fmla="*/ 954950 w 1909900"/>
                <a:gd name="connsiteY1" fmla="*/ 0 h 511200"/>
                <a:gd name="connsiteX2" fmla="*/ 1909900 w 1909900"/>
                <a:gd name="connsiteY2" fmla="*/ 255600 h 511200"/>
                <a:gd name="connsiteX3" fmla="*/ 954950 w 1909900"/>
                <a:gd name="connsiteY3" fmla="*/ 511200 h 5112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/>
            </a:custGeom>
            <a:solidFill>
              <a:srgbClr val="636E72"/>
            </a:solidFill>
            <a:ln w="7100" cap="flat">
              <a:noFill/>
              <a:miter/>
            </a:ln>
          </p:spPr>
        </p:sp>
        <p:sp>
          <p:nvSpPr>
            <p:cNvPr id="724" name="Text 724"/>
            <p:cNvSpPr txBox="1"/>
            <p:nvPr/>
          </p:nvSpPr>
          <p:spPr>
            <a:xfrm>
              <a:off x="7003750" y="1827950"/>
              <a:ext cx="1817600" cy="1846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9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建立统一组织、智能检索和主动调用能力</a:t>
              </a:r>
              <a:endParaRPr lang="zh-CN" altLang="en-US" sz="69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25" name="Text 725"/>
            <p:cNvSpPr txBox="1"/>
            <p:nvPr/>
          </p:nvSpPr>
          <p:spPr>
            <a:xfrm>
              <a:off x="7007300" y="1991250"/>
              <a:ext cx="1909900" cy="1846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9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系统自动推荐历史设计经验，告别人脑回忆</a:t>
              </a:r>
              <a:endParaRPr lang="zh-CN" altLang="en-US" sz="69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26" name="Text 726"/>
            <p:cNvSpPr txBox="1"/>
            <p:nvPr/>
          </p:nvSpPr>
          <p:spPr>
            <a:xfrm>
              <a:off x="7007300" y="2154550"/>
              <a:ext cx="1725300" cy="1846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9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持久化存储已知的突变效应和设计禁区</a:t>
              </a:r>
              <a:endParaRPr lang="zh-CN" altLang="en-US" sz="69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661" name="任意多边形 660"/>
          <p:cNvSpPr/>
          <p:nvPr/>
        </p:nvSpPr>
        <p:spPr>
          <a:xfrm>
            <a:off x="10503630" y="1670830"/>
            <a:ext cx="710000" cy="184600"/>
          </a:xfrm>
          <a:custGeom>
            <a:avLst/>
            <a:gdLst/>
            <a:ahLst/>
            <a:cxnLst/>
            <a:rect l="l" t="t" r="r" b="b"/>
            <a:pathLst>
              <a:path w="710000" h="184600" stroke="0">
                <a:moveTo>
                  <a:pt x="0" y="92300"/>
                </a:moveTo>
                <a:cubicBezTo>
                  <a:pt x="0" y="41324"/>
                  <a:pt x="41324" y="0"/>
                  <a:pt x="92300" y="0"/>
                </a:cubicBezTo>
                <a:lnTo>
                  <a:pt x="617700" y="0"/>
                </a:lnTo>
                <a:cubicBezTo>
                  <a:pt x="668676" y="0"/>
                  <a:pt x="710000" y="41324"/>
                  <a:pt x="710000" y="92300"/>
                </a:cubicBezTo>
                <a:cubicBezTo>
                  <a:pt x="710000" y="143276"/>
                  <a:pt x="668676" y="184600"/>
                  <a:pt x="617700" y="184600"/>
                </a:cubicBezTo>
                <a:lnTo>
                  <a:pt x="92300" y="184600"/>
                </a:lnTo>
                <a:cubicBezTo>
                  <a:pt x="41324" y="184600"/>
                  <a:pt x="0" y="143276"/>
                  <a:pt x="0" y="92300"/>
                </a:cubicBezTo>
                <a:close/>
              </a:path>
              <a:path w="710000" h="184600" fill="none">
                <a:moveTo>
                  <a:pt x="0" y="92300"/>
                </a:moveTo>
                <a:cubicBezTo>
                  <a:pt x="0" y="41324"/>
                  <a:pt x="41324" y="0"/>
                  <a:pt x="92300" y="0"/>
                </a:cubicBezTo>
                <a:lnTo>
                  <a:pt x="617700" y="0"/>
                </a:lnTo>
                <a:cubicBezTo>
                  <a:pt x="668676" y="0"/>
                  <a:pt x="710000" y="41324"/>
                  <a:pt x="710000" y="92300"/>
                </a:cubicBezTo>
                <a:cubicBezTo>
                  <a:pt x="710000" y="143276"/>
                  <a:pt x="668676" y="184600"/>
                  <a:pt x="617700" y="184600"/>
                </a:cubicBezTo>
                <a:lnTo>
                  <a:pt x="92300" y="184600"/>
                </a:lnTo>
                <a:cubicBezTo>
                  <a:pt x="41324" y="184600"/>
                  <a:pt x="0" y="143276"/>
                  <a:pt x="0" y="92300"/>
                </a:cubicBezTo>
                <a:close/>
              </a:path>
            </a:pathLst>
          </a:custGeom>
          <a:solidFill>
            <a:srgbClr val="FF7675">
              <a:alpha val="15000"/>
            </a:srgbClr>
          </a:solidFill>
          <a:ln w="7100" cap="flat">
            <a:solidFill>
              <a:srgbClr val="FF7675"/>
            </a:solidFill>
            <a:miter/>
          </a:ln>
        </p:spPr>
      </p:sp>
      <p:sp>
        <p:nvSpPr>
          <p:cNvPr id="662" name="任意多边形 661"/>
          <p:cNvSpPr/>
          <p:nvPr/>
        </p:nvSpPr>
        <p:spPr>
          <a:xfrm>
            <a:off x="27580" y="644880"/>
            <a:ext cx="660300" cy="184600"/>
          </a:xfrm>
          <a:custGeom>
            <a:avLst/>
            <a:gdLst>
              <a:gd name="connsiteX0" fmla="*/ 0 w 660300"/>
              <a:gd name="connsiteY0" fmla="*/ 92300 h 184600"/>
              <a:gd name="connsiteX1" fmla="*/ 330150 w 660300"/>
              <a:gd name="connsiteY1" fmla="*/ 0 h 184600"/>
              <a:gd name="connsiteX2" fmla="*/ 660300 w 660300"/>
              <a:gd name="connsiteY2" fmla="*/ 92300 h 184600"/>
              <a:gd name="connsiteX3" fmla="*/ 330150 w 660300"/>
              <a:gd name="connsiteY3" fmla="*/ 184600 h 184600"/>
              <a:gd name="rtl" fmla="*/ 10505504 w 660300"/>
              <a:gd name="rtt" fmla="*/ 1011750 h 184600"/>
              <a:gd name="rtr" fmla="*/ 11163696 w 660300"/>
              <a:gd name="rtb" fmla="*/ 1196350 h 184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D63031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D630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⚡ 攻克痛点 3</a:t>
            </a:r>
            <a:endParaRPr lang="zh-CN" altLang="en-US" sz="640" b="1" dirty="0">
              <a:solidFill>
                <a:srgbClr val="D630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4" name="任意多边形 663"/>
          <p:cNvSpPr/>
          <p:nvPr/>
        </p:nvSpPr>
        <p:spPr>
          <a:xfrm>
            <a:off x="7947630" y="2629330"/>
            <a:ext cx="3408000" cy="852000"/>
          </a:xfrm>
          <a:custGeom>
            <a:avLst/>
            <a:gdLst/>
            <a:ahLst/>
            <a:cxnLst/>
            <a:rect l="l" t="t" r="r" b="b"/>
            <a:pathLst>
              <a:path w="3408000" h="852000" stroke="0">
                <a:moveTo>
                  <a:pt x="0" y="113600"/>
                </a:moveTo>
                <a:cubicBezTo>
                  <a:pt x="0" y="50860"/>
                  <a:pt x="50860" y="0"/>
                  <a:pt x="113600" y="0"/>
                </a:cubicBezTo>
                <a:lnTo>
                  <a:pt x="3294400" y="0"/>
                </a:lnTo>
                <a:cubicBezTo>
                  <a:pt x="3357140" y="0"/>
                  <a:pt x="3408000" y="50860"/>
                  <a:pt x="3408000" y="113600"/>
                </a:cubicBezTo>
                <a:lnTo>
                  <a:pt x="3408000" y="738400"/>
                </a:lnTo>
                <a:cubicBezTo>
                  <a:pt x="3408000" y="801140"/>
                  <a:pt x="3357140" y="852000"/>
                  <a:pt x="3294400" y="852000"/>
                </a:cubicBezTo>
                <a:lnTo>
                  <a:pt x="113600" y="852000"/>
                </a:lnTo>
                <a:cubicBezTo>
                  <a:pt x="50860" y="852000"/>
                  <a:pt x="0" y="801140"/>
                  <a:pt x="0" y="738400"/>
                </a:cubicBezTo>
                <a:lnTo>
                  <a:pt x="0" y="113600"/>
                </a:lnTo>
                <a:close/>
              </a:path>
              <a:path w="3408000" h="852000" fill="none">
                <a:moveTo>
                  <a:pt x="0" y="113600"/>
                </a:moveTo>
                <a:cubicBezTo>
                  <a:pt x="0" y="50860"/>
                  <a:pt x="50860" y="0"/>
                  <a:pt x="113600" y="0"/>
                </a:cubicBezTo>
                <a:lnTo>
                  <a:pt x="3294400" y="0"/>
                </a:lnTo>
                <a:cubicBezTo>
                  <a:pt x="3357140" y="0"/>
                  <a:pt x="3408000" y="50860"/>
                  <a:pt x="3408000" y="113600"/>
                </a:cubicBezTo>
                <a:lnTo>
                  <a:pt x="3408000" y="738400"/>
                </a:lnTo>
                <a:cubicBezTo>
                  <a:pt x="3408000" y="801140"/>
                  <a:pt x="3357140" y="852000"/>
                  <a:pt x="3294400" y="852000"/>
                </a:cubicBezTo>
                <a:lnTo>
                  <a:pt x="113600" y="852000"/>
                </a:lnTo>
                <a:cubicBezTo>
                  <a:pt x="50860" y="852000"/>
                  <a:pt x="0" y="801140"/>
                  <a:pt x="0" y="738400"/>
                </a:cubicBezTo>
                <a:lnTo>
                  <a:pt x="0" y="113600"/>
                </a:lnTo>
                <a:close/>
              </a:path>
            </a:pathLst>
          </a:custGeom>
          <a:solidFill>
            <a:srgbClr val="FFFFFF"/>
          </a:solidFill>
          <a:ln w="14200" cap="flat">
            <a:solidFill>
              <a:srgbClr val="81ECEC"/>
            </a:solidFill>
            <a:miter/>
          </a:ln>
        </p:spPr>
      </p:sp>
      <p:sp>
        <p:nvSpPr>
          <p:cNvPr id="665" name="任意多边形 664"/>
          <p:cNvSpPr/>
          <p:nvPr/>
        </p:nvSpPr>
        <p:spPr>
          <a:xfrm>
            <a:off x="7947630" y="2629330"/>
            <a:ext cx="71000" cy="852000"/>
          </a:xfrm>
          <a:custGeom>
            <a:avLst/>
            <a:gdLst/>
            <a:ahLst/>
            <a:cxnLst/>
            <a:rect l="l" t="t" r="r" b="b"/>
            <a:pathLst>
              <a:path w="71000" h="852000" stroke="0">
                <a:moveTo>
                  <a:pt x="0" y="35500"/>
                </a:move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lnTo>
                  <a:pt x="71000" y="816500"/>
                </a:lnTo>
                <a:cubicBezTo>
                  <a:pt x="71000" y="836106"/>
                  <a:pt x="55106" y="852000"/>
                  <a:pt x="35500" y="852000"/>
                </a:cubicBezTo>
                <a:cubicBezTo>
                  <a:pt x="15894" y="852000"/>
                  <a:pt x="0" y="836106"/>
                  <a:pt x="0" y="816500"/>
                </a:cubicBezTo>
                <a:lnTo>
                  <a:pt x="0" y="35500"/>
                </a:lnTo>
                <a:close/>
              </a:path>
              <a:path w="71000" h="852000" fill="none">
                <a:moveTo>
                  <a:pt x="0" y="35500"/>
                </a:move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lnTo>
                  <a:pt x="71000" y="816500"/>
                </a:lnTo>
                <a:cubicBezTo>
                  <a:pt x="71000" y="836106"/>
                  <a:pt x="55106" y="852000"/>
                  <a:pt x="35500" y="852000"/>
                </a:cubicBezTo>
                <a:cubicBezTo>
                  <a:pt x="15894" y="852000"/>
                  <a:pt x="0" y="836106"/>
                  <a:pt x="0" y="816500"/>
                </a:cubicBezTo>
                <a:lnTo>
                  <a:pt x="0" y="35500"/>
                </a:lnTo>
                <a:close/>
              </a:path>
            </a:pathLst>
          </a:custGeom>
          <a:gradFill>
            <a:gsLst>
              <a:gs pos="0">
                <a:srgbClr val="0984E3"/>
              </a:gs>
              <a:gs pos="100000">
                <a:srgbClr val="00CEC9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666" name="任意多边形 665"/>
          <p:cNvSpPr/>
          <p:nvPr/>
        </p:nvSpPr>
        <p:spPr>
          <a:xfrm>
            <a:off x="27580" y="644880"/>
            <a:ext cx="639000" cy="220100"/>
          </a:xfrm>
          <a:custGeom>
            <a:avLst/>
            <a:gdLst>
              <a:gd name="connsiteX0" fmla="*/ 0 w 639000"/>
              <a:gd name="connsiteY0" fmla="*/ 110050 h 220100"/>
              <a:gd name="connsiteX1" fmla="*/ 319500 w 639000"/>
              <a:gd name="connsiteY1" fmla="*/ 0 h 220100"/>
              <a:gd name="connsiteX2" fmla="*/ 639000 w 639000"/>
              <a:gd name="connsiteY2" fmla="*/ 110050 h 220100"/>
              <a:gd name="connsiteX3" fmla="*/ 319500 w 639000"/>
              <a:gd name="connsiteY3" fmla="*/ 220100 h 220100"/>
              <a:gd name="rtl" fmla="*/ 8530650 w 639000"/>
              <a:gd name="rtt" fmla="*/ 2048350 h 220100"/>
              <a:gd name="rtr" fmla="*/ 9169650 w 639000"/>
              <a:gd name="rtb" fmla="*/ 2268450 h 2201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2D3436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1065" b="1" dirty="0">
                <a:solidFill>
                  <a:srgbClr val="2D3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模拟器层</a:t>
            </a:r>
            <a:endParaRPr lang="zh-CN" altLang="en-US" sz="1065" b="1" dirty="0">
              <a:solidFill>
                <a:srgbClr val="2D3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7" name="任意多边形 666"/>
          <p:cNvSpPr/>
          <p:nvPr/>
        </p:nvSpPr>
        <p:spPr>
          <a:xfrm>
            <a:off x="8096730" y="2884930"/>
            <a:ext cx="340800" cy="340800"/>
          </a:xfrm>
          <a:custGeom>
            <a:avLst/>
            <a:gdLst/>
            <a:ahLst/>
            <a:cxnLst/>
            <a:rect l="l" t="t" r="r" b="b"/>
            <a:pathLst>
              <a:path w="340800" h="340800" stroke="0">
                <a:moveTo>
                  <a:pt x="340800" y="170400"/>
                </a:moveTo>
                <a:cubicBezTo>
                  <a:pt x="340800" y="264509"/>
                  <a:pt x="264509" y="340800"/>
                  <a:pt x="170400" y="340800"/>
                </a:cubicBezTo>
                <a:cubicBezTo>
                  <a:pt x="76291" y="340800"/>
                  <a:pt x="0" y="264509"/>
                  <a:pt x="0" y="170400"/>
                </a:cubicBezTo>
                <a:cubicBezTo>
                  <a:pt x="0" y="76291"/>
                  <a:pt x="76291" y="0"/>
                  <a:pt x="170400" y="0"/>
                </a:cubicBezTo>
                <a:cubicBezTo>
                  <a:pt x="264509" y="0"/>
                  <a:pt x="340800" y="76291"/>
                  <a:pt x="340800" y="170400"/>
                </a:cubicBezTo>
                <a:close/>
              </a:path>
              <a:path w="340800" h="340800" fill="none">
                <a:moveTo>
                  <a:pt x="340800" y="170400"/>
                </a:moveTo>
                <a:cubicBezTo>
                  <a:pt x="340800" y="264509"/>
                  <a:pt x="264509" y="340800"/>
                  <a:pt x="170400" y="340800"/>
                </a:cubicBezTo>
                <a:cubicBezTo>
                  <a:pt x="76291" y="340800"/>
                  <a:pt x="0" y="264509"/>
                  <a:pt x="0" y="170400"/>
                </a:cubicBezTo>
                <a:cubicBezTo>
                  <a:pt x="0" y="76291"/>
                  <a:pt x="76291" y="0"/>
                  <a:pt x="170400" y="0"/>
                </a:cubicBezTo>
                <a:cubicBezTo>
                  <a:pt x="264509" y="0"/>
                  <a:pt x="340800" y="76291"/>
                  <a:pt x="340800" y="170400"/>
                </a:cubicBezTo>
                <a:close/>
              </a:path>
            </a:pathLst>
          </a:custGeom>
          <a:solidFill>
            <a:srgbClr val="E0F7FA"/>
          </a:solidFill>
          <a:ln w="7100" cap="flat">
            <a:noFill/>
            <a:miter/>
          </a:ln>
        </p:spPr>
      </p:sp>
      <p:sp>
        <p:nvSpPr>
          <p:cNvPr id="668" name="任意多边形 667"/>
          <p:cNvSpPr/>
          <p:nvPr/>
        </p:nvSpPr>
        <p:spPr>
          <a:xfrm>
            <a:off x="8160630" y="2927530"/>
            <a:ext cx="213000" cy="255600"/>
          </a:xfrm>
          <a:custGeom>
            <a:avLst/>
            <a:gdLst/>
            <a:ahLst/>
            <a:cxnLst/>
            <a:rect l="l" t="t" r="r" b="b"/>
            <a:pathLst>
              <a:path w="213000" h="255600" stroke="0">
                <a:moveTo>
                  <a:pt x="106500" y="0"/>
                </a:moveTo>
                <a:lnTo>
                  <a:pt x="213000" y="63900"/>
                </a:lnTo>
                <a:lnTo>
                  <a:pt x="213000" y="191700"/>
                </a:lnTo>
                <a:lnTo>
                  <a:pt x="106500" y="255600"/>
                </a:lnTo>
                <a:lnTo>
                  <a:pt x="0" y="191700"/>
                </a:lnTo>
                <a:lnTo>
                  <a:pt x="0" y="63900"/>
                </a:lnTo>
                <a:lnTo>
                  <a:pt x="106500" y="0"/>
                </a:lnTo>
                <a:close/>
              </a:path>
              <a:path w="213000" h="255600" fill="none">
                <a:moveTo>
                  <a:pt x="106500" y="0"/>
                </a:moveTo>
                <a:lnTo>
                  <a:pt x="213000" y="63900"/>
                </a:lnTo>
                <a:lnTo>
                  <a:pt x="213000" y="191700"/>
                </a:lnTo>
                <a:lnTo>
                  <a:pt x="106500" y="255600"/>
                </a:lnTo>
                <a:lnTo>
                  <a:pt x="0" y="191700"/>
                </a:lnTo>
                <a:lnTo>
                  <a:pt x="0" y="63900"/>
                </a:lnTo>
                <a:lnTo>
                  <a:pt x="106500" y="0"/>
                </a:lnTo>
                <a:close/>
              </a:path>
            </a:pathLst>
          </a:custGeom>
          <a:noFill/>
          <a:ln w="14200" cap="flat">
            <a:solidFill>
              <a:srgbClr val="00CEC9"/>
            </a:solidFill>
            <a:miter/>
          </a:ln>
        </p:spPr>
      </p:sp>
      <p:sp>
        <p:nvSpPr>
          <p:cNvPr id="669" name="任意多边形 668"/>
          <p:cNvSpPr/>
          <p:nvPr/>
        </p:nvSpPr>
        <p:spPr>
          <a:xfrm>
            <a:off x="8160630" y="2927530"/>
            <a:ext cx="213000" cy="191700"/>
          </a:xfrm>
          <a:custGeom>
            <a:avLst/>
            <a:gdLst/>
            <a:ahLst/>
            <a:cxnLst/>
            <a:rect l="l" t="t" r="r" b="b"/>
            <a:pathLst>
              <a:path w="213000" h="191700" stroke="0">
                <a:moveTo>
                  <a:pt x="106500" y="0"/>
                </a:moveTo>
                <a:lnTo>
                  <a:pt x="106500" y="127800"/>
                </a:lnTo>
                <a:moveTo>
                  <a:pt x="0" y="63900"/>
                </a:moveTo>
                <a:lnTo>
                  <a:pt x="106500" y="127800"/>
                </a:lnTo>
                <a:moveTo>
                  <a:pt x="213000" y="191700"/>
                </a:moveTo>
                <a:lnTo>
                  <a:pt x="106500" y="127800"/>
                </a:lnTo>
              </a:path>
              <a:path w="213000" h="191700" fill="none">
                <a:moveTo>
                  <a:pt x="106500" y="0"/>
                </a:moveTo>
                <a:lnTo>
                  <a:pt x="106500" y="127800"/>
                </a:lnTo>
                <a:moveTo>
                  <a:pt x="0" y="63900"/>
                </a:moveTo>
                <a:lnTo>
                  <a:pt x="106500" y="127800"/>
                </a:lnTo>
                <a:moveTo>
                  <a:pt x="213000" y="191700"/>
                </a:moveTo>
                <a:lnTo>
                  <a:pt x="106500" y="127800"/>
                </a:lnTo>
              </a:path>
            </a:pathLst>
          </a:custGeom>
          <a:solidFill>
            <a:srgbClr val="000000"/>
          </a:solidFill>
          <a:ln w="14200" cap="flat">
            <a:solidFill>
              <a:srgbClr val="00CEC9"/>
            </a:solidFill>
            <a:miter/>
          </a:ln>
        </p:spPr>
      </p:sp>
      <p:grpSp>
        <p:nvGrpSpPr>
          <p:cNvPr id="727" name="Group 727"/>
          <p:cNvGrpSpPr/>
          <p:nvPr/>
        </p:nvGrpSpPr>
        <p:grpSpPr>
          <a:xfrm>
            <a:off x="27580" y="644880"/>
            <a:ext cx="2577300" cy="511200"/>
            <a:chOff x="-1526900" y="589000"/>
            <a:chExt cx="2577300" cy="511200"/>
          </a:xfrm>
        </p:grpSpPr>
        <p:sp>
          <p:nvSpPr>
            <p:cNvPr id="670" name="任意多边形 669"/>
            <p:cNvSpPr/>
            <p:nvPr/>
          </p:nvSpPr>
          <p:spPr>
            <a:xfrm>
              <a:off x="-1526900" y="589000"/>
              <a:ext cx="2577300" cy="511200"/>
            </a:xfrm>
            <a:custGeom>
              <a:avLst/>
              <a:gdLst>
                <a:gd name="connsiteX0" fmla="*/ 0 w 2577300"/>
                <a:gd name="connsiteY0" fmla="*/ 255600 h 511200"/>
                <a:gd name="connsiteX1" fmla="*/ 1288650 w 2577300"/>
                <a:gd name="connsiteY1" fmla="*/ 0 h 511200"/>
                <a:gd name="connsiteX2" fmla="*/ 2577300 w 2577300"/>
                <a:gd name="connsiteY2" fmla="*/ 255600 h 511200"/>
                <a:gd name="connsiteX3" fmla="*/ 1288650 w 2577300"/>
                <a:gd name="connsiteY3" fmla="*/ 511200 h 5112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/>
            </a:custGeom>
            <a:solidFill>
              <a:srgbClr val="636E72"/>
            </a:solidFill>
            <a:ln w="7100" cap="flat">
              <a:noFill/>
              <a:miter/>
            </a:ln>
          </p:spPr>
        </p:sp>
        <p:sp>
          <p:nvSpPr>
            <p:cNvPr id="728" name="Text 728"/>
            <p:cNvSpPr txBox="1"/>
            <p:nvPr/>
          </p:nvSpPr>
          <p:spPr>
            <a:xfrm>
              <a:off x="7007300" y="2892950"/>
              <a:ext cx="2577300" cy="1846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9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动态权衡多目标：TH/IRI活性、表达产量、稳定性、安全性</a:t>
              </a:r>
              <a:endParaRPr lang="zh-CN" altLang="en-US" sz="69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29" name="Text 729"/>
            <p:cNvSpPr txBox="1"/>
            <p:nvPr/>
          </p:nvSpPr>
          <p:spPr>
            <a:xfrm>
              <a:off x="7007300" y="3056250"/>
              <a:ext cx="2293300" cy="1846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9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针对7种场景(冰淇淋/细胞冻存等)实现权重组合调整</a:t>
              </a:r>
              <a:endParaRPr lang="zh-CN" altLang="en-US" sz="69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30" name="Text 730"/>
            <p:cNvSpPr txBox="1"/>
            <p:nvPr/>
          </p:nvSpPr>
          <p:spPr>
            <a:xfrm>
              <a:off x="7003750" y="3219550"/>
              <a:ext cx="2002200" cy="1846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9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自动化追踪多条优化曲线，摆脱高昂试错成本</a:t>
              </a:r>
              <a:endParaRPr lang="zh-CN" altLang="en-US" sz="69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671" name="任意多边形 670"/>
          <p:cNvSpPr/>
          <p:nvPr/>
        </p:nvSpPr>
        <p:spPr>
          <a:xfrm>
            <a:off x="10361630" y="2735830"/>
            <a:ext cx="852000" cy="184600"/>
          </a:xfrm>
          <a:custGeom>
            <a:avLst/>
            <a:gdLst/>
            <a:ahLst/>
            <a:cxnLst/>
            <a:rect l="l" t="t" r="r" b="b"/>
            <a:pathLst>
              <a:path w="852000" h="184600" stroke="0">
                <a:moveTo>
                  <a:pt x="0" y="92300"/>
                </a:moveTo>
                <a:cubicBezTo>
                  <a:pt x="0" y="41324"/>
                  <a:pt x="41324" y="0"/>
                  <a:pt x="92300" y="0"/>
                </a:cubicBezTo>
                <a:lnTo>
                  <a:pt x="759700" y="0"/>
                </a:lnTo>
                <a:cubicBezTo>
                  <a:pt x="810676" y="0"/>
                  <a:pt x="852000" y="41324"/>
                  <a:pt x="852000" y="92300"/>
                </a:cubicBezTo>
                <a:cubicBezTo>
                  <a:pt x="852000" y="143276"/>
                  <a:pt x="810676" y="184600"/>
                  <a:pt x="759700" y="184600"/>
                </a:cubicBezTo>
                <a:lnTo>
                  <a:pt x="92300" y="184600"/>
                </a:lnTo>
                <a:cubicBezTo>
                  <a:pt x="41324" y="184600"/>
                  <a:pt x="0" y="143276"/>
                  <a:pt x="0" y="92300"/>
                </a:cubicBezTo>
                <a:close/>
              </a:path>
              <a:path w="852000" h="184600" fill="none">
                <a:moveTo>
                  <a:pt x="0" y="92300"/>
                </a:moveTo>
                <a:cubicBezTo>
                  <a:pt x="0" y="41324"/>
                  <a:pt x="41324" y="0"/>
                  <a:pt x="92300" y="0"/>
                </a:cubicBezTo>
                <a:lnTo>
                  <a:pt x="759700" y="0"/>
                </a:lnTo>
                <a:cubicBezTo>
                  <a:pt x="810676" y="0"/>
                  <a:pt x="852000" y="41324"/>
                  <a:pt x="852000" y="92300"/>
                </a:cubicBezTo>
                <a:cubicBezTo>
                  <a:pt x="852000" y="143276"/>
                  <a:pt x="810676" y="184600"/>
                  <a:pt x="759700" y="184600"/>
                </a:cubicBezTo>
                <a:lnTo>
                  <a:pt x="92300" y="184600"/>
                </a:lnTo>
                <a:cubicBezTo>
                  <a:pt x="41324" y="184600"/>
                  <a:pt x="0" y="143276"/>
                  <a:pt x="0" y="92300"/>
                </a:cubicBezTo>
                <a:close/>
              </a:path>
            </a:pathLst>
          </a:custGeom>
          <a:solidFill>
            <a:srgbClr val="FF7675">
              <a:alpha val="15000"/>
            </a:srgbClr>
          </a:solidFill>
          <a:ln w="7100" cap="flat">
            <a:solidFill>
              <a:srgbClr val="FF7675"/>
            </a:solidFill>
            <a:miter/>
          </a:ln>
        </p:spPr>
      </p:sp>
      <p:sp>
        <p:nvSpPr>
          <p:cNvPr id="672" name="任意多边形 671"/>
          <p:cNvSpPr/>
          <p:nvPr/>
        </p:nvSpPr>
        <p:spPr>
          <a:xfrm>
            <a:off x="27580" y="644880"/>
            <a:ext cx="830700" cy="184600"/>
          </a:xfrm>
          <a:custGeom>
            <a:avLst/>
            <a:gdLst>
              <a:gd name="connsiteX0" fmla="*/ 0 w 830700"/>
              <a:gd name="connsiteY0" fmla="*/ 92300 h 184600"/>
              <a:gd name="connsiteX1" fmla="*/ 415350 w 830700"/>
              <a:gd name="connsiteY1" fmla="*/ 0 h 184600"/>
              <a:gd name="connsiteX2" fmla="*/ 830700 w 830700"/>
              <a:gd name="connsiteY2" fmla="*/ 92300 h 184600"/>
              <a:gd name="connsiteX3" fmla="*/ 415350 w 830700"/>
              <a:gd name="connsiteY3" fmla="*/ 184600 h 184600"/>
              <a:gd name="rtl" fmla="*/ 10349304 w 830700"/>
              <a:gd name="rtt" fmla="*/ 2076750 h 184600"/>
              <a:gd name="rtr" fmla="*/ 11177896 w 830700"/>
              <a:gd name="rtb" fmla="*/ 2261350 h 184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D63031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D630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⚡ 攻克痛点 4 &amp; 5</a:t>
            </a:r>
            <a:endParaRPr lang="zh-CN" altLang="en-US" sz="640" b="1" dirty="0">
              <a:solidFill>
                <a:srgbClr val="D630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4" name="任意多边形 673"/>
          <p:cNvSpPr/>
          <p:nvPr/>
        </p:nvSpPr>
        <p:spPr>
          <a:xfrm>
            <a:off x="7947630" y="3694330"/>
            <a:ext cx="3408000" cy="852000"/>
          </a:xfrm>
          <a:custGeom>
            <a:avLst/>
            <a:gdLst/>
            <a:ahLst/>
            <a:cxnLst/>
            <a:rect l="l" t="t" r="r" b="b"/>
            <a:pathLst>
              <a:path w="3408000" h="852000" stroke="0">
                <a:moveTo>
                  <a:pt x="0" y="113600"/>
                </a:moveTo>
                <a:cubicBezTo>
                  <a:pt x="0" y="50860"/>
                  <a:pt x="50860" y="0"/>
                  <a:pt x="113600" y="0"/>
                </a:cubicBezTo>
                <a:lnTo>
                  <a:pt x="3294400" y="0"/>
                </a:lnTo>
                <a:cubicBezTo>
                  <a:pt x="3357140" y="0"/>
                  <a:pt x="3408000" y="50860"/>
                  <a:pt x="3408000" y="113600"/>
                </a:cubicBezTo>
                <a:lnTo>
                  <a:pt x="3408000" y="738400"/>
                </a:lnTo>
                <a:cubicBezTo>
                  <a:pt x="3408000" y="801140"/>
                  <a:pt x="3357140" y="852000"/>
                  <a:pt x="3294400" y="852000"/>
                </a:cubicBezTo>
                <a:lnTo>
                  <a:pt x="113600" y="852000"/>
                </a:lnTo>
                <a:cubicBezTo>
                  <a:pt x="50860" y="852000"/>
                  <a:pt x="0" y="801140"/>
                  <a:pt x="0" y="738400"/>
                </a:cubicBezTo>
                <a:lnTo>
                  <a:pt x="0" y="113600"/>
                </a:lnTo>
                <a:close/>
              </a:path>
              <a:path w="3408000" h="852000" fill="none">
                <a:moveTo>
                  <a:pt x="0" y="113600"/>
                </a:moveTo>
                <a:cubicBezTo>
                  <a:pt x="0" y="50860"/>
                  <a:pt x="50860" y="0"/>
                  <a:pt x="113600" y="0"/>
                </a:cubicBezTo>
                <a:lnTo>
                  <a:pt x="3294400" y="0"/>
                </a:lnTo>
                <a:cubicBezTo>
                  <a:pt x="3357140" y="0"/>
                  <a:pt x="3408000" y="50860"/>
                  <a:pt x="3408000" y="113600"/>
                </a:cubicBezTo>
                <a:lnTo>
                  <a:pt x="3408000" y="738400"/>
                </a:lnTo>
                <a:cubicBezTo>
                  <a:pt x="3408000" y="801140"/>
                  <a:pt x="3357140" y="852000"/>
                  <a:pt x="3294400" y="852000"/>
                </a:cubicBezTo>
                <a:lnTo>
                  <a:pt x="113600" y="852000"/>
                </a:lnTo>
                <a:cubicBezTo>
                  <a:pt x="50860" y="852000"/>
                  <a:pt x="0" y="801140"/>
                  <a:pt x="0" y="738400"/>
                </a:cubicBezTo>
                <a:lnTo>
                  <a:pt x="0" y="113600"/>
                </a:lnTo>
                <a:close/>
              </a:path>
            </a:pathLst>
          </a:custGeom>
          <a:solidFill>
            <a:srgbClr val="FFFFFF"/>
          </a:solidFill>
          <a:ln w="14200" cap="flat">
            <a:solidFill>
              <a:srgbClr val="81ECEC"/>
            </a:solidFill>
            <a:miter/>
          </a:ln>
        </p:spPr>
      </p:sp>
      <p:sp>
        <p:nvSpPr>
          <p:cNvPr id="675" name="任意多边形 674"/>
          <p:cNvSpPr/>
          <p:nvPr/>
        </p:nvSpPr>
        <p:spPr>
          <a:xfrm>
            <a:off x="7947630" y="3694330"/>
            <a:ext cx="71000" cy="852000"/>
          </a:xfrm>
          <a:custGeom>
            <a:avLst/>
            <a:gdLst/>
            <a:ahLst/>
            <a:cxnLst/>
            <a:rect l="l" t="t" r="r" b="b"/>
            <a:pathLst>
              <a:path w="71000" h="852000" stroke="0">
                <a:moveTo>
                  <a:pt x="0" y="35500"/>
                </a:move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lnTo>
                  <a:pt x="71000" y="816500"/>
                </a:lnTo>
                <a:cubicBezTo>
                  <a:pt x="71000" y="836106"/>
                  <a:pt x="55106" y="852000"/>
                  <a:pt x="35500" y="852000"/>
                </a:cubicBezTo>
                <a:cubicBezTo>
                  <a:pt x="15894" y="852000"/>
                  <a:pt x="0" y="836106"/>
                  <a:pt x="0" y="816500"/>
                </a:cubicBezTo>
                <a:lnTo>
                  <a:pt x="0" y="35500"/>
                </a:lnTo>
                <a:close/>
              </a:path>
              <a:path w="71000" h="852000" fill="none">
                <a:moveTo>
                  <a:pt x="0" y="35500"/>
                </a:move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lnTo>
                  <a:pt x="71000" y="816500"/>
                </a:lnTo>
                <a:cubicBezTo>
                  <a:pt x="71000" y="836106"/>
                  <a:pt x="55106" y="852000"/>
                  <a:pt x="35500" y="852000"/>
                </a:cubicBezTo>
                <a:cubicBezTo>
                  <a:pt x="15894" y="852000"/>
                  <a:pt x="0" y="836106"/>
                  <a:pt x="0" y="816500"/>
                </a:cubicBezTo>
                <a:lnTo>
                  <a:pt x="0" y="35500"/>
                </a:lnTo>
                <a:close/>
              </a:path>
            </a:pathLst>
          </a:custGeom>
          <a:gradFill>
            <a:gsLst>
              <a:gs pos="0">
                <a:srgbClr val="0984E3"/>
              </a:gs>
              <a:gs pos="100000">
                <a:srgbClr val="00CEC9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676" name="任意多边形 675"/>
          <p:cNvSpPr/>
          <p:nvPr/>
        </p:nvSpPr>
        <p:spPr>
          <a:xfrm>
            <a:off x="27580" y="644880"/>
            <a:ext cx="497000" cy="220100"/>
          </a:xfrm>
          <a:custGeom>
            <a:avLst/>
            <a:gdLst>
              <a:gd name="connsiteX0" fmla="*/ 0 w 497000"/>
              <a:gd name="connsiteY0" fmla="*/ 110050 h 220100"/>
              <a:gd name="connsiteX1" fmla="*/ 248500 w 497000"/>
              <a:gd name="connsiteY1" fmla="*/ 0 h 220100"/>
              <a:gd name="connsiteX2" fmla="*/ 497000 w 497000"/>
              <a:gd name="connsiteY2" fmla="*/ 110050 h 220100"/>
              <a:gd name="connsiteX3" fmla="*/ 248500 w 497000"/>
              <a:gd name="connsiteY3" fmla="*/ 220100 h 220100"/>
              <a:gd name="rtl" fmla="*/ 8530650 w 497000"/>
              <a:gd name="rtt" fmla="*/ 3113350 h 220100"/>
              <a:gd name="rtr" fmla="*/ 9027650 w 497000"/>
              <a:gd name="rtb" fmla="*/ 3333450 h 2201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2D3436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1065" b="1" dirty="0">
                <a:solidFill>
                  <a:srgbClr val="2D3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工具层</a:t>
            </a:r>
            <a:endParaRPr lang="zh-CN" altLang="en-US" sz="1065" b="1" dirty="0">
              <a:solidFill>
                <a:srgbClr val="2D3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7" name="任意多边形 676"/>
          <p:cNvSpPr/>
          <p:nvPr/>
        </p:nvSpPr>
        <p:spPr>
          <a:xfrm>
            <a:off x="8096730" y="3949930"/>
            <a:ext cx="340800" cy="340800"/>
          </a:xfrm>
          <a:custGeom>
            <a:avLst/>
            <a:gdLst/>
            <a:ahLst/>
            <a:cxnLst/>
            <a:rect l="l" t="t" r="r" b="b"/>
            <a:pathLst>
              <a:path w="340800" h="340800" stroke="0">
                <a:moveTo>
                  <a:pt x="340800" y="170400"/>
                </a:moveTo>
                <a:cubicBezTo>
                  <a:pt x="340800" y="264509"/>
                  <a:pt x="264509" y="340800"/>
                  <a:pt x="170400" y="340800"/>
                </a:cubicBezTo>
                <a:cubicBezTo>
                  <a:pt x="76291" y="340800"/>
                  <a:pt x="0" y="264509"/>
                  <a:pt x="0" y="170400"/>
                </a:cubicBezTo>
                <a:cubicBezTo>
                  <a:pt x="0" y="76291"/>
                  <a:pt x="76291" y="0"/>
                  <a:pt x="170400" y="0"/>
                </a:cubicBezTo>
                <a:cubicBezTo>
                  <a:pt x="264509" y="0"/>
                  <a:pt x="340800" y="76291"/>
                  <a:pt x="340800" y="170400"/>
                </a:cubicBezTo>
                <a:close/>
              </a:path>
              <a:path w="340800" h="340800" fill="none">
                <a:moveTo>
                  <a:pt x="340800" y="170400"/>
                </a:moveTo>
                <a:cubicBezTo>
                  <a:pt x="340800" y="264509"/>
                  <a:pt x="264509" y="340800"/>
                  <a:pt x="170400" y="340800"/>
                </a:cubicBezTo>
                <a:cubicBezTo>
                  <a:pt x="76291" y="340800"/>
                  <a:pt x="0" y="264509"/>
                  <a:pt x="0" y="170400"/>
                </a:cubicBezTo>
                <a:cubicBezTo>
                  <a:pt x="0" y="76291"/>
                  <a:pt x="76291" y="0"/>
                  <a:pt x="170400" y="0"/>
                </a:cubicBezTo>
                <a:cubicBezTo>
                  <a:pt x="264509" y="0"/>
                  <a:pt x="340800" y="76291"/>
                  <a:pt x="340800" y="170400"/>
                </a:cubicBezTo>
                <a:close/>
              </a:path>
            </a:pathLst>
          </a:custGeom>
          <a:solidFill>
            <a:srgbClr val="E0F7FA"/>
          </a:solidFill>
          <a:ln w="7100" cap="flat">
            <a:noFill/>
            <a:miter/>
          </a:ln>
        </p:spPr>
      </p:sp>
      <p:sp>
        <p:nvSpPr>
          <p:cNvPr id="678" name="任意多边形 677"/>
          <p:cNvSpPr/>
          <p:nvPr/>
        </p:nvSpPr>
        <p:spPr>
          <a:xfrm>
            <a:off x="8196130" y="4049330"/>
            <a:ext cx="163300" cy="163300"/>
          </a:xfrm>
          <a:custGeom>
            <a:avLst/>
            <a:gdLst/>
            <a:ahLst/>
            <a:cxnLst/>
            <a:rect l="l" t="t" r="r" b="b"/>
            <a:pathLst>
              <a:path w="163300" h="163300" stroke="0">
                <a:moveTo>
                  <a:pt x="0" y="71000"/>
                </a:moveTo>
                <a:cubicBezTo>
                  <a:pt x="0" y="31788"/>
                  <a:pt x="31788" y="0"/>
                  <a:pt x="71000" y="0"/>
                </a:cubicBezTo>
                <a:cubicBezTo>
                  <a:pt x="110212" y="0"/>
                  <a:pt x="142000" y="31788"/>
                  <a:pt x="142000" y="71000"/>
                </a:cubicBezTo>
                <a:cubicBezTo>
                  <a:pt x="142000" y="110212"/>
                  <a:pt x="110212" y="142000"/>
                  <a:pt x="71000" y="142000"/>
                </a:cubicBezTo>
                <a:cubicBezTo>
                  <a:pt x="31788" y="142000"/>
                  <a:pt x="0" y="110212"/>
                  <a:pt x="0" y="71000"/>
                </a:cubicBezTo>
                <a:close/>
              </a:path>
              <a:path w="163300" h="163300" stroke="0">
                <a:moveTo>
                  <a:pt x="106500" y="106500"/>
                </a:moveTo>
                <a:lnTo>
                  <a:pt x="163300" y="163300"/>
                </a:lnTo>
              </a:path>
              <a:path w="163300" h="163300" fill="none">
                <a:moveTo>
                  <a:pt x="0" y="71000"/>
                </a:moveTo>
                <a:cubicBezTo>
                  <a:pt x="0" y="31788"/>
                  <a:pt x="31788" y="0"/>
                  <a:pt x="71000" y="0"/>
                </a:cubicBezTo>
                <a:cubicBezTo>
                  <a:pt x="110212" y="0"/>
                  <a:pt x="142000" y="31788"/>
                  <a:pt x="142000" y="71000"/>
                </a:cubicBezTo>
                <a:cubicBezTo>
                  <a:pt x="142000" y="110212"/>
                  <a:pt x="110212" y="142000"/>
                  <a:pt x="71000" y="142000"/>
                </a:cubicBezTo>
                <a:cubicBezTo>
                  <a:pt x="31788" y="142000"/>
                  <a:pt x="0" y="110212"/>
                  <a:pt x="0" y="71000"/>
                </a:cubicBezTo>
                <a:close/>
              </a:path>
              <a:path w="163300" h="163300" fill="none">
                <a:moveTo>
                  <a:pt x="106500" y="106500"/>
                </a:moveTo>
                <a:lnTo>
                  <a:pt x="163300" y="163300"/>
                </a:lnTo>
              </a:path>
            </a:pathLst>
          </a:custGeom>
          <a:noFill/>
          <a:ln w="21300" cap="flat">
            <a:solidFill>
              <a:srgbClr val="00CEC9"/>
            </a:solidFill>
            <a:miter/>
          </a:ln>
        </p:spPr>
      </p:sp>
      <p:sp>
        <p:nvSpPr>
          <p:cNvPr id="679" name="任意多边形 678"/>
          <p:cNvSpPr/>
          <p:nvPr/>
        </p:nvSpPr>
        <p:spPr>
          <a:xfrm>
            <a:off x="8174830" y="4049330"/>
            <a:ext cx="56800" cy="35500"/>
          </a:xfrm>
          <a:custGeom>
            <a:avLst/>
            <a:gdLst/>
            <a:ahLst/>
            <a:cxnLst/>
            <a:rect l="l" t="t" r="r" b="b"/>
            <a:pathLst>
              <a:path w="56800" h="35500" stroke="0">
                <a:moveTo>
                  <a:pt x="0" y="0"/>
                </a:moveTo>
                <a:lnTo>
                  <a:pt x="56800" y="0"/>
                </a:lnTo>
                <a:moveTo>
                  <a:pt x="0" y="35500"/>
                </a:moveTo>
                <a:lnTo>
                  <a:pt x="42600" y="35500"/>
                </a:lnTo>
              </a:path>
              <a:path w="56800" h="35500" fill="none">
                <a:moveTo>
                  <a:pt x="0" y="0"/>
                </a:moveTo>
                <a:lnTo>
                  <a:pt x="56800" y="0"/>
                </a:lnTo>
                <a:moveTo>
                  <a:pt x="0" y="35500"/>
                </a:moveTo>
                <a:lnTo>
                  <a:pt x="42600" y="35500"/>
                </a:lnTo>
              </a:path>
            </a:pathLst>
          </a:custGeom>
          <a:solidFill>
            <a:srgbClr val="000000"/>
          </a:solidFill>
          <a:ln w="14200" cap="flat">
            <a:solidFill>
              <a:srgbClr val="00CEC9"/>
            </a:solidFill>
            <a:miter/>
          </a:ln>
        </p:spPr>
      </p:sp>
      <p:grpSp>
        <p:nvGrpSpPr>
          <p:cNvPr id="731" name="Group 731"/>
          <p:cNvGrpSpPr/>
          <p:nvPr/>
        </p:nvGrpSpPr>
        <p:grpSpPr>
          <a:xfrm>
            <a:off x="27580" y="644880"/>
            <a:ext cx="2428200" cy="511200"/>
            <a:chOff x="-1526900" y="589000"/>
            <a:chExt cx="2428200" cy="511200"/>
          </a:xfrm>
        </p:grpSpPr>
        <p:sp>
          <p:nvSpPr>
            <p:cNvPr id="680" name="任意多边形 679"/>
            <p:cNvSpPr/>
            <p:nvPr/>
          </p:nvSpPr>
          <p:spPr>
            <a:xfrm>
              <a:off x="-1526900" y="589000"/>
              <a:ext cx="2428200" cy="511200"/>
            </a:xfrm>
            <a:custGeom>
              <a:avLst/>
              <a:gdLst>
                <a:gd name="connsiteX0" fmla="*/ 0 w 2428200"/>
                <a:gd name="connsiteY0" fmla="*/ 255600 h 511200"/>
                <a:gd name="connsiteX1" fmla="*/ 1214100 w 2428200"/>
                <a:gd name="connsiteY1" fmla="*/ 0 h 511200"/>
                <a:gd name="connsiteX2" fmla="*/ 2428200 w 2428200"/>
                <a:gd name="connsiteY2" fmla="*/ 255600 h 511200"/>
                <a:gd name="connsiteX3" fmla="*/ 1214100 w 2428200"/>
                <a:gd name="connsiteY3" fmla="*/ 511200 h 5112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/>
            </a:custGeom>
            <a:solidFill>
              <a:srgbClr val="636E72"/>
            </a:solidFill>
            <a:ln w="7100" cap="flat">
              <a:noFill/>
              <a:miter/>
            </a:ln>
          </p:spPr>
        </p:sp>
        <p:sp>
          <p:nvSpPr>
            <p:cNvPr id="732" name="Text 732"/>
            <p:cNvSpPr txBox="1"/>
            <p:nvPr/>
          </p:nvSpPr>
          <p:spPr>
            <a:xfrm>
              <a:off x="7003750" y="3957950"/>
              <a:ext cx="2002200" cy="1846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9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打造强大的计算评分引擎，提供高效预筛能力</a:t>
              </a:r>
              <a:endParaRPr lang="zh-CN" altLang="en-US" sz="69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33" name="Text 733"/>
            <p:cNvSpPr txBox="1"/>
            <p:nvPr/>
          </p:nvSpPr>
          <p:spPr>
            <a:xfrm>
              <a:off x="7003750" y="4121250"/>
              <a:ext cx="2428200" cy="1846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9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智能探索并解码AFP氨基酸序列与其抗冻活性的构效关系</a:t>
              </a:r>
              <a:endParaRPr lang="zh-CN" altLang="en-US" sz="69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34" name="Text 734"/>
            <p:cNvSpPr txBox="1"/>
            <p:nvPr/>
          </p:nvSpPr>
          <p:spPr>
            <a:xfrm>
              <a:off x="7007300" y="4284550"/>
              <a:ext cx="1909900" cy="1846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9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突破传统生信预测瓶颈，建立聚合学习模式</a:t>
              </a:r>
              <a:endParaRPr lang="zh-CN" altLang="en-US" sz="69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681" name="任意多边形 680"/>
          <p:cNvSpPr/>
          <p:nvPr/>
        </p:nvSpPr>
        <p:spPr>
          <a:xfrm>
            <a:off x="10503630" y="3800830"/>
            <a:ext cx="710000" cy="184600"/>
          </a:xfrm>
          <a:custGeom>
            <a:avLst/>
            <a:gdLst/>
            <a:ahLst/>
            <a:cxnLst/>
            <a:rect l="l" t="t" r="r" b="b"/>
            <a:pathLst>
              <a:path w="710000" h="184600" stroke="0">
                <a:moveTo>
                  <a:pt x="0" y="92300"/>
                </a:moveTo>
                <a:cubicBezTo>
                  <a:pt x="0" y="41324"/>
                  <a:pt x="41324" y="0"/>
                  <a:pt x="92300" y="0"/>
                </a:cubicBezTo>
                <a:lnTo>
                  <a:pt x="617700" y="0"/>
                </a:lnTo>
                <a:cubicBezTo>
                  <a:pt x="668676" y="0"/>
                  <a:pt x="710000" y="41324"/>
                  <a:pt x="710000" y="92300"/>
                </a:cubicBezTo>
                <a:cubicBezTo>
                  <a:pt x="710000" y="143276"/>
                  <a:pt x="668676" y="184600"/>
                  <a:pt x="617700" y="184600"/>
                </a:cubicBezTo>
                <a:lnTo>
                  <a:pt x="92300" y="184600"/>
                </a:lnTo>
                <a:cubicBezTo>
                  <a:pt x="41324" y="184600"/>
                  <a:pt x="0" y="143276"/>
                  <a:pt x="0" y="92300"/>
                </a:cubicBezTo>
                <a:close/>
              </a:path>
              <a:path w="710000" h="184600" fill="none">
                <a:moveTo>
                  <a:pt x="0" y="92300"/>
                </a:moveTo>
                <a:cubicBezTo>
                  <a:pt x="0" y="41324"/>
                  <a:pt x="41324" y="0"/>
                  <a:pt x="92300" y="0"/>
                </a:cubicBezTo>
                <a:lnTo>
                  <a:pt x="617700" y="0"/>
                </a:lnTo>
                <a:cubicBezTo>
                  <a:pt x="668676" y="0"/>
                  <a:pt x="710000" y="41324"/>
                  <a:pt x="710000" y="92300"/>
                </a:cubicBezTo>
                <a:cubicBezTo>
                  <a:pt x="710000" y="143276"/>
                  <a:pt x="668676" y="184600"/>
                  <a:pt x="617700" y="184600"/>
                </a:cubicBezTo>
                <a:lnTo>
                  <a:pt x="92300" y="184600"/>
                </a:lnTo>
                <a:cubicBezTo>
                  <a:pt x="41324" y="184600"/>
                  <a:pt x="0" y="143276"/>
                  <a:pt x="0" y="92300"/>
                </a:cubicBezTo>
                <a:close/>
              </a:path>
            </a:pathLst>
          </a:custGeom>
          <a:solidFill>
            <a:srgbClr val="FF7675">
              <a:alpha val="15000"/>
            </a:srgbClr>
          </a:solidFill>
          <a:ln w="7100" cap="flat">
            <a:solidFill>
              <a:srgbClr val="FF7675"/>
            </a:solidFill>
            <a:miter/>
          </a:ln>
        </p:spPr>
      </p:sp>
      <p:sp>
        <p:nvSpPr>
          <p:cNvPr id="682" name="任意多边形 681"/>
          <p:cNvSpPr/>
          <p:nvPr/>
        </p:nvSpPr>
        <p:spPr>
          <a:xfrm>
            <a:off x="27580" y="644880"/>
            <a:ext cx="660300" cy="184600"/>
          </a:xfrm>
          <a:custGeom>
            <a:avLst/>
            <a:gdLst>
              <a:gd name="connsiteX0" fmla="*/ 0 w 660300"/>
              <a:gd name="connsiteY0" fmla="*/ 92300 h 184600"/>
              <a:gd name="connsiteX1" fmla="*/ 330150 w 660300"/>
              <a:gd name="connsiteY1" fmla="*/ 0 h 184600"/>
              <a:gd name="connsiteX2" fmla="*/ 660300 w 660300"/>
              <a:gd name="connsiteY2" fmla="*/ 92300 h 184600"/>
              <a:gd name="connsiteX3" fmla="*/ 330150 w 660300"/>
              <a:gd name="connsiteY3" fmla="*/ 184600 h 184600"/>
              <a:gd name="rtl" fmla="*/ 10505504 w 660300"/>
              <a:gd name="rtt" fmla="*/ 3141750 h 184600"/>
              <a:gd name="rtr" fmla="*/ 11163696 w 660300"/>
              <a:gd name="rtb" fmla="*/ 3326350 h 184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D63031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D630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⚡ 攻克痛点 2</a:t>
            </a:r>
            <a:endParaRPr lang="zh-CN" altLang="en-US" sz="640" b="1" dirty="0">
              <a:solidFill>
                <a:srgbClr val="D630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4" name="任意多边形 683"/>
          <p:cNvSpPr/>
          <p:nvPr/>
        </p:nvSpPr>
        <p:spPr>
          <a:xfrm>
            <a:off x="7947630" y="4759330"/>
            <a:ext cx="3408000" cy="852000"/>
          </a:xfrm>
          <a:custGeom>
            <a:avLst/>
            <a:gdLst/>
            <a:ahLst/>
            <a:cxnLst/>
            <a:rect l="l" t="t" r="r" b="b"/>
            <a:pathLst>
              <a:path w="3408000" h="852000" stroke="0">
                <a:moveTo>
                  <a:pt x="0" y="113600"/>
                </a:moveTo>
                <a:cubicBezTo>
                  <a:pt x="0" y="50860"/>
                  <a:pt x="50860" y="0"/>
                  <a:pt x="113600" y="0"/>
                </a:cubicBezTo>
                <a:lnTo>
                  <a:pt x="3294400" y="0"/>
                </a:lnTo>
                <a:cubicBezTo>
                  <a:pt x="3357140" y="0"/>
                  <a:pt x="3408000" y="50860"/>
                  <a:pt x="3408000" y="113600"/>
                </a:cubicBezTo>
                <a:lnTo>
                  <a:pt x="3408000" y="738400"/>
                </a:lnTo>
                <a:cubicBezTo>
                  <a:pt x="3408000" y="801140"/>
                  <a:pt x="3357140" y="852000"/>
                  <a:pt x="3294400" y="852000"/>
                </a:cubicBezTo>
                <a:lnTo>
                  <a:pt x="113600" y="852000"/>
                </a:lnTo>
                <a:cubicBezTo>
                  <a:pt x="50860" y="852000"/>
                  <a:pt x="0" y="801140"/>
                  <a:pt x="0" y="738400"/>
                </a:cubicBezTo>
                <a:lnTo>
                  <a:pt x="0" y="113600"/>
                </a:lnTo>
                <a:close/>
              </a:path>
              <a:path w="3408000" h="852000" fill="none">
                <a:moveTo>
                  <a:pt x="0" y="113600"/>
                </a:moveTo>
                <a:cubicBezTo>
                  <a:pt x="0" y="50860"/>
                  <a:pt x="50860" y="0"/>
                  <a:pt x="113600" y="0"/>
                </a:cubicBezTo>
                <a:lnTo>
                  <a:pt x="3294400" y="0"/>
                </a:lnTo>
                <a:cubicBezTo>
                  <a:pt x="3357140" y="0"/>
                  <a:pt x="3408000" y="50860"/>
                  <a:pt x="3408000" y="113600"/>
                </a:cubicBezTo>
                <a:lnTo>
                  <a:pt x="3408000" y="738400"/>
                </a:lnTo>
                <a:cubicBezTo>
                  <a:pt x="3408000" y="801140"/>
                  <a:pt x="3357140" y="852000"/>
                  <a:pt x="3294400" y="852000"/>
                </a:cubicBezTo>
                <a:lnTo>
                  <a:pt x="113600" y="852000"/>
                </a:lnTo>
                <a:cubicBezTo>
                  <a:pt x="50860" y="852000"/>
                  <a:pt x="0" y="801140"/>
                  <a:pt x="0" y="738400"/>
                </a:cubicBezTo>
                <a:lnTo>
                  <a:pt x="0" y="113600"/>
                </a:lnTo>
                <a:close/>
              </a:path>
            </a:pathLst>
          </a:custGeom>
          <a:solidFill>
            <a:srgbClr val="FFFFFF"/>
          </a:solidFill>
          <a:ln w="14200" cap="flat">
            <a:solidFill>
              <a:srgbClr val="81ECEC"/>
            </a:solidFill>
            <a:miter/>
          </a:ln>
        </p:spPr>
      </p:sp>
      <p:sp>
        <p:nvSpPr>
          <p:cNvPr id="685" name="任意多边形 684"/>
          <p:cNvSpPr/>
          <p:nvPr/>
        </p:nvSpPr>
        <p:spPr>
          <a:xfrm>
            <a:off x="7947630" y="4759330"/>
            <a:ext cx="71000" cy="852000"/>
          </a:xfrm>
          <a:custGeom>
            <a:avLst/>
            <a:gdLst/>
            <a:ahLst/>
            <a:cxnLst/>
            <a:rect l="l" t="t" r="r" b="b"/>
            <a:pathLst>
              <a:path w="71000" h="852000" stroke="0">
                <a:moveTo>
                  <a:pt x="0" y="35500"/>
                </a:move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lnTo>
                  <a:pt x="71000" y="816500"/>
                </a:lnTo>
                <a:cubicBezTo>
                  <a:pt x="71000" y="836106"/>
                  <a:pt x="55106" y="852000"/>
                  <a:pt x="35500" y="852000"/>
                </a:cubicBezTo>
                <a:cubicBezTo>
                  <a:pt x="15894" y="852000"/>
                  <a:pt x="0" y="836106"/>
                  <a:pt x="0" y="816500"/>
                </a:cubicBezTo>
                <a:lnTo>
                  <a:pt x="0" y="35500"/>
                </a:lnTo>
                <a:close/>
              </a:path>
              <a:path w="71000" h="852000" fill="none">
                <a:moveTo>
                  <a:pt x="0" y="35500"/>
                </a:move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lnTo>
                  <a:pt x="71000" y="816500"/>
                </a:lnTo>
                <a:cubicBezTo>
                  <a:pt x="71000" y="836106"/>
                  <a:pt x="55106" y="852000"/>
                  <a:pt x="35500" y="852000"/>
                </a:cubicBezTo>
                <a:cubicBezTo>
                  <a:pt x="15894" y="852000"/>
                  <a:pt x="0" y="836106"/>
                  <a:pt x="0" y="816500"/>
                </a:cubicBezTo>
                <a:lnTo>
                  <a:pt x="0" y="35500"/>
                </a:lnTo>
                <a:close/>
              </a:path>
            </a:pathLst>
          </a:custGeom>
          <a:gradFill>
            <a:gsLst>
              <a:gs pos="0">
                <a:srgbClr val="0984E3"/>
              </a:gs>
              <a:gs pos="100000">
                <a:srgbClr val="00CEC9"/>
              </a:gs>
            </a:gsLst>
            <a:lin ang="0" scaled="0"/>
          </a:gradFill>
          <a:ln w="7100" cap="flat">
            <a:noFill/>
            <a:miter/>
          </a:ln>
        </p:spPr>
      </p:sp>
      <p:sp>
        <p:nvSpPr>
          <p:cNvPr id="686" name="任意多边形 685"/>
          <p:cNvSpPr/>
          <p:nvPr/>
        </p:nvSpPr>
        <p:spPr>
          <a:xfrm>
            <a:off x="27580" y="644880"/>
            <a:ext cx="639000" cy="220100"/>
          </a:xfrm>
          <a:custGeom>
            <a:avLst/>
            <a:gdLst>
              <a:gd name="connsiteX0" fmla="*/ 0 w 639000"/>
              <a:gd name="connsiteY0" fmla="*/ 110050 h 220100"/>
              <a:gd name="connsiteX1" fmla="*/ 319500 w 639000"/>
              <a:gd name="connsiteY1" fmla="*/ 0 h 220100"/>
              <a:gd name="connsiteX2" fmla="*/ 639000 w 639000"/>
              <a:gd name="connsiteY2" fmla="*/ 110050 h 220100"/>
              <a:gd name="connsiteX3" fmla="*/ 319500 w 639000"/>
              <a:gd name="connsiteY3" fmla="*/ 220100 h 220100"/>
              <a:gd name="rtl" fmla="*/ 8530650 w 639000"/>
              <a:gd name="rtt" fmla="*/ 4178350 h 220100"/>
              <a:gd name="rtr" fmla="*/ 9169650 w 639000"/>
              <a:gd name="rtb" fmla="*/ 4398450 h 2201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2D3436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1065" b="1" dirty="0">
                <a:solidFill>
                  <a:srgbClr val="2D34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知识库层</a:t>
            </a:r>
            <a:endParaRPr lang="zh-CN" altLang="en-US" sz="1065" b="1" dirty="0">
              <a:solidFill>
                <a:srgbClr val="2D34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7" name="任意多边形 686"/>
          <p:cNvSpPr/>
          <p:nvPr/>
        </p:nvSpPr>
        <p:spPr>
          <a:xfrm>
            <a:off x="8096730" y="5014930"/>
            <a:ext cx="340800" cy="340800"/>
          </a:xfrm>
          <a:custGeom>
            <a:avLst/>
            <a:gdLst/>
            <a:ahLst/>
            <a:cxnLst/>
            <a:rect l="l" t="t" r="r" b="b"/>
            <a:pathLst>
              <a:path w="340800" h="340800" stroke="0">
                <a:moveTo>
                  <a:pt x="340800" y="170400"/>
                </a:moveTo>
                <a:cubicBezTo>
                  <a:pt x="340800" y="264509"/>
                  <a:pt x="264509" y="340800"/>
                  <a:pt x="170400" y="340800"/>
                </a:cubicBezTo>
                <a:cubicBezTo>
                  <a:pt x="76291" y="340800"/>
                  <a:pt x="0" y="264509"/>
                  <a:pt x="0" y="170400"/>
                </a:cubicBezTo>
                <a:cubicBezTo>
                  <a:pt x="0" y="76291"/>
                  <a:pt x="76291" y="0"/>
                  <a:pt x="170400" y="0"/>
                </a:cubicBezTo>
                <a:cubicBezTo>
                  <a:pt x="264509" y="0"/>
                  <a:pt x="340800" y="76291"/>
                  <a:pt x="340800" y="170400"/>
                </a:cubicBezTo>
                <a:close/>
              </a:path>
              <a:path w="340800" h="340800" fill="none">
                <a:moveTo>
                  <a:pt x="340800" y="170400"/>
                </a:moveTo>
                <a:cubicBezTo>
                  <a:pt x="340800" y="264509"/>
                  <a:pt x="264509" y="340800"/>
                  <a:pt x="170400" y="340800"/>
                </a:cubicBezTo>
                <a:cubicBezTo>
                  <a:pt x="76291" y="340800"/>
                  <a:pt x="0" y="264509"/>
                  <a:pt x="0" y="170400"/>
                </a:cubicBezTo>
                <a:cubicBezTo>
                  <a:pt x="0" y="76291"/>
                  <a:pt x="76291" y="0"/>
                  <a:pt x="170400" y="0"/>
                </a:cubicBezTo>
                <a:cubicBezTo>
                  <a:pt x="264509" y="0"/>
                  <a:pt x="340800" y="76291"/>
                  <a:pt x="340800" y="170400"/>
                </a:cubicBezTo>
                <a:close/>
              </a:path>
            </a:pathLst>
          </a:custGeom>
          <a:solidFill>
            <a:srgbClr val="E0F7FA"/>
          </a:solidFill>
          <a:ln w="7100" cap="flat">
            <a:noFill/>
            <a:miter/>
          </a:ln>
        </p:spPr>
      </p:sp>
      <p:sp>
        <p:nvSpPr>
          <p:cNvPr id="688" name="任意多边形 687"/>
          <p:cNvSpPr/>
          <p:nvPr/>
        </p:nvSpPr>
        <p:spPr>
          <a:xfrm>
            <a:off x="8196130" y="5085930"/>
            <a:ext cx="142000" cy="56800"/>
          </a:xfrm>
          <a:custGeom>
            <a:avLst/>
            <a:gdLst/>
            <a:ahLst/>
            <a:cxnLst/>
            <a:rect l="l" t="t" r="r" b="b"/>
            <a:pathLst>
              <a:path w="142000" h="56800" stroke="0">
                <a:moveTo>
                  <a:pt x="142000" y="28400"/>
                </a:moveTo>
                <a:cubicBezTo>
                  <a:pt x="142000" y="44085"/>
                  <a:pt x="110212" y="56800"/>
                  <a:pt x="71000" y="56800"/>
                </a:cubicBezTo>
                <a:cubicBezTo>
                  <a:pt x="31788" y="56800"/>
                  <a:pt x="0" y="44085"/>
                  <a:pt x="0" y="28400"/>
                </a:cubicBezTo>
                <a:cubicBezTo>
                  <a:pt x="0" y="12715"/>
                  <a:pt x="31788" y="0"/>
                  <a:pt x="71000" y="0"/>
                </a:cubicBezTo>
                <a:cubicBezTo>
                  <a:pt x="110212" y="0"/>
                  <a:pt x="142000" y="12715"/>
                  <a:pt x="142000" y="28400"/>
                </a:cubicBezTo>
                <a:close/>
              </a:path>
              <a:path w="142000" h="56800" fill="none">
                <a:moveTo>
                  <a:pt x="142000" y="28400"/>
                </a:moveTo>
                <a:cubicBezTo>
                  <a:pt x="142000" y="44085"/>
                  <a:pt x="110212" y="56800"/>
                  <a:pt x="71000" y="56800"/>
                </a:cubicBezTo>
                <a:cubicBezTo>
                  <a:pt x="31788" y="56800"/>
                  <a:pt x="0" y="44085"/>
                  <a:pt x="0" y="28400"/>
                </a:cubicBezTo>
                <a:cubicBezTo>
                  <a:pt x="0" y="12715"/>
                  <a:pt x="31788" y="0"/>
                  <a:pt x="71000" y="0"/>
                </a:cubicBezTo>
                <a:cubicBezTo>
                  <a:pt x="110212" y="0"/>
                  <a:pt x="142000" y="12715"/>
                  <a:pt x="142000" y="28400"/>
                </a:cubicBezTo>
                <a:close/>
              </a:path>
            </a:pathLst>
          </a:custGeom>
          <a:noFill/>
          <a:ln w="14200" cap="flat">
            <a:solidFill>
              <a:srgbClr val="00CEC9"/>
            </a:solidFill>
            <a:miter/>
          </a:ln>
        </p:spPr>
      </p:sp>
      <p:sp>
        <p:nvSpPr>
          <p:cNvPr id="689" name="任意多边形 688"/>
          <p:cNvSpPr/>
          <p:nvPr/>
        </p:nvSpPr>
        <p:spPr>
          <a:xfrm>
            <a:off x="8196130" y="5114330"/>
            <a:ext cx="142000" cy="99400"/>
          </a:xfrm>
          <a:custGeom>
            <a:avLst/>
            <a:gdLst/>
            <a:ahLst/>
            <a:cxnLst/>
            <a:rect l="l" t="t" r="r" b="b"/>
            <a:pathLst>
              <a:path w="142000" h="99400" stroke="0">
                <a:moveTo>
                  <a:pt x="0" y="0"/>
                </a:moveTo>
                <a:lnTo>
                  <a:pt x="0" y="71000"/>
                </a:lnTo>
                <a:cubicBezTo>
                  <a:pt x="0" y="86685"/>
                  <a:pt x="31788" y="99400"/>
                  <a:pt x="71000" y="99400"/>
                </a:cubicBezTo>
                <a:cubicBezTo>
                  <a:pt x="110212" y="99400"/>
                  <a:pt x="142000" y="86685"/>
                  <a:pt x="142000" y="71000"/>
                </a:cubicBezTo>
                <a:lnTo>
                  <a:pt x="142000" y="0"/>
                </a:lnTo>
              </a:path>
              <a:path w="142000" h="99400" fill="none">
                <a:moveTo>
                  <a:pt x="0" y="0"/>
                </a:moveTo>
                <a:lnTo>
                  <a:pt x="0" y="71000"/>
                </a:lnTo>
                <a:cubicBezTo>
                  <a:pt x="0" y="86685"/>
                  <a:pt x="31788" y="99400"/>
                  <a:pt x="71000" y="99400"/>
                </a:cubicBezTo>
                <a:cubicBezTo>
                  <a:pt x="110212" y="99400"/>
                  <a:pt x="142000" y="86685"/>
                  <a:pt x="142000" y="71000"/>
                </a:cubicBezTo>
                <a:lnTo>
                  <a:pt x="142000" y="0"/>
                </a:lnTo>
              </a:path>
            </a:pathLst>
          </a:custGeom>
          <a:noFill/>
          <a:ln w="14200" cap="flat">
            <a:solidFill>
              <a:srgbClr val="00CEC9"/>
            </a:solidFill>
            <a:miter/>
          </a:ln>
        </p:spPr>
      </p:sp>
      <p:sp>
        <p:nvSpPr>
          <p:cNvPr id="690" name="任意多边形 689"/>
          <p:cNvSpPr/>
          <p:nvPr/>
        </p:nvSpPr>
        <p:spPr>
          <a:xfrm>
            <a:off x="8196130" y="5185330"/>
            <a:ext cx="142000" cy="99400"/>
          </a:xfrm>
          <a:custGeom>
            <a:avLst/>
            <a:gdLst/>
            <a:ahLst/>
            <a:cxnLst/>
            <a:rect l="l" t="t" r="r" b="b"/>
            <a:pathLst>
              <a:path w="142000" h="99400" stroke="0">
                <a:moveTo>
                  <a:pt x="0" y="0"/>
                </a:moveTo>
                <a:lnTo>
                  <a:pt x="0" y="71000"/>
                </a:lnTo>
                <a:cubicBezTo>
                  <a:pt x="0" y="86685"/>
                  <a:pt x="31788" y="99400"/>
                  <a:pt x="71000" y="99400"/>
                </a:cubicBezTo>
                <a:cubicBezTo>
                  <a:pt x="110212" y="99400"/>
                  <a:pt x="142000" y="86685"/>
                  <a:pt x="142000" y="71000"/>
                </a:cubicBezTo>
                <a:lnTo>
                  <a:pt x="142000" y="0"/>
                </a:lnTo>
              </a:path>
              <a:path w="142000" h="99400" fill="none">
                <a:moveTo>
                  <a:pt x="0" y="0"/>
                </a:moveTo>
                <a:lnTo>
                  <a:pt x="0" y="71000"/>
                </a:lnTo>
                <a:cubicBezTo>
                  <a:pt x="0" y="86685"/>
                  <a:pt x="31788" y="99400"/>
                  <a:pt x="71000" y="99400"/>
                </a:cubicBezTo>
                <a:cubicBezTo>
                  <a:pt x="110212" y="99400"/>
                  <a:pt x="142000" y="86685"/>
                  <a:pt x="142000" y="71000"/>
                </a:cubicBezTo>
                <a:lnTo>
                  <a:pt x="142000" y="0"/>
                </a:lnTo>
              </a:path>
            </a:pathLst>
          </a:custGeom>
          <a:noFill/>
          <a:ln w="14200" cap="flat">
            <a:solidFill>
              <a:srgbClr val="00CEC9"/>
            </a:solidFill>
            <a:miter/>
          </a:ln>
        </p:spPr>
      </p:sp>
      <p:grpSp>
        <p:nvGrpSpPr>
          <p:cNvPr id="735" name="Group 735"/>
          <p:cNvGrpSpPr/>
          <p:nvPr/>
        </p:nvGrpSpPr>
        <p:grpSpPr>
          <a:xfrm>
            <a:off x="27580" y="644880"/>
            <a:ext cx="2279100" cy="511200"/>
            <a:chOff x="-1526900" y="589000"/>
            <a:chExt cx="2279100" cy="511200"/>
          </a:xfrm>
        </p:grpSpPr>
        <p:sp>
          <p:nvSpPr>
            <p:cNvPr id="691" name="任意多边形 690"/>
            <p:cNvSpPr/>
            <p:nvPr/>
          </p:nvSpPr>
          <p:spPr>
            <a:xfrm>
              <a:off x="-1526900" y="589000"/>
              <a:ext cx="2279100" cy="511200"/>
            </a:xfrm>
            <a:custGeom>
              <a:avLst/>
              <a:gdLst>
                <a:gd name="connsiteX0" fmla="*/ 0 w 2279100"/>
                <a:gd name="connsiteY0" fmla="*/ 255600 h 511200"/>
                <a:gd name="connsiteX1" fmla="*/ 1139550 w 2279100"/>
                <a:gd name="connsiteY1" fmla="*/ 0 h 511200"/>
                <a:gd name="connsiteX2" fmla="*/ 2279100 w 2279100"/>
                <a:gd name="connsiteY2" fmla="*/ 255600 h 511200"/>
                <a:gd name="connsiteX3" fmla="*/ 1139550 w 2279100"/>
                <a:gd name="connsiteY3" fmla="*/ 511200 h 511200"/>
              </a:gdLst>
              <a:ahLst/>
              <a:cxnLst>
                <a:cxn ang="10800000">
                  <a:pos x="connsiteX0" y="connsiteY0"/>
                </a:cxn>
                <a:cxn ang="16200000">
                  <a:pos x="connsiteX1" y="connsiteY1"/>
                </a:cxn>
                <a:cxn ang="0">
                  <a:pos x="connsiteX2" y="connsiteY2"/>
                </a:cxn>
                <a:cxn ang="5400000">
                  <a:pos x="connsiteX3" y="connsiteY3"/>
                </a:cxn>
              </a:cxnLst>
              <a:rect l="l" t="t" r="r" b="b"/>
              <a:pathLst/>
            </a:custGeom>
            <a:solidFill>
              <a:srgbClr val="636E72"/>
            </a:solidFill>
            <a:ln w="7100" cap="flat">
              <a:noFill/>
              <a:miter/>
            </a:ln>
          </p:spPr>
        </p:sp>
        <p:sp>
          <p:nvSpPr>
            <p:cNvPr id="736" name="Text 736"/>
            <p:cNvSpPr txBox="1"/>
            <p:nvPr/>
          </p:nvSpPr>
          <p:spPr>
            <a:xfrm>
              <a:off x="7007300" y="5022950"/>
              <a:ext cx="1824700" cy="1846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9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聚合提炼过去50年的零散实验与研究数据</a:t>
              </a:r>
              <a:endParaRPr lang="zh-CN" altLang="en-US" sz="69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37" name="Text 737"/>
            <p:cNvSpPr txBox="1"/>
            <p:nvPr/>
          </p:nvSpPr>
          <p:spPr>
            <a:xfrm>
              <a:off x="7007300" y="5186250"/>
              <a:ext cx="2279100" cy="1846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9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将数千篇文献成果转化为结构化、可查询的底层系统</a:t>
              </a:r>
              <a:endParaRPr lang="zh-CN" altLang="en-US" sz="69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38" name="Text 738"/>
            <p:cNvSpPr txBox="1"/>
            <p:nvPr/>
          </p:nvSpPr>
          <p:spPr>
            <a:xfrm>
              <a:off x="7007300" y="5349550"/>
              <a:ext cx="2094500" cy="184600"/>
            </a:xfrm>
            <a:prstGeom prst="rect">
              <a:avLst/>
            </a:prstGeom>
            <a:noFill/>
          </p:spPr>
          <p:txBody>
            <a:bodyPr wrap="none" lIns="38100" tIns="38100" rIns="38100" bIns="38100" rtlCol="0" anchor="ctr"/>
            <a:lstStyle/>
            <a:p>
              <a:pPr algn="l"/>
              <a:r>
                <a:rPr lang="zh-CN" altLang="en-US" sz="690" dirty="0">
                  <a:solidFill>
                    <a:srgbClr val="636E7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▪ 挖掘隐性经验，将设计禁区显性化为可推理规则</a:t>
              </a:r>
              <a:endParaRPr lang="zh-CN" altLang="en-US" sz="690" dirty="0">
                <a:solidFill>
                  <a:srgbClr val="636E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692" name="任意多边形 691"/>
          <p:cNvSpPr/>
          <p:nvPr/>
        </p:nvSpPr>
        <p:spPr>
          <a:xfrm>
            <a:off x="10503630" y="4865830"/>
            <a:ext cx="710000" cy="184600"/>
          </a:xfrm>
          <a:custGeom>
            <a:avLst/>
            <a:gdLst/>
            <a:ahLst/>
            <a:cxnLst/>
            <a:rect l="l" t="t" r="r" b="b"/>
            <a:pathLst>
              <a:path w="710000" h="184600" stroke="0">
                <a:moveTo>
                  <a:pt x="0" y="92300"/>
                </a:moveTo>
                <a:cubicBezTo>
                  <a:pt x="0" y="41324"/>
                  <a:pt x="41324" y="0"/>
                  <a:pt x="92300" y="0"/>
                </a:cubicBezTo>
                <a:lnTo>
                  <a:pt x="617700" y="0"/>
                </a:lnTo>
                <a:cubicBezTo>
                  <a:pt x="668676" y="0"/>
                  <a:pt x="710000" y="41324"/>
                  <a:pt x="710000" y="92300"/>
                </a:cubicBezTo>
                <a:cubicBezTo>
                  <a:pt x="710000" y="143276"/>
                  <a:pt x="668676" y="184600"/>
                  <a:pt x="617700" y="184600"/>
                </a:cubicBezTo>
                <a:lnTo>
                  <a:pt x="92300" y="184600"/>
                </a:lnTo>
                <a:cubicBezTo>
                  <a:pt x="41324" y="184600"/>
                  <a:pt x="0" y="143276"/>
                  <a:pt x="0" y="92300"/>
                </a:cubicBezTo>
                <a:close/>
              </a:path>
              <a:path w="710000" h="184600" fill="none">
                <a:moveTo>
                  <a:pt x="0" y="92300"/>
                </a:moveTo>
                <a:cubicBezTo>
                  <a:pt x="0" y="41324"/>
                  <a:pt x="41324" y="0"/>
                  <a:pt x="92300" y="0"/>
                </a:cubicBezTo>
                <a:lnTo>
                  <a:pt x="617700" y="0"/>
                </a:lnTo>
                <a:cubicBezTo>
                  <a:pt x="668676" y="0"/>
                  <a:pt x="710000" y="41324"/>
                  <a:pt x="710000" y="92300"/>
                </a:cubicBezTo>
                <a:cubicBezTo>
                  <a:pt x="710000" y="143276"/>
                  <a:pt x="668676" y="184600"/>
                  <a:pt x="617700" y="184600"/>
                </a:cubicBezTo>
                <a:lnTo>
                  <a:pt x="92300" y="184600"/>
                </a:lnTo>
                <a:cubicBezTo>
                  <a:pt x="41324" y="184600"/>
                  <a:pt x="0" y="143276"/>
                  <a:pt x="0" y="92300"/>
                </a:cubicBezTo>
                <a:close/>
              </a:path>
            </a:pathLst>
          </a:custGeom>
          <a:solidFill>
            <a:srgbClr val="FF7675">
              <a:alpha val="15000"/>
            </a:srgbClr>
          </a:solidFill>
          <a:ln w="7100" cap="flat">
            <a:solidFill>
              <a:srgbClr val="FF7675"/>
            </a:solidFill>
            <a:miter/>
          </a:ln>
        </p:spPr>
      </p:sp>
      <p:sp>
        <p:nvSpPr>
          <p:cNvPr id="693" name="任意多边形 692"/>
          <p:cNvSpPr/>
          <p:nvPr/>
        </p:nvSpPr>
        <p:spPr>
          <a:xfrm>
            <a:off x="27580" y="644880"/>
            <a:ext cx="660300" cy="184600"/>
          </a:xfrm>
          <a:custGeom>
            <a:avLst/>
            <a:gdLst>
              <a:gd name="connsiteX0" fmla="*/ 0 w 660300"/>
              <a:gd name="connsiteY0" fmla="*/ 92300 h 184600"/>
              <a:gd name="connsiteX1" fmla="*/ 330150 w 660300"/>
              <a:gd name="connsiteY1" fmla="*/ 0 h 184600"/>
              <a:gd name="connsiteX2" fmla="*/ 660300 w 660300"/>
              <a:gd name="connsiteY2" fmla="*/ 92300 h 184600"/>
              <a:gd name="connsiteX3" fmla="*/ 330150 w 660300"/>
              <a:gd name="connsiteY3" fmla="*/ 184600 h 184600"/>
              <a:gd name="rtl" fmla="*/ 10505504 w 660300"/>
              <a:gd name="rtt" fmla="*/ 4206750 h 184600"/>
              <a:gd name="rtr" fmla="*/ 11163696 w 660300"/>
              <a:gd name="rtb" fmla="*/ 4391350 h 184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D63031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D630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⚡ 攻克痛点 1</a:t>
            </a:r>
            <a:endParaRPr lang="zh-CN" altLang="en-US" sz="640" b="1" dirty="0">
              <a:solidFill>
                <a:srgbClr val="D630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6" name="任意多边形 695"/>
          <p:cNvSpPr/>
          <p:nvPr/>
        </p:nvSpPr>
        <p:spPr>
          <a:xfrm>
            <a:off x="11426630" y="1990330"/>
            <a:ext cx="213000" cy="3195000"/>
          </a:xfrm>
          <a:custGeom>
            <a:avLst/>
            <a:gdLst/>
            <a:ahLst/>
            <a:cxnLst/>
            <a:rect l="l" t="t" r="r" b="b"/>
            <a:pathLst>
              <a:path w="213000" h="3195000" fill="none">
                <a:moveTo>
                  <a:pt x="0" y="0"/>
                </a:moveTo>
                <a:cubicBezTo>
                  <a:pt x="284000" y="0"/>
                  <a:pt x="284000" y="3195000"/>
                  <a:pt x="0" y="3195000"/>
                </a:cubicBezTo>
              </a:path>
            </a:pathLst>
          </a:custGeom>
          <a:noFill/>
          <a:ln w="28400" cap="flat">
            <a:solidFill>
              <a:srgbClr val="0984E3"/>
            </a:solidFill>
            <a:custDash>
              <a:ds d="600000" sp="400000"/>
            </a:custDash>
            <a:miter/>
          </a:ln>
        </p:spPr>
      </p:sp>
      <p:sp>
        <p:nvSpPr>
          <p:cNvPr id="697" name="任意多边形 696"/>
          <p:cNvSpPr/>
          <p:nvPr/>
        </p:nvSpPr>
        <p:spPr>
          <a:xfrm rot="7200000">
            <a:off x="11326004" y="5149100"/>
            <a:ext cx="189986" cy="189986"/>
          </a:xfrm>
          <a:custGeom>
            <a:avLst/>
            <a:gdLst/>
            <a:ahLst/>
            <a:cxnLst/>
            <a:rect l="l" t="t" r="r" b="b"/>
            <a:pathLst>
              <a:path w="189986" h="189986" stroke="0">
                <a:moveTo>
                  <a:pt x="0" y="0"/>
                </a:moveTo>
                <a:lnTo>
                  <a:pt x="189986" y="94993"/>
                </a:lnTo>
                <a:lnTo>
                  <a:pt x="0" y="189986"/>
                </a:lnTo>
                <a:lnTo>
                  <a:pt x="0" y="0"/>
                </a:lnTo>
                <a:close/>
              </a:path>
              <a:path w="189986" h="189986" fill="none">
                <a:moveTo>
                  <a:pt x="0" y="0"/>
                </a:moveTo>
                <a:lnTo>
                  <a:pt x="189986" y="94993"/>
                </a:lnTo>
                <a:lnTo>
                  <a:pt x="0" y="189986"/>
                </a:lnTo>
                <a:lnTo>
                  <a:pt x="0" y="0"/>
                </a:lnTo>
                <a:close/>
              </a:path>
            </a:pathLst>
          </a:custGeom>
          <a:solidFill>
            <a:srgbClr val="0984E3"/>
          </a:solidFill>
          <a:ln w="7100" cap="flat">
            <a:noFill/>
            <a:miter/>
          </a:ln>
        </p:spPr>
      </p:sp>
      <p:sp>
        <p:nvSpPr>
          <p:cNvPr id="699" name="任意多边形 698"/>
          <p:cNvSpPr/>
          <p:nvPr/>
        </p:nvSpPr>
        <p:spPr>
          <a:xfrm>
            <a:off x="11355630" y="2913330"/>
            <a:ext cx="213000" cy="1278000"/>
          </a:xfrm>
          <a:custGeom>
            <a:avLst/>
            <a:gdLst/>
            <a:ahLst/>
            <a:cxnLst/>
            <a:rect l="l" t="t" r="r" b="b"/>
            <a:pathLst>
              <a:path w="213000" h="1278000" stroke="0">
                <a:moveTo>
                  <a:pt x="0" y="106500"/>
                </a:moveTo>
                <a:cubicBezTo>
                  <a:pt x="0" y="47682"/>
                  <a:pt x="47682" y="0"/>
                  <a:pt x="106500" y="0"/>
                </a:cubicBezTo>
                <a:cubicBezTo>
                  <a:pt x="165318" y="0"/>
                  <a:pt x="213000" y="47682"/>
                  <a:pt x="213000" y="106500"/>
                </a:cubicBezTo>
                <a:lnTo>
                  <a:pt x="213000" y="1171500"/>
                </a:lnTo>
                <a:cubicBezTo>
                  <a:pt x="213000" y="1230318"/>
                  <a:pt x="165318" y="1278000"/>
                  <a:pt x="106500" y="1278000"/>
                </a:cubicBezTo>
                <a:cubicBezTo>
                  <a:pt x="47682" y="1278000"/>
                  <a:pt x="0" y="1230318"/>
                  <a:pt x="0" y="1171500"/>
                </a:cubicBezTo>
                <a:lnTo>
                  <a:pt x="0" y="106500"/>
                </a:lnTo>
                <a:close/>
              </a:path>
              <a:path w="213000" h="1278000" fill="none">
                <a:moveTo>
                  <a:pt x="0" y="106500"/>
                </a:moveTo>
                <a:cubicBezTo>
                  <a:pt x="0" y="47682"/>
                  <a:pt x="47682" y="0"/>
                  <a:pt x="106500" y="0"/>
                </a:cubicBezTo>
                <a:cubicBezTo>
                  <a:pt x="165318" y="0"/>
                  <a:pt x="213000" y="47682"/>
                  <a:pt x="213000" y="106500"/>
                </a:cubicBezTo>
                <a:lnTo>
                  <a:pt x="213000" y="1171500"/>
                </a:lnTo>
                <a:cubicBezTo>
                  <a:pt x="213000" y="1230318"/>
                  <a:pt x="165318" y="1278000"/>
                  <a:pt x="106500" y="1278000"/>
                </a:cubicBezTo>
                <a:cubicBezTo>
                  <a:pt x="47682" y="1278000"/>
                  <a:pt x="0" y="1230318"/>
                  <a:pt x="0" y="1171500"/>
                </a:cubicBezTo>
                <a:lnTo>
                  <a:pt x="0" y="106500"/>
                </a:ln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0984E3"/>
            </a:solidFill>
            <a:miter/>
          </a:ln>
        </p:spPr>
      </p:sp>
      <p:sp>
        <p:nvSpPr>
          <p:cNvPr id="700" name="任意多边形 699"/>
          <p:cNvSpPr/>
          <p:nvPr/>
        </p:nvSpPr>
        <p:spPr>
          <a:xfrm>
            <a:off x="27580" y="644880"/>
            <a:ext cx="965600" cy="170400"/>
          </a:xfrm>
          <a:custGeom>
            <a:avLst/>
            <a:gdLst>
              <a:gd name="connsiteX0" fmla="*/ 0 w 965600"/>
              <a:gd name="connsiteY0" fmla="*/ 85200 h 170400"/>
              <a:gd name="connsiteX1" fmla="*/ 482800 w 965600"/>
              <a:gd name="connsiteY1" fmla="*/ 0 h 170400"/>
              <a:gd name="connsiteX2" fmla="*/ 965600 w 965600"/>
              <a:gd name="connsiteY2" fmla="*/ 85200 h 170400"/>
              <a:gd name="connsiteX3" fmla="*/ 482800 w 965600"/>
              <a:gd name="connsiteY3" fmla="*/ 170400 h 170400"/>
              <a:gd name="rtl" fmla="*/ 10962288 w 965600"/>
              <a:gd name="rtt" fmla="*/ 2815150 h 170400"/>
              <a:gd name="rtr" fmla="*/ 11927888 w 965600"/>
              <a:gd name="rtb" fmla="*/ 2985550 h 1704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984E3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0984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</a:t>
            </a:r>
            <a:endParaRPr lang="zh-CN" altLang="en-US" sz="745" b="1" dirty="0">
              <a:solidFill>
                <a:srgbClr val="0984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745" b="1" dirty="0">
                <a:solidFill>
                  <a:srgbClr val="0984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哺</a:t>
            </a:r>
            <a:endParaRPr lang="zh-CN" altLang="en-US" sz="745" b="1" dirty="0">
              <a:solidFill>
                <a:srgbClr val="0984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745" b="1" dirty="0">
                <a:solidFill>
                  <a:srgbClr val="0984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endParaRPr lang="zh-CN" altLang="en-US" sz="745" b="1" dirty="0">
              <a:solidFill>
                <a:srgbClr val="0984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745" b="1" dirty="0">
                <a:solidFill>
                  <a:srgbClr val="0984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</a:t>
            </a:r>
            <a:endParaRPr lang="zh-CN" altLang="en-US" sz="745" b="1" dirty="0">
              <a:solidFill>
                <a:srgbClr val="0984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745" b="1" dirty="0">
                <a:solidFill>
                  <a:srgbClr val="0984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</a:t>
            </a:r>
            <a:endParaRPr lang="zh-CN" altLang="en-US" sz="745" b="1" dirty="0">
              <a:solidFill>
                <a:srgbClr val="0984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745" b="1" dirty="0">
                <a:solidFill>
                  <a:srgbClr val="0984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</a:t>
            </a:r>
            <a:endParaRPr lang="zh-CN" altLang="en-US" sz="745" b="1" dirty="0">
              <a:solidFill>
                <a:srgbClr val="0984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745" b="1" dirty="0">
                <a:solidFill>
                  <a:srgbClr val="0984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</a:t>
            </a:r>
            <a:endParaRPr lang="zh-CN" altLang="en-US" sz="745" b="1" dirty="0">
              <a:solidFill>
                <a:srgbClr val="0984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745" b="1" dirty="0">
                <a:solidFill>
                  <a:srgbClr val="0984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</a:t>
            </a:r>
            <a:endParaRPr lang="zh-CN" altLang="en-US" sz="745" b="1" dirty="0">
              <a:solidFill>
                <a:srgbClr val="0984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745" b="1" dirty="0">
                <a:solidFill>
                  <a:srgbClr val="0984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endParaRPr lang="zh-CN" altLang="en-US" sz="745" b="1" dirty="0">
              <a:solidFill>
                <a:srgbClr val="0984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1" name="任意多边形 700"/>
          <p:cNvSpPr/>
          <p:nvPr/>
        </p:nvSpPr>
        <p:spPr>
          <a:xfrm>
            <a:off x="6456630" y="3623330"/>
            <a:ext cx="1171500" cy="7100"/>
          </a:xfrm>
          <a:custGeom>
            <a:avLst/>
            <a:gdLst/>
            <a:ahLst/>
            <a:cxnLst/>
            <a:rect l="l" t="t" r="r" b="b"/>
            <a:pathLst>
              <a:path w="1171500" h="7100" fill="none">
                <a:moveTo>
                  <a:pt x="0" y="0"/>
                </a:moveTo>
                <a:lnTo>
                  <a:pt x="1171500" y="0"/>
                </a:lnTo>
              </a:path>
            </a:pathLst>
          </a:custGeom>
          <a:noFill/>
          <a:ln w="28400" cap="flat">
            <a:gradFill>
              <a:gsLst>
                <a:gs pos="0">
                  <a:srgbClr val="6C5CE7"/>
                </a:gs>
                <a:gs pos="100000">
                  <a:srgbClr val="A29BFE"/>
                </a:gs>
              </a:gsLst>
              <a:lin ang="2700000" scaled="0"/>
            </a:gradFill>
            <a:miter/>
          </a:ln>
        </p:spPr>
      </p:sp>
      <p:sp>
        <p:nvSpPr>
          <p:cNvPr id="702" name="任意多边形 701"/>
          <p:cNvSpPr/>
          <p:nvPr/>
        </p:nvSpPr>
        <p:spPr>
          <a:xfrm>
            <a:off x="7605852" y="3562491"/>
            <a:ext cx="128778" cy="128778"/>
          </a:xfrm>
          <a:custGeom>
            <a:avLst/>
            <a:gdLst/>
            <a:ahLst/>
            <a:cxnLst/>
            <a:rect l="l" t="t" r="r" b="b"/>
            <a:pathLst>
              <a:path w="128778" h="128778" stroke="0">
                <a:moveTo>
                  <a:pt x="0" y="0"/>
                </a:moveTo>
                <a:lnTo>
                  <a:pt x="128778" y="64389"/>
                </a:lnTo>
                <a:lnTo>
                  <a:pt x="0" y="128778"/>
                </a:lnTo>
                <a:lnTo>
                  <a:pt x="0" y="0"/>
                </a:lnTo>
                <a:close/>
              </a:path>
              <a:path w="128778" h="128778" fill="none">
                <a:moveTo>
                  <a:pt x="0" y="0"/>
                </a:moveTo>
                <a:lnTo>
                  <a:pt x="128778" y="64389"/>
                </a:lnTo>
                <a:lnTo>
                  <a:pt x="0" y="128778"/>
                </a:lnTo>
                <a:lnTo>
                  <a:pt x="0" y="0"/>
                </a:lnTo>
                <a:close/>
              </a:path>
            </a:pathLst>
          </a:custGeom>
          <a:solidFill>
            <a:srgbClr val="6C5CE7"/>
          </a:solidFill>
          <a:ln w="7100" cap="flat">
            <a:noFill/>
            <a:miter/>
          </a:ln>
        </p:spPr>
      </p:sp>
      <p:sp>
        <p:nvSpPr>
          <p:cNvPr id="577" name="任意多边形 576"/>
          <p:cNvSpPr/>
          <p:nvPr/>
        </p:nvSpPr>
        <p:spPr>
          <a:xfrm>
            <a:off x="1554499" y="1658195"/>
            <a:ext cx="96465" cy="96465"/>
          </a:xfrm>
          <a:custGeom>
            <a:avLst/>
            <a:gdLst/>
            <a:ahLst/>
            <a:cxnLst/>
            <a:rect l="l" t="t" r="r" b="b"/>
            <a:pathLst>
              <a:path w="96465" h="96465" stroke="0">
                <a:moveTo>
                  <a:pt x="0" y="0"/>
                </a:moveTo>
                <a:lnTo>
                  <a:pt x="96465" y="48232"/>
                </a:lnTo>
                <a:lnTo>
                  <a:pt x="0" y="96465"/>
                </a:lnTo>
                <a:lnTo>
                  <a:pt x="0" y="0"/>
                </a:lnTo>
                <a:close/>
              </a:path>
              <a:path w="96465" h="96465" fill="none">
                <a:moveTo>
                  <a:pt x="0" y="0"/>
                </a:moveTo>
                <a:lnTo>
                  <a:pt x="96465" y="48232"/>
                </a:lnTo>
                <a:lnTo>
                  <a:pt x="0" y="96465"/>
                </a:lnTo>
                <a:lnTo>
                  <a:pt x="0" y="0"/>
                </a:lnTo>
                <a:close/>
              </a:path>
            </a:pathLst>
          </a:custGeom>
          <a:solidFill>
            <a:srgbClr val="FF9F43"/>
          </a:solidFill>
          <a:ln w="7100" cap="flat">
            <a:noFill/>
            <a:miter/>
          </a:ln>
        </p:spPr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24790" y="13589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7" name="任意多边形 906"/>
          <p:cNvSpPr/>
          <p:nvPr/>
        </p:nvSpPr>
        <p:spPr>
          <a:xfrm>
            <a:off x="371648" y="711272"/>
            <a:ext cx="11360000" cy="5680000"/>
          </a:xfrm>
          <a:custGeom>
            <a:avLst/>
            <a:gdLst/>
            <a:ahLst/>
            <a:cxnLst/>
            <a:rect l="l" t="t" r="r" b="b"/>
            <a:pathLst>
              <a:path w="11360000" h="5680000" stroke="0">
                <a:moveTo>
                  <a:pt x="0" y="0"/>
                </a:moveTo>
                <a:lnTo>
                  <a:pt x="11360000" y="0"/>
                </a:lnTo>
                <a:lnTo>
                  <a:pt x="11360000" y="5680000"/>
                </a:lnTo>
                <a:lnTo>
                  <a:pt x="0" y="5680000"/>
                </a:lnTo>
                <a:lnTo>
                  <a:pt x="0" y="0"/>
                </a:lnTo>
                <a:close/>
              </a:path>
              <a:path w="11360000" h="5680000" fill="none">
                <a:moveTo>
                  <a:pt x="0" y="0"/>
                </a:moveTo>
                <a:lnTo>
                  <a:pt x="11360000" y="0"/>
                </a:lnTo>
                <a:lnTo>
                  <a:pt x="11360000" y="5680000"/>
                </a:lnTo>
                <a:lnTo>
                  <a:pt x="0" y="5680000"/>
                </a:lnTo>
                <a:lnTo>
                  <a:pt x="0" y="0"/>
                </a:lnTo>
                <a:close/>
              </a:path>
            </a:pathLst>
          </a:custGeom>
          <a:solidFill>
            <a:srgbClr val="F4F7FB"/>
          </a:solidFill>
          <a:ln w="7100" cap="flat">
            <a:noFill/>
            <a:miter/>
          </a:ln>
        </p:spPr>
      </p:sp>
      <p:sp>
        <p:nvSpPr>
          <p:cNvPr id="908" name="任意多边形 907"/>
          <p:cNvSpPr/>
          <p:nvPr/>
        </p:nvSpPr>
        <p:spPr>
          <a:xfrm>
            <a:off x="371648" y="711272"/>
            <a:ext cx="11360000" cy="5680000"/>
          </a:xfrm>
          <a:custGeom>
            <a:avLst/>
            <a:gdLst/>
            <a:ahLst/>
            <a:cxnLst/>
            <a:rect l="l" t="t" r="r" b="b"/>
            <a:pathLst>
              <a:path w="11360000" h="5680000" stroke="0">
                <a:moveTo>
                  <a:pt x="0" y="0"/>
                </a:moveTo>
                <a:lnTo>
                  <a:pt x="11360000" y="0"/>
                </a:lnTo>
                <a:lnTo>
                  <a:pt x="11360000" y="5680000"/>
                </a:lnTo>
                <a:lnTo>
                  <a:pt x="0" y="5680000"/>
                </a:lnTo>
                <a:lnTo>
                  <a:pt x="0" y="0"/>
                </a:lnTo>
                <a:close/>
              </a:path>
              <a:path w="11360000" h="5680000" fill="none">
                <a:moveTo>
                  <a:pt x="0" y="0"/>
                </a:moveTo>
                <a:lnTo>
                  <a:pt x="11360000" y="0"/>
                </a:lnTo>
                <a:lnTo>
                  <a:pt x="11360000" y="5680000"/>
                </a:lnTo>
                <a:lnTo>
                  <a:pt x="0" y="5680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7100" cap="flat">
            <a:noFill/>
            <a:miter/>
          </a:ln>
        </p:spPr>
      </p:sp>
      <p:sp>
        <p:nvSpPr>
          <p:cNvPr id="910" name="任意多边形 909"/>
          <p:cNvSpPr/>
          <p:nvPr/>
        </p:nvSpPr>
        <p:spPr>
          <a:xfrm>
            <a:off x="2856648" y="1847272"/>
            <a:ext cx="355000" cy="7100"/>
          </a:xfrm>
          <a:custGeom>
            <a:avLst/>
            <a:gdLst/>
            <a:ahLst/>
            <a:cxnLst/>
            <a:rect l="l" t="t" r="r" b="b"/>
            <a:pathLst>
              <a:path w="355000" h="7100" fill="none">
                <a:moveTo>
                  <a:pt x="0" y="0"/>
                </a:moveTo>
                <a:lnTo>
                  <a:pt x="355000" y="0"/>
                </a:lnTo>
              </a:path>
            </a:pathLst>
          </a:custGeom>
          <a:noFill/>
          <a:ln w="17750" cap="flat">
            <a:solidFill>
              <a:srgbClr val="94A3B8"/>
            </a:solidFill>
            <a:miter/>
          </a:ln>
        </p:spPr>
      </p:sp>
      <p:sp>
        <p:nvSpPr>
          <p:cNvPr id="911" name="任意多边形 910"/>
          <p:cNvSpPr/>
          <p:nvPr/>
        </p:nvSpPr>
        <p:spPr>
          <a:xfrm>
            <a:off x="3139789" y="1806447"/>
            <a:ext cx="88750" cy="88750"/>
          </a:xfrm>
          <a:custGeom>
            <a:avLst/>
            <a:gdLst/>
            <a:ahLst/>
            <a:cxnLst/>
            <a:rect l="l" t="t" r="r" b="b"/>
            <a:pathLst>
              <a:path w="88750" h="88750" stroke="0">
                <a:moveTo>
                  <a:pt x="0" y="0"/>
                </a:moveTo>
                <a:lnTo>
                  <a:pt x="88750" y="44375"/>
                </a:lnTo>
                <a:lnTo>
                  <a:pt x="0" y="88750"/>
                </a:lnTo>
                <a:lnTo>
                  <a:pt x="0" y="0"/>
                </a:lnTo>
                <a:close/>
              </a:path>
              <a:path w="88750" h="88750" fill="none">
                <a:moveTo>
                  <a:pt x="0" y="0"/>
                </a:moveTo>
                <a:lnTo>
                  <a:pt x="88750" y="44375"/>
                </a:lnTo>
                <a:lnTo>
                  <a:pt x="0" y="88750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913" name="任意多边形 912"/>
          <p:cNvSpPr/>
          <p:nvPr/>
        </p:nvSpPr>
        <p:spPr>
          <a:xfrm>
            <a:off x="2856648" y="2273272"/>
            <a:ext cx="355000" cy="2236500"/>
          </a:xfrm>
          <a:custGeom>
            <a:avLst/>
            <a:gdLst/>
            <a:ahLst/>
            <a:cxnLst/>
            <a:rect l="l" t="t" r="r" b="b"/>
            <a:pathLst>
              <a:path w="355000" h="2236500" fill="none">
                <a:moveTo>
                  <a:pt x="0" y="2236500"/>
                </a:moveTo>
                <a:cubicBezTo>
                  <a:pt x="118334" y="2236500"/>
                  <a:pt x="177500" y="2153664"/>
                  <a:pt x="177500" y="1988000"/>
                </a:cubicBezTo>
                <a:lnTo>
                  <a:pt x="177500" y="213000"/>
                </a:lnTo>
                <a:cubicBezTo>
                  <a:pt x="177500" y="71000"/>
                  <a:pt x="236666" y="0"/>
                  <a:pt x="355000" y="0"/>
                </a:cubicBezTo>
              </a:path>
            </a:pathLst>
          </a:custGeom>
          <a:noFill/>
          <a:ln w="17750" cap="flat">
            <a:solidFill>
              <a:srgbClr val="94A3B8"/>
            </a:solidFill>
            <a:miter/>
          </a:ln>
        </p:spPr>
      </p:sp>
      <p:sp>
        <p:nvSpPr>
          <p:cNvPr id="914" name="任意多边形 913"/>
          <p:cNvSpPr/>
          <p:nvPr/>
        </p:nvSpPr>
        <p:spPr>
          <a:xfrm>
            <a:off x="3149086" y="2238018"/>
            <a:ext cx="82507" cy="82507"/>
          </a:xfrm>
          <a:custGeom>
            <a:avLst/>
            <a:gdLst/>
            <a:ahLst/>
            <a:cxnLst/>
            <a:rect l="l" t="t" r="r" b="b"/>
            <a:pathLst>
              <a:path w="82507" h="82507" stroke="0">
                <a:moveTo>
                  <a:pt x="0" y="0"/>
                </a:moveTo>
                <a:lnTo>
                  <a:pt x="82507" y="41253"/>
                </a:lnTo>
                <a:lnTo>
                  <a:pt x="0" y="82507"/>
                </a:lnTo>
                <a:lnTo>
                  <a:pt x="0" y="0"/>
                </a:lnTo>
                <a:close/>
              </a:path>
              <a:path w="82507" h="82507" fill="none">
                <a:moveTo>
                  <a:pt x="0" y="0"/>
                </a:moveTo>
                <a:lnTo>
                  <a:pt x="82507" y="41253"/>
                </a:lnTo>
                <a:lnTo>
                  <a:pt x="0" y="82507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916" name="任意多边形 915"/>
          <p:cNvSpPr/>
          <p:nvPr/>
        </p:nvSpPr>
        <p:spPr>
          <a:xfrm>
            <a:off x="6335648" y="1989272"/>
            <a:ext cx="284000" cy="7100"/>
          </a:xfrm>
          <a:custGeom>
            <a:avLst/>
            <a:gdLst/>
            <a:ahLst/>
            <a:cxnLst/>
            <a:rect l="l" t="t" r="r" b="b"/>
            <a:pathLst>
              <a:path w="284000" h="7100" fill="none">
                <a:moveTo>
                  <a:pt x="0" y="0"/>
                </a:moveTo>
                <a:lnTo>
                  <a:pt x="284000" y="0"/>
                </a:lnTo>
              </a:path>
            </a:pathLst>
          </a:custGeom>
          <a:noFill/>
          <a:ln w="17750" cap="flat">
            <a:solidFill>
              <a:srgbClr val="94A3B8"/>
            </a:solidFill>
            <a:miter/>
          </a:ln>
        </p:spPr>
      </p:sp>
      <p:sp>
        <p:nvSpPr>
          <p:cNvPr id="917" name="任意多边形 916"/>
          <p:cNvSpPr/>
          <p:nvPr/>
        </p:nvSpPr>
        <p:spPr>
          <a:xfrm>
            <a:off x="6502498" y="1932330"/>
            <a:ext cx="117150" cy="117150"/>
          </a:xfrm>
          <a:custGeom>
            <a:avLst/>
            <a:gdLst/>
            <a:ahLst/>
            <a:cxnLst/>
            <a:rect l="l" t="t" r="r" b="b"/>
            <a:pathLst>
              <a:path w="117150" h="117150" stroke="0">
                <a:moveTo>
                  <a:pt x="0" y="0"/>
                </a:moveTo>
                <a:lnTo>
                  <a:pt x="117150" y="58575"/>
                </a:lnTo>
                <a:lnTo>
                  <a:pt x="0" y="117150"/>
                </a:lnTo>
                <a:lnTo>
                  <a:pt x="0" y="0"/>
                </a:lnTo>
                <a:close/>
              </a:path>
              <a:path w="117150" h="117150" fill="none">
                <a:moveTo>
                  <a:pt x="0" y="0"/>
                </a:moveTo>
                <a:lnTo>
                  <a:pt x="117150" y="58575"/>
                </a:lnTo>
                <a:lnTo>
                  <a:pt x="0" y="117150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919" name="任意多边形 918"/>
          <p:cNvSpPr/>
          <p:nvPr/>
        </p:nvSpPr>
        <p:spPr>
          <a:xfrm>
            <a:off x="6335648" y="2415272"/>
            <a:ext cx="284000" cy="7100"/>
          </a:xfrm>
          <a:custGeom>
            <a:avLst/>
            <a:gdLst/>
            <a:ahLst/>
            <a:cxnLst/>
            <a:rect l="l" t="t" r="r" b="b"/>
            <a:pathLst>
              <a:path w="284000" h="7100" fill="none">
                <a:moveTo>
                  <a:pt x="0" y="0"/>
                </a:moveTo>
                <a:lnTo>
                  <a:pt x="284000" y="0"/>
                </a:lnTo>
              </a:path>
            </a:pathLst>
          </a:custGeom>
          <a:noFill/>
          <a:ln w="17750" cap="flat">
            <a:solidFill>
              <a:srgbClr val="94A3B8"/>
            </a:solidFill>
            <a:miter/>
          </a:ln>
        </p:spPr>
      </p:sp>
      <p:sp>
        <p:nvSpPr>
          <p:cNvPr id="920" name="任意多边形 919"/>
          <p:cNvSpPr/>
          <p:nvPr/>
        </p:nvSpPr>
        <p:spPr>
          <a:xfrm>
            <a:off x="6502498" y="2354922"/>
            <a:ext cx="117150" cy="117150"/>
          </a:xfrm>
          <a:custGeom>
            <a:avLst/>
            <a:gdLst/>
            <a:ahLst/>
            <a:cxnLst/>
            <a:rect l="l" t="t" r="r" b="b"/>
            <a:pathLst>
              <a:path w="117150" h="117150" stroke="0">
                <a:moveTo>
                  <a:pt x="0" y="0"/>
                </a:moveTo>
                <a:lnTo>
                  <a:pt x="117150" y="58575"/>
                </a:lnTo>
                <a:lnTo>
                  <a:pt x="0" y="117150"/>
                </a:lnTo>
                <a:lnTo>
                  <a:pt x="0" y="0"/>
                </a:lnTo>
                <a:close/>
              </a:path>
              <a:path w="117150" h="117150" fill="none">
                <a:moveTo>
                  <a:pt x="0" y="0"/>
                </a:moveTo>
                <a:lnTo>
                  <a:pt x="117150" y="58575"/>
                </a:lnTo>
                <a:lnTo>
                  <a:pt x="0" y="117150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922" name="任意多边形 921"/>
          <p:cNvSpPr/>
          <p:nvPr/>
        </p:nvSpPr>
        <p:spPr>
          <a:xfrm>
            <a:off x="7897676" y="2628272"/>
            <a:ext cx="7100" cy="355000"/>
          </a:xfrm>
          <a:custGeom>
            <a:avLst/>
            <a:gdLst/>
            <a:ahLst/>
            <a:cxnLst/>
            <a:rect l="l" t="t" r="r" b="b"/>
            <a:pathLst>
              <a:path w="7100" h="355000" fill="none">
                <a:moveTo>
                  <a:pt x="0" y="0"/>
                </a:moveTo>
                <a:lnTo>
                  <a:pt x="0" y="355000"/>
                </a:lnTo>
              </a:path>
            </a:pathLst>
          </a:custGeom>
          <a:noFill/>
          <a:ln w="17750" cap="flat">
            <a:solidFill>
              <a:srgbClr val="94A3B8"/>
            </a:solidFill>
            <a:miter/>
          </a:ln>
        </p:spPr>
      </p:sp>
      <p:sp>
        <p:nvSpPr>
          <p:cNvPr id="923" name="任意多边形 922"/>
          <p:cNvSpPr/>
          <p:nvPr/>
        </p:nvSpPr>
        <p:spPr>
          <a:xfrm>
            <a:off x="7755676" y="2894522"/>
            <a:ext cx="177500" cy="177500"/>
          </a:xfrm>
          <a:custGeom>
            <a:avLst/>
            <a:gdLst/>
            <a:ahLst/>
            <a:cxnLst/>
            <a:rect l="l" t="t" r="r" b="b"/>
            <a:pathLst>
              <a:path w="177500" h="177500" stroke="0">
                <a:moveTo>
                  <a:pt x="0" y="0"/>
                </a:moveTo>
                <a:lnTo>
                  <a:pt x="177500" y="88750"/>
                </a:lnTo>
                <a:lnTo>
                  <a:pt x="0" y="177500"/>
                </a:lnTo>
                <a:lnTo>
                  <a:pt x="0" y="0"/>
                </a:lnTo>
                <a:close/>
              </a:path>
              <a:path w="177500" h="177500" fill="none">
                <a:moveTo>
                  <a:pt x="0" y="0"/>
                </a:moveTo>
                <a:lnTo>
                  <a:pt x="177500" y="88750"/>
                </a:lnTo>
                <a:lnTo>
                  <a:pt x="0" y="177500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925" name="任意多边形 924"/>
          <p:cNvSpPr/>
          <p:nvPr/>
        </p:nvSpPr>
        <p:spPr>
          <a:xfrm>
            <a:off x="8323676" y="1279272"/>
            <a:ext cx="1136000" cy="4473000"/>
          </a:xfrm>
          <a:custGeom>
            <a:avLst/>
            <a:gdLst/>
            <a:ahLst/>
            <a:cxnLst/>
            <a:rect l="l" t="t" r="r" b="b"/>
            <a:pathLst>
              <a:path w="1136000" h="4473000" fill="none">
                <a:moveTo>
                  <a:pt x="0" y="4473000"/>
                </a:moveTo>
                <a:lnTo>
                  <a:pt x="710000" y="4473000"/>
                </a:lnTo>
                <a:cubicBezTo>
                  <a:pt x="852000" y="4473000"/>
                  <a:pt x="923000" y="4378336"/>
                  <a:pt x="923000" y="4189000"/>
                </a:cubicBezTo>
                <a:lnTo>
                  <a:pt x="923000" y="284000"/>
                </a:lnTo>
                <a:cubicBezTo>
                  <a:pt x="923000" y="94666"/>
                  <a:pt x="994000" y="0"/>
                  <a:pt x="1136000" y="0"/>
                </a:cubicBezTo>
              </a:path>
            </a:pathLst>
          </a:custGeom>
          <a:noFill/>
          <a:ln w="17750" cap="flat">
            <a:solidFill>
              <a:srgbClr val="94A3B8"/>
            </a:solidFill>
            <a:miter/>
          </a:ln>
        </p:spPr>
      </p:sp>
      <p:sp>
        <p:nvSpPr>
          <p:cNvPr id="926" name="任意多边形 925"/>
          <p:cNvSpPr/>
          <p:nvPr/>
        </p:nvSpPr>
        <p:spPr>
          <a:xfrm>
            <a:off x="9395083" y="1243774"/>
            <a:ext cx="64589" cy="75952"/>
          </a:xfrm>
          <a:custGeom>
            <a:avLst/>
            <a:gdLst/>
            <a:ahLst/>
            <a:cxnLst/>
            <a:rect l="l" t="t" r="r" b="b"/>
            <a:pathLst>
              <a:path w="64589" h="75952" stroke="0">
                <a:moveTo>
                  <a:pt x="0" y="0"/>
                </a:moveTo>
                <a:lnTo>
                  <a:pt x="64589" y="37976"/>
                </a:lnTo>
                <a:lnTo>
                  <a:pt x="0" y="75952"/>
                </a:lnTo>
                <a:lnTo>
                  <a:pt x="0" y="0"/>
                </a:lnTo>
                <a:close/>
              </a:path>
              <a:path w="64589" h="75952" fill="none">
                <a:moveTo>
                  <a:pt x="0" y="0"/>
                </a:moveTo>
                <a:lnTo>
                  <a:pt x="64589" y="37976"/>
                </a:lnTo>
                <a:lnTo>
                  <a:pt x="0" y="75952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928" name="任意多边形 927"/>
          <p:cNvSpPr/>
          <p:nvPr/>
        </p:nvSpPr>
        <p:spPr>
          <a:xfrm>
            <a:off x="6335648" y="4261272"/>
            <a:ext cx="284000" cy="7100"/>
          </a:xfrm>
          <a:custGeom>
            <a:avLst/>
            <a:gdLst/>
            <a:ahLst/>
            <a:cxnLst/>
            <a:rect l="l" t="t" r="r" b="b"/>
            <a:pathLst>
              <a:path w="284000" h="7100" fill="none">
                <a:moveTo>
                  <a:pt x="284000" y="0"/>
                </a:moveTo>
                <a:lnTo>
                  <a:pt x="0" y="0"/>
                </a:lnTo>
              </a:path>
            </a:pathLst>
          </a:custGeom>
          <a:noFill/>
          <a:ln w="17750" cap="flat">
            <a:solidFill>
              <a:srgbClr val="10B981"/>
            </a:solidFill>
            <a:custDash>
              <a:ds d="1100000" sp="500000"/>
            </a:custDash>
            <a:miter/>
          </a:ln>
        </p:spPr>
      </p:sp>
      <p:sp>
        <p:nvSpPr>
          <p:cNvPr id="929" name="任意多边形 928"/>
          <p:cNvSpPr/>
          <p:nvPr/>
        </p:nvSpPr>
        <p:spPr>
          <a:xfrm>
            <a:off x="6193648" y="4172522"/>
            <a:ext cx="177500" cy="177500"/>
          </a:xfrm>
          <a:custGeom>
            <a:avLst/>
            <a:gdLst/>
            <a:ahLst/>
            <a:cxnLst/>
            <a:rect l="l" t="t" r="r" b="b"/>
            <a:pathLst>
              <a:path w="177500" h="177500" stroke="0">
                <a:moveTo>
                  <a:pt x="0" y="0"/>
                </a:moveTo>
                <a:lnTo>
                  <a:pt x="177500" y="88750"/>
                </a:lnTo>
                <a:lnTo>
                  <a:pt x="0" y="177500"/>
                </a:lnTo>
                <a:lnTo>
                  <a:pt x="0" y="0"/>
                </a:lnTo>
                <a:close/>
              </a:path>
              <a:path w="177500" h="177500" fill="none">
                <a:moveTo>
                  <a:pt x="0" y="0"/>
                </a:moveTo>
                <a:lnTo>
                  <a:pt x="177500" y="88750"/>
                </a:lnTo>
                <a:lnTo>
                  <a:pt x="0" y="1775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 w="7100" cap="flat">
            <a:noFill/>
            <a:miter/>
          </a:ln>
        </p:spPr>
      </p:sp>
      <p:sp>
        <p:nvSpPr>
          <p:cNvPr id="931" name="任意多边形 930"/>
          <p:cNvSpPr/>
          <p:nvPr/>
        </p:nvSpPr>
        <p:spPr>
          <a:xfrm>
            <a:off x="4773648" y="4971272"/>
            <a:ext cx="7100" cy="213000"/>
          </a:xfrm>
          <a:custGeom>
            <a:avLst/>
            <a:gdLst/>
            <a:ahLst/>
            <a:cxnLst/>
            <a:rect l="l" t="t" r="r" b="b"/>
            <a:pathLst>
              <a:path w="7100" h="213000" fill="none">
                <a:moveTo>
                  <a:pt x="0" y="0"/>
                </a:moveTo>
                <a:lnTo>
                  <a:pt x="0" y="213000"/>
                </a:lnTo>
              </a:path>
            </a:pathLst>
          </a:custGeom>
          <a:noFill/>
          <a:ln w="17750" cap="flat">
            <a:solidFill>
              <a:srgbClr val="94A3B8"/>
            </a:solidFill>
            <a:miter/>
          </a:ln>
        </p:spPr>
      </p:sp>
      <p:sp>
        <p:nvSpPr>
          <p:cNvPr id="932" name="任意多边形 931"/>
          <p:cNvSpPr/>
          <p:nvPr/>
        </p:nvSpPr>
        <p:spPr>
          <a:xfrm rot="5400000">
            <a:off x="4731294" y="5099566"/>
            <a:ext cx="91807" cy="91807"/>
          </a:xfrm>
          <a:custGeom>
            <a:avLst/>
            <a:gdLst/>
            <a:ahLst/>
            <a:cxnLst/>
            <a:rect l="l" t="t" r="r" b="b"/>
            <a:pathLst>
              <a:path w="91807" h="91807" stroke="0">
                <a:moveTo>
                  <a:pt x="0" y="0"/>
                </a:moveTo>
                <a:lnTo>
                  <a:pt x="91807" y="45903"/>
                </a:lnTo>
                <a:lnTo>
                  <a:pt x="0" y="91807"/>
                </a:lnTo>
                <a:lnTo>
                  <a:pt x="0" y="0"/>
                </a:lnTo>
                <a:close/>
              </a:path>
              <a:path w="91807" h="91807" fill="none">
                <a:moveTo>
                  <a:pt x="0" y="0"/>
                </a:moveTo>
                <a:lnTo>
                  <a:pt x="91807" y="45903"/>
                </a:lnTo>
                <a:lnTo>
                  <a:pt x="0" y="91807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934" name="任意多边形 933"/>
          <p:cNvSpPr/>
          <p:nvPr/>
        </p:nvSpPr>
        <p:spPr>
          <a:xfrm>
            <a:off x="3105148" y="2699272"/>
            <a:ext cx="106500" cy="2982000"/>
          </a:xfrm>
          <a:custGeom>
            <a:avLst/>
            <a:gdLst/>
            <a:ahLst/>
            <a:cxnLst/>
            <a:rect l="l" t="t" r="r" b="b"/>
            <a:pathLst>
              <a:path w="106500" h="2982000" fill="none">
                <a:moveTo>
                  <a:pt x="106500" y="2982000"/>
                </a:moveTo>
                <a:cubicBezTo>
                  <a:pt x="35500" y="2982000"/>
                  <a:pt x="0" y="2934664"/>
                  <a:pt x="0" y="2840000"/>
                </a:cubicBezTo>
                <a:lnTo>
                  <a:pt x="0" y="142000"/>
                </a:lnTo>
                <a:cubicBezTo>
                  <a:pt x="0" y="47333"/>
                  <a:pt x="35500" y="0"/>
                  <a:pt x="106500" y="0"/>
                </a:cubicBezTo>
              </a:path>
            </a:pathLst>
          </a:custGeom>
          <a:noFill/>
          <a:ln w="17750" cap="flat">
            <a:solidFill>
              <a:srgbClr val="10B981"/>
            </a:solidFill>
            <a:custDash>
              <a:ds d="1100000" sp="500000"/>
            </a:custDash>
            <a:miter/>
          </a:ln>
        </p:spPr>
      </p:sp>
      <p:sp>
        <p:nvSpPr>
          <p:cNvPr id="935" name="任意多边形 934"/>
          <p:cNvSpPr/>
          <p:nvPr/>
        </p:nvSpPr>
        <p:spPr>
          <a:xfrm>
            <a:off x="3155331" y="2665912"/>
            <a:ext cx="76262" cy="76262"/>
          </a:xfrm>
          <a:custGeom>
            <a:avLst/>
            <a:gdLst/>
            <a:ahLst/>
            <a:cxnLst/>
            <a:rect l="l" t="t" r="r" b="b"/>
            <a:pathLst>
              <a:path w="76262" h="76262" stroke="0">
                <a:moveTo>
                  <a:pt x="0" y="0"/>
                </a:moveTo>
                <a:lnTo>
                  <a:pt x="76262" y="38131"/>
                </a:lnTo>
                <a:lnTo>
                  <a:pt x="0" y="76262"/>
                </a:lnTo>
                <a:lnTo>
                  <a:pt x="0" y="0"/>
                </a:lnTo>
                <a:close/>
              </a:path>
              <a:path w="76262" h="76262" fill="none">
                <a:moveTo>
                  <a:pt x="0" y="0"/>
                </a:moveTo>
                <a:lnTo>
                  <a:pt x="76262" y="38131"/>
                </a:lnTo>
                <a:lnTo>
                  <a:pt x="0" y="76262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 w="7100" cap="flat">
            <a:noFill/>
            <a:miter/>
          </a:ln>
        </p:spPr>
      </p:sp>
      <p:sp>
        <p:nvSpPr>
          <p:cNvPr id="937" name="任意多边形 936"/>
          <p:cNvSpPr/>
          <p:nvPr>
            <p:custDataLst>
              <p:tags r:id="rId2"/>
            </p:custDataLst>
          </p:nvPr>
        </p:nvSpPr>
        <p:spPr>
          <a:xfrm>
            <a:off x="584648" y="924272"/>
            <a:ext cx="2272000" cy="1775000"/>
          </a:xfrm>
          <a:custGeom>
            <a:avLst/>
            <a:gdLst/>
            <a:ahLst/>
            <a:cxnLst/>
            <a:rect l="l" t="t" r="r" b="b"/>
            <a:pathLst>
              <a:path w="2272000" h="1775000" stroke="0">
                <a:moveTo>
                  <a:pt x="0" y="0"/>
                </a:moveTo>
                <a:lnTo>
                  <a:pt x="2272000" y="0"/>
                </a:lnTo>
                <a:lnTo>
                  <a:pt x="2272000" y="1775000"/>
                </a:lnTo>
                <a:lnTo>
                  <a:pt x="0" y="1775000"/>
                </a:lnTo>
                <a:lnTo>
                  <a:pt x="0" y="0"/>
                </a:lnTo>
                <a:close/>
              </a:path>
              <a:path w="2272000" h="1775000" fill="none">
                <a:moveTo>
                  <a:pt x="0" y="0"/>
                </a:moveTo>
                <a:lnTo>
                  <a:pt x="2272000" y="0"/>
                </a:lnTo>
                <a:lnTo>
                  <a:pt x="2272000" y="1775000"/>
                </a:lnTo>
                <a:lnTo>
                  <a:pt x="0" y="1775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938" name="任意多边形 937"/>
          <p:cNvSpPr/>
          <p:nvPr/>
        </p:nvSpPr>
        <p:spPr>
          <a:xfrm>
            <a:off x="584648" y="924273"/>
            <a:ext cx="2272000" cy="255600"/>
          </a:xfrm>
          <a:custGeom>
            <a:avLst/>
            <a:gdLst/>
            <a:ahLst/>
            <a:cxnLst/>
            <a:rect l="l" t="t" r="r" b="b"/>
            <a:pathLst>
              <a:path w="2272000" h="255600" stroke="0">
                <a:moveTo>
                  <a:pt x="0" y="85200"/>
                </a:moveTo>
                <a:cubicBezTo>
                  <a:pt x="0" y="28400"/>
                  <a:pt x="28400" y="0"/>
                  <a:pt x="85200" y="0"/>
                </a:cubicBezTo>
                <a:lnTo>
                  <a:pt x="2186800" y="0"/>
                </a:lnTo>
                <a:cubicBezTo>
                  <a:pt x="2243600" y="0"/>
                  <a:pt x="2272000" y="28400"/>
                  <a:pt x="2272000" y="85200"/>
                </a:cubicBezTo>
                <a:lnTo>
                  <a:pt x="2272000" y="255600"/>
                </a:lnTo>
                <a:lnTo>
                  <a:pt x="0" y="255600"/>
                </a:lnTo>
                <a:lnTo>
                  <a:pt x="0" y="85200"/>
                </a:lnTo>
                <a:close/>
              </a:path>
              <a:path w="2272000" h="255600" fill="none">
                <a:moveTo>
                  <a:pt x="0" y="85200"/>
                </a:moveTo>
                <a:cubicBezTo>
                  <a:pt x="0" y="28400"/>
                  <a:pt x="28400" y="0"/>
                  <a:pt x="85200" y="0"/>
                </a:cubicBezTo>
                <a:lnTo>
                  <a:pt x="2186800" y="0"/>
                </a:lnTo>
                <a:cubicBezTo>
                  <a:pt x="2243600" y="0"/>
                  <a:pt x="2272000" y="28400"/>
                  <a:pt x="2272000" y="85200"/>
                </a:cubicBezTo>
                <a:lnTo>
                  <a:pt x="2272000" y="255600"/>
                </a:lnTo>
                <a:lnTo>
                  <a:pt x="0" y="255600"/>
                </a:lnTo>
                <a:lnTo>
                  <a:pt x="0" y="85200"/>
                </a:lnTo>
                <a:close/>
              </a:path>
            </a:pathLst>
          </a:custGeom>
          <a:solidFill>
            <a:srgbClr val="E0E7FF"/>
          </a:solidFill>
          <a:ln w="7100" cap="flat">
            <a:noFill/>
            <a:miter/>
          </a:ln>
        </p:spPr>
      </p:sp>
      <p:sp>
        <p:nvSpPr>
          <p:cNvPr id="939" name="任意多边形 938"/>
          <p:cNvSpPr/>
          <p:nvPr/>
        </p:nvSpPr>
        <p:spPr>
          <a:xfrm>
            <a:off x="691148" y="1016573"/>
            <a:ext cx="71000" cy="71000"/>
          </a:xfrm>
          <a:custGeom>
            <a:avLst/>
            <a:gdLst/>
            <a:ahLst/>
            <a:cxnLst/>
            <a:rect l="l" t="t" r="r" b="b"/>
            <a:pathLst>
              <a:path w="71000" h="71000" stroke="0">
                <a:moveTo>
                  <a:pt x="71000" y="35500"/>
                </a:moveTo>
                <a:cubicBezTo>
                  <a:pt x="71000" y="55106"/>
                  <a:pt x="55106" y="71000"/>
                  <a:pt x="35500" y="71000"/>
                </a:cubicBezTo>
                <a:cubicBezTo>
                  <a:pt x="15894" y="71000"/>
                  <a:pt x="0" y="55106"/>
                  <a:pt x="0" y="35500"/>
                </a:cubicBez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close/>
              </a:path>
              <a:path w="71000" h="71000" fill="none">
                <a:moveTo>
                  <a:pt x="71000" y="35500"/>
                </a:moveTo>
                <a:cubicBezTo>
                  <a:pt x="71000" y="55106"/>
                  <a:pt x="55106" y="71000"/>
                  <a:pt x="35500" y="71000"/>
                </a:cubicBezTo>
                <a:cubicBezTo>
                  <a:pt x="15894" y="71000"/>
                  <a:pt x="0" y="55106"/>
                  <a:pt x="0" y="35500"/>
                </a:cubicBez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close/>
              </a:path>
            </a:pathLst>
          </a:custGeom>
          <a:solidFill>
            <a:srgbClr val="EF4444"/>
          </a:solidFill>
          <a:ln w="7100" cap="flat">
            <a:noFill/>
            <a:miter/>
          </a:ln>
        </p:spPr>
      </p:sp>
      <p:sp>
        <p:nvSpPr>
          <p:cNvPr id="940" name="任意多边形 939"/>
          <p:cNvSpPr/>
          <p:nvPr/>
        </p:nvSpPr>
        <p:spPr>
          <a:xfrm>
            <a:off x="797648" y="1016573"/>
            <a:ext cx="71000" cy="71000"/>
          </a:xfrm>
          <a:custGeom>
            <a:avLst/>
            <a:gdLst/>
            <a:ahLst/>
            <a:cxnLst/>
            <a:rect l="l" t="t" r="r" b="b"/>
            <a:pathLst>
              <a:path w="71000" h="71000" stroke="0">
                <a:moveTo>
                  <a:pt x="71000" y="35500"/>
                </a:moveTo>
                <a:cubicBezTo>
                  <a:pt x="71000" y="55106"/>
                  <a:pt x="55106" y="71000"/>
                  <a:pt x="35500" y="71000"/>
                </a:cubicBezTo>
                <a:cubicBezTo>
                  <a:pt x="15894" y="71000"/>
                  <a:pt x="0" y="55106"/>
                  <a:pt x="0" y="35500"/>
                </a:cubicBez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close/>
              </a:path>
              <a:path w="71000" h="71000" fill="none">
                <a:moveTo>
                  <a:pt x="71000" y="35500"/>
                </a:moveTo>
                <a:cubicBezTo>
                  <a:pt x="71000" y="55106"/>
                  <a:pt x="55106" y="71000"/>
                  <a:pt x="35500" y="71000"/>
                </a:cubicBezTo>
                <a:cubicBezTo>
                  <a:pt x="15894" y="71000"/>
                  <a:pt x="0" y="55106"/>
                  <a:pt x="0" y="35500"/>
                </a:cubicBez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close/>
              </a:path>
            </a:pathLst>
          </a:custGeom>
          <a:solidFill>
            <a:srgbClr val="F59E0B"/>
          </a:solidFill>
          <a:ln w="7100" cap="flat">
            <a:noFill/>
            <a:miter/>
          </a:ln>
        </p:spPr>
      </p:sp>
      <p:sp>
        <p:nvSpPr>
          <p:cNvPr id="941" name="任意多边形 940"/>
          <p:cNvSpPr/>
          <p:nvPr/>
        </p:nvSpPr>
        <p:spPr>
          <a:xfrm>
            <a:off x="904148" y="1016573"/>
            <a:ext cx="71000" cy="71000"/>
          </a:xfrm>
          <a:custGeom>
            <a:avLst/>
            <a:gdLst/>
            <a:ahLst/>
            <a:cxnLst/>
            <a:rect l="l" t="t" r="r" b="b"/>
            <a:pathLst>
              <a:path w="71000" h="71000" stroke="0">
                <a:moveTo>
                  <a:pt x="71000" y="35500"/>
                </a:moveTo>
                <a:cubicBezTo>
                  <a:pt x="71000" y="55106"/>
                  <a:pt x="55106" y="71000"/>
                  <a:pt x="35500" y="71000"/>
                </a:cubicBezTo>
                <a:cubicBezTo>
                  <a:pt x="15894" y="71000"/>
                  <a:pt x="0" y="55106"/>
                  <a:pt x="0" y="35500"/>
                </a:cubicBez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close/>
              </a:path>
              <a:path w="71000" h="71000" fill="none">
                <a:moveTo>
                  <a:pt x="71000" y="35500"/>
                </a:moveTo>
                <a:cubicBezTo>
                  <a:pt x="71000" y="55106"/>
                  <a:pt x="55106" y="71000"/>
                  <a:pt x="35500" y="71000"/>
                </a:cubicBezTo>
                <a:cubicBezTo>
                  <a:pt x="15894" y="71000"/>
                  <a:pt x="0" y="55106"/>
                  <a:pt x="0" y="35500"/>
                </a:cubicBez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close/>
              </a:path>
            </a:pathLst>
          </a:custGeom>
          <a:solidFill>
            <a:srgbClr val="10B981"/>
          </a:solidFill>
          <a:ln w="7100" cap="flat">
            <a:noFill/>
            <a:miter/>
          </a:ln>
        </p:spPr>
      </p:sp>
      <p:sp>
        <p:nvSpPr>
          <p:cNvPr id="942" name="任意多边形 941"/>
          <p:cNvSpPr/>
          <p:nvPr/>
        </p:nvSpPr>
        <p:spPr>
          <a:xfrm>
            <a:off x="104290" y="440485"/>
            <a:ext cx="1185700" cy="198800"/>
          </a:xfrm>
          <a:custGeom>
            <a:avLst/>
            <a:gdLst>
              <a:gd name="connsiteX0" fmla="*/ 0 w 1185700"/>
              <a:gd name="connsiteY0" fmla="*/ 99400 h 198800"/>
              <a:gd name="connsiteX1" fmla="*/ 592850 w 1185700"/>
              <a:gd name="connsiteY1" fmla="*/ 0 h 198800"/>
              <a:gd name="connsiteX2" fmla="*/ 1185700 w 1185700"/>
              <a:gd name="connsiteY2" fmla="*/ 99400 h 198800"/>
              <a:gd name="connsiteX3" fmla="*/ 592850 w 1185700"/>
              <a:gd name="connsiteY3" fmla="*/ 198800 h 198800"/>
              <a:gd name="rtl" fmla="*/ 891270 w 1185700"/>
              <a:gd name="rtt" fmla="*/ 512188 h 198800"/>
              <a:gd name="rtr" fmla="*/ 2169270 w 1185700"/>
              <a:gd name="rtb" fmla="*/ 710988 h 1988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0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EvoAgent-AFP Web UI</a:t>
            </a:r>
            <a:endParaRPr lang="zh-CN" altLang="en-US" sz="800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3" name="任意多边形 942"/>
          <p:cNvSpPr/>
          <p:nvPr/>
        </p:nvSpPr>
        <p:spPr>
          <a:xfrm>
            <a:off x="104290" y="440485"/>
            <a:ext cx="965600" cy="255600"/>
          </a:xfrm>
          <a:custGeom>
            <a:avLst/>
            <a:gdLst>
              <a:gd name="connsiteX0" fmla="*/ 0 w 965600"/>
              <a:gd name="connsiteY0" fmla="*/ 127800 h 255600"/>
              <a:gd name="connsiteX1" fmla="*/ 482800 w 965600"/>
              <a:gd name="connsiteY1" fmla="*/ 0 h 255600"/>
              <a:gd name="connsiteX2" fmla="*/ 965600 w 965600"/>
              <a:gd name="connsiteY2" fmla="*/ 127800 h 255600"/>
              <a:gd name="connsiteX3" fmla="*/ 482800 w 965600"/>
              <a:gd name="connsiteY3" fmla="*/ 255600 h 255600"/>
              <a:gd name="rtl" fmla="*/ 593958 w 965600"/>
              <a:gd name="rtt" fmla="*/ 739387 h 255600"/>
              <a:gd name="rtr" fmla="*/ 1559558 w 965600"/>
              <a:gd name="rtb" fmla="*/ 994987 h 255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293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960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可视化分析界面</a:t>
            </a:r>
            <a:endParaRPr lang="zh-CN" altLang="en-US" sz="960" b="1" dirty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4" name="任意多边形 943"/>
          <p:cNvSpPr/>
          <p:nvPr/>
        </p:nvSpPr>
        <p:spPr>
          <a:xfrm>
            <a:off x="691148" y="1492272"/>
            <a:ext cx="994000" cy="284000"/>
          </a:xfrm>
          <a:custGeom>
            <a:avLst/>
            <a:gdLst/>
            <a:ahLst/>
            <a:cxnLst/>
            <a:rect l="l" t="t" r="r" b="b"/>
            <a:pathLst>
              <a:path w="994000" h="284000" stroke="0">
                <a:moveTo>
                  <a:pt x="0" y="0"/>
                </a:moveTo>
                <a:lnTo>
                  <a:pt x="994000" y="0"/>
                </a:lnTo>
                <a:lnTo>
                  <a:pt x="994000" y="284000"/>
                </a:lnTo>
                <a:lnTo>
                  <a:pt x="0" y="284000"/>
                </a:lnTo>
                <a:lnTo>
                  <a:pt x="0" y="0"/>
                </a:lnTo>
                <a:close/>
              </a:path>
              <a:path w="994000" h="284000" fill="none">
                <a:moveTo>
                  <a:pt x="0" y="0"/>
                </a:moveTo>
                <a:lnTo>
                  <a:pt x="994000" y="0"/>
                </a:lnTo>
                <a:lnTo>
                  <a:pt x="994000" y="284000"/>
                </a:lnTo>
                <a:lnTo>
                  <a:pt x="0" y="2840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945" name="任意多边形 944"/>
          <p:cNvSpPr/>
          <p:nvPr/>
        </p:nvSpPr>
        <p:spPr>
          <a:xfrm>
            <a:off x="726648" y="1563272"/>
            <a:ext cx="142000" cy="142000"/>
          </a:xfrm>
          <a:custGeom>
            <a:avLst/>
            <a:gdLst/>
            <a:ahLst/>
            <a:cxnLst/>
            <a:rect l="l" t="t" r="r" b="b"/>
            <a:pathLst>
              <a:path w="142000" h="1420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113600" y="0"/>
                </a:lnTo>
                <a:cubicBezTo>
                  <a:pt x="129285" y="0"/>
                  <a:pt x="142000" y="12715"/>
                  <a:pt x="142000" y="28400"/>
                </a:cubicBezTo>
                <a:lnTo>
                  <a:pt x="142000" y="113600"/>
                </a:lnTo>
                <a:cubicBezTo>
                  <a:pt x="142000" y="129285"/>
                  <a:pt x="129285" y="142000"/>
                  <a:pt x="113600" y="142000"/>
                </a:cubicBezTo>
                <a:lnTo>
                  <a:pt x="28400" y="142000"/>
                </a:lnTo>
                <a:cubicBezTo>
                  <a:pt x="12715" y="142000"/>
                  <a:pt x="0" y="129285"/>
                  <a:pt x="0" y="113600"/>
                </a:cubicBezTo>
                <a:lnTo>
                  <a:pt x="0" y="28400"/>
                </a:lnTo>
                <a:close/>
              </a:path>
              <a:path w="142000" h="1420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113600" y="0"/>
                </a:lnTo>
                <a:cubicBezTo>
                  <a:pt x="129285" y="0"/>
                  <a:pt x="142000" y="12715"/>
                  <a:pt x="142000" y="28400"/>
                </a:cubicBezTo>
                <a:lnTo>
                  <a:pt x="142000" y="113600"/>
                </a:lnTo>
                <a:cubicBezTo>
                  <a:pt x="142000" y="129285"/>
                  <a:pt x="129285" y="142000"/>
                  <a:pt x="113600" y="142000"/>
                </a:cubicBezTo>
                <a:lnTo>
                  <a:pt x="28400" y="142000"/>
                </a:lnTo>
                <a:cubicBezTo>
                  <a:pt x="12715" y="142000"/>
                  <a:pt x="0" y="129285"/>
                  <a:pt x="0" y="113600"/>
                </a:cubicBezTo>
                <a:lnTo>
                  <a:pt x="0" y="28400"/>
                </a:lnTo>
                <a:close/>
              </a:path>
            </a:pathLst>
          </a:custGeom>
          <a:solidFill>
            <a:srgbClr val="DBEAFE"/>
          </a:solidFill>
          <a:ln w="7100" cap="flat">
            <a:noFill/>
            <a:miter/>
          </a:ln>
        </p:spPr>
      </p:sp>
      <p:sp>
        <p:nvSpPr>
          <p:cNvPr id="946" name="任意多边形 945"/>
          <p:cNvSpPr/>
          <p:nvPr/>
        </p:nvSpPr>
        <p:spPr>
          <a:xfrm>
            <a:off x="104290" y="440485"/>
            <a:ext cx="717100" cy="191700"/>
          </a:xfrm>
          <a:custGeom>
            <a:avLst/>
            <a:gdLst>
              <a:gd name="connsiteX0" fmla="*/ 0 w 717100"/>
              <a:gd name="connsiteY0" fmla="*/ 95850 h 191700"/>
              <a:gd name="connsiteX1" fmla="*/ 358550 w 717100"/>
              <a:gd name="connsiteY1" fmla="*/ 0 h 191700"/>
              <a:gd name="connsiteX2" fmla="*/ 717100 w 717100"/>
              <a:gd name="connsiteY2" fmla="*/ 95850 h 191700"/>
              <a:gd name="connsiteX3" fmla="*/ 358550 w 717100"/>
              <a:gd name="connsiteY3" fmla="*/ 191700 h 191700"/>
              <a:gd name="rtl" fmla="*/ 789208 w 717100"/>
              <a:gd name="rtt" fmla="*/ 1097937 h 191700"/>
              <a:gd name="rtr" fmla="*/ 1506308 w 717100"/>
              <a:gd name="rtb" fmla="*/ 128963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序列输入与管理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7" name="任意多边形 946"/>
          <p:cNvSpPr/>
          <p:nvPr/>
        </p:nvSpPr>
        <p:spPr>
          <a:xfrm>
            <a:off x="1756148" y="1492272"/>
            <a:ext cx="994000" cy="284000"/>
          </a:xfrm>
          <a:custGeom>
            <a:avLst/>
            <a:gdLst/>
            <a:ahLst/>
            <a:cxnLst/>
            <a:rect l="l" t="t" r="r" b="b"/>
            <a:pathLst>
              <a:path w="994000" h="284000" stroke="0">
                <a:moveTo>
                  <a:pt x="0" y="0"/>
                </a:moveTo>
                <a:lnTo>
                  <a:pt x="994000" y="0"/>
                </a:lnTo>
                <a:lnTo>
                  <a:pt x="994000" y="284000"/>
                </a:lnTo>
                <a:lnTo>
                  <a:pt x="0" y="284000"/>
                </a:lnTo>
                <a:lnTo>
                  <a:pt x="0" y="0"/>
                </a:lnTo>
                <a:close/>
              </a:path>
              <a:path w="994000" h="284000" fill="none">
                <a:moveTo>
                  <a:pt x="0" y="0"/>
                </a:moveTo>
                <a:lnTo>
                  <a:pt x="994000" y="0"/>
                </a:lnTo>
                <a:lnTo>
                  <a:pt x="994000" y="284000"/>
                </a:lnTo>
                <a:lnTo>
                  <a:pt x="0" y="2840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948" name="任意多边形 947"/>
          <p:cNvSpPr/>
          <p:nvPr/>
        </p:nvSpPr>
        <p:spPr>
          <a:xfrm>
            <a:off x="1791648" y="1563272"/>
            <a:ext cx="142000" cy="142000"/>
          </a:xfrm>
          <a:custGeom>
            <a:avLst/>
            <a:gdLst/>
            <a:ahLst/>
            <a:cxnLst/>
            <a:rect l="l" t="t" r="r" b="b"/>
            <a:pathLst>
              <a:path w="142000" h="1420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113600" y="0"/>
                </a:lnTo>
                <a:cubicBezTo>
                  <a:pt x="129285" y="0"/>
                  <a:pt x="142000" y="12715"/>
                  <a:pt x="142000" y="28400"/>
                </a:cubicBezTo>
                <a:lnTo>
                  <a:pt x="142000" y="113600"/>
                </a:lnTo>
                <a:cubicBezTo>
                  <a:pt x="142000" y="129285"/>
                  <a:pt x="129285" y="142000"/>
                  <a:pt x="113600" y="142000"/>
                </a:cubicBezTo>
                <a:lnTo>
                  <a:pt x="28400" y="142000"/>
                </a:lnTo>
                <a:cubicBezTo>
                  <a:pt x="12715" y="142000"/>
                  <a:pt x="0" y="129285"/>
                  <a:pt x="0" y="113600"/>
                </a:cubicBezTo>
                <a:lnTo>
                  <a:pt x="0" y="28400"/>
                </a:lnTo>
                <a:close/>
              </a:path>
              <a:path w="142000" h="1420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113600" y="0"/>
                </a:lnTo>
                <a:cubicBezTo>
                  <a:pt x="129285" y="0"/>
                  <a:pt x="142000" y="12715"/>
                  <a:pt x="142000" y="28400"/>
                </a:cubicBezTo>
                <a:lnTo>
                  <a:pt x="142000" y="113600"/>
                </a:lnTo>
                <a:cubicBezTo>
                  <a:pt x="142000" y="129285"/>
                  <a:pt x="129285" y="142000"/>
                  <a:pt x="113600" y="142000"/>
                </a:cubicBezTo>
                <a:lnTo>
                  <a:pt x="28400" y="142000"/>
                </a:lnTo>
                <a:cubicBezTo>
                  <a:pt x="12715" y="142000"/>
                  <a:pt x="0" y="129285"/>
                  <a:pt x="0" y="113600"/>
                </a:cubicBezTo>
                <a:lnTo>
                  <a:pt x="0" y="28400"/>
                </a:lnTo>
                <a:close/>
              </a:path>
            </a:pathLst>
          </a:custGeom>
          <a:solidFill>
            <a:srgbClr val="DBEAFE"/>
          </a:solidFill>
          <a:ln w="7100" cap="flat">
            <a:noFill/>
            <a:miter/>
          </a:ln>
        </p:spPr>
      </p:sp>
      <p:sp>
        <p:nvSpPr>
          <p:cNvPr id="949" name="任意多边形 948"/>
          <p:cNvSpPr/>
          <p:nvPr/>
        </p:nvSpPr>
        <p:spPr>
          <a:xfrm>
            <a:off x="104290" y="440485"/>
            <a:ext cx="745500" cy="191700"/>
          </a:xfrm>
          <a:custGeom>
            <a:avLst/>
            <a:gdLst>
              <a:gd name="connsiteX0" fmla="*/ 0 w 745500"/>
              <a:gd name="connsiteY0" fmla="*/ 95850 h 191700"/>
              <a:gd name="connsiteX1" fmla="*/ 372750 w 745500"/>
              <a:gd name="connsiteY1" fmla="*/ 0 h 191700"/>
              <a:gd name="connsiteX2" fmla="*/ 745500 w 745500"/>
              <a:gd name="connsiteY2" fmla="*/ 95850 h 191700"/>
              <a:gd name="connsiteX3" fmla="*/ 372750 w 745500"/>
              <a:gd name="connsiteY3" fmla="*/ 191700 h 191700"/>
              <a:gd name="rtl" fmla="*/ 1840008 w 745500"/>
              <a:gd name="rtt" fmla="*/ 1097937 h 191700"/>
              <a:gd name="rtr" fmla="*/ 2585508 w 745500"/>
              <a:gd name="rtb" fmla="*/ 128963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3D蛋白结构展示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0" name="任意多边形 949"/>
          <p:cNvSpPr/>
          <p:nvPr/>
        </p:nvSpPr>
        <p:spPr>
          <a:xfrm>
            <a:off x="691148" y="1847272"/>
            <a:ext cx="994000" cy="284000"/>
          </a:xfrm>
          <a:custGeom>
            <a:avLst/>
            <a:gdLst/>
            <a:ahLst/>
            <a:cxnLst/>
            <a:rect l="l" t="t" r="r" b="b"/>
            <a:pathLst>
              <a:path w="994000" h="284000" stroke="0">
                <a:moveTo>
                  <a:pt x="0" y="0"/>
                </a:moveTo>
                <a:lnTo>
                  <a:pt x="994000" y="0"/>
                </a:lnTo>
                <a:lnTo>
                  <a:pt x="994000" y="284000"/>
                </a:lnTo>
                <a:lnTo>
                  <a:pt x="0" y="284000"/>
                </a:lnTo>
                <a:lnTo>
                  <a:pt x="0" y="0"/>
                </a:lnTo>
                <a:close/>
              </a:path>
              <a:path w="994000" h="284000" fill="none">
                <a:moveTo>
                  <a:pt x="0" y="0"/>
                </a:moveTo>
                <a:lnTo>
                  <a:pt x="994000" y="0"/>
                </a:lnTo>
                <a:lnTo>
                  <a:pt x="994000" y="284000"/>
                </a:lnTo>
                <a:lnTo>
                  <a:pt x="0" y="2840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951" name="任意多边形 950"/>
          <p:cNvSpPr/>
          <p:nvPr/>
        </p:nvSpPr>
        <p:spPr>
          <a:xfrm>
            <a:off x="726648" y="1918272"/>
            <a:ext cx="142000" cy="142000"/>
          </a:xfrm>
          <a:custGeom>
            <a:avLst/>
            <a:gdLst/>
            <a:ahLst/>
            <a:cxnLst/>
            <a:rect l="l" t="t" r="r" b="b"/>
            <a:pathLst>
              <a:path w="142000" h="1420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113600" y="0"/>
                </a:lnTo>
                <a:cubicBezTo>
                  <a:pt x="129285" y="0"/>
                  <a:pt x="142000" y="12715"/>
                  <a:pt x="142000" y="28400"/>
                </a:cubicBezTo>
                <a:lnTo>
                  <a:pt x="142000" y="113600"/>
                </a:lnTo>
                <a:cubicBezTo>
                  <a:pt x="142000" y="129285"/>
                  <a:pt x="129285" y="142000"/>
                  <a:pt x="113600" y="142000"/>
                </a:cubicBezTo>
                <a:lnTo>
                  <a:pt x="28400" y="142000"/>
                </a:lnTo>
                <a:cubicBezTo>
                  <a:pt x="12715" y="142000"/>
                  <a:pt x="0" y="129285"/>
                  <a:pt x="0" y="113600"/>
                </a:cubicBezTo>
                <a:lnTo>
                  <a:pt x="0" y="28400"/>
                </a:lnTo>
                <a:close/>
              </a:path>
              <a:path w="142000" h="1420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113600" y="0"/>
                </a:lnTo>
                <a:cubicBezTo>
                  <a:pt x="129285" y="0"/>
                  <a:pt x="142000" y="12715"/>
                  <a:pt x="142000" y="28400"/>
                </a:cubicBezTo>
                <a:lnTo>
                  <a:pt x="142000" y="113600"/>
                </a:lnTo>
                <a:cubicBezTo>
                  <a:pt x="142000" y="129285"/>
                  <a:pt x="129285" y="142000"/>
                  <a:pt x="113600" y="142000"/>
                </a:cubicBezTo>
                <a:lnTo>
                  <a:pt x="28400" y="142000"/>
                </a:lnTo>
                <a:cubicBezTo>
                  <a:pt x="12715" y="142000"/>
                  <a:pt x="0" y="129285"/>
                  <a:pt x="0" y="113600"/>
                </a:cubicBezTo>
                <a:lnTo>
                  <a:pt x="0" y="28400"/>
                </a:lnTo>
                <a:close/>
              </a:path>
            </a:pathLst>
          </a:custGeom>
          <a:solidFill>
            <a:srgbClr val="DBEAFE"/>
          </a:solidFill>
          <a:ln w="7100" cap="flat">
            <a:noFill/>
            <a:miter/>
          </a:ln>
        </p:spPr>
      </p:sp>
      <p:sp>
        <p:nvSpPr>
          <p:cNvPr id="952" name="任意多边形 951"/>
          <p:cNvSpPr/>
          <p:nvPr/>
        </p:nvSpPr>
        <p:spPr>
          <a:xfrm>
            <a:off x="104290" y="440485"/>
            <a:ext cx="717100" cy="191700"/>
          </a:xfrm>
          <a:custGeom>
            <a:avLst/>
            <a:gdLst>
              <a:gd name="connsiteX0" fmla="*/ 0 w 717100"/>
              <a:gd name="connsiteY0" fmla="*/ 95850 h 191700"/>
              <a:gd name="connsiteX1" fmla="*/ 358550 w 717100"/>
              <a:gd name="connsiteY1" fmla="*/ 0 h 191700"/>
              <a:gd name="connsiteX2" fmla="*/ 717100 w 717100"/>
              <a:gd name="connsiteY2" fmla="*/ 95850 h 191700"/>
              <a:gd name="connsiteX3" fmla="*/ 358550 w 717100"/>
              <a:gd name="connsiteY3" fmla="*/ 191700 h 191700"/>
              <a:gd name="rtl" fmla="*/ 789208 w 717100"/>
              <a:gd name="rtt" fmla="*/ 1452937 h 191700"/>
              <a:gd name="rtr" fmla="*/ 1506308 w 717100"/>
              <a:gd name="rtb" fmla="*/ 164463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冰晶晶格可视化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3" name="任意多边形 952"/>
          <p:cNvSpPr/>
          <p:nvPr/>
        </p:nvSpPr>
        <p:spPr>
          <a:xfrm>
            <a:off x="1756148" y="1847272"/>
            <a:ext cx="994000" cy="284000"/>
          </a:xfrm>
          <a:custGeom>
            <a:avLst/>
            <a:gdLst/>
            <a:ahLst/>
            <a:cxnLst/>
            <a:rect l="l" t="t" r="r" b="b"/>
            <a:pathLst>
              <a:path w="994000" h="284000" stroke="0">
                <a:moveTo>
                  <a:pt x="0" y="0"/>
                </a:moveTo>
                <a:lnTo>
                  <a:pt x="994000" y="0"/>
                </a:lnTo>
                <a:lnTo>
                  <a:pt x="994000" y="284000"/>
                </a:lnTo>
                <a:lnTo>
                  <a:pt x="0" y="284000"/>
                </a:lnTo>
                <a:lnTo>
                  <a:pt x="0" y="0"/>
                </a:lnTo>
                <a:close/>
              </a:path>
              <a:path w="994000" h="284000" fill="none">
                <a:moveTo>
                  <a:pt x="0" y="0"/>
                </a:moveTo>
                <a:lnTo>
                  <a:pt x="994000" y="0"/>
                </a:lnTo>
                <a:lnTo>
                  <a:pt x="994000" y="284000"/>
                </a:lnTo>
                <a:lnTo>
                  <a:pt x="0" y="2840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954" name="任意多边形 953"/>
          <p:cNvSpPr/>
          <p:nvPr/>
        </p:nvSpPr>
        <p:spPr>
          <a:xfrm>
            <a:off x="1791648" y="1918272"/>
            <a:ext cx="142000" cy="142000"/>
          </a:xfrm>
          <a:custGeom>
            <a:avLst/>
            <a:gdLst/>
            <a:ahLst/>
            <a:cxnLst/>
            <a:rect l="l" t="t" r="r" b="b"/>
            <a:pathLst>
              <a:path w="142000" h="1420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113600" y="0"/>
                </a:lnTo>
                <a:cubicBezTo>
                  <a:pt x="129285" y="0"/>
                  <a:pt x="142000" y="12715"/>
                  <a:pt x="142000" y="28400"/>
                </a:cubicBezTo>
                <a:lnTo>
                  <a:pt x="142000" y="113600"/>
                </a:lnTo>
                <a:cubicBezTo>
                  <a:pt x="142000" y="129285"/>
                  <a:pt x="129285" y="142000"/>
                  <a:pt x="113600" y="142000"/>
                </a:cubicBezTo>
                <a:lnTo>
                  <a:pt x="28400" y="142000"/>
                </a:lnTo>
                <a:cubicBezTo>
                  <a:pt x="12715" y="142000"/>
                  <a:pt x="0" y="129285"/>
                  <a:pt x="0" y="113600"/>
                </a:cubicBezTo>
                <a:lnTo>
                  <a:pt x="0" y="28400"/>
                </a:lnTo>
                <a:close/>
              </a:path>
              <a:path w="142000" h="1420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113600" y="0"/>
                </a:lnTo>
                <a:cubicBezTo>
                  <a:pt x="129285" y="0"/>
                  <a:pt x="142000" y="12715"/>
                  <a:pt x="142000" y="28400"/>
                </a:cubicBezTo>
                <a:lnTo>
                  <a:pt x="142000" y="113600"/>
                </a:lnTo>
                <a:cubicBezTo>
                  <a:pt x="142000" y="129285"/>
                  <a:pt x="129285" y="142000"/>
                  <a:pt x="113600" y="142000"/>
                </a:cubicBezTo>
                <a:lnTo>
                  <a:pt x="28400" y="142000"/>
                </a:lnTo>
                <a:cubicBezTo>
                  <a:pt x="12715" y="142000"/>
                  <a:pt x="0" y="129285"/>
                  <a:pt x="0" y="113600"/>
                </a:cubicBezTo>
                <a:lnTo>
                  <a:pt x="0" y="28400"/>
                </a:lnTo>
                <a:close/>
              </a:path>
            </a:pathLst>
          </a:custGeom>
          <a:solidFill>
            <a:srgbClr val="DBEAFE"/>
          </a:solidFill>
          <a:ln w="7100" cap="flat">
            <a:noFill/>
            <a:miter/>
          </a:ln>
        </p:spPr>
      </p:sp>
      <p:sp>
        <p:nvSpPr>
          <p:cNvPr id="955" name="任意多边形 954"/>
          <p:cNvSpPr/>
          <p:nvPr/>
        </p:nvSpPr>
        <p:spPr>
          <a:xfrm>
            <a:off x="104290" y="440485"/>
            <a:ext cx="624800" cy="191700"/>
          </a:xfrm>
          <a:custGeom>
            <a:avLst/>
            <a:gdLst>
              <a:gd name="connsiteX0" fmla="*/ 0 w 624800"/>
              <a:gd name="connsiteY0" fmla="*/ 95850 h 191700"/>
              <a:gd name="connsiteX1" fmla="*/ 312400 w 624800"/>
              <a:gd name="connsiteY1" fmla="*/ 0 h 191700"/>
              <a:gd name="connsiteX2" fmla="*/ 624800 w 624800"/>
              <a:gd name="connsiteY2" fmla="*/ 95850 h 191700"/>
              <a:gd name="connsiteX3" fmla="*/ 312400 w 624800"/>
              <a:gd name="connsiteY3" fmla="*/ 191700 h 191700"/>
              <a:gd name="rtl" fmla="*/ 1836458 w 624800"/>
              <a:gd name="rtt" fmla="*/ 1452937 h 191700"/>
              <a:gd name="rtr" fmla="*/ 2461258 w 624800"/>
              <a:gd name="rtb" fmla="*/ 164463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流式推理对话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6" name="任意多边形 955"/>
          <p:cNvSpPr/>
          <p:nvPr/>
        </p:nvSpPr>
        <p:spPr>
          <a:xfrm>
            <a:off x="691148" y="2202272"/>
            <a:ext cx="994000" cy="284000"/>
          </a:xfrm>
          <a:custGeom>
            <a:avLst/>
            <a:gdLst/>
            <a:ahLst/>
            <a:cxnLst/>
            <a:rect l="l" t="t" r="r" b="b"/>
            <a:pathLst>
              <a:path w="994000" h="284000" stroke="0">
                <a:moveTo>
                  <a:pt x="0" y="0"/>
                </a:moveTo>
                <a:lnTo>
                  <a:pt x="994000" y="0"/>
                </a:lnTo>
                <a:lnTo>
                  <a:pt x="994000" y="284000"/>
                </a:lnTo>
                <a:lnTo>
                  <a:pt x="0" y="284000"/>
                </a:lnTo>
                <a:lnTo>
                  <a:pt x="0" y="0"/>
                </a:lnTo>
                <a:close/>
              </a:path>
              <a:path w="994000" h="284000" fill="none">
                <a:moveTo>
                  <a:pt x="0" y="0"/>
                </a:moveTo>
                <a:lnTo>
                  <a:pt x="994000" y="0"/>
                </a:lnTo>
                <a:lnTo>
                  <a:pt x="994000" y="284000"/>
                </a:lnTo>
                <a:lnTo>
                  <a:pt x="0" y="2840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957" name="任意多边形 956"/>
          <p:cNvSpPr/>
          <p:nvPr/>
        </p:nvSpPr>
        <p:spPr>
          <a:xfrm>
            <a:off x="726648" y="2273272"/>
            <a:ext cx="142000" cy="142000"/>
          </a:xfrm>
          <a:custGeom>
            <a:avLst/>
            <a:gdLst/>
            <a:ahLst/>
            <a:cxnLst/>
            <a:rect l="l" t="t" r="r" b="b"/>
            <a:pathLst>
              <a:path w="142000" h="1420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113600" y="0"/>
                </a:lnTo>
                <a:cubicBezTo>
                  <a:pt x="129285" y="0"/>
                  <a:pt x="142000" y="12715"/>
                  <a:pt x="142000" y="28400"/>
                </a:cubicBezTo>
                <a:lnTo>
                  <a:pt x="142000" y="113600"/>
                </a:lnTo>
                <a:cubicBezTo>
                  <a:pt x="142000" y="129285"/>
                  <a:pt x="129285" y="142000"/>
                  <a:pt x="113600" y="142000"/>
                </a:cubicBezTo>
                <a:lnTo>
                  <a:pt x="28400" y="142000"/>
                </a:lnTo>
                <a:cubicBezTo>
                  <a:pt x="12715" y="142000"/>
                  <a:pt x="0" y="129285"/>
                  <a:pt x="0" y="113600"/>
                </a:cubicBezTo>
                <a:lnTo>
                  <a:pt x="0" y="28400"/>
                </a:lnTo>
                <a:close/>
              </a:path>
              <a:path w="142000" h="1420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113600" y="0"/>
                </a:lnTo>
                <a:cubicBezTo>
                  <a:pt x="129285" y="0"/>
                  <a:pt x="142000" y="12715"/>
                  <a:pt x="142000" y="28400"/>
                </a:cubicBezTo>
                <a:lnTo>
                  <a:pt x="142000" y="113600"/>
                </a:lnTo>
                <a:cubicBezTo>
                  <a:pt x="142000" y="129285"/>
                  <a:pt x="129285" y="142000"/>
                  <a:pt x="113600" y="142000"/>
                </a:cubicBezTo>
                <a:lnTo>
                  <a:pt x="28400" y="142000"/>
                </a:lnTo>
                <a:cubicBezTo>
                  <a:pt x="12715" y="142000"/>
                  <a:pt x="0" y="129285"/>
                  <a:pt x="0" y="113600"/>
                </a:cubicBezTo>
                <a:lnTo>
                  <a:pt x="0" y="28400"/>
                </a:lnTo>
                <a:close/>
              </a:path>
            </a:pathLst>
          </a:custGeom>
          <a:solidFill>
            <a:srgbClr val="DBEAFE"/>
          </a:solidFill>
          <a:ln w="7100" cap="flat">
            <a:noFill/>
            <a:miter/>
          </a:ln>
        </p:spPr>
      </p:sp>
      <p:sp>
        <p:nvSpPr>
          <p:cNvPr id="958" name="任意多边形 957"/>
          <p:cNvSpPr/>
          <p:nvPr/>
        </p:nvSpPr>
        <p:spPr>
          <a:xfrm>
            <a:off x="104290" y="440485"/>
            <a:ext cx="624800" cy="191700"/>
          </a:xfrm>
          <a:custGeom>
            <a:avLst/>
            <a:gdLst>
              <a:gd name="connsiteX0" fmla="*/ 0 w 624800"/>
              <a:gd name="connsiteY0" fmla="*/ 95850 h 191700"/>
              <a:gd name="connsiteX1" fmla="*/ 312400 w 624800"/>
              <a:gd name="connsiteY1" fmla="*/ 0 h 191700"/>
              <a:gd name="connsiteX2" fmla="*/ 624800 w 624800"/>
              <a:gd name="connsiteY2" fmla="*/ 95850 h 191700"/>
              <a:gd name="connsiteX3" fmla="*/ 312400 w 624800"/>
              <a:gd name="connsiteY3" fmla="*/ 191700 h 191700"/>
              <a:gd name="rtl" fmla="*/ 789208 w 624800"/>
              <a:gd name="rtt" fmla="*/ 1783087 h 191700"/>
              <a:gd name="rtr" fmla="*/ 1414008 w 624800"/>
              <a:gd name="rtb" fmla="*/ 19747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设计进度追踪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9" name="任意多边形 958"/>
          <p:cNvSpPr/>
          <p:nvPr/>
        </p:nvSpPr>
        <p:spPr>
          <a:xfrm>
            <a:off x="1756148" y="2202272"/>
            <a:ext cx="994000" cy="284000"/>
          </a:xfrm>
          <a:custGeom>
            <a:avLst/>
            <a:gdLst/>
            <a:ahLst/>
            <a:cxnLst/>
            <a:rect l="l" t="t" r="r" b="b"/>
            <a:pathLst>
              <a:path w="994000" h="284000" stroke="0">
                <a:moveTo>
                  <a:pt x="0" y="0"/>
                </a:moveTo>
                <a:lnTo>
                  <a:pt x="994000" y="0"/>
                </a:lnTo>
                <a:lnTo>
                  <a:pt x="994000" y="284000"/>
                </a:lnTo>
                <a:lnTo>
                  <a:pt x="0" y="284000"/>
                </a:lnTo>
                <a:lnTo>
                  <a:pt x="0" y="0"/>
                </a:lnTo>
                <a:close/>
              </a:path>
              <a:path w="994000" h="284000" fill="none">
                <a:moveTo>
                  <a:pt x="0" y="0"/>
                </a:moveTo>
                <a:lnTo>
                  <a:pt x="994000" y="0"/>
                </a:lnTo>
                <a:lnTo>
                  <a:pt x="994000" y="284000"/>
                </a:lnTo>
                <a:lnTo>
                  <a:pt x="0" y="2840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960" name="任意多边形 959"/>
          <p:cNvSpPr/>
          <p:nvPr/>
        </p:nvSpPr>
        <p:spPr>
          <a:xfrm>
            <a:off x="1791648" y="2273272"/>
            <a:ext cx="142000" cy="142000"/>
          </a:xfrm>
          <a:custGeom>
            <a:avLst/>
            <a:gdLst/>
            <a:ahLst/>
            <a:cxnLst/>
            <a:rect l="l" t="t" r="r" b="b"/>
            <a:pathLst>
              <a:path w="142000" h="1420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113600" y="0"/>
                </a:lnTo>
                <a:cubicBezTo>
                  <a:pt x="129285" y="0"/>
                  <a:pt x="142000" y="12715"/>
                  <a:pt x="142000" y="28400"/>
                </a:cubicBezTo>
                <a:lnTo>
                  <a:pt x="142000" y="113600"/>
                </a:lnTo>
                <a:cubicBezTo>
                  <a:pt x="142000" y="129285"/>
                  <a:pt x="129285" y="142000"/>
                  <a:pt x="113600" y="142000"/>
                </a:cubicBezTo>
                <a:lnTo>
                  <a:pt x="28400" y="142000"/>
                </a:lnTo>
                <a:cubicBezTo>
                  <a:pt x="12715" y="142000"/>
                  <a:pt x="0" y="129285"/>
                  <a:pt x="0" y="113600"/>
                </a:cubicBezTo>
                <a:lnTo>
                  <a:pt x="0" y="28400"/>
                </a:lnTo>
                <a:close/>
              </a:path>
              <a:path w="142000" h="1420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113600" y="0"/>
                </a:lnTo>
                <a:cubicBezTo>
                  <a:pt x="129285" y="0"/>
                  <a:pt x="142000" y="12715"/>
                  <a:pt x="142000" y="28400"/>
                </a:cubicBezTo>
                <a:lnTo>
                  <a:pt x="142000" y="113600"/>
                </a:lnTo>
                <a:cubicBezTo>
                  <a:pt x="142000" y="129285"/>
                  <a:pt x="129285" y="142000"/>
                  <a:pt x="113600" y="142000"/>
                </a:cubicBezTo>
                <a:lnTo>
                  <a:pt x="28400" y="142000"/>
                </a:lnTo>
                <a:cubicBezTo>
                  <a:pt x="12715" y="142000"/>
                  <a:pt x="0" y="129285"/>
                  <a:pt x="0" y="113600"/>
                </a:cubicBezTo>
                <a:lnTo>
                  <a:pt x="0" y="28400"/>
                </a:lnTo>
                <a:close/>
              </a:path>
            </a:pathLst>
          </a:custGeom>
          <a:solidFill>
            <a:srgbClr val="DBEAFE"/>
          </a:solidFill>
          <a:ln w="7100" cap="flat">
            <a:noFill/>
            <a:miter/>
          </a:ln>
        </p:spPr>
      </p:sp>
      <p:sp>
        <p:nvSpPr>
          <p:cNvPr id="961" name="任意多边形 960"/>
          <p:cNvSpPr/>
          <p:nvPr/>
        </p:nvSpPr>
        <p:spPr>
          <a:xfrm>
            <a:off x="104290" y="440485"/>
            <a:ext cx="717100" cy="191700"/>
          </a:xfrm>
          <a:custGeom>
            <a:avLst/>
            <a:gdLst>
              <a:gd name="connsiteX0" fmla="*/ 0 w 717100"/>
              <a:gd name="connsiteY0" fmla="*/ 95850 h 191700"/>
              <a:gd name="connsiteX1" fmla="*/ 358550 w 717100"/>
              <a:gd name="connsiteY1" fmla="*/ 0 h 191700"/>
              <a:gd name="connsiteX2" fmla="*/ 717100 w 717100"/>
              <a:gd name="connsiteY2" fmla="*/ 95850 h 191700"/>
              <a:gd name="connsiteX3" fmla="*/ 358550 w 717100"/>
              <a:gd name="connsiteY3" fmla="*/ 191700 h 191700"/>
              <a:gd name="rtl" fmla="*/ 1854208 w 717100"/>
              <a:gd name="rtt" fmla="*/ 1807937 h 191700"/>
              <a:gd name="rtr" fmla="*/ 2571308 w 717100"/>
              <a:gd name="rtb" fmla="*/ 199963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多指标趋势分析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4" name="任意多边形 963"/>
          <p:cNvSpPr/>
          <p:nvPr/>
        </p:nvSpPr>
        <p:spPr>
          <a:xfrm>
            <a:off x="584648" y="2912272"/>
            <a:ext cx="2272000" cy="3266000"/>
          </a:xfrm>
          <a:custGeom>
            <a:avLst/>
            <a:gdLst/>
            <a:ahLst/>
            <a:cxnLst/>
            <a:rect l="l" t="t" r="r" b="b"/>
            <a:pathLst>
              <a:path w="2272000" h="3266000" stroke="0">
                <a:moveTo>
                  <a:pt x="0" y="0"/>
                </a:moveTo>
                <a:lnTo>
                  <a:pt x="2272000" y="0"/>
                </a:lnTo>
                <a:lnTo>
                  <a:pt x="2272000" y="3266000"/>
                </a:lnTo>
                <a:lnTo>
                  <a:pt x="0" y="3266000"/>
                </a:lnTo>
                <a:lnTo>
                  <a:pt x="0" y="0"/>
                </a:lnTo>
                <a:close/>
              </a:path>
              <a:path w="2272000" h="3266000" fill="none">
                <a:moveTo>
                  <a:pt x="0" y="0"/>
                </a:moveTo>
                <a:lnTo>
                  <a:pt x="2272000" y="0"/>
                </a:lnTo>
                <a:lnTo>
                  <a:pt x="2272000" y="3266000"/>
                </a:lnTo>
                <a:lnTo>
                  <a:pt x="0" y="3266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965" name="任意多边形 964"/>
          <p:cNvSpPr/>
          <p:nvPr/>
        </p:nvSpPr>
        <p:spPr>
          <a:xfrm>
            <a:off x="584648" y="2912272"/>
            <a:ext cx="71000" cy="3266000"/>
          </a:xfrm>
          <a:custGeom>
            <a:avLst/>
            <a:gdLst/>
            <a:ahLst/>
            <a:cxnLst/>
            <a:rect l="l" t="t" r="r" b="b"/>
            <a:pathLst>
              <a:path w="71000" h="3266000" stroke="0">
                <a:moveTo>
                  <a:pt x="0" y="36289"/>
                </a:moveTo>
                <a:cubicBezTo>
                  <a:pt x="0" y="16247"/>
                  <a:pt x="15894" y="0"/>
                  <a:pt x="35500" y="0"/>
                </a:cubicBezTo>
                <a:cubicBezTo>
                  <a:pt x="55106" y="0"/>
                  <a:pt x="71000" y="16247"/>
                  <a:pt x="71000" y="36289"/>
                </a:cubicBezTo>
                <a:lnTo>
                  <a:pt x="71000" y="3229712"/>
                </a:lnTo>
                <a:cubicBezTo>
                  <a:pt x="71000" y="3249755"/>
                  <a:pt x="55106" y="3266000"/>
                  <a:pt x="35500" y="3266000"/>
                </a:cubicBezTo>
                <a:cubicBezTo>
                  <a:pt x="15894" y="3266000"/>
                  <a:pt x="0" y="3249755"/>
                  <a:pt x="0" y="3229712"/>
                </a:cubicBezTo>
                <a:lnTo>
                  <a:pt x="0" y="36289"/>
                </a:lnTo>
                <a:close/>
              </a:path>
              <a:path w="71000" h="3266000" fill="none">
                <a:moveTo>
                  <a:pt x="0" y="36289"/>
                </a:moveTo>
                <a:cubicBezTo>
                  <a:pt x="0" y="16247"/>
                  <a:pt x="15894" y="0"/>
                  <a:pt x="35500" y="0"/>
                </a:cubicBezTo>
                <a:cubicBezTo>
                  <a:pt x="55106" y="0"/>
                  <a:pt x="71000" y="16247"/>
                  <a:pt x="71000" y="36289"/>
                </a:cubicBezTo>
                <a:lnTo>
                  <a:pt x="71000" y="3229712"/>
                </a:lnTo>
                <a:cubicBezTo>
                  <a:pt x="71000" y="3249755"/>
                  <a:pt x="55106" y="3266000"/>
                  <a:pt x="35500" y="3266000"/>
                </a:cubicBezTo>
                <a:cubicBezTo>
                  <a:pt x="15894" y="3266000"/>
                  <a:pt x="0" y="3249755"/>
                  <a:pt x="0" y="3229712"/>
                </a:cubicBezTo>
                <a:lnTo>
                  <a:pt x="0" y="36289"/>
                </a:lnTo>
                <a:close/>
              </a:path>
            </a:pathLst>
          </a:custGeom>
          <a:solidFill>
            <a:srgbClr val="0D9488"/>
          </a:solidFill>
          <a:ln w="7100" cap="flat">
            <a:noFill/>
            <a:miter/>
          </a:ln>
        </p:spPr>
      </p:sp>
      <p:sp>
        <p:nvSpPr>
          <p:cNvPr id="966" name="任意多边形 965"/>
          <p:cNvSpPr/>
          <p:nvPr/>
        </p:nvSpPr>
        <p:spPr>
          <a:xfrm>
            <a:off x="104290" y="440485"/>
            <a:ext cx="965600" cy="255600"/>
          </a:xfrm>
          <a:custGeom>
            <a:avLst/>
            <a:gdLst>
              <a:gd name="connsiteX0" fmla="*/ 0 w 965600"/>
              <a:gd name="connsiteY0" fmla="*/ 127800 h 255600"/>
              <a:gd name="connsiteX1" fmla="*/ 482800 w 965600"/>
              <a:gd name="connsiteY1" fmla="*/ 0 h 255600"/>
              <a:gd name="connsiteX2" fmla="*/ 965600 w 965600"/>
              <a:gd name="connsiteY2" fmla="*/ 127800 h 255600"/>
              <a:gd name="connsiteX3" fmla="*/ 482800 w 965600"/>
              <a:gd name="connsiteY3" fmla="*/ 255600 h 255600"/>
              <a:gd name="rtl" fmla="*/ 629458 w 965600"/>
              <a:gd name="rtt" fmla="*/ 2514387 h 255600"/>
              <a:gd name="rtr" fmla="*/ 1595058 w 965600"/>
              <a:gd name="rtb" fmla="*/ 2769987 h 255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293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960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抗冻蛋白知识库</a:t>
            </a:r>
            <a:endParaRPr lang="zh-CN" altLang="en-US" sz="960" b="1" dirty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7" name="任意多边形 966"/>
          <p:cNvSpPr/>
          <p:nvPr>
            <p:custDataLst>
              <p:tags r:id="rId3"/>
            </p:custDataLst>
          </p:nvPr>
        </p:nvSpPr>
        <p:spPr>
          <a:xfrm>
            <a:off x="691148" y="3302772"/>
            <a:ext cx="2059000" cy="461500"/>
          </a:xfrm>
          <a:custGeom>
            <a:avLst/>
            <a:gdLst/>
            <a:ahLst/>
            <a:cxnLst/>
            <a:rect l="l" t="t" r="r" b="b"/>
            <a:pathLst>
              <a:path w="2059000" h="461500" stroke="0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2002200" y="0"/>
                </a:lnTo>
                <a:cubicBezTo>
                  <a:pt x="2033568" y="0"/>
                  <a:pt x="2059000" y="25430"/>
                  <a:pt x="2059000" y="56800"/>
                </a:cubicBezTo>
                <a:lnTo>
                  <a:pt x="2059000" y="404700"/>
                </a:lnTo>
                <a:cubicBezTo>
                  <a:pt x="2059000" y="436070"/>
                  <a:pt x="2033568" y="461500"/>
                  <a:pt x="2002200" y="461500"/>
                </a:cubicBezTo>
                <a:lnTo>
                  <a:pt x="56800" y="461500"/>
                </a:lnTo>
                <a:cubicBezTo>
                  <a:pt x="25430" y="461500"/>
                  <a:pt x="0" y="436070"/>
                  <a:pt x="0" y="404700"/>
                </a:cubicBezTo>
                <a:lnTo>
                  <a:pt x="0" y="56800"/>
                </a:lnTo>
                <a:close/>
              </a:path>
              <a:path w="2059000" h="461500" fill="none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2002200" y="0"/>
                </a:lnTo>
                <a:cubicBezTo>
                  <a:pt x="2033568" y="0"/>
                  <a:pt x="2059000" y="25430"/>
                  <a:pt x="2059000" y="56800"/>
                </a:cubicBezTo>
                <a:lnTo>
                  <a:pt x="2059000" y="404700"/>
                </a:lnTo>
                <a:cubicBezTo>
                  <a:pt x="2059000" y="436070"/>
                  <a:pt x="2033568" y="461500"/>
                  <a:pt x="2002200" y="461500"/>
                </a:cubicBezTo>
                <a:lnTo>
                  <a:pt x="56800" y="461500"/>
                </a:lnTo>
                <a:cubicBezTo>
                  <a:pt x="25430" y="461500"/>
                  <a:pt x="0" y="436070"/>
                  <a:pt x="0" y="404700"/>
                </a:cubicBezTo>
                <a:lnTo>
                  <a:pt x="0" y="56800"/>
                </a:lnTo>
                <a:close/>
              </a:path>
            </a:pathLst>
          </a:custGeom>
          <a:solidFill>
            <a:srgbClr val="FFF7ED"/>
          </a:solidFill>
          <a:ln w="14200" cap="flat">
            <a:solidFill>
              <a:srgbClr val="F97316"/>
            </a:solidFill>
            <a:miter/>
          </a:ln>
        </p:spPr>
      </p:sp>
      <p:sp>
        <p:nvSpPr>
          <p:cNvPr id="968" name="任意多边形 967"/>
          <p:cNvSpPr/>
          <p:nvPr/>
        </p:nvSpPr>
        <p:spPr>
          <a:xfrm>
            <a:off x="726648" y="3451872"/>
            <a:ext cx="170400" cy="159040"/>
          </a:xfrm>
          <a:custGeom>
            <a:avLst/>
            <a:gdLst/>
            <a:ahLst/>
            <a:cxnLst/>
            <a:rect l="l" t="t" r="r" b="b"/>
            <a:pathLst>
              <a:path w="170400" h="159040" stroke="0">
                <a:moveTo>
                  <a:pt x="85200" y="0"/>
                </a:moveTo>
                <a:lnTo>
                  <a:pt x="113600" y="56800"/>
                </a:lnTo>
                <a:lnTo>
                  <a:pt x="170400" y="56800"/>
                </a:lnTo>
                <a:lnTo>
                  <a:pt x="124960" y="102240"/>
                </a:lnTo>
                <a:lnTo>
                  <a:pt x="142000" y="159040"/>
                </a:lnTo>
                <a:lnTo>
                  <a:pt x="85200" y="124960"/>
                </a:lnTo>
                <a:lnTo>
                  <a:pt x="28400" y="159040"/>
                </a:lnTo>
                <a:lnTo>
                  <a:pt x="45440" y="102240"/>
                </a:lnTo>
                <a:lnTo>
                  <a:pt x="0" y="56800"/>
                </a:lnTo>
                <a:lnTo>
                  <a:pt x="56800" y="56800"/>
                </a:lnTo>
                <a:lnTo>
                  <a:pt x="85200" y="0"/>
                </a:lnTo>
                <a:close/>
              </a:path>
              <a:path w="170400" h="159040" fill="none">
                <a:moveTo>
                  <a:pt x="85200" y="0"/>
                </a:moveTo>
                <a:lnTo>
                  <a:pt x="113600" y="56800"/>
                </a:lnTo>
                <a:lnTo>
                  <a:pt x="170400" y="56800"/>
                </a:lnTo>
                <a:lnTo>
                  <a:pt x="124960" y="102240"/>
                </a:lnTo>
                <a:lnTo>
                  <a:pt x="142000" y="159040"/>
                </a:lnTo>
                <a:lnTo>
                  <a:pt x="85200" y="124960"/>
                </a:lnTo>
                <a:lnTo>
                  <a:pt x="28400" y="159040"/>
                </a:lnTo>
                <a:lnTo>
                  <a:pt x="45440" y="102240"/>
                </a:lnTo>
                <a:lnTo>
                  <a:pt x="0" y="56800"/>
                </a:lnTo>
                <a:lnTo>
                  <a:pt x="56800" y="56800"/>
                </a:lnTo>
                <a:lnTo>
                  <a:pt x="85200" y="0"/>
                </a:lnTo>
                <a:close/>
              </a:path>
            </a:pathLst>
          </a:custGeom>
          <a:solidFill>
            <a:srgbClr val="F59E0B"/>
          </a:solidFill>
          <a:ln w="7100" cap="flat">
            <a:noFill/>
            <a:miter/>
          </a:ln>
        </p:spPr>
      </p:sp>
      <p:sp>
        <p:nvSpPr>
          <p:cNvPr id="969" name="任意多边形 968"/>
          <p:cNvSpPr/>
          <p:nvPr/>
        </p:nvSpPr>
        <p:spPr>
          <a:xfrm>
            <a:off x="104290" y="440485"/>
            <a:ext cx="1029500" cy="213000"/>
          </a:xfrm>
          <a:custGeom>
            <a:avLst/>
            <a:gdLst>
              <a:gd name="connsiteX0" fmla="*/ 0 w 1029500"/>
              <a:gd name="connsiteY0" fmla="*/ 106500 h 213000"/>
              <a:gd name="connsiteX1" fmla="*/ 514750 w 1029500"/>
              <a:gd name="connsiteY1" fmla="*/ 0 h 213000"/>
              <a:gd name="connsiteX2" fmla="*/ 1029500 w 1029500"/>
              <a:gd name="connsiteY2" fmla="*/ 106500 h 213000"/>
              <a:gd name="connsiteX3" fmla="*/ 514750 w 1029500"/>
              <a:gd name="connsiteY3" fmla="*/ 213000 h 213000"/>
              <a:gd name="rtl" fmla="*/ 814058 w 1029500"/>
              <a:gd name="rtt" fmla="*/ 2919087 h 213000"/>
              <a:gd name="rtr" fmla="*/ 1843558 w 1029500"/>
              <a:gd name="rtb" fmla="*/ 3132087 h 21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F172A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0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应用场景需求映射库</a:t>
            </a:r>
            <a:endParaRPr lang="zh-CN" altLang="en-US" sz="80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0" name="任意多边形 969"/>
          <p:cNvSpPr/>
          <p:nvPr>
            <p:custDataLst>
              <p:tags r:id="rId4"/>
            </p:custDataLst>
          </p:nvPr>
        </p:nvSpPr>
        <p:spPr>
          <a:xfrm>
            <a:off x="104290" y="440485"/>
            <a:ext cx="1363200" cy="191700"/>
          </a:xfrm>
          <a:custGeom>
            <a:avLst/>
            <a:gdLst>
              <a:gd name="connsiteX0" fmla="*/ 0 w 1363200"/>
              <a:gd name="connsiteY0" fmla="*/ 95850 h 191700"/>
              <a:gd name="connsiteX1" fmla="*/ 681600 w 1363200"/>
              <a:gd name="connsiteY1" fmla="*/ 0 h 191700"/>
              <a:gd name="connsiteX2" fmla="*/ 1363200 w 1363200"/>
              <a:gd name="connsiteY2" fmla="*/ 95850 h 191700"/>
              <a:gd name="connsiteX3" fmla="*/ 681600 w 1363200"/>
              <a:gd name="connsiteY3" fmla="*/ 191700 h 191700"/>
              <a:gd name="rtl" fmla="*/ 810508 w 1363200"/>
              <a:gd name="rtt" fmla="*/ 3075287 h 191700"/>
              <a:gd name="rtr" fmla="*/ 2173708 w 1363200"/>
              <a:gd name="rtb" fmla="*/ 32669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重要：频繁使用，丰富推理质量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2" name="任意多边形 971"/>
          <p:cNvSpPr/>
          <p:nvPr/>
        </p:nvSpPr>
        <p:spPr>
          <a:xfrm>
            <a:off x="691148" y="3995022"/>
            <a:ext cx="994000" cy="390500"/>
          </a:xfrm>
          <a:custGeom>
            <a:avLst/>
            <a:gdLst/>
            <a:ahLst/>
            <a:cxnLst/>
            <a:rect l="l" t="t" r="r" b="b"/>
            <a:pathLst>
              <a:path w="994000" h="390500" stroke="0">
                <a:moveTo>
                  <a:pt x="0" y="0"/>
                </a:moveTo>
                <a:lnTo>
                  <a:pt x="994000" y="0"/>
                </a:lnTo>
                <a:lnTo>
                  <a:pt x="994000" y="390500"/>
                </a:lnTo>
                <a:lnTo>
                  <a:pt x="0" y="390500"/>
                </a:lnTo>
                <a:lnTo>
                  <a:pt x="0" y="0"/>
                </a:lnTo>
                <a:close/>
              </a:path>
              <a:path w="994000" h="390500" fill="none">
                <a:moveTo>
                  <a:pt x="0" y="0"/>
                </a:moveTo>
                <a:lnTo>
                  <a:pt x="994000" y="0"/>
                </a:lnTo>
                <a:lnTo>
                  <a:pt x="994000" y="390500"/>
                </a:lnTo>
                <a:lnTo>
                  <a:pt x="0" y="3905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973" name="任意多边形 972"/>
          <p:cNvSpPr/>
          <p:nvPr/>
        </p:nvSpPr>
        <p:spPr>
          <a:xfrm>
            <a:off x="104290" y="440485"/>
            <a:ext cx="816500" cy="213000"/>
          </a:xfrm>
          <a:custGeom>
            <a:avLst/>
            <a:gdLst>
              <a:gd name="connsiteX0" fmla="*/ 0 w 816500"/>
              <a:gd name="connsiteY0" fmla="*/ 106500 h 213000"/>
              <a:gd name="connsiteX1" fmla="*/ 408250 w 816500"/>
              <a:gd name="connsiteY1" fmla="*/ 0 h 213000"/>
              <a:gd name="connsiteX2" fmla="*/ 816500 w 816500"/>
              <a:gd name="connsiteY2" fmla="*/ 106500 h 213000"/>
              <a:gd name="connsiteX3" fmla="*/ 408250 w 816500"/>
              <a:gd name="connsiteY3" fmla="*/ 213000 h 213000"/>
              <a:gd name="rtl" fmla="*/ 636558 w 816500"/>
              <a:gd name="rtt" fmla="*/ 3565187 h 213000"/>
              <a:gd name="rtr" fmla="*/ 1453058 w 816500"/>
              <a:gd name="rtb" fmla="*/ 3778187 h 21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0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冰结合面基序库</a:t>
            </a:r>
            <a:endParaRPr lang="zh-CN" altLang="en-US" sz="800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4" name="任意多边形 973"/>
          <p:cNvSpPr/>
          <p:nvPr/>
        </p:nvSpPr>
        <p:spPr>
          <a:xfrm>
            <a:off x="104290" y="440485"/>
            <a:ext cx="582200" cy="177500"/>
          </a:xfrm>
          <a:custGeom>
            <a:avLst/>
            <a:gdLst>
              <a:gd name="connsiteX0" fmla="*/ 0 w 582200"/>
              <a:gd name="connsiteY0" fmla="*/ 88750 h 177500"/>
              <a:gd name="connsiteX1" fmla="*/ 291100 w 582200"/>
              <a:gd name="connsiteY1" fmla="*/ 0 h 177500"/>
              <a:gd name="connsiteX2" fmla="*/ 582200 w 582200"/>
              <a:gd name="connsiteY2" fmla="*/ 88750 h 177500"/>
              <a:gd name="connsiteX3" fmla="*/ 291100 w 582200"/>
              <a:gd name="connsiteY3" fmla="*/ 177500 h 177500"/>
              <a:gd name="rtl" fmla="*/ 633008 w 582200"/>
              <a:gd name="rtt" fmla="*/ 3735587 h 177500"/>
              <a:gd name="rtr" fmla="*/ 1215208 w 582200"/>
              <a:gd name="rtb" fmla="*/ 39130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核心识别模式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5" name="任意多边形 974"/>
          <p:cNvSpPr/>
          <p:nvPr/>
        </p:nvSpPr>
        <p:spPr>
          <a:xfrm>
            <a:off x="1756148" y="3995022"/>
            <a:ext cx="994000" cy="390500"/>
          </a:xfrm>
          <a:custGeom>
            <a:avLst/>
            <a:gdLst/>
            <a:ahLst/>
            <a:cxnLst/>
            <a:rect l="l" t="t" r="r" b="b"/>
            <a:pathLst>
              <a:path w="994000" h="390500" stroke="0">
                <a:moveTo>
                  <a:pt x="0" y="0"/>
                </a:moveTo>
                <a:lnTo>
                  <a:pt x="994000" y="0"/>
                </a:lnTo>
                <a:lnTo>
                  <a:pt x="994000" y="390500"/>
                </a:lnTo>
                <a:lnTo>
                  <a:pt x="0" y="390500"/>
                </a:lnTo>
                <a:lnTo>
                  <a:pt x="0" y="0"/>
                </a:lnTo>
                <a:close/>
              </a:path>
              <a:path w="994000" h="390500" fill="none">
                <a:moveTo>
                  <a:pt x="0" y="0"/>
                </a:moveTo>
                <a:lnTo>
                  <a:pt x="994000" y="0"/>
                </a:lnTo>
                <a:lnTo>
                  <a:pt x="994000" y="390500"/>
                </a:lnTo>
                <a:lnTo>
                  <a:pt x="0" y="3905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976" name="任意多边形 975"/>
          <p:cNvSpPr/>
          <p:nvPr/>
        </p:nvSpPr>
        <p:spPr>
          <a:xfrm>
            <a:off x="104290" y="440485"/>
            <a:ext cx="816500" cy="213000"/>
          </a:xfrm>
          <a:custGeom>
            <a:avLst/>
            <a:gdLst>
              <a:gd name="connsiteX0" fmla="*/ 0 w 816500"/>
              <a:gd name="connsiteY0" fmla="*/ 106500 h 213000"/>
              <a:gd name="connsiteX1" fmla="*/ 408250 w 816500"/>
              <a:gd name="connsiteY1" fmla="*/ 0 h 213000"/>
              <a:gd name="connsiteX2" fmla="*/ 816500 w 816500"/>
              <a:gd name="connsiteY2" fmla="*/ 106500 h 213000"/>
              <a:gd name="connsiteX3" fmla="*/ 408250 w 816500"/>
              <a:gd name="connsiteY3" fmla="*/ 213000 h 213000"/>
              <a:gd name="rtl" fmla="*/ 1698008 w 816500"/>
              <a:gd name="rtt" fmla="*/ 3565187 h 213000"/>
              <a:gd name="rtr" fmla="*/ 2514508 w 816500"/>
              <a:gd name="rtb" fmla="*/ 3778187 h 21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0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冰晶物理参数库</a:t>
            </a:r>
            <a:endParaRPr lang="zh-CN" altLang="en-US" sz="800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7" name="任意多边形 976"/>
          <p:cNvSpPr/>
          <p:nvPr/>
        </p:nvSpPr>
        <p:spPr>
          <a:xfrm>
            <a:off x="104290" y="440485"/>
            <a:ext cx="582200" cy="177500"/>
          </a:xfrm>
          <a:custGeom>
            <a:avLst/>
            <a:gdLst>
              <a:gd name="connsiteX0" fmla="*/ 0 w 582200"/>
              <a:gd name="connsiteY0" fmla="*/ 88750 h 177500"/>
              <a:gd name="connsiteX1" fmla="*/ 291100 w 582200"/>
              <a:gd name="connsiteY1" fmla="*/ 0 h 177500"/>
              <a:gd name="connsiteX2" fmla="*/ 582200 w 582200"/>
              <a:gd name="connsiteY2" fmla="*/ 88750 h 177500"/>
              <a:gd name="connsiteX3" fmla="*/ 291100 w 582200"/>
              <a:gd name="connsiteY3" fmla="*/ 177500 h 177500"/>
              <a:gd name="rtl" fmla="*/ 1694458 w 582200"/>
              <a:gd name="rtt" fmla="*/ 3735587 h 177500"/>
              <a:gd name="rtr" fmla="*/ 2276658 w 582200"/>
              <a:gd name="rtb" fmla="*/ 39130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晶格结构数据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8" name="任意多边形 977"/>
          <p:cNvSpPr/>
          <p:nvPr/>
        </p:nvSpPr>
        <p:spPr>
          <a:xfrm>
            <a:off x="691148" y="4492022"/>
            <a:ext cx="994000" cy="390500"/>
          </a:xfrm>
          <a:custGeom>
            <a:avLst/>
            <a:gdLst/>
            <a:ahLst/>
            <a:cxnLst/>
            <a:rect l="l" t="t" r="r" b="b"/>
            <a:pathLst>
              <a:path w="994000" h="390500" stroke="0">
                <a:moveTo>
                  <a:pt x="0" y="0"/>
                </a:moveTo>
                <a:lnTo>
                  <a:pt x="994000" y="0"/>
                </a:lnTo>
                <a:lnTo>
                  <a:pt x="994000" y="390500"/>
                </a:lnTo>
                <a:lnTo>
                  <a:pt x="0" y="390500"/>
                </a:lnTo>
                <a:lnTo>
                  <a:pt x="0" y="0"/>
                </a:lnTo>
                <a:close/>
              </a:path>
              <a:path w="994000" h="390500" fill="none">
                <a:moveTo>
                  <a:pt x="0" y="0"/>
                </a:moveTo>
                <a:lnTo>
                  <a:pt x="994000" y="0"/>
                </a:lnTo>
                <a:lnTo>
                  <a:pt x="994000" y="390500"/>
                </a:lnTo>
                <a:lnTo>
                  <a:pt x="0" y="3905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979" name="任意多边形 978"/>
          <p:cNvSpPr/>
          <p:nvPr/>
        </p:nvSpPr>
        <p:spPr>
          <a:xfrm>
            <a:off x="104290" y="440485"/>
            <a:ext cx="816500" cy="213000"/>
          </a:xfrm>
          <a:custGeom>
            <a:avLst/>
            <a:gdLst>
              <a:gd name="connsiteX0" fmla="*/ 0 w 816500"/>
              <a:gd name="connsiteY0" fmla="*/ 106500 h 213000"/>
              <a:gd name="connsiteX1" fmla="*/ 408250 w 816500"/>
              <a:gd name="connsiteY1" fmla="*/ 0 h 213000"/>
              <a:gd name="connsiteX2" fmla="*/ 816500 w 816500"/>
              <a:gd name="connsiteY2" fmla="*/ 106500 h 213000"/>
              <a:gd name="connsiteX3" fmla="*/ 408250 w 816500"/>
              <a:gd name="connsiteY3" fmla="*/ 213000 h 213000"/>
              <a:gd name="rtl" fmla="*/ 636558 w 816500"/>
              <a:gd name="rtt" fmla="*/ 4062187 h 213000"/>
              <a:gd name="rtr" fmla="*/ 1453058 w 816500"/>
              <a:gd name="rtb" fmla="*/ 4275187 h 21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0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突变效应数据库</a:t>
            </a:r>
            <a:endParaRPr lang="zh-CN" altLang="en-US" sz="800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0" name="任意多边形 979"/>
          <p:cNvSpPr/>
          <p:nvPr/>
        </p:nvSpPr>
        <p:spPr>
          <a:xfrm>
            <a:off x="104290" y="440485"/>
            <a:ext cx="582200" cy="177500"/>
          </a:xfrm>
          <a:custGeom>
            <a:avLst/>
            <a:gdLst>
              <a:gd name="connsiteX0" fmla="*/ 0 w 582200"/>
              <a:gd name="connsiteY0" fmla="*/ 88750 h 177500"/>
              <a:gd name="connsiteX1" fmla="*/ 291100 w 582200"/>
              <a:gd name="connsiteY1" fmla="*/ 0 h 177500"/>
              <a:gd name="connsiteX2" fmla="*/ 582200 w 582200"/>
              <a:gd name="connsiteY2" fmla="*/ 88750 h 177500"/>
              <a:gd name="connsiteX3" fmla="*/ 291100 w 582200"/>
              <a:gd name="connsiteY3" fmla="*/ 177500 h 177500"/>
              <a:gd name="rtl" fmla="*/ 633008 w 582200"/>
              <a:gd name="rtt" fmla="*/ 4232587 h 177500"/>
              <a:gd name="rtr" fmla="*/ 1215208 w 582200"/>
              <a:gd name="rtb" fmla="*/ 44100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历史突变记录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1" name="任意多边形 980"/>
          <p:cNvSpPr/>
          <p:nvPr/>
        </p:nvSpPr>
        <p:spPr>
          <a:xfrm>
            <a:off x="1756148" y="4492022"/>
            <a:ext cx="994000" cy="390500"/>
          </a:xfrm>
          <a:custGeom>
            <a:avLst/>
            <a:gdLst/>
            <a:ahLst/>
            <a:cxnLst/>
            <a:rect l="l" t="t" r="r" b="b"/>
            <a:pathLst>
              <a:path w="994000" h="390500" stroke="0">
                <a:moveTo>
                  <a:pt x="0" y="0"/>
                </a:moveTo>
                <a:lnTo>
                  <a:pt x="994000" y="0"/>
                </a:lnTo>
                <a:lnTo>
                  <a:pt x="994000" y="390500"/>
                </a:lnTo>
                <a:lnTo>
                  <a:pt x="0" y="390500"/>
                </a:lnTo>
                <a:lnTo>
                  <a:pt x="0" y="0"/>
                </a:lnTo>
                <a:close/>
              </a:path>
              <a:path w="994000" h="390500" fill="none">
                <a:moveTo>
                  <a:pt x="0" y="0"/>
                </a:moveTo>
                <a:lnTo>
                  <a:pt x="994000" y="0"/>
                </a:lnTo>
                <a:lnTo>
                  <a:pt x="994000" y="390500"/>
                </a:lnTo>
                <a:lnTo>
                  <a:pt x="0" y="3905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982" name="任意多边形 981"/>
          <p:cNvSpPr/>
          <p:nvPr/>
        </p:nvSpPr>
        <p:spPr>
          <a:xfrm>
            <a:off x="104290" y="440485"/>
            <a:ext cx="816500" cy="213000"/>
          </a:xfrm>
          <a:custGeom>
            <a:avLst/>
            <a:gdLst>
              <a:gd name="connsiteX0" fmla="*/ 0 w 816500"/>
              <a:gd name="connsiteY0" fmla="*/ 106500 h 213000"/>
              <a:gd name="connsiteX1" fmla="*/ 408250 w 816500"/>
              <a:gd name="connsiteY1" fmla="*/ 0 h 213000"/>
              <a:gd name="connsiteX2" fmla="*/ 816500 w 816500"/>
              <a:gd name="connsiteY2" fmla="*/ 106500 h 213000"/>
              <a:gd name="connsiteX3" fmla="*/ 408250 w 816500"/>
              <a:gd name="connsiteY3" fmla="*/ 213000 h 213000"/>
              <a:gd name="rtl" fmla="*/ 1698008 w 816500"/>
              <a:gd name="rtt" fmla="*/ 4062187 h 213000"/>
              <a:gd name="rtr" fmla="*/ 2514508 w 816500"/>
              <a:gd name="rtb" fmla="*/ 4275187 h 21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0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设计禁区规则库</a:t>
            </a:r>
            <a:endParaRPr lang="zh-CN" altLang="en-US" sz="800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3" name="任意多边形 982"/>
          <p:cNvSpPr/>
          <p:nvPr/>
        </p:nvSpPr>
        <p:spPr>
          <a:xfrm>
            <a:off x="104290" y="440485"/>
            <a:ext cx="582200" cy="177500"/>
          </a:xfrm>
          <a:custGeom>
            <a:avLst/>
            <a:gdLst>
              <a:gd name="connsiteX0" fmla="*/ 0 w 582200"/>
              <a:gd name="connsiteY0" fmla="*/ 88750 h 177500"/>
              <a:gd name="connsiteX1" fmla="*/ 291100 w 582200"/>
              <a:gd name="connsiteY1" fmla="*/ 0 h 177500"/>
              <a:gd name="connsiteX2" fmla="*/ 582200 w 582200"/>
              <a:gd name="connsiteY2" fmla="*/ 88750 h 177500"/>
              <a:gd name="connsiteX3" fmla="*/ 291100 w 582200"/>
              <a:gd name="connsiteY3" fmla="*/ 177500 h 177500"/>
              <a:gd name="rtl" fmla="*/ 1694458 w 582200"/>
              <a:gd name="rtt" fmla="*/ 4232587 h 177500"/>
              <a:gd name="rtr" fmla="*/ 2276658 w 582200"/>
              <a:gd name="rtb" fmla="*/ 44100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避让风险位点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4" name="任意多边形 983"/>
          <p:cNvSpPr/>
          <p:nvPr/>
        </p:nvSpPr>
        <p:spPr>
          <a:xfrm>
            <a:off x="691148" y="4989022"/>
            <a:ext cx="994000" cy="390500"/>
          </a:xfrm>
          <a:custGeom>
            <a:avLst/>
            <a:gdLst/>
            <a:ahLst/>
            <a:cxnLst/>
            <a:rect l="l" t="t" r="r" b="b"/>
            <a:pathLst>
              <a:path w="994000" h="390500" stroke="0">
                <a:moveTo>
                  <a:pt x="0" y="0"/>
                </a:moveTo>
                <a:lnTo>
                  <a:pt x="994000" y="0"/>
                </a:lnTo>
                <a:lnTo>
                  <a:pt x="994000" y="390500"/>
                </a:lnTo>
                <a:lnTo>
                  <a:pt x="0" y="390500"/>
                </a:lnTo>
                <a:lnTo>
                  <a:pt x="0" y="0"/>
                </a:lnTo>
                <a:close/>
              </a:path>
              <a:path w="994000" h="390500" fill="none">
                <a:moveTo>
                  <a:pt x="0" y="0"/>
                </a:moveTo>
                <a:lnTo>
                  <a:pt x="994000" y="0"/>
                </a:lnTo>
                <a:lnTo>
                  <a:pt x="994000" y="390500"/>
                </a:lnTo>
                <a:lnTo>
                  <a:pt x="0" y="3905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985" name="任意多边形 984"/>
          <p:cNvSpPr/>
          <p:nvPr/>
        </p:nvSpPr>
        <p:spPr>
          <a:xfrm>
            <a:off x="104290" y="440485"/>
            <a:ext cx="603500" cy="213000"/>
          </a:xfrm>
          <a:custGeom>
            <a:avLst/>
            <a:gdLst>
              <a:gd name="connsiteX0" fmla="*/ 0 w 603500"/>
              <a:gd name="connsiteY0" fmla="*/ 106500 h 213000"/>
              <a:gd name="connsiteX1" fmla="*/ 301750 w 603500"/>
              <a:gd name="connsiteY1" fmla="*/ 0 h 213000"/>
              <a:gd name="connsiteX2" fmla="*/ 603500 w 603500"/>
              <a:gd name="connsiteY2" fmla="*/ 106500 h 213000"/>
              <a:gd name="connsiteX3" fmla="*/ 301750 w 603500"/>
              <a:gd name="connsiteY3" fmla="*/ 213000 h 213000"/>
              <a:gd name="rtl" fmla="*/ 636558 w 603500"/>
              <a:gd name="rtt" fmla="*/ 4559187 h 213000"/>
              <a:gd name="rtr" fmla="*/ 1240058 w 603500"/>
              <a:gd name="rtb" fmla="*/ 4772187 h 21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0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设计原则库</a:t>
            </a:r>
            <a:endParaRPr lang="zh-CN" altLang="en-US" sz="800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6" name="任意多边形 985"/>
          <p:cNvSpPr/>
          <p:nvPr/>
        </p:nvSpPr>
        <p:spPr>
          <a:xfrm>
            <a:off x="104290" y="440485"/>
            <a:ext cx="582200" cy="177500"/>
          </a:xfrm>
          <a:custGeom>
            <a:avLst/>
            <a:gdLst>
              <a:gd name="connsiteX0" fmla="*/ 0 w 582200"/>
              <a:gd name="connsiteY0" fmla="*/ 88750 h 177500"/>
              <a:gd name="connsiteX1" fmla="*/ 291100 w 582200"/>
              <a:gd name="connsiteY1" fmla="*/ 0 h 177500"/>
              <a:gd name="connsiteX2" fmla="*/ 582200 w 582200"/>
              <a:gd name="connsiteY2" fmla="*/ 88750 h 177500"/>
              <a:gd name="connsiteX3" fmla="*/ 291100 w 582200"/>
              <a:gd name="connsiteY3" fmla="*/ 177500 h 177500"/>
              <a:gd name="rtl" fmla="*/ 633008 w 582200"/>
              <a:gd name="rtt" fmla="*/ 4729587 h 177500"/>
              <a:gd name="rtr" fmla="*/ 1215208 w 582200"/>
              <a:gd name="rtb" fmla="*/ 49070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整体指导框架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7" name="任意多边形 986"/>
          <p:cNvSpPr/>
          <p:nvPr/>
        </p:nvSpPr>
        <p:spPr>
          <a:xfrm>
            <a:off x="1756148" y="4989022"/>
            <a:ext cx="994000" cy="390500"/>
          </a:xfrm>
          <a:custGeom>
            <a:avLst/>
            <a:gdLst/>
            <a:ahLst/>
            <a:cxnLst/>
            <a:rect l="l" t="t" r="r" b="b"/>
            <a:pathLst>
              <a:path w="994000" h="390500" stroke="0">
                <a:moveTo>
                  <a:pt x="0" y="0"/>
                </a:moveTo>
                <a:lnTo>
                  <a:pt x="994000" y="0"/>
                </a:lnTo>
                <a:lnTo>
                  <a:pt x="994000" y="390500"/>
                </a:lnTo>
                <a:lnTo>
                  <a:pt x="0" y="390500"/>
                </a:lnTo>
                <a:lnTo>
                  <a:pt x="0" y="0"/>
                </a:lnTo>
                <a:close/>
              </a:path>
              <a:path w="994000" h="390500" fill="none">
                <a:moveTo>
                  <a:pt x="0" y="0"/>
                </a:moveTo>
                <a:lnTo>
                  <a:pt x="994000" y="0"/>
                </a:lnTo>
                <a:lnTo>
                  <a:pt x="994000" y="390500"/>
                </a:lnTo>
                <a:lnTo>
                  <a:pt x="0" y="3905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988" name="任意多边形 987"/>
          <p:cNvSpPr/>
          <p:nvPr/>
        </p:nvSpPr>
        <p:spPr>
          <a:xfrm>
            <a:off x="104290" y="440485"/>
            <a:ext cx="816500" cy="213000"/>
          </a:xfrm>
          <a:custGeom>
            <a:avLst/>
            <a:gdLst>
              <a:gd name="connsiteX0" fmla="*/ 0 w 816500"/>
              <a:gd name="connsiteY0" fmla="*/ 106500 h 213000"/>
              <a:gd name="connsiteX1" fmla="*/ 408250 w 816500"/>
              <a:gd name="connsiteY1" fmla="*/ 0 h 213000"/>
              <a:gd name="connsiteX2" fmla="*/ 816500 w 816500"/>
              <a:gd name="connsiteY2" fmla="*/ 106500 h 213000"/>
              <a:gd name="connsiteX3" fmla="*/ 408250 w 816500"/>
              <a:gd name="connsiteY3" fmla="*/ 213000 h 213000"/>
              <a:gd name="rtl" fmla="*/ 1698008 w 816500"/>
              <a:gd name="rtt" fmla="*/ 4559187 h 213000"/>
              <a:gd name="rtr" fmla="*/ 2514508 w 816500"/>
              <a:gd name="rtb" fmla="*/ 4772187 h 21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0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分类进化知识库</a:t>
            </a:r>
            <a:endParaRPr lang="zh-CN" altLang="en-US" sz="800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9" name="任意多边形 988"/>
          <p:cNvSpPr/>
          <p:nvPr/>
        </p:nvSpPr>
        <p:spPr>
          <a:xfrm>
            <a:off x="104290" y="440485"/>
            <a:ext cx="646100" cy="177500"/>
          </a:xfrm>
          <a:custGeom>
            <a:avLst/>
            <a:gdLst>
              <a:gd name="connsiteX0" fmla="*/ 0 w 646100"/>
              <a:gd name="connsiteY0" fmla="*/ 88750 h 177500"/>
              <a:gd name="connsiteX1" fmla="*/ 323050 w 646100"/>
              <a:gd name="connsiteY1" fmla="*/ 0 h 177500"/>
              <a:gd name="connsiteX2" fmla="*/ 646100 w 646100"/>
              <a:gd name="connsiteY2" fmla="*/ 88750 h 177500"/>
              <a:gd name="connsiteX3" fmla="*/ 323050 w 646100"/>
              <a:gd name="connsiteY3" fmla="*/ 177500 h 177500"/>
              <a:gd name="rtl" fmla="*/ 1687358 w 646100"/>
              <a:gd name="rtt" fmla="*/ 4729587 h 177500"/>
              <a:gd name="rtr" fmla="*/ 2354758 w 646100"/>
              <a:gd name="rtb" fmla="*/ 49070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AFP谱系与演化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0" name="任意多边形 989"/>
          <p:cNvSpPr/>
          <p:nvPr/>
        </p:nvSpPr>
        <p:spPr>
          <a:xfrm>
            <a:off x="691148" y="5486022"/>
            <a:ext cx="994000" cy="390500"/>
          </a:xfrm>
          <a:custGeom>
            <a:avLst/>
            <a:gdLst/>
            <a:ahLst/>
            <a:cxnLst/>
            <a:rect l="l" t="t" r="r" b="b"/>
            <a:pathLst>
              <a:path w="994000" h="390500" stroke="0">
                <a:moveTo>
                  <a:pt x="0" y="0"/>
                </a:moveTo>
                <a:lnTo>
                  <a:pt x="994000" y="0"/>
                </a:lnTo>
                <a:lnTo>
                  <a:pt x="994000" y="390500"/>
                </a:lnTo>
                <a:lnTo>
                  <a:pt x="0" y="390500"/>
                </a:lnTo>
                <a:lnTo>
                  <a:pt x="0" y="0"/>
                </a:lnTo>
                <a:close/>
              </a:path>
              <a:path w="994000" h="390500" fill="none">
                <a:moveTo>
                  <a:pt x="0" y="0"/>
                </a:moveTo>
                <a:lnTo>
                  <a:pt x="994000" y="0"/>
                </a:lnTo>
                <a:lnTo>
                  <a:pt x="994000" y="390500"/>
                </a:lnTo>
                <a:lnTo>
                  <a:pt x="0" y="3905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991" name="任意多边形 990"/>
          <p:cNvSpPr/>
          <p:nvPr/>
        </p:nvSpPr>
        <p:spPr>
          <a:xfrm>
            <a:off x="104290" y="440485"/>
            <a:ext cx="710000" cy="213000"/>
          </a:xfrm>
          <a:custGeom>
            <a:avLst/>
            <a:gdLst>
              <a:gd name="connsiteX0" fmla="*/ 0 w 710000"/>
              <a:gd name="connsiteY0" fmla="*/ 106500 h 213000"/>
              <a:gd name="connsiteX1" fmla="*/ 355000 w 710000"/>
              <a:gd name="connsiteY1" fmla="*/ 0 h 213000"/>
              <a:gd name="connsiteX2" fmla="*/ 710000 w 710000"/>
              <a:gd name="connsiteY2" fmla="*/ 106500 h 213000"/>
              <a:gd name="connsiteX3" fmla="*/ 355000 w 710000"/>
              <a:gd name="connsiteY3" fmla="*/ 213000 h 213000"/>
              <a:gd name="rtl" fmla="*/ 633008 w 710000"/>
              <a:gd name="rtt" fmla="*/ 5056187 h 213000"/>
              <a:gd name="rtr" fmla="*/ 1343008 w 710000"/>
              <a:gd name="rtb" fmla="*/ 5269187 h 21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0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冰结合机制库</a:t>
            </a:r>
            <a:endParaRPr lang="zh-CN" altLang="en-US" sz="800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2" name="任意多边形 991"/>
          <p:cNvSpPr/>
          <p:nvPr/>
        </p:nvSpPr>
        <p:spPr>
          <a:xfrm>
            <a:off x="104290" y="440485"/>
            <a:ext cx="582200" cy="177500"/>
          </a:xfrm>
          <a:custGeom>
            <a:avLst/>
            <a:gdLst>
              <a:gd name="connsiteX0" fmla="*/ 0 w 582200"/>
              <a:gd name="connsiteY0" fmla="*/ 88750 h 177500"/>
              <a:gd name="connsiteX1" fmla="*/ 291100 w 582200"/>
              <a:gd name="connsiteY1" fmla="*/ 0 h 177500"/>
              <a:gd name="connsiteX2" fmla="*/ 582200 w 582200"/>
              <a:gd name="connsiteY2" fmla="*/ 88750 h 177500"/>
              <a:gd name="connsiteX3" fmla="*/ 291100 w 582200"/>
              <a:gd name="connsiteY3" fmla="*/ 177500 h 177500"/>
              <a:gd name="rtl" fmla="*/ 633008 w 582200"/>
              <a:gd name="rtt" fmla="*/ 5226587 h 177500"/>
              <a:gd name="rtr" fmla="*/ 1215208 w 582200"/>
              <a:gd name="rtb" fmla="*/ 54040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吸附抑制理论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3" name="任意多边形 992"/>
          <p:cNvSpPr/>
          <p:nvPr/>
        </p:nvSpPr>
        <p:spPr>
          <a:xfrm>
            <a:off x="1756148" y="5486022"/>
            <a:ext cx="994000" cy="390500"/>
          </a:xfrm>
          <a:custGeom>
            <a:avLst/>
            <a:gdLst/>
            <a:ahLst/>
            <a:cxnLst/>
            <a:rect l="l" t="t" r="r" b="b"/>
            <a:pathLst>
              <a:path w="994000" h="390500" stroke="0">
                <a:moveTo>
                  <a:pt x="0" y="0"/>
                </a:moveTo>
                <a:lnTo>
                  <a:pt x="994000" y="0"/>
                </a:lnTo>
                <a:lnTo>
                  <a:pt x="994000" y="390500"/>
                </a:lnTo>
                <a:lnTo>
                  <a:pt x="0" y="390500"/>
                </a:lnTo>
                <a:lnTo>
                  <a:pt x="0" y="0"/>
                </a:lnTo>
                <a:close/>
              </a:path>
              <a:path w="994000" h="390500" fill="none">
                <a:moveTo>
                  <a:pt x="0" y="0"/>
                </a:moveTo>
                <a:lnTo>
                  <a:pt x="994000" y="0"/>
                </a:lnTo>
                <a:lnTo>
                  <a:pt x="994000" y="390500"/>
                </a:lnTo>
                <a:lnTo>
                  <a:pt x="0" y="3905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994" name="任意多边形 993"/>
          <p:cNvSpPr/>
          <p:nvPr/>
        </p:nvSpPr>
        <p:spPr>
          <a:xfrm>
            <a:off x="104290" y="440485"/>
            <a:ext cx="816500" cy="213000"/>
          </a:xfrm>
          <a:custGeom>
            <a:avLst/>
            <a:gdLst>
              <a:gd name="connsiteX0" fmla="*/ 0 w 816500"/>
              <a:gd name="connsiteY0" fmla="*/ 106500 h 213000"/>
              <a:gd name="connsiteX1" fmla="*/ 408250 w 816500"/>
              <a:gd name="connsiteY1" fmla="*/ 0 h 213000"/>
              <a:gd name="connsiteX2" fmla="*/ 816500 w 816500"/>
              <a:gd name="connsiteY2" fmla="*/ 106500 h 213000"/>
              <a:gd name="connsiteX3" fmla="*/ 408250 w 816500"/>
              <a:gd name="connsiteY3" fmla="*/ 213000 h 213000"/>
              <a:gd name="rtl" fmla="*/ 1698008 w 816500"/>
              <a:gd name="rtt" fmla="*/ 5056187 h 213000"/>
              <a:gd name="rtr" fmla="*/ 2514508 w 816500"/>
              <a:gd name="rtb" fmla="*/ 5269187 h 21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0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物理化学性质库</a:t>
            </a:r>
            <a:endParaRPr lang="zh-CN" altLang="en-US" sz="800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5" name="任意多边形 994"/>
          <p:cNvSpPr/>
          <p:nvPr/>
        </p:nvSpPr>
        <p:spPr>
          <a:xfrm>
            <a:off x="104290" y="440485"/>
            <a:ext cx="582200" cy="177500"/>
          </a:xfrm>
          <a:custGeom>
            <a:avLst/>
            <a:gdLst>
              <a:gd name="connsiteX0" fmla="*/ 0 w 582200"/>
              <a:gd name="connsiteY0" fmla="*/ 88750 h 177500"/>
              <a:gd name="connsiteX1" fmla="*/ 291100 w 582200"/>
              <a:gd name="connsiteY1" fmla="*/ 0 h 177500"/>
              <a:gd name="connsiteX2" fmla="*/ 582200 w 582200"/>
              <a:gd name="connsiteY2" fmla="*/ 88750 h 177500"/>
              <a:gd name="connsiteX3" fmla="*/ 291100 w 582200"/>
              <a:gd name="connsiteY3" fmla="*/ 177500 h 177500"/>
              <a:gd name="rtl" fmla="*/ 1694458 w 582200"/>
              <a:gd name="rtt" fmla="*/ 5226587 h 177500"/>
              <a:gd name="rtr" fmla="*/ 2276658 w 582200"/>
              <a:gd name="rtb" fmla="*/ 54040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理化参数指标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8" name="任意多边形 997"/>
          <p:cNvSpPr/>
          <p:nvPr/>
        </p:nvSpPr>
        <p:spPr>
          <a:xfrm>
            <a:off x="3211648" y="924272"/>
            <a:ext cx="3124000" cy="2556000"/>
          </a:xfrm>
          <a:custGeom>
            <a:avLst/>
            <a:gdLst/>
            <a:ahLst/>
            <a:cxnLst/>
            <a:rect l="l" t="t" r="r" b="b"/>
            <a:pathLst>
              <a:path w="3124000" h="2556000" stroke="0">
                <a:moveTo>
                  <a:pt x="0" y="0"/>
                </a:moveTo>
                <a:lnTo>
                  <a:pt x="3124000" y="0"/>
                </a:lnTo>
                <a:lnTo>
                  <a:pt x="3124000" y="2556000"/>
                </a:lnTo>
                <a:lnTo>
                  <a:pt x="0" y="2556000"/>
                </a:lnTo>
                <a:lnTo>
                  <a:pt x="0" y="0"/>
                </a:lnTo>
                <a:close/>
              </a:path>
              <a:path w="3124000" h="2556000" fill="none">
                <a:moveTo>
                  <a:pt x="0" y="0"/>
                </a:moveTo>
                <a:lnTo>
                  <a:pt x="3124000" y="0"/>
                </a:lnTo>
                <a:lnTo>
                  <a:pt x="3124000" y="2556000"/>
                </a:lnTo>
                <a:lnTo>
                  <a:pt x="0" y="2556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999" name="任意多边形 998"/>
          <p:cNvSpPr/>
          <p:nvPr/>
        </p:nvSpPr>
        <p:spPr>
          <a:xfrm>
            <a:off x="3211648" y="924272"/>
            <a:ext cx="71000" cy="2556000"/>
          </a:xfrm>
          <a:custGeom>
            <a:avLst/>
            <a:gdLst/>
            <a:ahLst/>
            <a:cxnLst/>
            <a:rect l="l" t="t" r="r" b="b"/>
            <a:pathLst>
              <a:path w="71000" h="2556000" stroke="0">
                <a:moveTo>
                  <a:pt x="0" y="35500"/>
                </a:move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lnTo>
                  <a:pt x="71000" y="2520500"/>
                </a:lnTo>
                <a:cubicBezTo>
                  <a:pt x="71000" y="2540103"/>
                  <a:pt x="55106" y="2556000"/>
                  <a:pt x="35500" y="2556000"/>
                </a:cubicBezTo>
                <a:cubicBezTo>
                  <a:pt x="15894" y="2556000"/>
                  <a:pt x="0" y="2540103"/>
                  <a:pt x="0" y="2520500"/>
                </a:cubicBezTo>
                <a:lnTo>
                  <a:pt x="0" y="35500"/>
                </a:lnTo>
                <a:close/>
              </a:path>
              <a:path w="71000" h="2556000" fill="none">
                <a:moveTo>
                  <a:pt x="0" y="35500"/>
                </a:move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lnTo>
                  <a:pt x="71000" y="2520500"/>
                </a:lnTo>
                <a:cubicBezTo>
                  <a:pt x="71000" y="2540103"/>
                  <a:pt x="55106" y="2556000"/>
                  <a:pt x="35500" y="2556000"/>
                </a:cubicBezTo>
                <a:cubicBezTo>
                  <a:pt x="15894" y="2556000"/>
                  <a:pt x="0" y="2540103"/>
                  <a:pt x="0" y="2520500"/>
                </a:cubicBezTo>
                <a:lnTo>
                  <a:pt x="0" y="35500"/>
                </a:lnTo>
                <a:close/>
              </a:path>
            </a:pathLst>
          </a:custGeom>
          <a:solidFill>
            <a:srgbClr val="8B5CF6"/>
          </a:solidFill>
          <a:ln w="7100" cap="flat">
            <a:noFill/>
            <a:miter/>
          </a:ln>
        </p:spPr>
      </p:sp>
      <p:sp>
        <p:nvSpPr>
          <p:cNvPr id="1000" name="任意多边形 999"/>
          <p:cNvSpPr/>
          <p:nvPr/>
        </p:nvSpPr>
        <p:spPr>
          <a:xfrm>
            <a:off x="104290" y="440485"/>
            <a:ext cx="866200" cy="255600"/>
          </a:xfrm>
          <a:custGeom>
            <a:avLst/>
            <a:gdLst>
              <a:gd name="connsiteX0" fmla="*/ 0 w 866200"/>
              <a:gd name="connsiteY0" fmla="*/ 127800 h 255600"/>
              <a:gd name="connsiteX1" fmla="*/ 433100 w 866200"/>
              <a:gd name="connsiteY1" fmla="*/ 0 h 255600"/>
              <a:gd name="connsiteX2" fmla="*/ 866200 w 866200"/>
              <a:gd name="connsiteY2" fmla="*/ 127800 h 255600"/>
              <a:gd name="connsiteX3" fmla="*/ 433100 w 866200"/>
              <a:gd name="connsiteY3" fmla="*/ 255600 h 255600"/>
              <a:gd name="rtl" fmla="*/ 3242258 w 866200"/>
              <a:gd name="rtt" fmla="*/ 526388 h 255600"/>
              <a:gd name="rtr" fmla="*/ 4136858 w 866200"/>
              <a:gd name="rtb" fmla="*/ 781988 h 255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293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960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推理引擎</a:t>
            </a:r>
            <a:endParaRPr lang="zh-CN" altLang="en-US" sz="960" b="1" dirty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1" name="任意多边形 1000"/>
          <p:cNvSpPr/>
          <p:nvPr/>
        </p:nvSpPr>
        <p:spPr>
          <a:xfrm>
            <a:off x="3389148" y="1314772"/>
            <a:ext cx="2769000" cy="255600"/>
          </a:xfrm>
          <a:custGeom>
            <a:avLst/>
            <a:gdLst/>
            <a:ahLst/>
            <a:cxnLst/>
            <a:rect l="l" t="t" r="r" b="b"/>
            <a:pathLst>
              <a:path w="2769000" h="255600" stroke="0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2726400" y="0"/>
                </a:lnTo>
                <a:cubicBezTo>
                  <a:pt x="2749929" y="0"/>
                  <a:pt x="2769000" y="19073"/>
                  <a:pt x="2769000" y="42600"/>
                </a:cubicBezTo>
                <a:lnTo>
                  <a:pt x="2769000" y="213000"/>
                </a:lnTo>
                <a:cubicBezTo>
                  <a:pt x="2769000" y="236527"/>
                  <a:pt x="2749929" y="255600"/>
                  <a:pt x="2726400" y="255600"/>
                </a:cubicBezTo>
                <a:lnTo>
                  <a:pt x="42600" y="255600"/>
                </a:lnTo>
                <a:cubicBezTo>
                  <a:pt x="19073" y="255600"/>
                  <a:pt x="0" y="236527"/>
                  <a:pt x="0" y="213000"/>
                </a:cubicBezTo>
                <a:lnTo>
                  <a:pt x="0" y="42600"/>
                </a:lnTo>
                <a:close/>
              </a:path>
              <a:path w="2769000" h="255600" fill="none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2726400" y="0"/>
                </a:lnTo>
                <a:cubicBezTo>
                  <a:pt x="2749929" y="0"/>
                  <a:pt x="2769000" y="19073"/>
                  <a:pt x="2769000" y="42600"/>
                </a:cubicBezTo>
                <a:lnTo>
                  <a:pt x="2769000" y="213000"/>
                </a:lnTo>
                <a:cubicBezTo>
                  <a:pt x="2769000" y="236527"/>
                  <a:pt x="2749929" y="255600"/>
                  <a:pt x="2726400" y="255600"/>
                </a:cubicBezTo>
                <a:lnTo>
                  <a:pt x="42600" y="255600"/>
                </a:lnTo>
                <a:cubicBezTo>
                  <a:pt x="19073" y="255600"/>
                  <a:pt x="0" y="236527"/>
                  <a:pt x="0" y="213000"/>
                </a:cubicBezTo>
                <a:lnTo>
                  <a:pt x="0" y="42600"/>
                </a:lnTo>
                <a:close/>
              </a:path>
            </a:pathLst>
          </a:custGeom>
          <a:solidFill>
            <a:srgbClr val="F3E8FF"/>
          </a:solidFill>
          <a:ln w="7100" cap="flat">
            <a:solidFill>
              <a:srgbClr val="C084FC"/>
            </a:solidFill>
            <a:miter/>
          </a:ln>
        </p:spPr>
      </p:sp>
      <p:sp>
        <p:nvSpPr>
          <p:cNvPr id="1002" name="任意多边形 1001"/>
          <p:cNvSpPr/>
          <p:nvPr/>
        </p:nvSpPr>
        <p:spPr>
          <a:xfrm>
            <a:off x="104290" y="440485"/>
            <a:ext cx="930100" cy="191700"/>
          </a:xfrm>
          <a:custGeom>
            <a:avLst/>
            <a:gdLst>
              <a:gd name="connsiteX0" fmla="*/ 0 w 930100"/>
              <a:gd name="connsiteY0" fmla="*/ 95850 h 191700"/>
              <a:gd name="connsiteX1" fmla="*/ 465050 w 930100"/>
              <a:gd name="connsiteY1" fmla="*/ 0 h 191700"/>
              <a:gd name="connsiteX2" fmla="*/ 930100 w 930100"/>
              <a:gd name="connsiteY2" fmla="*/ 95850 h 191700"/>
              <a:gd name="connsiteX3" fmla="*/ 465050 w 930100"/>
              <a:gd name="connsiteY3" fmla="*/ 191700 h 191700"/>
              <a:gd name="rtl" fmla="*/ 3341658 w 930100"/>
              <a:gd name="rtt" fmla="*/ 906237 h 191700"/>
              <a:gd name="rtr" fmla="*/ 4271758 w 930100"/>
              <a:gd name="rtb" fmla="*/ 109793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F172A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动态组装系统提示词:</a:t>
            </a:r>
            <a:endParaRPr lang="zh-CN" altLang="en-US" sz="69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3" name="任意多边形 1002"/>
          <p:cNvSpPr/>
          <p:nvPr/>
        </p:nvSpPr>
        <p:spPr>
          <a:xfrm>
            <a:off x="104290" y="440485"/>
            <a:ext cx="1512300" cy="191700"/>
          </a:xfrm>
          <a:custGeom>
            <a:avLst/>
            <a:gdLst>
              <a:gd name="connsiteX0" fmla="*/ 0 w 1512300"/>
              <a:gd name="connsiteY0" fmla="*/ 95850 h 191700"/>
              <a:gd name="connsiteX1" fmla="*/ 756150 w 1512300"/>
              <a:gd name="connsiteY1" fmla="*/ 0 h 191700"/>
              <a:gd name="connsiteX2" fmla="*/ 1512300 w 1512300"/>
              <a:gd name="connsiteY2" fmla="*/ 95850 h 191700"/>
              <a:gd name="connsiteX3" fmla="*/ 756150 w 1512300"/>
              <a:gd name="connsiteY3" fmla="*/ 191700 h 191700"/>
              <a:gd name="rtl" fmla="*/ 4364058 w 1512300"/>
              <a:gd name="rtt" fmla="*/ 906237 h 191700"/>
              <a:gd name="rtr" fmla="*/ 5890558 w 1512300"/>
              <a:gd name="rtb" fmla="*/ 109793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工具描述 + 记忆上下文 + 技能知识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5" name="任意多边形 1004"/>
          <p:cNvSpPr/>
          <p:nvPr/>
        </p:nvSpPr>
        <p:spPr>
          <a:xfrm>
            <a:off x="4383148" y="1953772"/>
            <a:ext cx="781000" cy="852000"/>
          </a:xfrm>
          <a:custGeom>
            <a:avLst/>
            <a:gdLst/>
            <a:ahLst/>
            <a:cxnLst/>
            <a:rect l="l" t="t" r="r" b="b"/>
            <a:pathLst>
              <a:path w="781000" h="852000" stroke="0">
                <a:moveTo>
                  <a:pt x="390500" y="0"/>
                </a:moveTo>
                <a:lnTo>
                  <a:pt x="781000" y="213000"/>
                </a:lnTo>
                <a:lnTo>
                  <a:pt x="781000" y="639000"/>
                </a:lnTo>
                <a:lnTo>
                  <a:pt x="390500" y="852000"/>
                </a:lnTo>
                <a:lnTo>
                  <a:pt x="0" y="639000"/>
                </a:lnTo>
                <a:lnTo>
                  <a:pt x="0" y="213000"/>
                </a:lnTo>
                <a:lnTo>
                  <a:pt x="390500" y="0"/>
                </a:lnTo>
                <a:close/>
              </a:path>
              <a:path w="781000" h="852000" fill="none">
                <a:moveTo>
                  <a:pt x="390500" y="0"/>
                </a:moveTo>
                <a:lnTo>
                  <a:pt x="781000" y="213000"/>
                </a:lnTo>
                <a:lnTo>
                  <a:pt x="781000" y="639000"/>
                </a:lnTo>
                <a:lnTo>
                  <a:pt x="390500" y="852000"/>
                </a:lnTo>
                <a:lnTo>
                  <a:pt x="0" y="639000"/>
                </a:lnTo>
                <a:lnTo>
                  <a:pt x="0" y="213000"/>
                </a:lnTo>
                <a:lnTo>
                  <a:pt x="390500" y="0"/>
                </a:lnTo>
                <a:close/>
              </a:path>
            </a:pathLst>
          </a:custGeom>
          <a:noFill/>
          <a:ln w="14200" cap="flat">
            <a:solidFill>
              <a:srgbClr val="D8B4FE"/>
            </a:solidFill>
            <a:miter/>
          </a:ln>
        </p:spPr>
      </p:sp>
      <p:sp>
        <p:nvSpPr>
          <p:cNvPr id="1006" name="任意多边形 1005"/>
          <p:cNvSpPr/>
          <p:nvPr/>
        </p:nvSpPr>
        <p:spPr>
          <a:xfrm rot="1800000">
            <a:off x="4754123" y="1972821"/>
            <a:ext cx="106500" cy="7100"/>
          </a:xfrm>
          <a:custGeom>
            <a:avLst/>
            <a:gdLst/>
            <a:ahLst/>
            <a:cxnLst/>
            <a:rect l="l" t="t" r="r" b="b"/>
            <a:pathLst>
              <a:path w="106500" h="7100" fill="none">
                <a:moveTo>
                  <a:pt x="0" y="0"/>
                </a:moveTo>
                <a:lnTo>
                  <a:pt x="106500" y="0"/>
                </a:lnTo>
              </a:path>
            </a:pathLst>
          </a:custGeom>
          <a:noFill/>
          <a:ln w="21300" cap="flat">
            <a:solidFill>
              <a:srgbClr val="7C3AED"/>
            </a:solidFill>
            <a:miter/>
          </a:ln>
        </p:spPr>
      </p:sp>
      <p:sp>
        <p:nvSpPr>
          <p:cNvPr id="1007" name="任意多边形 1006"/>
          <p:cNvSpPr/>
          <p:nvPr/>
        </p:nvSpPr>
        <p:spPr>
          <a:xfrm rot="-1800000">
            <a:off x="4658387" y="1937133"/>
            <a:ext cx="94967" cy="94967"/>
          </a:xfrm>
          <a:custGeom>
            <a:avLst/>
            <a:gdLst/>
            <a:ahLst/>
            <a:cxnLst/>
            <a:rect l="l" t="t" r="r" b="b"/>
            <a:pathLst>
              <a:path w="94967" h="94967" stroke="0">
                <a:moveTo>
                  <a:pt x="0" y="0"/>
                </a:moveTo>
                <a:lnTo>
                  <a:pt x="94967" y="47484"/>
                </a:lnTo>
                <a:lnTo>
                  <a:pt x="0" y="94967"/>
                </a:lnTo>
                <a:lnTo>
                  <a:pt x="0" y="0"/>
                </a:lnTo>
                <a:close/>
              </a:path>
              <a:path w="94967" h="94967" fill="none">
                <a:moveTo>
                  <a:pt x="0" y="0"/>
                </a:moveTo>
                <a:lnTo>
                  <a:pt x="94967" y="47484"/>
                </a:lnTo>
                <a:lnTo>
                  <a:pt x="0" y="94967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1009" name="任意多边形 1008"/>
          <p:cNvSpPr/>
          <p:nvPr/>
        </p:nvSpPr>
        <p:spPr>
          <a:xfrm>
            <a:off x="5164148" y="2237772"/>
            <a:ext cx="7100" cy="106500"/>
          </a:xfrm>
          <a:custGeom>
            <a:avLst/>
            <a:gdLst/>
            <a:ahLst/>
            <a:cxnLst/>
            <a:rect l="l" t="t" r="r" b="b"/>
            <a:pathLst>
              <a:path w="7100" h="106500" fill="none">
                <a:moveTo>
                  <a:pt x="0" y="0"/>
                </a:moveTo>
                <a:lnTo>
                  <a:pt x="0" y="106500"/>
                </a:lnTo>
              </a:path>
            </a:pathLst>
          </a:custGeom>
          <a:noFill/>
          <a:ln w="21300" cap="flat">
            <a:solidFill>
              <a:srgbClr val="7C3AED"/>
            </a:solidFill>
            <a:miter/>
          </a:ln>
        </p:spPr>
      </p:sp>
      <p:sp>
        <p:nvSpPr>
          <p:cNvPr id="1010" name="任意多边形 1009"/>
          <p:cNvSpPr/>
          <p:nvPr/>
        </p:nvSpPr>
        <p:spPr>
          <a:xfrm rot="1800000">
            <a:off x="4962138" y="2040197"/>
            <a:ext cx="84288" cy="84288"/>
          </a:xfrm>
          <a:custGeom>
            <a:avLst/>
            <a:gdLst/>
            <a:ahLst/>
            <a:cxnLst/>
            <a:rect l="l" t="t" r="r" b="b"/>
            <a:pathLst>
              <a:path w="84288" h="84288" stroke="0">
                <a:moveTo>
                  <a:pt x="0" y="0"/>
                </a:moveTo>
                <a:lnTo>
                  <a:pt x="84288" y="42144"/>
                </a:lnTo>
                <a:lnTo>
                  <a:pt x="0" y="84288"/>
                </a:lnTo>
                <a:lnTo>
                  <a:pt x="0" y="0"/>
                </a:lnTo>
                <a:close/>
              </a:path>
              <a:path w="84288" h="84288" fill="none">
                <a:moveTo>
                  <a:pt x="0" y="0"/>
                </a:moveTo>
                <a:lnTo>
                  <a:pt x="84288" y="42144"/>
                </a:lnTo>
                <a:lnTo>
                  <a:pt x="0" y="84288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1012" name="任意多边形 1011"/>
          <p:cNvSpPr/>
          <p:nvPr/>
        </p:nvSpPr>
        <p:spPr>
          <a:xfrm>
            <a:off x="4965348" y="2670751"/>
            <a:ext cx="71000" cy="35500"/>
          </a:xfrm>
          <a:custGeom>
            <a:avLst/>
            <a:gdLst/>
            <a:ahLst/>
            <a:cxnLst/>
            <a:rect l="l" t="t" r="r" b="b"/>
            <a:pathLst>
              <a:path w="71000" h="35500" fill="none">
                <a:moveTo>
                  <a:pt x="71000" y="0"/>
                </a:moveTo>
                <a:lnTo>
                  <a:pt x="0" y="35500"/>
                </a:lnTo>
              </a:path>
            </a:pathLst>
          </a:custGeom>
          <a:noFill/>
          <a:ln w="21300" cap="flat">
            <a:solidFill>
              <a:srgbClr val="7C3AED"/>
            </a:solidFill>
            <a:miter/>
          </a:ln>
        </p:spPr>
      </p:sp>
      <p:sp>
        <p:nvSpPr>
          <p:cNvPr id="1013" name="任意多边形 1012"/>
          <p:cNvSpPr/>
          <p:nvPr/>
        </p:nvSpPr>
        <p:spPr>
          <a:xfrm rot="5340000">
            <a:off x="5131285" y="2447659"/>
            <a:ext cx="74123" cy="74123"/>
          </a:xfrm>
          <a:custGeom>
            <a:avLst/>
            <a:gdLst/>
            <a:ahLst/>
            <a:cxnLst/>
            <a:rect l="l" t="t" r="r" b="b"/>
            <a:pathLst>
              <a:path w="74123" h="74123" stroke="0">
                <a:moveTo>
                  <a:pt x="0" y="0"/>
                </a:moveTo>
                <a:lnTo>
                  <a:pt x="74123" y="37062"/>
                </a:lnTo>
                <a:lnTo>
                  <a:pt x="0" y="74123"/>
                </a:lnTo>
                <a:lnTo>
                  <a:pt x="0" y="0"/>
                </a:lnTo>
                <a:close/>
              </a:path>
              <a:path w="74123" h="74123" fill="none">
                <a:moveTo>
                  <a:pt x="0" y="0"/>
                </a:moveTo>
                <a:lnTo>
                  <a:pt x="74123" y="37062"/>
                </a:lnTo>
                <a:lnTo>
                  <a:pt x="0" y="74123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1015" name="任意多边形 1014"/>
          <p:cNvSpPr/>
          <p:nvPr/>
        </p:nvSpPr>
        <p:spPr>
          <a:xfrm rot="1800000">
            <a:off x="4645848" y="2770272"/>
            <a:ext cx="106500" cy="7100"/>
          </a:xfrm>
          <a:custGeom>
            <a:avLst/>
            <a:gdLst/>
            <a:ahLst/>
            <a:cxnLst/>
            <a:rect l="l" t="t" r="r" b="b"/>
            <a:pathLst>
              <a:path w="106500" h="7100" fill="none">
                <a:moveTo>
                  <a:pt x="106500" y="0"/>
                </a:moveTo>
                <a:lnTo>
                  <a:pt x="0" y="0"/>
                </a:lnTo>
              </a:path>
            </a:pathLst>
          </a:custGeom>
          <a:noFill/>
          <a:ln w="21300" cap="flat">
            <a:solidFill>
              <a:srgbClr val="7C3AED"/>
            </a:solidFill>
            <a:miter/>
          </a:ln>
        </p:spPr>
      </p:sp>
      <p:sp>
        <p:nvSpPr>
          <p:cNvPr id="1016" name="任意多边形 1015"/>
          <p:cNvSpPr/>
          <p:nvPr/>
        </p:nvSpPr>
        <p:spPr>
          <a:xfrm rot="8400000">
            <a:off x="4777603" y="2733856"/>
            <a:ext cx="87557" cy="87557"/>
          </a:xfrm>
          <a:custGeom>
            <a:avLst/>
            <a:gdLst/>
            <a:ahLst/>
            <a:cxnLst/>
            <a:rect l="l" t="t" r="r" b="b"/>
            <a:pathLst>
              <a:path w="87557" h="87557" stroke="0">
                <a:moveTo>
                  <a:pt x="0" y="0"/>
                </a:moveTo>
                <a:lnTo>
                  <a:pt x="87557" y="43779"/>
                </a:lnTo>
                <a:lnTo>
                  <a:pt x="0" y="87557"/>
                </a:lnTo>
                <a:lnTo>
                  <a:pt x="0" y="0"/>
                </a:lnTo>
                <a:close/>
              </a:path>
              <a:path w="87557" h="87557" fill="none">
                <a:moveTo>
                  <a:pt x="0" y="0"/>
                </a:moveTo>
                <a:lnTo>
                  <a:pt x="87557" y="43779"/>
                </a:lnTo>
                <a:lnTo>
                  <a:pt x="0" y="87557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1018" name="任意多边形 1017"/>
          <p:cNvSpPr/>
          <p:nvPr/>
        </p:nvSpPr>
        <p:spPr>
          <a:xfrm>
            <a:off x="4383148" y="2415272"/>
            <a:ext cx="7100" cy="106500"/>
          </a:xfrm>
          <a:custGeom>
            <a:avLst/>
            <a:gdLst/>
            <a:ahLst/>
            <a:cxnLst/>
            <a:rect l="l" t="t" r="r" b="b"/>
            <a:pathLst>
              <a:path w="7100" h="106500" fill="none">
                <a:moveTo>
                  <a:pt x="0" y="106500"/>
                </a:moveTo>
                <a:lnTo>
                  <a:pt x="0" y="0"/>
                </a:lnTo>
              </a:path>
            </a:pathLst>
          </a:custGeom>
          <a:noFill/>
          <a:ln w="21300" cap="flat">
            <a:solidFill>
              <a:srgbClr val="7C3AED"/>
            </a:solidFill>
            <a:miter/>
          </a:ln>
        </p:spPr>
      </p:sp>
      <p:sp>
        <p:nvSpPr>
          <p:cNvPr id="1019" name="任意多边形 1018"/>
          <p:cNvSpPr/>
          <p:nvPr/>
        </p:nvSpPr>
        <p:spPr>
          <a:xfrm rot="-8700000">
            <a:off x="4488171" y="2628720"/>
            <a:ext cx="94831" cy="94831"/>
          </a:xfrm>
          <a:custGeom>
            <a:avLst/>
            <a:gdLst/>
            <a:ahLst/>
            <a:cxnLst/>
            <a:rect l="l" t="t" r="r" b="b"/>
            <a:pathLst>
              <a:path w="94831" h="94831" stroke="0">
                <a:moveTo>
                  <a:pt x="0" y="0"/>
                </a:moveTo>
                <a:lnTo>
                  <a:pt x="94831" y="47416"/>
                </a:lnTo>
                <a:lnTo>
                  <a:pt x="0" y="94831"/>
                </a:lnTo>
                <a:lnTo>
                  <a:pt x="0" y="0"/>
                </a:lnTo>
                <a:close/>
              </a:path>
              <a:path w="94831" h="94831" fill="none">
                <a:moveTo>
                  <a:pt x="0" y="0"/>
                </a:moveTo>
                <a:lnTo>
                  <a:pt x="94831" y="47416"/>
                </a:lnTo>
                <a:lnTo>
                  <a:pt x="0" y="94831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1021" name="任意多边形 1020"/>
          <p:cNvSpPr/>
          <p:nvPr/>
        </p:nvSpPr>
        <p:spPr>
          <a:xfrm>
            <a:off x="4513688" y="2060272"/>
            <a:ext cx="71000" cy="35500"/>
          </a:xfrm>
          <a:custGeom>
            <a:avLst/>
            <a:gdLst/>
            <a:ahLst/>
            <a:cxnLst/>
            <a:rect l="l" t="t" r="r" b="b"/>
            <a:pathLst>
              <a:path w="71000" h="35500" fill="none">
                <a:moveTo>
                  <a:pt x="0" y="35500"/>
                </a:moveTo>
                <a:lnTo>
                  <a:pt x="71000" y="0"/>
                </a:lnTo>
              </a:path>
            </a:pathLst>
          </a:custGeom>
          <a:noFill/>
          <a:ln w="21300" cap="flat">
            <a:solidFill>
              <a:srgbClr val="7C3AED"/>
            </a:solidFill>
            <a:miter/>
          </a:ln>
        </p:spPr>
      </p:sp>
      <p:sp>
        <p:nvSpPr>
          <p:cNvPr id="1022" name="任意多边形 1021"/>
          <p:cNvSpPr/>
          <p:nvPr/>
        </p:nvSpPr>
        <p:spPr>
          <a:xfrm rot="-5400000">
            <a:off x="4336074" y="2230671"/>
            <a:ext cx="101247" cy="101247"/>
          </a:xfrm>
          <a:custGeom>
            <a:avLst/>
            <a:gdLst/>
            <a:ahLst/>
            <a:cxnLst/>
            <a:rect l="l" t="t" r="r" b="b"/>
            <a:pathLst>
              <a:path w="101247" h="101247" stroke="0">
                <a:moveTo>
                  <a:pt x="0" y="0"/>
                </a:moveTo>
                <a:lnTo>
                  <a:pt x="101247" y="50624"/>
                </a:lnTo>
                <a:lnTo>
                  <a:pt x="0" y="101247"/>
                </a:lnTo>
                <a:lnTo>
                  <a:pt x="0" y="0"/>
                </a:lnTo>
                <a:close/>
              </a:path>
              <a:path w="101247" h="101247" fill="none">
                <a:moveTo>
                  <a:pt x="0" y="0"/>
                </a:moveTo>
                <a:lnTo>
                  <a:pt x="101247" y="50624"/>
                </a:lnTo>
                <a:lnTo>
                  <a:pt x="0" y="101247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1024" name="任意多边形 1023"/>
          <p:cNvSpPr/>
          <p:nvPr/>
        </p:nvSpPr>
        <p:spPr>
          <a:xfrm>
            <a:off x="4574848" y="2180972"/>
            <a:ext cx="397600" cy="397600"/>
          </a:xfrm>
          <a:custGeom>
            <a:avLst/>
            <a:gdLst/>
            <a:ahLst/>
            <a:cxnLst/>
            <a:rect l="l" t="t" r="r" b="b"/>
            <a:pathLst>
              <a:path w="397600" h="397600" stroke="0">
                <a:moveTo>
                  <a:pt x="397600" y="198800"/>
                </a:moveTo>
                <a:cubicBezTo>
                  <a:pt x="397600" y="308594"/>
                  <a:pt x="308594" y="397600"/>
                  <a:pt x="198800" y="397600"/>
                </a:cubicBezTo>
                <a:cubicBezTo>
                  <a:pt x="89006" y="397600"/>
                  <a:pt x="0" y="308594"/>
                  <a:pt x="0" y="198800"/>
                </a:cubicBezTo>
                <a:cubicBezTo>
                  <a:pt x="0" y="89006"/>
                  <a:pt x="89006" y="0"/>
                  <a:pt x="198800" y="0"/>
                </a:cubicBezTo>
                <a:cubicBezTo>
                  <a:pt x="308594" y="0"/>
                  <a:pt x="397600" y="89006"/>
                  <a:pt x="397600" y="198800"/>
                </a:cubicBezTo>
                <a:close/>
              </a:path>
              <a:path w="397600" h="397600" fill="none">
                <a:moveTo>
                  <a:pt x="397600" y="198800"/>
                </a:moveTo>
                <a:cubicBezTo>
                  <a:pt x="397600" y="308594"/>
                  <a:pt x="308594" y="397600"/>
                  <a:pt x="198800" y="397600"/>
                </a:cubicBezTo>
                <a:cubicBezTo>
                  <a:pt x="89006" y="397600"/>
                  <a:pt x="0" y="308594"/>
                  <a:pt x="0" y="198800"/>
                </a:cubicBezTo>
                <a:cubicBezTo>
                  <a:pt x="0" y="89006"/>
                  <a:pt x="89006" y="0"/>
                  <a:pt x="198800" y="0"/>
                </a:cubicBezTo>
                <a:cubicBezTo>
                  <a:pt x="308594" y="0"/>
                  <a:pt x="397600" y="89006"/>
                  <a:pt x="397600" y="198800"/>
                </a:cubicBezTo>
                <a:close/>
              </a:path>
            </a:pathLst>
          </a:custGeom>
          <a:gradFill>
            <a:gsLst>
              <a:gs pos="0">
                <a:srgbClr val="8B5CF6"/>
              </a:gs>
              <a:gs pos="100000">
                <a:srgbClr val="6D28D9"/>
              </a:gs>
            </a:gsLst>
            <a:lin ang="2700000" scaled="0"/>
          </a:gradFill>
          <a:ln w="7100" cap="flat">
            <a:noFill/>
            <a:miter/>
          </a:ln>
        </p:spPr>
      </p:sp>
      <p:sp>
        <p:nvSpPr>
          <p:cNvPr id="1025" name="任意多边形 1024"/>
          <p:cNvSpPr/>
          <p:nvPr/>
        </p:nvSpPr>
        <p:spPr>
          <a:xfrm>
            <a:off x="4518048" y="2124172"/>
            <a:ext cx="511200" cy="511200"/>
          </a:xfrm>
          <a:custGeom>
            <a:avLst/>
            <a:gdLst/>
            <a:ahLst/>
            <a:cxnLst/>
            <a:rect l="l" t="t" r="r" b="b"/>
            <a:pathLst>
              <a:path w="511200" h="511200" stroke="0">
                <a:moveTo>
                  <a:pt x="511200" y="255600"/>
                </a:moveTo>
                <a:cubicBezTo>
                  <a:pt x="511200" y="396764"/>
                  <a:pt x="396764" y="511200"/>
                  <a:pt x="255600" y="511200"/>
                </a:cubicBezTo>
                <a:cubicBezTo>
                  <a:pt x="114436" y="511200"/>
                  <a:pt x="0" y="396764"/>
                  <a:pt x="0" y="255600"/>
                </a:cubicBezTo>
                <a:cubicBezTo>
                  <a:pt x="0" y="114436"/>
                  <a:pt x="114436" y="0"/>
                  <a:pt x="255600" y="0"/>
                </a:cubicBezTo>
                <a:cubicBezTo>
                  <a:pt x="396764" y="0"/>
                  <a:pt x="511200" y="114436"/>
                  <a:pt x="511200" y="255600"/>
                </a:cubicBezTo>
                <a:close/>
              </a:path>
              <a:path w="511200" h="511200" fill="none">
                <a:moveTo>
                  <a:pt x="511200" y="255600"/>
                </a:moveTo>
                <a:cubicBezTo>
                  <a:pt x="511200" y="396764"/>
                  <a:pt x="396764" y="511200"/>
                  <a:pt x="255600" y="511200"/>
                </a:cubicBezTo>
                <a:cubicBezTo>
                  <a:pt x="114436" y="511200"/>
                  <a:pt x="0" y="396764"/>
                  <a:pt x="0" y="255600"/>
                </a:cubicBezTo>
                <a:cubicBezTo>
                  <a:pt x="0" y="114436"/>
                  <a:pt x="114436" y="0"/>
                  <a:pt x="255600" y="0"/>
                </a:cubicBezTo>
                <a:cubicBezTo>
                  <a:pt x="396764" y="0"/>
                  <a:pt x="511200" y="114436"/>
                  <a:pt x="511200" y="255600"/>
                </a:cubicBezTo>
                <a:close/>
              </a:path>
            </a:pathLst>
          </a:custGeom>
          <a:noFill/>
          <a:ln w="10650" cap="flat">
            <a:solidFill>
              <a:srgbClr val="A855F7"/>
            </a:solidFill>
            <a:custDash>
              <a:ds d="250000" sp="250000"/>
            </a:custDash>
            <a:miter/>
          </a:ln>
        </p:spPr>
      </p:sp>
      <p:sp>
        <p:nvSpPr>
          <p:cNvPr id="1026" name="任意多边形 1025"/>
          <p:cNvSpPr/>
          <p:nvPr/>
        </p:nvSpPr>
        <p:spPr>
          <a:xfrm>
            <a:off x="4702648" y="2273272"/>
            <a:ext cx="142000" cy="177500"/>
          </a:xfrm>
          <a:custGeom>
            <a:avLst/>
            <a:gdLst/>
            <a:ahLst/>
            <a:cxnLst/>
            <a:rect l="l" t="t" r="r" b="b"/>
            <a:pathLst>
              <a:path w="142000" h="177500" stroke="0">
                <a:moveTo>
                  <a:pt x="0" y="71000"/>
                </a:moveTo>
                <a:lnTo>
                  <a:pt x="35500" y="0"/>
                </a:lnTo>
                <a:lnTo>
                  <a:pt x="106500" y="0"/>
                </a:lnTo>
                <a:lnTo>
                  <a:pt x="142000" y="71000"/>
                </a:lnTo>
                <a:lnTo>
                  <a:pt x="71000" y="177500"/>
                </a:lnTo>
                <a:lnTo>
                  <a:pt x="0" y="71000"/>
                </a:lnTo>
                <a:close/>
              </a:path>
              <a:path w="142000" h="177500" fill="none">
                <a:moveTo>
                  <a:pt x="0" y="71000"/>
                </a:moveTo>
                <a:lnTo>
                  <a:pt x="35500" y="0"/>
                </a:lnTo>
                <a:lnTo>
                  <a:pt x="106500" y="0"/>
                </a:lnTo>
                <a:lnTo>
                  <a:pt x="142000" y="71000"/>
                </a:lnTo>
                <a:lnTo>
                  <a:pt x="71000" y="177500"/>
                </a:lnTo>
                <a:lnTo>
                  <a:pt x="0" y="71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7100" cap="flat">
            <a:noFill/>
            <a:miter/>
          </a:ln>
        </p:spPr>
      </p:sp>
      <p:sp>
        <p:nvSpPr>
          <p:cNvPr id="1027" name="任意多边形 1026"/>
          <p:cNvSpPr/>
          <p:nvPr/>
        </p:nvSpPr>
        <p:spPr>
          <a:xfrm>
            <a:off x="4681348" y="2322972"/>
            <a:ext cx="42600" cy="42600"/>
          </a:xfrm>
          <a:custGeom>
            <a:avLst/>
            <a:gdLst/>
            <a:ahLst/>
            <a:cxnLst/>
            <a:rect l="l" t="t" r="r" b="b"/>
            <a:pathLst>
              <a:path w="42600" h="42600" stroke="0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  <a:path w="42600" h="42600" fill="none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</a:pathLst>
          </a:custGeom>
          <a:solidFill>
            <a:srgbClr val="FFFFFF"/>
          </a:solidFill>
          <a:ln w="7100" cap="flat">
            <a:noFill/>
            <a:miter/>
          </a:ln>
        </p:spPr>
      </p:sp>
      <p:sp>
        <p:nvSpPr>
          <p:cNvPr id="1028" name="任意多边形 1027"/>
          <p:cNvSpPr/>
          <p:nvPr/>
        </p:nvSpPr>
        <p:spPr>
          <a:xfrm>
            <a:off x="4716848" y="2251972"/>
            <a:ext cx="42600" cy="42600"/>
          </a:xfrm>
          <a:custGeom>
            <a:avLst/>
            <a:gdLst/>
            <a:ahLst/>
            <a:cxnLst/>
            <a:rect l="l" t="t" r="r" b="b"/>
            <a:pathLst>
              <a:path w="42600" h="42600" stroke="0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  <a:path w="42600" h="42600" fill="none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</a:pathLst>
          </a:custGeom>
          <a:solidFill>
            <a:srgbClr val="FFFFFF"/>
          </a:solidFill>
          <a:ln w="7100" cap="flat">
            <a:noFill/>
            <a:miter/>
          </a:ln>
        </p:spPr>
      </p:sp>
      <p:sp>
        <p:nvSpPr>
          <p:cNvPr id="1029" name="任意多边形 1028"/>
          <p:cNvSpPr/>
          <p:nvPr/>
        </p:nvSpPr>
        <p:spPr>
          <a:xfrm>
            <a:off x="4787848" y="2251972"/>
            <a:ext cx="42600" cy="42600"/>
          </a:xfrm>
          <a:custGeom>
            <a:avLst/>
            <a:gdLst/>
            <a:ahLst/>
            <a:cxnLst/>
            <a:rect l="l" t="t" r="r" b="b"/>
            <a:pathLst>
              <a:path w="42600" h="42600" stroke="0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  <a:path w="42600" h="42600" fill="none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</a:pathLst>
          </a:custGeom>
          <a:solidFill>
            <a:srgbClr val="FFFFFF"/>
          </a:solidFill>
          <a:ln w="7100" cap="flat">
            <a:noFill/>
            <a:miter/>
          </a:ln>
        </p:spPr>
      </p:sp>
      <p:sp>
        <p:nvSpPr>
          <p:cNvPr id="1030" name="任意多边形 1029"/>
          <p:cNvSpPr/>
          <p:nvPr/>
        </p:nvSpPr>
        <p:spPr>
          <a:xfrm>
            <a:off x="4823348" y="2322972"/>
            <a:ext cx="42600" cy="42600"/>
          </a:xfrm>
          <a:custGeom>
            <a:avLst/>
            <a:gdLst/>
            <a:ahLst/>
            <a:cxnLst/>
            <a:rect l="l" t="t" r="r" b="b"/>
            <a:pathLst>
              <a:path w="42600" h="42600" stroke="0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  <a:path w="42600" h="42600" fill="none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</a:pathLst>
          </a:custGeom>
          <a:solidFill>
            <a:srgbClr val="FFFFFF"/>
          </a:solidFill>
          <a:ln w="7100" cap="flat">
            <a:noFill/>
            <a:miter/>
          </a:ln>
        </p:spPr>
      </p:sp>
      <p:sp>
        <p:nvSpPr>
          <p:cNvPr id="1031" name="任意多边形 1030"/>
          <p:cNvSpPr/>
          <p:nvPr/>
        </p:nvSpPr>
        <p:spPr>
          <a:xfrm>
            <a:off x="4752348" y="2429472"/>
            <a:ext cx="42600" cy="42600"/>
          </a:xfrm>
          <a:custGeom>
            <a:avLst/>
            <a:gdLst/>
            <a:ahLst/>
            <a:cxnLst/>
            <a:rect l="l" t="t" r="r" b="b"/>
            <a:pathLst>
              <a:path w="42600" h="42600" stroke="0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  <a:path w="42600" h="42600" fill="none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</a:pathLst>
          </a:custGeom>
          <a:solidFill>
            <a:srgbClr val="FFFFFF"/>
          </a:solidFill>
          <a:ln w="7100" cap="flat">
            <a:noFill/>
            <a:miter/>
          </a:ln>
        </p:spPr>
      </p:sp>
      <p:sp>
        <p:nvSpPr>
          <p:cNvPr id="1032" name="任意多边形 1031"/>
          <p:cNvSpPr/>
          <p:nvPr/>
        </p:nvSpPr>
        <p:spPr>
          <a:xfrm>
            <a:off x="4525148" y="1776272"/>
            <a:ext cx="497000" cy="170400"/>
          </a:xfrm>
          <a:custGeom>
            <a:avLst/>
            <a:gdLst/>
            <a:ahLst/>
            <a:cxnLst/>
            <a:rect l="l" t="t" r="r" b="b"/>
            <a:pathLst>
              <a:path w="497000" h="170400" stroke="0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411800" y="0"/>
                </a:lnTo>
                <a:cubicBezTo>
                  <a:pt x="458855" y="0"/>
                  <a:pt x="497000" y="38145"/>
                  <a:pt x="497000" y="85200"/>
                </a:cubicBezTo>
                <a:cubicBezTo>
                  <a:pt x="497000" y="132255"/>
                  <a:pt x="458855" y="170400"/>
                  <a:pt x="411800" y="170400"/>
                </a:cubicBezTo>
                <a:lnTo>
                  <a:pt x="85200" y="170400"/>
                </a:lnTo>
                <a:cubicBezTo>
                  <a:pt x="38145" y="170400"/>
                  <a:pt x="0" y="132255"/>
                  <a:pt x="0" y="85200"/>
                </a:cubicBezTo>
                <a:close/>
              </a:path>
              <a:path w="497000" h="170400" fill="none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411800" y="0"/>
                </a:lnTo>
                <a:cubicBezTo>
                  <a:pt x="458855" y="0"/>
                  <a:pt x="497000" y="38145"/>
                  <a:pt x="497000" y="85200"/>
                </a:cubicBezTo>
                <a:cubicBezTo>
                  <a:pt x="497000" y="132255"/>
                  <a:pt x="458855" y="170400"/>
                  <a:pt x="411800" y="170400"/>
                </a:cubicBezTo>
                <a:lnTo>
                  <a:pt x="85200" y="170400"/>
                </a:lnTo>
                <a:cubicBezTo>
                  <a:pt x="38145" y="170400"/>
                  <a:pt x="0" y="132255"/>
                  <a:pt x="0" y="85200"/>
                </a:cubicBez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8B5CF6"/>
            </a:solidFill>
            <a:miter/>
          </a:ln>
        </p:spPr>
      </p:sp>
      <p:sp>
        <p:nvSpPr>
          <p:cNvPr id="1033" name="任意多边形 1032"/>
          <p:cNvSpPr/>
          <p:nvPr/>
        </p:nvSpPr>
        <p:spPr>
          <a:xfrm>
            <a:off x="104290" y="440485"/>
            <a:ext cx="255600" cy="191700"/>
          </a:xfrm>
          <a:custGeom>
            <a:avLst/>
            <a:gdLst>
              <a:gd name="connsiteX0" fmla="*/ 0 w 255600"/>
              <a:gd name="connsiteY0" fmla="*/ 95850 h 191700"/>
              <a:gd name="connsiteX1" fmla="*/ 127800 w 255600"/>
              <a:gd name="connsiteY1" fmla="*/ 0 h 191700"/>
              <a:gd name="connsiteX2" fmla="*/ 255600 w 255600"/>
              <a:gd name="connsiteY2" fmla="*/ 95850 h 191700"/>
              <a:gd name="connsiteX3" fmla="*/ 127800 w 255600"/>
              <a:gd name="connsiteY3" fmla="*/ 191700 h 191700"/>
              <a:gd name="rtl" fmla="*/ 4550468 w 255600"/>
              <a:gd name="rtt" fmla="*/ 1325137 h 191700"/>
              <a:gd name="rtr" fmla="*/ 4806068 w 255600"/>
              <a:gd name="rtb" fmla="*/ 151683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4" name="任意多边形 1033"/>
          <p:cNvSpPr/>
          <p:nvPr/>
        </p:nvSpPr>
        <p:spPr>
          <a:xfrm>
            <a:off x="5022148" y="2060272"/>
            <a:ext cx="497000" cy="170400"/>
          </a:xfrm>
          <a:custGeom>
            <a:avLst/>
            <a:gdLst/>
            <a:ahLst/>
            <a:cxnLst/>
            <a:rect l="l" t="t" r="r" b="b"/>
            <a:pathLst>
              <a:path w="497000" h="170400" stroke="0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411800" y="0"/>
                </a:lnTo>
                <a:cubicBezTo>
                  <a:pt x="458855" y="0"/>
                  <a:pt x="497000" y="38145"/>
                  <a:pt x="497000" y="85200"/>
                </a:cubicBezTo>
                <a:cubicBezTo>
                  <a:pt x="497000" y="132255"/>
                  <a:pt x="458855" y="170400"/>
                  <a:pt x="411800" y="170400"/>
                </a:cubicBezTo>
                <a:lnTo>
                  <a:pt x="85200" y="170400"/>
                </a:lnTo>
                <a:cubicBezTo>
                  <a:pt x="38145" y="170400"/>
                  <a:pt x="0" y="132255"/>
                  <a:pt x="0" y="85200"/>
                </a:cubicBezTo>
                <a:close/>
              </a:path>
              <a:path w="497000" h="170400" fill="none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411800" y="0"/>
                </a:lnTo>
                <a:cubicBezTo>
                  <a:pt x="458855" y="0"/>
                  <a:pt x="497000" y="38145"/>
                  <a:pt x="497000" y="85200"/>
                </a:cubicBezTo>
                <a:cubicBezTo>
                  <a:pt x="497000" y="132255"/>
                  <a:pt x="458855" y="170400"/>
                  <a:pt x="411800" y="170400"/>
                </a:cubicBezTo>
                <a:lnTo>
                  <a:pt x="85200" y="170400"/>
                </a:lnTo>
                <a:cubicBezTo>
                  <a:pt x="38145" y="170400"/>
                  <a:pt x="0" y="132255"/>
                  <a:pt x="0" y="85200"/>
                </a:cubicBez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8B5CF6"/>
            </a:solidFill>
            <a:miter/>
          </a:ln>
        </p:spPr>
      </p:sp>
      <p:sp>
        <p:nvSpPr>
          <p:cNvPr id="1035" name="任意多边形 1034"/>
          <p:cNvSpPr/>
          <p:nvPr/>
        </p:nvSpPr>
        <p:spPr>
          <a:xfrm>
            <a:off x="104290" y="440485"/>
            <a:ext cx="255600" cy="191700"/>
          </a:xfrm>
          <a:custGeom>
            <a:avLst/>
            <a:gdLst>
              <a:gd name="connsiteX0" fmla="*/ 0 w 255600"/>
              <a:gd name="connsiteY0" fmla="*/ 95850 h 191700"/>
              <a:gd name="connsiteX1" fmla="*/ 127800 w 255600"/>
              <a:gd name="connsiteY1" fmla="*/ 0 h 191700"/>
              <a:gd name="connsiteX2" fmla="*/ 255600 w 255600"/>
              <a:gd name="connsiteY2" fmla="*/ 95850 h 191700"/>
              <a:gd name="connsiteX3" fmla="*/ 127800 w 255600"/>
              <a:gd name="connsiteY3" fmla="*/ 191700 h 191700"/>
              <a:gd name="rtl" fmla="*/ 5038558 w 255600"/>
              <a:gd name="rtt" fmla="*/ 1605587 h 191700"/>
              <a:gd name="rtr" fmla="*/ 5294158 w 255600"/>
              <a:gd name="rtb" fmla="*/ 17972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6" name="任意多边形 1035"/>
          <p:cNvSpPr/>
          <p:nvPr/>
        </p:nvSpPr>
        <p:spPr>
          <a:xfrm>
            <a:off x="5022148" y="2521772"/>
            <a:ext cx="497000" cy="170400"/>
          </a:xfrm>
          <a:custGeom>
            <a:avLst/>
            <a:gdLst/>
            <a:ahLst/>
            <a:cxnLst/>
            <a:rect l="l" t="t" r="r" b="b"/>
            <a:pathLst>
              <a:path w="497000" h="170400" stroke="0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411800" y="0"/>
                </a:lnTo>
                <a:cubicBezTo>
                  <a:pt x="458855" y="0"/>
                  <a:pt x="497000" y="38145"/>
                  <a:pt x="497000" y="85200"/>
                </a:cubicBezTo>
                <a:cubicBezTo>
                  <a:pt x="497000" y="132255"/>
                  <a:pt x="458855" y="170400"/>
                  <a:pt x="411800" y="170400"/>
                </a:cubicBezTo>
                <a:lnTo>
                  <a:pt x="85200" y="170400"/>
                </a:lnTo>
                <a:cubicBezTo>
                  <a:pt x="38145" y="170400"/>
                  <a:pt x="0" y="132255"/>
                  <a:pt x="0" y="85200"/>
                </a:cubicBezTo>
                <a:close/>
              </a:path>
              <a:path w="497000" h="170400" fill="none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411800" y="0"/>
                </a:lnTo>
                <a:cubicBezTo>
                  <a:pt x="458855" y="0"/>
                  <a:pt x="497000" y="38145"/>
                  <a:pt x="497000" y="85200"/>
                </a:cubicBezTo>
                <a:cubicBezTo>
                  <a:pt x="497000" y="132255"/>
                  <a:pt x="458855" y="170400"/>
                  <a:pt x="411800" y="170400"/>
                </a:cubicBezTo>
                <a:lnTo>
                  <a:pt x="85200" y="170400"/>
                </a:lnTo>
                <a:cubicBezTo>
                  <a:pt x="38145" y="170400"/>
                  <a:pt x="0" y="132255"/>
                  <a:pt x="0" y="85200"/>
                </a:cubicBez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8B5CF6"/>
            </a:solidFill>
            <a:miter/>
          </a:ln>
        </p:spPr>
      </p:sp>
      <p:sp>
        <p:nvSpPr>
          <p:cNvPr id="1037" name="任意多边形 1036"/>
          <p:cNvSpPr/>
          <p:nvPr/>
        </p:nvSpPr>
        <p:spPr>
          <a:xfrm>
            <a:off x="104290" y="440485"/>
            <a:ext cx="440200" cy="191700"/>
          </a:xfrm>
          <a:custGeom>
            <a:avLst/>
            <a:gdLst>
              <a:gd name="connsiteX0" fmla="*/ 0 w 440200"/>
              <a:gd name="connsiteY0" fmla="*/ 95850 h 191700"/>
              <a:gd name="connsiteX1" fmla="*/ 220100 w 440200"/>
              <a:gd name="connsiteY1" fmla="*/ 0 h 191700"/>
              <a:gd name="connsiteX2" fmla="*/ 440200 w 440200"/>
              <a:gd name="connsiteY2" fmla="*/ 95850 h 191700"/>
              <a:gd name="connsiteX3" fmla="*/ 220100 w 440200"/>
              <a:gd name="connsiteY3" fmla="*/ 191700 h 191700"/>
              <a:gd name="rtl" fmla="*/ 4946258 w 440200"/>
              <a:gd name="rtt" fmla="*/ 2059987 h 191700"/>
              <a:gd name="rtr" fmla="*/ 5386458 w 440200"/>
              <a:gd name="rtb" fmla="*/ 22516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调用工具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8" name="任意多边形 1037"/>
          <p:cNvSpPr/>
          <p:nvPr/>
        </p:nvSpPr>
        <p:spPr>
          <a:xfrm>
            <a:off x="4525148" y="2805772"/>
            <a:ext cx="497000" cy="170400"/>
          </a:xfrm>
          <a:custGeom>
            <a:avLst/>
            <a:gdLst/>
            <a:ahLst/>
            <a:cxnLst/>
            <a:rect l="l" t="t" r="r" b="b"/>
            <a:pathLst>
              <a:path w="497000" h="170400" stroke="0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411800" y="0"/>
                </a:lnTo>
                <a:cubicBezTo>
                  <a:pt x="458855" y="0"/>
                  <a:pt x="497000" y="38145"/>
                  <a:pt x="497000" y="85200"/>
                </a:cubicBezTo>
                <a:cubicBezTo>
                  <a:pt x="497000" y="132255"/>
                  <a:pt x="458855" y="170400"/>
                  <a:pt x="411800" y="170400"/>
                </a:cubicBezTo>
                <a:lnTo>
                  <a:pt x="85200" y="170400"/>
                </a:lnTo>
                <a:cubicBezTo>
                  <a:pt x="38145" y="170400"/>
                  <a:pt x="0" y="132255"/>
                  <a:pt x="0" y="85200"/>
                </a:cubicBezTo>
                <a:close/>
              </a:path>
              <a:path w="497000" h="170400" fill="none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411800" y="0"/>
                </a:lnTo>
                <a:cubicBezTo>
                  <a:pt x="458855" y="0"/>
                  <a:pt x="497000" y="38145"/>
                  <a:pt x="497000" y="85200"/>
                </a:cubicBezTo>
                <a:cubicBezTo>
                  <a:pt x="497000" y="132255"/>
                  <a:pt x="458855" y="170400"/>
                  <a:pt x="411800" y="170400"/>
                </a:cubicBezTo>
                <a:lnTo>
                  <a:pt x="85200" y="170400"/>
                </a:lnTo>
                <a:cubicBezTo>
                  <a:pt x="38145" y="170400"/>
                  <a:pt x="0" y="132255"/>
                  <a:pt x="0" y="85200"/>
                </a:cubicBez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8B5CF6"/>
            </a:solidFill>
            <a:miter/>
          </a:ln>
        </p:spPr>
      </p:sp>
      <p:sp>
        <p:nvSpPr>
          <p:cNvPr id="1039" name="任意多边形 1038"/>
          <p:cNvSpPr/>
          <p:nvPr/>
        </p:nvSpPr>
        <p:spPr>
          <a:xfrm>
            <a:off x="104290" y="440485"/>
            <a:ext cx="440200" cy="191700"/>
          </a:xfrm>
          <a:custGeom>
            <a:avLst/>
            <a:gdLst>
              <a:gd name="connsiteX0" fmla="*/ 0 w 440200"/>
              <a:gd name="connsiteY0" fmla="*/ 95850 h 191700"/>
              <a:gd name="connsiteX1" fmla="*/ 220100 w 440200"/>
              <a:gd name="connsiteY1" fmla="*/ 0 h 191700"/>
              <a:gd name="connsiteX2" fmla="*/ 440200 w 440200"/>
              <a:gd name="connsiteY2" fmla="*/ 95850 h 191700"/>
              <a:gd name="connsiteX3" fmla="*/ 220100 w 440200"/>
              <a:gd name="connsiteY3" fmla="*/ 191700 h 191700"/>
              <a:gd name="rtl" fmla="*/ 4449258 w 440200"/>
              <a:gd name="rtt" fmla="*/ 2351087 h 191700"/>
              <a:gd name="rtr" fmla="*/ 4889458 w 440200"/>
              <a:gd name="rtb" fmla="*/ 25427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获取结果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0" name="任意多边形 1039"/>
          <p:cNvSpPr/>
          <p:nvPr/>
        </p:nvSpPr>
        <p:spPr>
          <a:xfrm>
            <a:off x="4028148" y="2521772"/>
            <a:ext cx="497000" cy="170400"/>
          </a:xfrm>
          <a:custGeom>
            <a:avLst/>
            <a:gdLst/>
            <a:ahLst/>
            <a:cxnLst/>
            <a:rect l="l" t="t" r="r" b="b"/>
            <a:pathLst>
              <a:path w="497000" h="170400" stroke="0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411800" y="0"/>
                </a:lnTo>
                <a:cubicBezTo>
                  <a:pt x="458855" y="0"/>
                  <a:pt x="497000" y="38145"/>
                  <a:pt x="497000" y="85200"/>
                </a:cubicBezTo>
                <a:cubicBezTo>
                  <a:pt x="497000" y="132255"/>
                  <a:pt x="458855" y="170400"/>
                  <a:pt x="411800" y="170400"/>
                </a:cubicBezTo>
                <a:lnTo>
                  <a:pt x="85200" y="170400"/>
                </a:lnTo>
                <a:cubicBezTo>
                  <a:pt x="38145" y="170400"/>
                  <a:pt x="0" y="132255"/>
                  <a:pt x="0" y="85200"/>
                </a:cubicBezTo>
                <a:close/>
              </a:path>
              <a:path w="497000" h="170400" fill="none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411800" y="0"/>
                </a:lnTo>
                <a:cubicBezTo>
                  <a:pt x="458855" y="0"/>
                  <a:pt x="497000" y="38145"/>
                  <a:pt x="497000" y="85200"/>
                </a:cubicBezTo>
                <a:cubicBezTo>
                  <a:pt x="497000" y="132255"/>
                  <a:pt x="458855" y="170400"/>
                  <a:pt x="411800" y="170400"/>
                </a:cubicBezTo>
                <a:lnTo>
                  <a:pt x="85200" y="170400"/>
                </a:lnTo>
                <a:cubicBezTo>
                  <a:pt x="38145" y="170400"/>
                  <a:pt x="0" y="132255"/>
                  <a:pt x="0" y="85200"/>
                </a:cubicBez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8B5CF6"/>
            </a:solidFill>
            <a:miter/>
          </a:ln>
        </p:spPr>
      </p:sp>
      <p:sp>
        <p:nvSpPr>
          <p:cNvPr id="1041" name="任意多边形 1040"/>
          <p:cNvSpPr/>
          <p:nvPr/>
        </p:nvSpPr>
        <p:spPr>
          <a:xfrm>
            <a:off x="104290" y="440485"/>
            <a:ext cx="440200" cy="191700"/>
          </a:xfrm>
          <a:custGeom>
            <a:avLst/>
            <a:gdLst>
              <a:gd name="connsiteX0" fmla="*/ 0 w 440200"/>
              <a:gd name="connsiteY0" fmla="*/ 95850 h 191700"/>
              <a:gd name="connsiteX1" fmla="*/ 220100 w 440200"/>
              <a:gd name="connsiteY1" fmla="*/ 0 h 191700"/>
              <a:gd name="connsiteX2" fmla="*/ 440200 w 440200"/>
              <a:gd name="connsiteY2" fmla="*/ 95850 h 191700"/>
              <a:gd name="connsiteX3" fmla="*/ 220100 w 440200"/>
              <a:gd name="connsiteY3" fmla="*/ 191700 h 191700"/>
              <a:gd name="rtl" fmla="*/ 3952258 w 440200"/>
              <a:gd name="rtt" fmla="*/ 2059987 h 191700"/>
              <a:gd name="rtr" fmla="*/ 4392458 w 440200"/>
              <a:gd name="rtb" fmla="*/ 22516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更新记忆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2" name="任意多边形 1041"/>
          <p:cNvSpPr/>
          <p:nvPr/>
        </p:nvSpPr>
        <p:spPr>
          <a:xfrm>
            <a:off x="4028148" y="2060272"/>
            <a:ext cx="497000" cy="170400"/>
          </a:xfrm>
          <a:custGeom>
            <a:avLst/>
            <a:gdLst/>
            <a:ahLst/>
            <a:cxnLst/>
            <a:rect l="l" t="t" r="r" b="b"/>
            <a:pathLst>
              <a:path w="497000" h="170400" stroke="0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411800" y="0"/>
                </a:lnTo>
                <a:cubicBezTo>
                  <a:pt x="458855" y="0"/>
                  <a:pt x="497000" y="38145"/>
                  <a:pt x="497000" y="85200"/>
                </a:cubicBezTo>
                <a:cubicBezTo>
                  <a:pt x="497000" y="132255"/>
                  <a:pt x="458855" y="170400"/>
                  <a:pt x="411800" y="170400"/>
                </a:cubicBezTo>
                <a:lnTo>
                  <a:pt x="85200" y="170400"/>
                </a:lnTo>
                <a:cubicBezTo>
                  <a:pt x="38145" y="170400"/>
                  <a:pt x="0" y="132255"/>
                  <a:pt x="0" y="85200"/>
                </a:cubicBezTo>
                <a:close/>
              </a:path>
              <a:path w="497000" h="170400" fill="none">
                <a:moveTo>
                  <a:pt x="0" y="85200"/>
                </a:moveTo>
                <a:cubicBezTo>
                  <a:pt x="0" y="38145"/>
                  <a:pt x="38145" y="0"/>
                  <a:pt x="85200" y="0"/>
                </a:cubicBezTo>
                <a:lnTo>
                  <a:pt x="411800" y="0"/>
                </a:lnTo>
                <a:cubicBezTo>
                  <a:pt x="458855" y="0"/>
                  <a:pt x="497000" y="38145"/>
                  <a:pt x="497000" y="85200"/>
                </a:cubicBezTo>
                <a:cubicBezTo>
                  <a:pt x="497000" y="132255"/>
                  <a:pt x="458855" y="170400"/>
                  <a:pt x="411800" y="170400"/>
                </a:cubicBezTo>
                <a:lnTo>
                  <a:pt x="85200" y="170400"/>
                </a:lnTo>
                <a:cubicBezTo>
                  <a:pt x="38145" y="170400"/>
                  <a:pt x="0" y="132255"/>
                  <a:pt x="0" y="85200"/>
                </a:cubicBez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8B5CF6"/>
            </a:solidFill>
            <a:miter/>
          </a:ln>
        </p:spPr>
      </p:sp>
      <p:sp>
        <p:nvSpPr>
          <p:cNvPr id="1043" name="任意多边形 1042"/>
          <p:cNvSpPr/>
          <p:nvPr/>
        </p:nvSpPr>
        <p:spPr>
          <a:xfrm>
            <a:off x="104290" y="440485"/>
            <a:ext cx="440200" cy="191700"/>
          </a:xfrm>
          <a:custGeom>
            <a:avLst/>
            <a:gdLst>
              <a:gd name="connsiteX0" fmla="*/ 0 w 440200"/>
              <a:gd name="connsiteY0" fmla="*/ 95850 h 191700"/>
              <a:gd name="connsiteX1" fmla="*/ 220100 w 440200"/>
              <a:gd name="connsiteY1" fmla="*/ 0 h 191700"/>
              <a:gd name="connsiteX2" fmla="*/ 440200 w 440200"/>
              <a:gd name="connsiteY2" fmla="*/ 95850 h 191700"/>
              <a:gd name="connsiteX3" fmla="*/ 220100 w 440200"/>
              <a:gd name="connsiteY3" fmla="*/ 191700 h 191700"/>
              <a:gd name="rtl" fmla="*/ 3952258 w 440200"/>
              <a:gd name="rtt" fmla="*/ 1605587 h 191700"/>
              <a:gd name="rtr" fmla="*/ 4392458 w 440200"/>
              <a:gd name="rtb" fmla="*/ 17972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迭代收敛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5" name="任意多边形 1044"/>
          <p:cNvSpPr/>
          <p:nvPr/>
        </p:nvSpPr>
        <p:spPr>
          <a:xfrm>
            <a:off x="104290" y="440485"/>
            <a:ext cx="752600" cy="177500"/>
          </a:xfrm>
          <a:custGeom>
            <a:avLst/>
            <a:gdLst>
              <a:gd name="connsiteX0" fmla="*/ 0 w 752600"/>
              <a:gd name="connsiteY0" fmla="*/ 88750 h 177500"/>
              <a:gd name="connsiteX1" fmla="*/ 376300 w 752600"/>
              <a:gd name="connsiteY1" fmla="*/ 0 h 177500"/>
              <a:gd name="connsiteX2" fmla="*/ 752600 w 752600"/>
              <a:gd name="connsiteY2" fmla="*/ 88750 h 177500"/>
              <a:gd name="connsiteX3" fmla="*/ 376300 w 752600"/>
              <a:gd name="connsiteY3" fmla="*/ 177500 h 177500"/>
              <a:gd name="rtl" fmla="*/ 4293058 w 752600"/>
              <a:gd name="rtt" fmla="*/ 1122787 h 177500"/>
              <a:gd name="rtr" fmla="*/ 5045658 w 752600"/>
              <a:gd name="rtb" fmla="*/ 13002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多轮自主推理闭环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6" name="任意多边形 1045"/>
          <p:cNvSpPr/>
          <p:nvPr/>
        </p:nvSpPr>
        <p:spPr>
          <a:xfrm>
            <a:off x="3389148" y="3125272"/>
            <a:ext cx="2769000" cy="255600"/>
          </a:xfrm>
          <a:custGeom>
            <a:avLst/>
            <a:gdLst/>
            <a:ahLst/>
            <a:cxnLst/>
            <a:rect l="l" t="t" r="r" b="b"/>
            <a:pathLst>
              <a:path w="2769000" h="255600" stroke="0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2726400" y="0"/>
                </a:lnTo>
                <a:cubicBezTo>
                  <a:pt x="2749929" y="0"/>
                  <a:pt x="2769000" y="19073"/>
                  <a:pt x="2769000" y="42600"/>
                </a:cubicBezTo>
                <a:lnTo>
                  <a:pt x="2769000" y="213000"/>
                </a:lnTo>
                <a:cubicBezTo>
                  <a:pt x="2769000" y="236527"/>
                  <a:pt x="2749929" y="255600"/>
                  <a:pt x="2726400" y="255600"/>
                </a:cubicBezTo>
                <a:lnTo>
                  <a:pt x="42600" y="255600"/>
                </a:lnTo>
                <a:cubicBezTo>
                  <a:pt x="19073" y="255600"/>
                  <a:pt x="0" y="236527"/>
                  <a:pt x="0" y="213000"/>
                </a:cubicBezTo>
                <a:lnTo>
                  <a:pt x="0" y="42600"/>
                </a:lnTo>
                <a:close/>
              </a:path>
              <a:path w="2769000" h="255600" fill="none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2726400" y="0"/>
                </a:lnTo>
                <a:cubicBezTo>
                  <a:pt x="2749929" y="0"/>
                  <a:pt x="2769000" y="19073"/>
                  <a:pt x="2769000" y="42600"/>
                </a:cubicBezTo>
                <a:lnTo>
                  <a:pt x="2769000" y="213000"/>
                </a:lnTo>
                <a:cubicBezTo>
                  <a:pt x="2769000" y="236527"/>
                  <a:pt x="2749929" y="255600"/>
                  <a:pt x="2726400" y="255600"/>
                </a:cubicBezTo>
                <a:lnTo>
                  <a:pt x="42600" y="255600"/>
                </a:lnTo>
                <a:cubicBezTo>
                  <a:pt x="19073" y="255600"/>
                  <a:pt x="0" y="236527"/>
                  <a:pt x="0" y="213000"/>
                </a:cubicBezTo>
                <a:lnTo>
                  <a:pt x="0" y="42600"/>
                </a:lnTo>
                <a:close/>
              </a:path>
            </a:pathLst>
          </a:custGeom>
          <a:solidFill>
            <a:srgbClr val="F8FAFC"/>
          </a:solidFill>
          <a:ln w="7100" cap="flat">
            <a:solidFill>
              <a:srgbClr val="CBD5E1"/>
            </a:solidFill>
            <a:custDash>
              <a:ds d="1100000" sp="500000"/>
            </a:custDash>
            <a:miter/>
          </a:ln>
        </p:spPr>
      </p:sp>
      <p:sp>
        <p:nvSpPr>
          <p:cNvPr id="1047" name="任意多边形 1046"/>
          <p:cNvSpPr/>
          <p:nvPr/>
        </p:nvSpPr>
        <p:spPr>
          <a:xfrm>
            <a:off x="104290" y="440485"/>
            <a:ext cx="468600" cy="191700"/>
          </a:xfrm>
          <a:custGeom>
            <a:avLst/>
            <a:gdLst>
              <a:gd name="connsiteX0" fmla="*/ 0 w 468600"/>
              <a:gd name="connsiteY0" fmla="*/ 95850 h 191700"/>
              <a:gd name="connsiteX1" fmla="*/ 234300 w 468600"/>
              <a:gd name="connsiteY1" fmla="*/ 0 h 191700"/>
              <a:gd name="connsiteX2" fmla="*/ 468600 w 468600"/>
              <a:gd name="connsiteY2" fmla="*/ 95850 h 191700"/>
              <a:gd name="connsiteX3" fmla="*/ 234300 w 468600"/>
              <a:gd name="connsiteY3" fmla="*/ 191700 h 191700"/>
              <a:gd name="rtl" fmla="*/ 3327458 w 468600"/>
              <a:gd name="rtt" fmla="*/ 2716737 h 191700"/>
              <a:gd name="rtr" fmla="*/ 3796058 w 468600"/>
              <a:gd name="rtb" fmla="*/ 290843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F172A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收敛条件:</a:t>
            </a:r>
            <a:endParaRPr lang="zh-CN" altLang="en-US" sz="69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" name="任意多边形 1047"/>
          <p:cNvSpPr/>
          <p:nvPr/>
        </p:nvSpPr>
        <p:spPr>
          <a:xfrm>
            <a:off x="104290" y="440485"/>
            <a:ext cx="440200" cy="191700"/>
          </a:xfrm>
          <a:custGeom>
            <a:avLst/>
            <a:gdLst>
              <a:gd name="connsiteX0" fmla="*/ 0 w 440200"/>
              <a:gd name="connsiteY0" fmla="*/ 95850 h 191700"/>
              <a:gd name="connsiteX1" fmla="*/ 220100 w 440200"/>
              <a:gd name="connsiteY1" fmla="*/ 0 h 191700"/>
              <a:gd name="connsiteX2" fmla="*/ 440200 w 440200"/>
              <a:gd name="connsiteY2" fmla="*/ 95850 h 191700"/>
              <a:gd name="connsiteX3" fmla="*/ 220100 w 440200"/>
              <a:gd name="connsiteY3" fmla="*/ 191700 h 191700"/>
              <a:gd name="rtl" fmla="*/ 3824458 w 440200"/>
              <a:gd name="rtt" fmla="*/ 2716737 h 191700"/>
              <a:gd name="rtr" fmla="*/ 4264658 w 440200"/>
              <a:gd name="rtb" fmla="*/ 290843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性能趋同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9" name="任意多边形 1048"/>
          <p:cNvSpPr/>
          <p:nvPr/>
        </p:nvSpPr>
        <p:spPr>
          <a:xfrm>
            <a:off x="4397348" y="3231772"/>
            <a:ext cx="42600" cy="42600"/>
          </a:xfrm>
          <a:custGeom>
            <a:avLst/>
            <a:gdLst/>
            <a:ahLst/>
            <a:cxnLst/>
            <a:rect l="l" t="t" r="r" b="b"/>
            <a:pathLst>
              <a:path w="42600" h="42600" stroke="0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  <a:path w="42600" h="42600" fill="none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1050" name="任意多边形 1049"/>
          <p:cNvSpPr/>
          <p:nvPr/>
        </p:nvSpPr>
        <p:spPr>
          <a:xfrm>
            <a:off x="104290" y="440485"/>
            <a:ext cx="440200" cy="191700"/>
          </a:xfrm>
          <a:custGeom>
            <a:avLst/>
            <a:gdLst>
              <a:gd name="connsiteX0" fmla="*/ 0 w 440200"/>
              <a:gd name="connsiteY0" fmla="*/ 95850 h 191700"/>
              <a:gd name="connsiteX1" fmla="*/ 220100 w 440200"/>
              <a:gd name="connsiteY1" fmla="*/ 0 h 191700"/>
              <a:gd name="connsiteX2" fmla="*/ 440200 w 440200"/>
              <a:gd name="connsiteY2" fmla="*/ 95850 h 191700"/>
              <a:gd name="connsiteX3" fmla="*/ 220100 w 440200"/>
              <a:gd name="connsiteY3" fmla="*/ 191700 h 191700"/>
              <a:gd name="rtl" fmla="*/ 4392458 w 440200"/>
              <a:gd name="rtt" fmla="*/ 2716737 h 191700"/>
              <a:gd name="rtr" fmla="*/ 4832658 w 440200"/>
              <a:gd name="rtb" fmla="*/ 290843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目标达标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1" name="任意多边形 1050"/>
          <p:cNvSpPr/>
          <p:nvPr/>
        </p:nvSpPr>
        <p:spPr>
          <a:xfrm>
            <a:off x="4965348" y="3231772"/>
            <a:ext cx="42600" cy="42600"/>
          </a:xfrm>
          <a:custGeom>
            <a:avLst/>
            <a:gdLst/>
            <a:ahLst/>
            <a:cxnLst/>
            <a:rect l="l" t="t" r="r" b="b"/>
            <a:pathLst>
              <a:path w="42600" h="42600" stroke="0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  <a:path w="42600" h="42600" fill="none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1052" name="任意多边形 1051"/>
          <p:cNvSpPr/>
          <p:nvPr/>
        </p:nvSpPr>
        <p:spPr>
          <a:xfrm>
            <a:off x="104290" y="440485"/>
            <a:ext cx="624800" cy="191700"/>
          </a:xfrm>
          <a:custGeom>
            <a:avLst/>
            <a:gdLst>
              <a:gd name="connsiteX0" fmla="*/ 0 w 624800"/>
              <a:gd name="connsiteY0" fmla="*/ 95850 h 191700"/>
              <a:gd name="connsiteX1" fmla="*/ 312400 w 624800"/>
              <a:gd name="connsiteY1" fmla="*/ 0 h 191700"/>
              <a:gd name="connsiteX2" fmla="*/ 624800 w 624800"/>
              <a:gd name="connsiteY2" fmla="*/ 95850 h 191700"/>
              <a:gd name="connsiteX3" fmla="*/ 312400 w 624800"/>
              <a:gd name="connsiteY3" fmla="*/ 191700 h 191700"/>
              <a:gd name="rtl" fmla="*/ 4960458 w 624800"/>
              <a:gd name="rtt" fmla="*/ 2716737 h 191700"/>
              <a:gd name="rtr" fmla="*/ 5585258 w 624800"/>
              <a:gd name="rtb" fmla="*/ 290843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自然语义终止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5" name="任意多边形 1054"/>
          <p:cNvSpPr/>
          <p:nvPr/>
        </p:nvSpPr>
        <p:spPr>
          <a:xfrm>
            <a:off x="3211648" y="3622272"/>
            <a:ext cx="3124000" cy="1420000"/>
          </a:xfrm>
          <a:custGeom>
            <a:avLst/>
            <a:gdLst/>
            <a:ahLst/>
            <a:cxnLst/>
            <a:rect l="l" t="t" r="r" b="b"/>
            <a:pathLst>
              <a:path w="3124000" h="1420000" stroke="0">
                <a:moveTo>
                  <a:pt x="0" y="0"/>
                </a:moveTo>
                <a:lnTo>
                  <a:pt x="3124000" y="0"/>
                </a:lnTo>
                <a:lnTo>
                  <a:pt x="3124000" y="1420000"/>
                </a:lnTo>
                <a:lnTo>
                  <a:pt x="0" y="1420000"/>
                </a:lnTo>
                <a:lnTo>
                  <a:pt x="0" y="0"/>
                </a:lnTo>
                <a:close/>
              </a:path>
              <a:path w="3124000" h="1420000" fill="none">
                <a:moveTo>
                  <a:pt x="0" y="0"/>
                </a:moveTo>
                <a:lnTo>
                  <a:pt x="3124000" y="0"/>
                </a:lnTo>
                <a:lnTo>
                  <a:pt x="3124000" y="1420000"/>
                </a:lnTo>
                <a:lnTo>
                  <a:pt x="0" y="1420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1056" name="任意多边形 1055"/>
          <p:cNvSpPr/>
          <p:nvPr/>
        </p:nvSpPr>
        <p:spPr>
          <a:xfrm>
            <a:off x="3211648" y="3622272"/>
            <a:ext cx="71000" cy="1420000"/>
          </a:xfrm>
          <a:custGeom>
            <a:avLst/>
            <a:gdLst/>
            <a:ahLst/>
            <a:cxnLst/>
            <a:rect l="l" t="t" r="r" b="b"/>
            <a:pathLst>
              <a:path w="71000" h="1420000" stroke="0">
                <a:moveTo>
                  <a:pt x="0" y="35500"/>
                </a:move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lnTo>
                  <a:pt x="71000" y="1384500"/>
                </a:lnTo>
                <a:cubicBezTo>
                  <a:pt x="71000" y="1404103"/>
                  <a:pt x="55106" y="1420000"/>
                  <a:pt x="35500" y="1420000"/>
                </a:cubicBezTo>
                <a:cubicBezTo>
                  <a:pt x="15894" y="1420000"/>
                  <a:pt x="0" y="1404103"/>
                  <a:pt x="0" y="1384500"/>
                </a:cubicBezTo>
                <a:lnTo>
                  <a:pt x="0" y="35500"/>
                </a:lnTo>
                <a:close/>
              </a:path>
              <a:path w="71000" h="1420000" fill="none">
                <a:moveTo>
                  <a:pt x="0" y="35500"/>
                </a:move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lnTo>
                  <a:pt x="71000" y="1384500"/>
                </a:lnTo>
                <a:cubicBezTo>
                  <a:pt x="71000" y="1404103"/>
                  <a:pt x="55106" y="1420000"/>
                  <a:pt x="35500" y="1420000"/>
                </a:cubicBezTo>
                <a:cubicBezTo>
                  <a:pt x="15894" y="1420000"/>
                  <a:pt x="0" y="1404103"/>
                  <a:pt x="0" y="1384500"/>
                </a:cubicBezTo>
                <a:lnTo>
                  <a:pt x="0" y="35500"/>
                </a:lnTo>
                <a:close/>
              </a:path>
            </a:pathLst>
          </a:custGeom>
          <a:solidFill>
            <a:srgbClr val="10B981"/>
          </a:solidFill>
          <a:ln w="7100" cap="flat">
            <a:noFill/>
            <a:miter/>
          </a:ln>
        </p:spPr>
      </p:sp>
      <p:sp>
        <p:nvSpPr>
          <p:cNvPr id="1057" name="任意多边形 1056"/>
          <p:cNvSpPr/>
          <p:nvPr/>
        </p:nvSpPr>
        <p:spPr>
          <a:xfrm>
            <a:off x="104290" y="440485"/>
            <a:ext cx="1476800" cy="255600"/>
          </a:xfrm>
          <a:custGeom>
            <a:avLst/>
            <a:gdLst>
              <a:gd name="connsiteX0" fmla="*/ 0 w 1476800"/>
              <a:gd name="connsiteY0" fmla="*/ 127800 h 255600"/>
              <a:gd name="connsiteX1" fmla="*/ 738400 w 1476800"/>
              <a:gd name="connsiteY1" fmla="*/ 0 h 255600"/>
              <a:gd name="connsiteX2" fmla="*/ 1476800 w 1476800"/>
              <a:gd name="connsiteY2" fmla="*/ 127800 h 255600"/>
              <a:gd name="connsiteX3" fmla="*/ 738400 w 1476800"/>
              <a:gd name="connsiteY3" fmla="*/ 255600 h 255600"/>
              <a:gd name="rtl" fmla="*/ 3256458 w 1476800"/>
              <a:gd name="rtt" fmla="*/ 3188887 h 255600"/>
              <a:gd name="rtr" fmla="*/ 4733258 w 1476800"/>
              <a:gd name="rtb" fmla="*/ 3444487 h 255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293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960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记忆模块：三级递进体系</a:t>
            </a:r>
            <a:endParaRPr lang="zh-CN" altLang="en-US" sz="960" b="1" dirty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8" name="任意多边形 1057"/>
          <p:cNvSpPr/>
          <p:nvPr/>
        </p:nvSpPr>
        <p:spPr>
          <a:xfrm>
            <a:off x="3389148" y="3941772"/>
            <a:ext cx="2769000" cy="298200"/>
          </a:xfrm>
          <a:custGeom>
            <a:avLst/>
            <a:gdLst/>
            <a:ahLst/>
            <a:cxnLst/>
            <a:rect l="l" t="t" r="r" b="b"/>
            <a:pathLst>
              <a:path w="2769000" h="298200" stroke="0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2726400" y="0"/>
                </a:lnTo>
                <a:cubicBezTo>
                  <a:pt x="2749929" y="0"/>
                  <a:pt x="2769000" y="19073"/>
                  <a:pt x="2769000" y="42600"/>
                </a:cubicBezTo>
                <a:lnTo>
                  <a:pt x="2769000" y="255600"/>
                </a:lnTo>
                <a:cubicBezTo>
                  <a:pt x="2769000" y="279127"/>
                  <a:pt x="2749929" y="298200"/>
                  <a:pt x="2726400" y="298200"/>
                </a:cubicBezTo>
                <a:lnTo>
                  <a:pt x="42600" y="298200"/>
                </a:lnTo>
                <a:cubicBezTo>
                  <a:pt x="19073" y="298200"/>
                  <a:pt x="0" y="279127"/>
                  <a:pt x="0" y="255600"/>
                </a:cubicBezTo>
                <a:lnTo>
                  <a:pt x="0" y="42600"/>
                </a:lnTo>
                <a:close/>
              </a:path>
              <a:path w="2769000" h="298200" fill="none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2726400" y="0"/>
                </a:lnTo>
                <a:cubicBezTo>
                  <a:pt x="2749929" y="0"/>
                  <a:pt x="2769000" y="19073"/>
                  <a:pt x="2769000" y="42600"/>
                </a:cubicBezTo>
                <a:lnTo>
                  <a:pt x="2769000" y="255600"/>
                </a:lnTo>
                <a:cubicBezTo>
                  <a:pt x="2769000" y="279127"/>
                  <a:pt x="2749929" y="298200"/>
                  <a:pt x="2726400" y="298200"/>
                </a:cubicBezTo>
                <a:lnTo>
                  <a:pt x="42600" y="298200"/>
                </a:lnTo>
                <a:cubicBezTo>
                  <a:pt x="19073" y="298200"/>
                  <a:pt x="0" y="279127"/>
                  <a:pt x="0" y="255600"/>
                </a:cubicBezTo>
                <a:lnTo>
                  <a:pt x="0" y="42600"/>
                </a:lnTo>
                <a:close/>
              </a:path>
            </a:pathLst>
          </a:custGeom>
          <a:solidFill>
            <a:srgbClr val="ECFDF5"/>
          </a:solidFill>
          <a:ln w="7100" cap="flat">
            <a:solidFill>
              <a:srgbClr val="34D399"/>
            </a:solidFill>
            <a:miter/>
          </a:ln>
        </p:spPr>
      </p:sp>
      <p:sp>
        <p:nvSpPr>
          <p:cNvPr id="1059" name="任意多边形 1058"/>
          <p:cNvSpPr/>
          <p:nvPr/>
        </p:nvSpPr>
        <p:spPr>
          <a:xfrm>
            <a:off x="3389148" y="3941772"/>
            <a:ext cx="852000" cy="298200"/>
          </a:xfrm>
          <a:custGeom>
            <a:avLst/>
            <a:gdLst/>
            <a:ahLst/>
            <a:cxnLst/>
            <a:rect l="l" t="t" r="r" b="b"/>
            <a:pathLst>
              <a:path w="852000" h="298200" stroke="0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809400" y="0"/>
                </a:lnTo>
                <a:cubicBezTo>
                  <a:pt x="832929" y="0"/>
                  <a:pt x="852000" y="19073"/>
                  <a:pt x="852000" y="42600"/>
                </a:cubicBezTo>
                <a:lnTo>
                  <a:pt x="852000" y="255600"/>
                </a:lnTo>
                <a:cubicBezTo>
                  <a:pt x="852000" y="279127"/>
                  <a:pt x="832929" y="298200"/>
                  <a:pt x="809400" y="298200"/>
                </a:cubicBezTo>
                <a:lnTo>
                  <a:pt x="42600" y="298200"/>
                </a:lnTo>
                <a:cubicBezTo>
                  <a:pt x="19073" y="298200"/>
                  <a:pt x="0" y="279127"/>
                  <a:pt x="0" y="255600"/>
                </a:cubicBezTo>
                <a:lnTo>
                  <a:pt x="0" y="42600"/>
                </a:lnTo>
                <a:close/>
              </a:path>
              <a:path w="852000" h="298200" fill="none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809400" y="0"/>
                </a:lnTo>
                <a:cubicBezTo>
                  <a:pt x="832929" y="0"/>
                  <a:pt x="852000" y="19073"/>
                  <a:pt x="852000" y="42600"/>
                </a:cubicBezTo>
                <a:lnTo>
                  <a:pt x="852000" y="255600"/>
                </a:lnTo>
                <a:cubicBezTo>
                  <a:pt x="852000" y="279127"/>
                  <a:pt x="832929" y="298200"/>
                  <a:pt x="809400" y="298200"/>
                </a:cubicBezTo>
                <a:lnTo>
                  <a:pt x="42600" y="298200"/>
                </a:lnTo>
                <a:cubicBezTo>
                  <a:pt x="19073" y="298200"/>
                  <a:pt x="0" y="279127"/>
                  <a:pt x="0" y="255600"/>
                </a:cubicBezTo>
                <a:lnTo>
                  <a:pt x="0" y="42600"/>
                </a:lnTo>
                <a:close/>
              </a:path>
            </a:pathLst>
          </a:custGeom>
          <a:solidFill>
            <a:srgbClr val="34D399"/>
          </a:solidFill>
          <a:ln w="7100" cap="flat">
            <a:noFill/>
            <a:miter/>
          </a:ln>
        </p:spPr>
      </p:sp>
      <p:sp>
        <p:nvSpPr>
          <p:cNvPr id="1060" name="任意多边形 1059"/>
          <p:cNvSpPr/>
          <p:nvPr/>
        </p:nvSpPr>
        <p:spPr>
          <a:xfrm>
            <a:off x="104290" y="440485"/>
            <a:ext cx="667400" cy="205900"/>
          </a:xfrm>
          <a:custGeom>
            <a:avLst/>
            <a:gdLst>
              <a:gd name="connsiteX0" fmla="*/ 0 w 667400"/>
              <a:gd name="connsiteY0" fmla="*/ 102950 h 205900"/>
              <a:gd name="connsiteX1" fmla="*/ 333700 w 667400"/>
              <a:gd name="connsiteY1" fmla="*/ 0 h 205900"/>
              <a:gd name="connsiteX2" fmla="*/ 667400 w 667400"/>
              <a:gd name="connsiteY2" fmla="*/ 102950 h 205900"/>
              <a:gd name="connsiteX3" fmla="*/ 333700 w 667400"/>
              <a:gd name="connsiteY3" fmla="*/ 205900 h 205900"/>
              <a:gd name="rtl" fmla="*/ 3362958 w 667400"/>
              <a:gd name="rtt" fmla="*/ 3522587 h 205900"/>
              <a:gd name="rtr" fmla="*/ 4030358 w 667400"/>
              <a:gd name="rtb" fmla="*/ 3728487 h 2059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FFFF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短期工作记忆</a:t>
            </a:r>
            <a:endParaRPr lang="zh-CN" altLang="en-US" sz="74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1" name="任意多边形 1060"/>
          <p:cNvSpPr/>
          <p:nvPr/>
        </p:nvSpPr>
        <p:spPr>
          <a:xfrm>
            <a:off x="104290" y="440485"/>
            <a:ext cx="1732400" cy="191700"/>
          </a:xfrm>
          <a:custGeom>
            <a:avLst/>
            <a:gdLst>
              <a:gd name="connsiteX0" fmla="*/ 0 w 1732400"/>
              <a:gd name="connsiteY0" fmla="*/ 95850 h 191700"/>
              <a:gd name="connsiteX1" fmla="*/ 866200 w 1732400"/>
              <a:gd name="connsiteY1" fmla="*/ 0 h 191700"/>
              <a:gd name="connsiteX2" fmla="*/ 1732400 w 1732400"/>
              <a:gd name="connsiteY2" fmla="*/ 95850 h 191700"/>
              <a:gd name="connsiteX3" fmla="*/ 866200 w 1732400"/>
              <a:gd name="connsiteY3" fmla="*/ 191700 h 191700"/>
              <a:gd name="rtl" fmla="*/ 4214958 w 1732400"/>
              <a:gd name="rtt" fmla="*/ 3529687 h 191700"/>
              <a:gd name="rtr" fmla="*/ 5947358 w 1732400"/>
              <a:gd name="rtb" fmla="*/ 37213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记录当前设计轮次的突变序列与评估结果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3" name="任意多边形 1062"/>
          <p:cNvSpPr/>
          <p:nvPr/>
        </p:nvSpPr>
        <p:spPr>
          <a:xfrm>
            <a:off x="3389148" y="4296772"/>
            <a:ext cx="2769000" cy="298200"/>
          </a:xfrm>
          <a:custGeom>
            <a:avLst/>
            <a:gdLst/>
            <a:ahLst/>
            <a:cxnLst/>
            <a:rect l="l" t="t" r="r" b="b"/>
            <a:pathLst>
              <a:path w="2769000" h="298200" stroke="0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2726400" y="0"/>
                </a:lnTo>
                <a:cubicBezTo>
                  <a:pt x="2749929" y="0"/>
                  <a:pt x="2769000" y="19073"/>
                  <a:pt x="2769000" y="42600"/>
                </a:cubicBezTo>
                <a:lnTo>
                  <a:pt x="2769000" y="255600"/>
                </a:lnTo>
                <a:cubicBezTo>
                  <a:pt x="2769000" y="279127"/>
                  <a:pt x="2749929" y="298200"/>
                  <a:pt x="2726400" y="298200"/>
                </a:cubicBezTo>
                <a:lnTo>
                  <a:pt x="42600" y="298200"/>
                </a:lnTo>
                <a:cubicBezTo>
                  <a:pt x="19073" y="298200"/>
                  <a:pt x="0" y="279127"/>
                  <a:pt x="0" y="255600"/>
                </a:cubicBezTo>
                <a:lnTo>
                  <a:pt x="0" y="42600"/>
                </a:lnTo>
                <a:close/>
              </a:path>
              <a:path w="2769000" h="298200" fill="none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2726400" y="0"/>
                </a:lnTo>
                <a:cubicBezTo>
                  <a:pt x="2749929" y="0"/>
                  <a:pt x="2769000" y="19073"/>
                  <a:pt x="2769000" y="42600"/>
                </a:cubicBezTo>
                <a:lnTo>
                  <a:pt x="2769000" y="255600"/>
                </a:lnTo>
                <a:cubicBezTo>
                  <a:pt x="2769000" y="279127"/>
                  <a:pt x="2749929" y="298200"/>
                  <a:pt x="2726400" y="298200"/>
                </a:cubicBezTo>
                <a:lnTo>
                  <a:pt x="42600" y="298200"/>
                </a:lnTo>
                <a:cubicBezTo>
                  <a:pt x="19073" y="298200"/>
                  <a:pt x="0" y="279127"/>
                  <a:pt x="0" y="255600"/>
                </a:cubicBezTo>
                <a:lnTo>
                  <a:pt x="0" y="42600"/>
                </a:lnTo>
                <a:close/>
              </a:path>
            </a:pathLst>
          </a:custGeom>
          <a:solidFill>
            <a:srgbClr val="ECFDF5"/>
          </a:solidFill>
          <a:ln w="7100" cap="flat">
            <a:solidFill>
              <a:srgbClr val="34D399"/>
            </a:solidFill>
            <a:miter/>
          </a:ln>
        </p:spPr>
      </p:sp>
      <p:sp>
        <p:nvSpPr>
          <p:cNvPr id="1064" name="任意多边形 1063"/>
          <p:cNvSpPr/>
          <p:nvPr/>
        </p:nvSpPr>
        <p:spPr>
          <a:xfrm>
            <a:off x="3389148" y="4296772"/>
            <a:ext cx="852000" cy="298200"/>
          </a:xfrm>
          <a:custGeom>
            <a:avLst/>
            <a:gdLst/>
            <a:ahLst/>
            <a:cxnLst/>
            <a:rect l="l" t="t" r="r" b="b"/>
            <a:pathLst>
              <a:path w="852000" h="298200" stroke="0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809400" y="0"/>
                </a:lnTo>
                <a:cubicBezTo>
                  <a:pt x="832929" y="0"/>
                  <a:pt x="852000" y="19073"/>
                  <a:pt x="852000" y="42600"/>
                </a:cubicBezTo>
                <a:lnTo>
                  <a:pt x="852000" y="255600"/>
                </a:lnTo>
                <a:cubicBezTo>
                  <a:pt x="852000" y="279127"/>
                  <a:pt x="832929" y="298200"/>
                  <a:pt x="809400" y="298200"/>
                </a:cubicBezTo>
                <a:lnTo>
                  <a:pt x="42600" y="298200"/>
                </a:lnTo>
                <a:cubicBezTo>
                  <a:pt x="19073" y="298200"/>
                  <a:pt x="0" y="279127"/>
                  <a:pt x="0" y="255600"/>
                </a:cubicBezTo>
                <a:lnTo>
                  <a:pt x="0" y="42600"/>
                </a:lnTo>
                <a:close/>
              </a:path>
              <a:path w="852000" h="298200" fill="none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809400" y="0"/>
                </a:lnTo>
                <a:cubicBezTo>
                  <a:pt x="832929" y="0"/>
                  <a:pt x="852000" y="19073"/>
                  <a:pt x="852000" y="42600"/>
                </a:cubicBezTo>
                <a:lnTo>
                  <a:pt x="852000" y="255600"/>
                </a:lnTo>
                <a:cubicBezTo>
                  <a:pt x="852000" y="279127"/>
                  <a:pt x="832929" y="298200"/>
                  <a:pt x="809400" y="298200"/>
                </a:cubicBezTo>
                <a:lnTo>
                  <a:pt x="42600" y="298200"/>
                </a:lnTo>
                <a:cubicBezTo>
                  <a:pt x="19073" y="298200"/>
                  <a:pt x="0" y="279127"/>
                  <a:pt x="0" y="255600"/>
                </a:cubicBezTo>
                <a:lnTo>
                  <a:pt x="0" y="42600"/>
                </a:lnTo>
                <a:close/>
              </a:path>
            </a:pathLst>
          </a:custGeom>
          <a:solidFill>
            <a:srgbClr val="059669"/>
          </a:solidFill>
          <a:ln w="7100" cap="flat">
            <a:noFill/>
            <a:miter/>
          </a:ln>
        </p:spPr>
      </p:sp>
      <p:sp>
        <p:nvSpPr>
          <p:cNvPr id="1065" name="任意多边形 1064"/>
          <p:cNvSpPr/>
          <p:nvPr/>
        </p:nvSpPr>
        <p:spPr>
          <a:xfrm>
            <a:off x="104290" y="440485"/>
            <a:ext cx="667400" cy="205900"/>
          </a:xfrm>
          <a:custGeom>
            <a:avLst/>
            <a:gdLst>
              <a:gd name="connsiteX0" fmla="*/ 0 w 667400"/>
              <a:gd name="connsiteY0" fmla="*/ 102950 h 205900"/>
              <a:gd name="connsiteX1" fmla="*/ 333700 w 667400"/>
              <a:gd name="connsiteY1" fmla="*/ 0 h 205900"/>
              <a:gd name="connsiteX2" fmla="*/ 667400 w 667400"/>
              <a:gd name="connsiteY2" fmla="*/ 102950 h 205900"/>
              <a:gd name="connsiteX3" fmla="*/ 333700 w 667400"/>
              <a:gd name="connsiteY3" fmla="*/ 205900 h 205900"/>
              <a:gd name="rtl" fmla="*/ 3362958 w 667400"/>
              <a:gd name="rtt" fmla="*/ 3877587 h 205900"/>
              <a:gd name="rtr" fmla="*/ 4030358 w 667400"/>
              <a:gd name="rtb" fmla="*/ 4083487 h 2059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FFFF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长期经验记忆</a:t>
            </a:r>
            <a:endParaRPr lang="zh-CN" altLang="en-US" sz="74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6" name="任意多边形 1065"/>
          <p:cNvSpPr/>
          <p:nvPr/>
        </p:nvSpPr>
        <p:spPr>
          <a:xfrm>
            <a:off x="104290" y="440485"/>
            <a:ext cx="1824700" cy="191700"/>
          </a:xfrm>
          <a:custGeom>
            <a:avLst/>
            <a:gdLst>
              <a:gd name="connsiteX0" fmla="*/ 0 w 1824700"/>
              <a:gd name="connsiteY0" fmla="*/ 95850 h 191700"/>
              <a:gd name="connsiteX1" fmla="*/ 912350 w 1824700"/>
              <a:gd name="connsiteY1" fmla="*/ 0 h 191700"/>
              <a:gd name="connsiteX2" fmla="*/ 1824700 w 1824700"/>
              <a:gd name="connsiteY2" fmla="*/ 95850 h 191700"/>
              <a:gd name="connsiteX3" fmla="*/ 912350 w 1824700"/>
              <a:gd name="connsiteY3" fmla="*/ 191700 h 191700"/>
              <a:gd name="rtl" fmla="*/ 4218508 w 1824700"/>
              <a:gd name="rtt" fmla="*/ 3884687 h 191700"/>
              <a:gd name="rtr" fmla="*/ 6043208 w 1824700"/>
              <a:gd name="rtb" fmla="*/ 40763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跨任务持久化突变成败记录，自动归纳禁区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8" name="任意多边形 1067"/>
          <p:cNvSpPr/>
          <p:nvPr/>
        </p:nvSpPr>
        <p:spPr>
          <a:xfrm>
            <a:off x="3389148" y="4651772"/>
            <a:ext cx="2769000" cy="298200"/>
          </a:xfrm>
          <a:custGeom>
            <a:avLst/>
            <a:gdLst/>
            <a:ahLst/>
            <a:cxnLst/>
            <a:rect l="l" t="t" r="r" b="b"/>
            <a:pathLst>
              <a:path w="2769000" h="298200" stroke="0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2726400" y="0"/>
                </a:lnTo>
                <a:cubicBezTo>
                  <a:pt x="2749929" y="0"/>
                  <a:pt x="2769000" y="19073"/>
                  <a:pt x="2769000" y="42600"/>
                </a:cubicBezTo>
                <a:lnTo>
                  <a:pt x="2769000" y="255600"/>
                </a:lnTo>
                <a:cubicBezTo>
                  <a:pt x="2769000" y="279127"/>
                  <a:pt x="2749929" y="298200"/>
                  <a:pt x="2726400" y="298200"/>
                </a:cubicBezTo>
                <a:lnTo>
                  <a:pt x="42600" y="298200"/>
                </a:lnTo>
                <a:cubicBezTo>
                  <a:pt x="19073" y="298200"/>
                  <a:pt x="0" y="279127"/>
                  <a:pt x="0" y="255600"/>
                </a:cubicBezTo>
                <a:lnTo>
                  <a:pt x="0" y="42600"/>
                </a:lnTo>
                <a:close/>
              </a:path>
              <a:path w="2769000" h="298200" fill="none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2726400" y="0"/>
                </a:lnTo>
                <a:cubicBezTo>
                  <a:pt x="2749929" y="0"/>
                  <a:pt x="2769000" y="19073"/>
                  <a:pt x="2769000" y="42600"/>
                </a:cubicBezTo>
                <a:lnTo>
                  <a:pt x="2769000" y="255600"/>
                </a:lnTo>
                <a:cubicBezTo>
                  <a:pt x="2769000" y="279127"/>
                  <a:pt x="2749929" y="298200"/>
                  <a:pt x="2726400" y="298200"/>
                </a:cubicBezTo>
                <a:lnTo>
                  <a:pt x="42600" y="298200"/>
                </a:lnTo>
                <a:cubicBezTo>
                  <a:pt x="19073" y="298200"/>
                  <a:pt x="0" y="279127"/>
                  <a:pt x="0" y="255600"/>
                </a:cubicBezTo>
                <a:lnTo>
                  <a:pt x="0" y="42600"/>
                </a:lnTo>
                <a:close/>
              </a:path>
            </a:pathLst>
          </a:custGeom>
          <a:solidFill>
            <a:srgbClr val="ECFDF5"/>
          </a:solidFill>
          <a:ln w="7100" cap="flat">
            <a:solidFill>
              <a:srgbClr val="34D399"/>
            </a:solidFill>
            <a:miter/>
          </a:ln>
        </p:spPr>
      </p:sp>
      <p:sp>
        <p:nvSpPr>
          <p:cNvPr id="1069" name="任意多边形 1068"/>
          <p:cNvSpPr/>
          <p:nvPr/>
        </p:nvSpPr>
        <p:spPr>
          <a:xfrm>
            <a:off x="3389148" y="4651772"/>
            <a:ext cx="852000" cy="298200"/>
          </a:xfrm>
          <a:custGeom>
            <a:avLst/>
            <a:gdLst/>
            <a:ahLst/>
            <a:cxnLst/>
            <a:rect l="l" t="t" r="r" b="b"/>
            <a:pathLst>
              <a:path w="852000" h="298200" stroke="0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809400" y="0"/>
                </a:lnTo>
                <a:cubicBezTo>
                  <a:pt x="832929" y="0"/>
                  <a:pt x="852000" y="19073"/>
                  <a:pt x="852000" y="42600"/>
                </a:cubicBezTo>
                <a:lnTo>
                  <a:pt x="852000" y="255600"/>
                </a:lnTo>
                <a:cubicBezTo>
                  <a:pt x="852000" y="279127"/>
                  <a:pt x="832929" y="298200"/>
                  <a:pt x="809400" y="298200"/>
                </a:cubicBezTo>
                <a:lnTo>
                  <a:pt x="42600" y="298200"/>
                </a:lnTo>
                <a:cubicBezTo>
                  <a:pt x="19073" y="298200"/>
                  <a:pt x="0" y="279127"/>
                  <a:pt x="0" y="255600"/>
                </a:cubicBezTo>
                <a:lnTo>
                  <a:pt x="0" y="42600"/>
                </a:lnTo>
                <a:close/>
              </a:path>
              <a:path w="852000" h="298200" fill="none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809400" y="0"/>
                </a:lnTo>
                <a:cubicBezTo>
                  <a:pt x="832929" y="0"/>
                  <a:pt x="852000" y="19073"/>
                  <a:pt x="852000" y="42600"/>
                </a:cubicBezTo>
                <a:lnTo>
                  <a:pt x="852000" y="255600"/>
                </a:lnTo>
                <a:cubicBezTo>
                  <a:pt x="852000" y="279127"/>
                  <a:pt x="832929" y="298200"/>
                  <a:pt x="809400" y="298200"/>
                </a:cubicBezTo>
                <a:lnTo>
                  <a:pt x="42600" y="298200"/>
                </a:lnTo>
                <a:cubicBezTo>
                  <a:pt x="19073" y="298200"/>
                  <a:pt x="0" y="279127"/>
                  <a:pt x="0" y="255600"/>
                </a:cubicBezTo>
                <a:lnTo>
                  <a:pt x="0" y="42600"/>
                </a:lnTo>
                <a:close/>
              </a:path>
            </a:pathLst>
          </a:custGeom>
          <a:solidFill>
            <a:srgbClr val="047857"/>
          </a:solidFill>
          <a:ln w="7100" cap="flat">
            <a:noFill/>
            <a:miter/>
          </a:ln>
        </p:spPr>
      </p:sp>
      <p:sp>
        <p:nvSpPr>
          <p:cNvPr id="1070" name="任意多边形 1069"/>
          <p:cNvSpPr/>
          <p:nvPr/>
        </p:nvSpPr>
        <p:spPr>
          <a:xfrm>
            <a:off x="104290" y="440485"/>
            <a:ext cx="766800" cy="205900"/>
          </a:xfrm>
          <a:custGeom>
            <a:avLst/>
            <a:gdLst>
              <a:gd name="connsiteX0" fmla="*/ 0 w 766800"/>
              <a:gd name="connsiteY0" fmla="*/ 102950 h 205900"/>
              <a:gd name="connsiteX1" fmla="*/ 383400 w 766800"/>
              <a:gd name="connsiteY1" fmla="*/ 0 h 205900"/>
              <a:gd name="connsiteX2" fmla="*/ 766800 w 766800"/>
              <a:gd name="connsiteY2" fmla="*/ 102950 h 205900"/>
              <a:gd name="connsiteX3" fmla="*/ 383400 w 766800"/>
              <a:gd name="connsiteY3" fmla="*/ 205900 h 205900"/>
              <a:gd name="rtl" fmla="*/ 3362958 w 766800"/>
              <a:gd name="rtt" fmla="*/ 4232587 h 205900"/>
              <a:gd name="rtr" fmla="*/ 4129758 w 766800"/>
              <a:gd name="rtb" fmla="*/ 4438487 h 2059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FFFF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结构化技能记忆</a:t>
            </a:r>
            <a:endParaRPr lang="zh-CN" altLang="en-US" sz="74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1" name="任意多边形 1070"/>
          <p:cNvSpPr/>
          <p:nvPr/>
        </p:nvSpPr>
        <p:spPr>
          <a:xfrm>
            <a:off x="104290" y="440485"/>
            <a:ext cx="2009300" cy="191700"/>
          </a:xfrm>
          <a:custGeom>
            <a:avLst/>
            <a:gdLst>
              <a:gd name="connsiteX0" fmla="*/ 0 w 2009300"/>
              <a:gd name="connsiteY0" fmla="*/ 95850 h 191700"/>
              <a:gd name="connsiteX1" fmla="*/ 1004650 w 2009300"/>
              <a:gd name="connsiteY1" fmla="*/ 0 h 191700"/>
              <a:gd name="connsiteX2" fmla="*/ 2009300 w 2009300"/>
              <a:gd name="connsiteY2" fmla="*/ 95850 h 191700"/>
              <a:gd name="connsiteX3" fmla="*/ 1004650 w 2009300"/>
              <a:gd name="connsiteY3" fmla="*/ 191700 h 191700"/>
              <a:gd name="rtl" fmla="*/ 4136858 w 2009300"/>
              <a:gd name="rtt" fmla="*/ 4239687 h 191700"/>
              <a:gd name="rtr" fmla="*/ 6146158 w 2009300"/>
              <a:gd name="rtb" fmla="*/ 44313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连续成功模式抽象为版本化带评分的复用策略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4" name="任意多边形 1073"/>
          <p:cNvSpPr/>
          <p:nvPr/>
        </p:nvSpPr>
        <p:spPr>
          <a:xfrm>
            <a:off x="3211648" y="5184272"/>
            <a:ext cx="3124000" cy="994000"/>
          </a:xfrm>
          <a:custGeom>
            <a:avLst/>
            <a:gdLst/>
            <a:ahLst/>
            <a:cxnLst/>
            <a:rect l="l" t="t" r="r" b="b"/>
            <a:pathLst>
              <a:path w="3124000" h="994000" stroke="0">
                <a:moveTo>
                  <a:pt x="0" y="0"/>
                </a:moveTo>
                <a:lnTo>
                  <a:pt x="3124000" y="0"/>
                </a:lnTo>
                <a:lnTo>
                  <a:pt x="3124000" y="994000"/>
                </a:lnTo>
                <a:lnTo>
                  <a:pt x="0" y="994000"/>
                </a:lnTo>
                <a:lnTo>
                  <a:pt x="0" y="0"/>
                </a:lnTo>
                <a:close/>
              </a:path>
              <a:path w="3124000" h="994000" fill="none">
                <a:moveTo>
                  <a:pt x="0" y="0"/>
                </a:moveTo>
                <a:lnTo>
                  <a:pt x="3124000" y="0"/>
                </a:lnTo>
                <a:lnTo>
                  <a:pt x="3124000" y="994000"/>
                </a:lnTo>
                <a:lnTo>
                  <a:pt x="0" y="994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1075" name="任意多边形 1074"/>
          <p:cNvSpPr/>
          <p:nvPr/>
        </p:nvSpPr>
        <p:spPr>
          <a:xfrm>
            <a:off x="3211648" y="5184272"/>
            <a:ext cx="71000" cy="994000"/>
          </a:xfrm>
          <a:custGeom>
            <a:avLst/>
            <a:gdLst/>
            <a:ahLst/>
            <a:cxnLst/>
            <a:rect l="l" t="t" r="r" b="b"/>
            <a:pathLst>
              <a:path w="71000" h="994000" stroke="0">
                <a:moveTo>
                  <a:pt x="0" y="35500"/>
                </a:move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lnTo>
                  <a:pt x="71000" y="958500"/>
                </a:lnTo>
                <a:cubicBezTo>
                  <a:pt x="71000" y="978103"/>
                  <a:pt x="55106" y="994000"/>
                  <a:pt x="35500" y="994000"/>
                </a:cubicBezTo>
                <a:cubicBezTo>
                  <a:pt x="15894" y="994000"/>
                  <a:pt x="0" y="978103"/>
                  <a:pt x="0" y="958500"/>
                </a:cubicBezTo>
                <a:lnTo>
                  <a:pt x="0" y="35500"/>
                </a:lnTo>
                <a:close/>
              </a:path>
              <a:path w="71000" h="994000" fill="none">
                <a:moveTo>
                  <a:pt x="0" y="35500"/>
                </a:move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lnTo>
                  <a:pt x="71000" y="958500"/>
                </a:lnTo>
                <a:cubicBezTo>
                  <a:pt x="71000" y="978103"/>
                  <a:pt x="55106" y="994000"/>
                  <a:pt x="35500" y="994000"/>
                </a:cubicBezTo>
                <a:cubicBezTo>
                  <a:pt x="15894" y="994000"/>
                  <a:pt x="0" y="978103"/>
                  <a:pt x="0" y="958500"/>
                </a:cubicBezTo>
                <a:lnTo>
                  <a:pt x="0" y="35500"/>
                </a:lnTo>
                <a:close/>
              </a:path>
            </a:pathLst>
          </a:custGeom>
          <a:solidFill>
            <a:srgbClr val="059669"/>
          </a:solidFill>
          <a:ln w="7100" cap="flat">
            <a:noFill/>
            <a:miter/>
          </a:ln>
        </p:spPr>
      </p:sp>
      <p:sp>
        <p:nvSpPr>
          <p:cNvPr id="1076" name="任意多边形 1075"/>
          <p:cNvSpPr/>
          <p:nvPr/>
        </p:nvSpPr>
        <p:spPr>
          <a:xfrm>
            <a:off x="104290" y="440485"/>
            <a:ext cx="1611700" cy="255600"/>
          </a:xfrm>
          <a:custGeom>
            <a:avLst/>
            <a:gdLst>
              <a:gd name="connsiteX0" fmla="*/ 0 w 1611700"/>
              <a:gd name="connsiteY0" fmla="*/ 127800 h 255600"/>
              <a:gd name="connsiteX1" fmla="*/ 805850 w 1611700"/>
              <a:gd name="connsiteY1" fmla="*/ 0 h 255600"/>
              <a:gd name="connsiteX2" fmla="*/ 1611700 w 1611700"/>
              <a:gd name="connsiteY2" fmla="*/ 127800 h 255600"/>
              <a:gd name="connsiteX3" fmla="*/ 805850 w 1611700"/>
              <a:gd name="connsiteY3" fmla="*/ 255600 h 255600"/>
              <a:gd name="rtl" fmla="*/ 3260008 w 1611700"/>
              <a:gd name="rtt" fmla="*/ 4750887 h 255600"/>
              <a:gd name="rtr" fmla="*/ 4871708 w 1611700"/>
              <a:gd name="rtb" fmla="*/ 5006487 h 255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293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960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技能学习模块 (自进化闭环)</a:t>
            </a:r>
            <a:endParaRPr lang="zh-CN" altLang="en-US" sz="960" b="1" dirty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7" name="任意多边形 1076"/>
          <p:cNvSpPr/>
          <p:nvPr/>
        </p:nvSpPr>
        <p:spPr>
          <a:xfrm>
            <a:off x="3389148" y="5645772"/>
            <a:ext cx="710000" cy="284000"/>
          </a:xfrm>
          <a:custGeom>
            <a:avLst/>
            <a:gdLst/>
            <a:ahLst/>
            <a:cxnLst/>
            <a:rect l="l" t="t" r="r" b="b"/>
            <a:pathLst>
              <a:path w="710000" h="284000" stroke="0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653200" y="0"/>
                </a:lnTo>
                <a:cubicBezTo>
                  <a:pt x="684570" y="0"/>
                  <a:pt x="710000" y="25430"/>
                  <a:pt x="710000" y="56800"/>
                </a:cubicBezTo>
                <a:lnTo>
                  <a:pt x="710000" y="227200"/>
                </a:lnTo>
                <a:cubicBezTo>
                  <a:pt x="710000" y="258570"/>
                  <a:pt x="684570" y="284000"/>
                  <a:pt x="653200" y="284000"/>
                </a:cubicBezTo>
                <a:lnTo>
                  <a:pt x="56800" y="284000"/>
                </a:lnTo>
                <a:cubicBezTo>
                  <a:pt x="25430" y="284000"/>
                  <a:pt x="0" y="258570"/>
                  <a:pt x="0" y="227200"/>
                </a:cubicBezTo>
                <a:lnTo>
                  <a:pt x="0" y="56800"/>
                </a:lnTo>
                <a:close/>
              </a:path>
              <a:path w="710000" h="284000" fill="none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653200" y="0"/>
                </a:lnTo>
                <a:cubicBezTo>
                  <a:pt x="684570" y="0"/>
                  <a:pt x="710000" y="25430"/>
                  <a:pt x="710000" y="56800"/>
                </a:cubicBezTo>
                <a:lnTo>
                  <a:pt x="710000" y="227200"/>
                </a:lnTo>
                <a:cubicBezTo>
                  <a:pt x="710000" y="258570"/>
                  <a:pt x="684570" y="284000"/>
                  <a:pt x="653200" y="284000"/>
                </a:cubicBezTo>
                <a:lnTo>
                  <a:pt x="56800" y="284000"/>
                </a:lnTo>
                <a:cubicBezTo>
                  <a:pt x="25430" y="284000"/>
                  <a:pt x="0" y="258570"/>
                  <a:pt x="0" y="227200"/>
                </a:cubicBezTo>
                <a:lnTo>
                  <a:pt x="0" y="56800"/>
                </a:lnTo>
                <a:close/>
              </a:path>
            </a:pathLst>
          </a:custGeom>
          <a:solidFill>
            <a:srgbClr val="F8FAFC"/>
          </a:solidFill>
          <a:ln w="7100" cap="flat">
            <a:solidFill>
              <a:srgbClr val="94A3B8"/>
            </a:solidFill>
            <a:miter/>
          </a:ln>
        </p:spPr>
      </p:sp>
      <p:sp>
        <p:nvSpPr>
          <p:cNvPr id="1078" name="任意多边形 1077"/>
          <p:cNvSpPr/>
          <p:nvPr/>
        </p:nvSpPr>
        <p:spPr>
          <a:xfrm>
            <a:off x="104290" y="440485"/>
            <a:ext cx="624800" cy="191700"/>
          </a:xfrm>
          <a:custGeom>
            <a:avLst/>
            <a:gdLst>
              <a:gd name="connsiteX0" fmla="*/ 0 w 624800"/>
              <a:gd name="connsiteY0" fmla="*/ 95850 h 191700"/>
              <a:gd name="connsiteX1" fmla="*/ 312400 w 624800"/>
              <a:gd name="connsiteY1" fmla="*/ 0 h 191700"/>
              <a:gd name="connsiteX2" fmla="*/ 624800 w 624800"/>
              <a:gd name="connsiteY2" fmla="*/ 95850 h 191700"/>
              <a:gd name="connsiteX3" fmla="*/ 312400 w 624800"/>
              <a:gd name="connsiteY3" fmla="*/ 191700 h 191700"/>
              <a:gd name="rtl" fmla="*/ 3327458 w 624800"/>
              <a:gd name="rtt" fmla="*/ 5219487 h 191700"/>
              <a:gd name="rtr" fmla="*/ 3952258 w 624800"/>
              <a:gd name="rtb" fmla="*/ 54111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突变成败记录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9" name="任意多边形 1078"/>
          <p:cNvSpPr/>
          <p:nvPr/>
        </p:nvSpPr>
        <p:spPr>
          <a:xfrm>
            <a:off x="4099148" y="5787772"/>
            <a:ext cx="142000" cy="7100"/>
          </a:xfrm>
          <a:custGeom>
            <a:avLst/>
            <a:gdLst/>
            <a:ahLst/>
            <a:cxnLst/>
            <a:rect l="l" t="t" r="r" b="b"/>
            <a:pathLst>
              <a:path w="142000" h="7100" fill="none">
                <a:moveTo>
                  <a:pt x="0" y="0"/>
                </a:moveTo>
                <a:lnTo>
                  <a:pt x="142000" y="0"/>
                </a:lnTo>
              </a:path>
            </a:pathLst>
          </a:custGeom>
          <a:noFill/>
          <a:ln w="17750" cap="flat">
            <a:solidFill>
              <a:srgbClr val="94A3B8"/>
            </a:solidFill>
            <a:miter/>
          </a:ln>
        </p:spPr>
      </p:sp>
      <p:sp>
        <p:nvSpPr>
          <p:cNvPr id="1080" name="任意多边形 1079"/>
          <p:cNvSpPr/>
          <p:nvPr/>
        </p:nvSpPr>
        <p:spPr>
          <a:xfrm>
            <a:off x="4223398" y="5746947"/>
            <a:ext cx="88750" cy="88750"/>
          </a:xfrm>
          <a:custGeom>
            <a:avLst/>
            <a:gdLst/>
            <a:ahLst/>
            <a:cxnLst/>
            <a:rect l="l" t="t" r="r" b="b"/>
            <a:pathLst>
              <a:path w="88750" h="88750" stroke="0">
                <a:moveTo>
                  <a:pt x="0" y="0"/>
                </a:moveTo>
                <a:lnTo>
                  <a:pt x="88750" y="44375"/>
                </a:lnTo>
                <a:lnTo>
                  <a:pt x="0" y="88750"/>
                </a:lnTo>
                <a:lnTo>
                  <a:pt x="0" y="0"/>
                </a:lnTo>
                <a:close/>
              </a:path>
              <a:path w="88750" h="88750" fill="none">
                <a:moveTo>
                  <a:pt x="0" y="0"/>
                </a:moveTo>
                <a:lnTo>
                  <a:pt x="88750" y="44375"/>
                </a:lnTo>
                <a:lnTo>
                  <a:pt x="0" y="88750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1082" name="任意多边形 1081"/>
          <p:cNvSpPr/>
          <p:nvPr/>
        </p:nvSpPr>
        <p:spPr>
          <a:xfrm>
            <a:off x="4312148" y="5574772"/>
            <a:ext cx="781000" cy="426000"/>
          </a:xfrm>
          <a:custGeom>
            <a:avLst/>
            <a:gdLst/>
            <a:ahLst/>
            <a:cxnLst/>
            <a:rect l="l" t="t" r="r" b="b"/>
            <a:pathLst>
              <a:path w="781000" h="426000" stroke="0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724200" y="0"/>
                </a:lnTo>
                <a:cubicBezTo>
                  <a:pt x="755568" y="0"/>
                  <a:pt x="781000" y="25430"/>
                  <a:pt x="781000" y="56800"/>
                </a:cubicBezTo>
                <a:lnTo>
                  <a:pt x="781000" y="369200"/>
                </a:lnTo>
                <a:cubicBezTo>
                  <a:pt x="781000" y="400570"/>
                  <a:pt x="755568" y="426000"/>
                  <a:pt x="724200" y="426000"/>
                </a:cubicBezTo>
                <a:lnTo>
                  <a:pt x="56800" y="426000"/>
                </a:lnTo>
                <a:cubicBezTo>
                  <a:pt x="25430" y="426000"/>
                  <a:pt x="0" y="400570"/>
                  <a:pt x="0" y="369200"/>
                </a:cubicBezTo>
                <a:lnTo>
                  <a:pt x="0" y="56800"/>
                </a:lnTo>
                <a:close/>
              </a:path>
              <a:path w="781000" h="426000" fill="none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724200" y="0"/>
                </a:lnTo>
                <a:cubicBezTo>
                  <a:pt x="755568" y="0"/>
                  <a:pt x="781000" y="25430"/>
                  <a:pt x="781000" y="56800"/>
                </a:cubicBezTo>
                <a:lnTo>
                  <a:pt x="781000" y="369200"/>
                </a:lnTo>
                <a:cubicBezTo>
                  <a:pt x="781000" y="400570"/>
                  <a:pt x="755568" y="426000"/>
                  <a:pt x="724200" y="426000"/>
                </a:cubicBezTo>
                <a:lnTo>
                  <a:pt x="56800" y="426000"/>
                </a:lnTo>
                <a:cubicBezTo>
                  <a:pt x="25430" y="426000"/>
                  <a:pt x="0" y="400570"/>
                  <a:pt x="0" y="369200"/>
                </a:cubicBezTo>
                <a:lnTo>
                  <a:pt x="0" y="56800"/>
                </a:lnTo>
                <a:close/>
              </a:path>
            </a:pathLst>
          </a:custGeom>
          <a:solidFill>
            <a:srgbClr val="D1FAE5"/>
          </a:solidFill>
          <a:ln w="7100" cap="flat">
            <a:solidFill>
              <a:srgbClr val="10B981"/>
            </a:solidFill>
            <a:miter/>
          </a:ln>
        </p:spPr>
      </p:sp>
      <p:sp>
        <p:nvSpPr>
          <p:cNvPr id="1083" name="任意多边形 1082"/>
          <p:cNvSpPr/>
          <p:nvPr/>
        </p:nvSpPr>
        <p:spPr>
          <a:xfrm>
            <a:off x="104290" y="440485"/>
            <a:ext cx="624800" cy="191700"/>
          </a:xfrm>
          <a:custGeom>
            <a:avLst/>
            <a:gdLst>
              <a:gd name="connsiteX0" fmla="*/ 0 w 624800"/>
              <a:gd name="connsiteY0" fmla="*/ 95850 h 191700"/>
              <a:gd name="connsiteX1" fmla="*/ 312400 w 624800"/>
              <a:gd name="connsiteY1" fmla="*/ 0 h 191700"/>
              <a:gd name="connsiteX2" fmla="*/ 624800 w 624800"/>
              <a:gd name="connsiteY2" fmla="*/ 95850 h 191700"/>
              <a:gd name="connsiteX3" fmla="*/ 312400 w 624800"/>
              <a:gd name="connsiteY3" fmla="*/ 191700 h 191700"/>
              <a:gd name="rtl" fmla="*/ 4285958 w 624800"/>
              <a:gd name="rtt" fmla="*/ 5148487 h 191700"/>
              <a:gd name="rtr" fmla="*/ 4910758 w 624800"/>
              <a:gd name="rtb" fmla="*/ 53401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F172A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挖掘高频规律</a:t>
            </a:r>
            <a:endParaRPr lang="zh-CN" altLang="en-US" sz="69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4" name="任意多边形 1083"/>
          <p:cNvSpPr/>
          <p:nvPr/>
        </p:nvSpPr>
        <p:spPr>
          <a:xfrm>
            <a:off x="104290" y="440485"/>
            <a:ext cx="667400" cy="177500"/>
          </a:xfrm>
          <a:custGeom>
            <a:avLst/>
            <a:gdLst>
              <a:gd name="connsiteX0" fmla="*/ 0 w 667400"/>
              <a:gd name="connsiteY0" fmla="*/ 88750 h 177500"/>
              <a:gd name="connsiteX1" fmla="*/ 333700 w 667400"/>
              <a:gd name="connsiteY1" fmla="*/ 0 h 177500"/>
              <a:gd name="connsiteX2" fmla="*/ 667400 w 667400"/>
              <a:gd name="connsiteY2" fmla="*/ 88750 h 177500"/>
              <a:gd name="connsiteX3" fmla="*/ 333700 w 667400"/>
              <a:gd name="connsiteY3" fmla="*/ 177500 h 177500"/>
              <a:gd name="rtl" fmla="*/ 4264658 w 667400"/>
              <a:gd name="rtt" fmla="*/ 5304687 h 177500"/>
              <a:gd name="rtr" fmla="*/ 4932058 w 667400"/>
              <a:gd name="rtb" fmla="*/ 54821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满足置信度阈值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5" name="任意多边形 1084"/>
          <p:cNvSpPr/>
          <p:nvPr/>
        </p:nvSpPr>
        <p:spPr>
          <a:xfrm>
            <a:off x="5093148" y="5787772"/>
            <a:ext cx="142000" cy="7100"/>
          </a:xfrm>
          <a:custGeom>
            <a:avLst/>
            <a:gdLst/>
            <a:ahLst/>
            <a:cxnLst/>
            <a:rect l="l" t="t" r="r" b="b"/>
            <a:pathLst>
              <a:path w="142000" h="7100" fill="none">
                <a:moveTo>
                  <a:pt x="0" y="0"/>
                </a:moveTo>
                <a:lnTo>
                  <a:pt x="142000" y="0"/>
                </a:lnTo>
              </a:path>
            </a:pathLst>
          </a:custGeom>
          <a:noFill/>
          <a:ln w="17750" cap="flat">
            <a:solidFill>
              <a:srgbClr val="94A3B8"/>
            </a:solidFill>
            <a:miter/>
          </a:ln>
        </p:spPr>
      </p:sp>
      <p:sp>
        <p:nvSpPr>
          <p:cNvPr id="1086" name="任意多边形 1085"/>
          <p:cNvSpPr/>
          <p:nvPr/>
        </p:nvSpPr>
        <p:spPr>
          <a:xfrm>
            <a:off x="5217398" y="5745172"/>
            <a:ext cx="88750" cy="88750"/>
          </a:xfrm>
          <a:custGeom>
            <a:avLst/>
            <a:gdLst/>
            <a:ahLst/>
            <a:cxnLst/>
            <a:rect l="l" t="t" r="r" b="b"/>
            <a:pathLst>
              <a:path w="88750" h="88750" stroke="0">
                <a:moveTo>
                  <a:pt x="0" y="0"/>
                </a:moveTo>
                <a:lnTo>
                  <a:pt x="88750" y="44375"/>
                </a:lnTo>
                <a:lnTo>
                  <a:pt x="0" y="88750"/>
                </a:lnTo>
                <a:lnTo>
                  <a:pt x="0" y="0"/>
                </a:lnTo>
                <a:close/>
              </a:path>
              <a:path w="88750" h="88750" fill="none">
                <a:moveTo>
                  <a:pt x="0" y="0"/>
                </a:moveTo>
                <a:lnTo>
                  <a:pt x="88750" y="44375"/>
                </a:lnTo>
                <a:lnTo>
                  <a:pt x="0" y="88750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1088" name="任意多边形 1087"/>
          <p:cNvSpPr/>
          <p:nvPr/>
        </p:nvSpPr>
        <p:spPr>
          <a:xfrm>
            <a:off x="5306148" y="5645772"/>
            <a:ext cx="852000" cy="284000"/>
          </a:xfrm>
          <a:custGeom>
            <a:avLst/>
            <a:gdLst/>
            <a:ahLst/>
            <a:cxnLst/>
            <a:rect l="l" t="t" r="r" b="b"/>
            <a:pathLst>
              <a:path w="852000" h="284000" stroke="0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795200" y="0"/>
                </a:lnTo>
                <a:cubicBezTo>
                  <a:pt x="826568" y="0"/>
                  <a:pt x="852000" y="25430"/>
                  <a:pt x="852000" y="56800"/>
                </a:cubicBezTo>
                <a:lnTo>
                  <a:pt x="852000" y="227200"/>
                </a:lnTo>
                <a:cubicBezTo>
                  <a:pt x="852000" y="258570"/>
                  <a:pt x="826568" y="284000"/>
                  <a:pt x="795200" y="284000"/>
                </a:cubicBezTo>
                <a:lnTo>
                  <a:pt x="56800" y="284000"/>
                </a:lnTo>
                <a:cubicBezTo>
                  <a:pt x="25430" y="284000"/>
                  <a:pt x="0" y="258570"/>
                  <a:pt x="0" y="227200"/>
                </a:cubicBezTo>
                <a:lnTo>
                  <a:pt x="0" y="56800"/>
                </a:lnTo>
                <a:close/>
              </a:path>
              <a:path w="852000" h="284000" fill="none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795200" y="0"/>
                </a:lnTo>
                <a:cubicBezTo>
                  <a:pt x="826568" y="0"/>
                  <a:pt x="852000" y="25430"/>
                  <a:pt x="852000" y="56800"/>
                </a:cubicBezTo>
                <a:lnTo>
                  <a:pt x="852000" y="227200"/>
                </a:lnTo>
                <a:cubicBezTo>
                  <a:pt x="852000" y="258570"/>
                  <a:pt x="826568" y="284000"/>
                  <a:pt x="795200" y="284000"/>
                </a:cubicBezTo>
                <a:lnTo>
                  <a:pt x="56800" y="284000"/>
                </a:lnTo>
                <a:cubicBezTo>
                  <a:pt x="25430" y="284000"/>
                  <a:pt x="0" y="258570"/>
                  <a:pt x="0" y="227200"/>
                </a:cubicBezTo>
                <a:lnTo>
                  <a:pt x="0" y="56800"/>
                </a:lnTo>
                <a:close/>
              </a:path>
            </a:pathLst>
          </a:custGeom>
          <a:solidFill>
            <a:srgbClr val="059669"/>
          </a:solidFill>
          <a:ln w="7100" cap="flat">
            <a:noFill/>
            <a:miter/>
          </a:ln>
        </p:spPr>
      </p:sp>
      <p:sp>
        <p:nvSpPr>
          <p:cNvPr id="1089" name="任意多边形 1088"/>
          <p:cNvSpPr/>
          <p:nvPr/>
        </p:nvSpPr>
        <p:spPr>
          <a:xfrm>
            <a:off x="104290" y="440485"/>
            <a:ext cx="766800" cy="205900"/>
          </a:xfrm>
          <a:custGeom>
            <a:avLst/>
            <a:gdLst>
              <a:gd name="connsiteX0" fmla="*/ 0 w 766800"/>
              <a:gd name="connsiteY0" fmla="*/ 102950 h 205900"/>
              <a:gd name="connsiteX1" fmla="*/ 383400 w 766800"/>
              <a:gd name="connsiteY1" fmla="*/ 0 h 205900"/>
              <a:gd name="connsiteX2" fmla="*/ 766800 w 766800"/>
              <a:gd name="connsiteY2" fmla="*/ 102950 h 205900"/>
              <a:gd name="connsiteX3" fmla="*/ 383400 w 766800"/>
              <a:gd name="connsiteY3" fmla="*/ 205900 h 205900"/>
              <a:gd name="rtl" fmla="*/ 5244458 w 766800"/>
              <a:gd name="rtt" fmla="*/ 5212387 h 205900"/>
              <a:gd name="rtr" fmla="*/ 6011258 w 766800"/>
              <a:gd name="rtb" fmla="*/ 5418287 h 2059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FFFF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抽象结构化技能</a:t>
            </a:r>
            <a:endParaRPr lang="zh-CN" altLang="en-US" sz="74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0" name="任意多边形 1089"/>
          <p:cNvSpPr/>
          <p:nvPr/>
        </p:nvSpPr>
        <p:spPr>
          <a:xfrm>
            <a:off x="104290" y="440485"/>
            <a:ext cx="752600" cy="177500"/>
          </a:xfrm>
          <a:custGeom>
            <a:avLst/>
            <a:gdLst>
              <a:gd name="connsiteX0" fmla="*/ 0 w 752600"/>
              <a:gd name="connsiteY0" fmla="*/ 88750 h 177500"/>
              <a:gd name="connsiteX1" fmla="*/ 376300 w 752600"/>
              <a:gd name="connsiteY1" fmla="*/ 0 h 177500"/>
              <a:gd name="connsiteX2" fmla="*/ 752600 w 752600"/>
              <a:gd name="connsiteY2" fmla="*/ 88750 h 177500"/>
              <a:gd name="connsiteX3" fmla="*/ 376300 w 752600"/>
              <a:gd name="connsiteY3" fmla="*/ 177500 h 177500"/>
              <a:gd name="rtl" fmla="*/ 5251558 w 752600"/>
              <a:gd name="rtt" fmla="*/ 5489287 h 177500"/>
              <a:gd name="rtr" fmla="*/ 6004158 w 752600"/>
              <a:gd name="rtb" fmla="*/ 56667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动态注入推理链路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3" name="任意多边形 1092"/>
          <p:cNvSpPr/>
          <p:nvPr/>
        </p:nvSpPr>
        <p:spPr>
          <a:xfrm>
            <a:off x="6619676" y="995272"/>
            <a:ext cx="2556000" cy="5183000"/>
          </a:xfrm>
          <a:custGeom>
            <a:avLst/>
            <a:gdLst/>
            <a:ahLst/>
            <a:cxnLst/>
            <a:rect l="l" t="t" r="r" b="b"/>
            <a:pathLst>
              <a:path w="2556000" h="5183000" stroke="0">
                <a:moveTo>
                  <a:pt x="0" y="0"/>
                </a:moveTo>
                <a:lnTo>
                  <a:pt x="2556000" y="0"/>
                </a:lnTo>
                <a:lnTo>
                  <a:pt x="2556000" y="5183000"/>
                </a:lnTo>
                <a:lnTo>
                  <a:pt x="0" y="5183000"/>
                </a:lnTo>
                <a:lnTo>
                  <a:pt x="0" y="0"/>
                </a:lnTo>
                <a:close/>
              </a:path>
              <a:path w="2556000" h="5183000" fill="none">
                <a:moveTo>
                  <a:pt x="0" y="0"/>
                </a:moveTo>
                <a:lnTo>
                  <a:pt x="2556000" y="0"/>
                </a:lnTo>
                <a:lnTo>
                  <a:pt x="2556000" y="5183000"/>
                </a:lnTo>
                <a:lnTo>
                  <a:pt x="0" y="5183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1094" name="任意多边形 1093"/>
          <p:cNvSpPr/>
          <p:nvPr/>
        </p:nvSpPr>
        <p:spPr>
          <a:xfrm>
            <a:off x="6619648" y="995272"/>
            <a:ext cx="71000" cy="5183000"/>
          </a:xfrm>
          <a:custGeom>
            <a:avLst/>
            <a:gdLst/>
            <a:ahLst/>
            <a:cxnLst/>
            <a:rect l="l" t="t" r="r" b="b"/>
            <a:pathLst>
              <a:path w="71000" h="5183000" stroke="0">
                <a:moveTo>
                  <a:pt x="0" y="35500"/>
                </a:move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lnTo>
                  <a:pt x="71000" y="5147500"/>
                </a:lnTo>
                <a:cubicBezTo>
                  <a:pt x="71000" y="5167103"/>
                  <a:pt x="55106" y="5183000"/>
                  <a:pt x="35500" y="5183000"/>
                </a:cubicBezTo>
                <a:cubicBezTo>
                  <a:pt x="15894" y="5183000"/>
                  <a:pt x="0" y="5167103"/>
                  <a:pt x="0" y="5147500"/>
                </a:cubicBezTo>
                <a:lnTo>
                  <a:pt x="0" y="35500"/>
                </a:lnTo>
                <a:close/>
              </a:path>
              <a:path w="71000" h="5183000" fill="none">
                <a:moveTo>
                  <a:pt x="0" y="35500"/>
                </a:move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lnTo>
                  <a:pt x="71000" y="5147500"/>
                </a:lnTo>
                <a:cubicBezTo>
                  <a:pt x="71000" y="5167103"/>
                  <a:pt x="55106" y="5183000"/>
                  <a:pt x="35500" y="5183000"/>
                </a:cubicBezTo>
                <a:cubicBezTo>
                  <a:pt x="15894" y="5183000"/>
                  <a:pt x="0" y="5167103"/>
                  <a:pt x="0" y="5147500"/>
                </a:cubicBezTo>
                <a:lnTo>
                  <a:pt x="0" y="35500"/>
                </a:lnTo>
                <a:close/>
              </a:path>
            </a:pathLst>
          </a:custGeom>
          <a:solidFill>
            <a:srgbClr val="E11D48"/>
          </a:solidFill>
          <a:ln w="7100" cap="flat">
            <a:noFill/>
            <a:miter/>
          </a:ln>
        </p:spPr>
      </p:sp>
      <p:sp>
        <p:nvSpPr>
          <p:cNvPr id="1095" name="任意多边形 1094"/>
          <p:cNvSpPr/>
          <p:nvPr/>
        </p:nvSpPr>
        <p:spPr>
          <a:xfrm>
            <a:off x="104290" y="440485"/>
            <a:ext cx="837800" cy="255600"/>
          </a:xfrm>
          <a:custGeom>
            <a:avLst/>
            <a:gdLst>
              <a:gd name="connsiteX0" fmla="*/ 0 w 837800"/>
              <a:gd name="connsiteY0" fmla="*/ 127800 h 255600"/>
              <a:gd name="connsiteX1" fmla="*/ 418900 w 837800"/>
              <a:gd name="connsiteY1" fmla="*/ 0 h 255600"/>
              <a:gd name="connsiteX2" fmla="*/ 837800 w 837800"/>
              <a:gd name="connsiteY2" fmla="*/ 127800 h 255600"/>
              <a:gd name="connsiteX3" fmla="*/ 418900 w 837800"/>
              <a:gd name="connsiteY3" fmla="*/ 255600 h 255600"/>
              <a:gd name="rtl" fmla="*/ 6664458 w 837800"/>
              <a:gd name="rtt" fmla="*/ 597387 h 255600"/>
              <a:gd name="rtr" fmla="*/ 7502258 w 837800"/>
              <a:gd name="rtb" fmla="*/ 852987 h 255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293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960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精准突变模块</a:t>
            </a:r>
            <a:endParaRPr lang="zh-CN" altLang="en-US" sz="960" b="1" dirty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6" name="任意多边形 1095"/>
          <p:cNvSpPr/>
          <p:nvPr/>
        </p:nvSpPr>
        <p:spPr>
          <a:xfrm>
            <a:off x="104290" y="440485"/>
            <a:ext cx="1207000" cy="191700"/>
          </a:xfrm>
          <a:custGeom>
            <a:avLst/>
            <a:gdLst>
              <a:gd name="connsiteX0" fmla="*/ 0 w 1207000"/>
              <a:gd name="connsiteY0" fmla="*/ 95850 h 191700"/>
              <a:gd name="connsiteX1" fmla="*/ 603500 w 1207000"/>
              <a:gd name="connsiteY1" fmla="*/ 0 h 191700"/>
              <a:gd name="connsiteX2" fmla="*/ 1207000 w 1207000"/>
              <a:gd name="connsiteY2" fmla="*/ 95850 h 191700"/>
              <a:gd name="connsiteX3" fmla="*/ 603500 w 1207000"/>
              <a:gd name="connsiteY3" fmla="*/ 191700 h 191700"/>
              <a:gd name="rtl" fmla="*/ 7544886 w 1207000"/>
              <a:gd name="rtt" fmla="*/ 639987 h 191700"/>
              <a:gd name="rtr" fmla="*/ 8766086 w 1207000"/>
              <a:gd name="rtb" fmla="*/ 8316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以应用场景目标为导向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7" name="任意多边形 1096"/>
          <p:cNvSpPr/>
          <p:nvPr/>
        </p:nvSpPr>
        <p:spPr>
          <a:xfrm>
            <a:off x="6797176" y="1357372"/>
            <a:ext cx="2201000" cy="1696900"/>
          </a:xfrm>
          <a:custGeom>
            <a:avLst/>
            <a:gdLst/>
            <a:ahLst/>
            <a:cxnLst/>
            <a:rect l="l" t="t" r="r" b="b"/>
            <a:pathLst>
              <a:path w="2201000" h="1696900" stroke="0">
                <a:moveTo>
                  <a:pt x="0" y="0"/>
                </a:moveTo>
                <a:lnTo>
                  <a:pt x="2201000" y="0"/>
                </a:lnTo>
                <a:lnTo>
                  <a:pt x="2201000" y="1696900"/>
                </a:lnTo>
                <a:lnTo>
                  <a:pt x="0" y="1696900"/>
                </a:lnTo>
                <a:lnTo>
                  <a:pt x="0" y="0"/>
                </a:lnTo>
                <a:close/>
              </a:path>
              <a:path w="2201000" h="1696900" fill="none">
                <a:moveTo>
                  <a:pt x="0" y="0"/>
                </a:moveTo>
                <a:lnTo>
                  <a:pt x="2201000" y="0"/>
                </a:lnTo>
                <a:lnTo>
                  <a:pt x="2201000" y="1696900"/>
                </a:lnTo>
                <a:lnTo>
                  <a:pt x="0" y="16969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1098" name="任意多边形 1097"/>
          <p:cNvSpPr/>
          <p:nvPr/>
        </p:nvSpPr>
        <p:spPr>
          <a:xfrm>
            <a:off x="104290" y="440485"/>
            <a:ext cx="1242500" cy="213000"/>
          </a:xfrm>
          <a:custGeom>
            <a:avLst/>
            <a:gdLst>
              <a:gd name="connsiteX0" fmla="*/ 0 w 1242500"/>
              <a:gd name="connsiteY0" fmla="*/ 106500 h 213000"/>
              <a:gd name="connsiteX1" fmla="*/ 621250 w 1242500"/>
              <a:gd name="connsiteY1" fmla="*/ 0 h 213000"/>
              <a:gd name="connsiteX2" fmla="*/ 1242500 w 1242500"/>
              <a:gd name="connsiteY2" fmla="*/ 106500 h 213000"/>
              <a:gd name="connsiteX3" fmla="*/ 621250 w 1242500"/>
              <a:gd name="connsiteY3" fmla="*/ 213000 h 213000"/>
              <a:gd name="rtl" fmla="*/ 6770986 w 1242500"/>
              <a:gd name="rtt" fmla="*/ 916887 h 213000"/>
              <a:gd name="rtr" fmla="*/ 8013486 w 1242500"/>
              <a:gd name="rtb" fmla="*/ 1129887 h 21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0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识别保守功能位点与禁区</a:t>
            </a:r>
            <a:endParaRPr lang="zh-CN" altLang="en-US" sz="800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9" name="任意多边形 1098"/>
          <p:cNvSpPr/>
          <p:nvPr/>
        </p:nvSpPr>
        <p:spPr>
          <a:xfrm>
            <a:off x="6903648" y="1740772"/>
            <a:ext cx="284000" cy="213000"/>
          </a:xfrm>
          <a:custGeom>
            <a:avLst/>
            <a:gdLst/>
            <a:ahLst/>
            <a:cxnLst/>
            <a:rect l="l" t="t" r="r" b="b"/>
            <a:pathLst>
              <a:path w="284000" h="2130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255600" y="0"/>
                </a:lnTo>
                <a:cubicBezTo>
                  <a:pt x="271285" y="0"/>
                  <a:pt x="284000" y="12715"/>
                  <a:pt x="284000" y="28400"/>
                </a:cubicBezTo>
                <a:lnTo>
                  <a:pt x="284000" y="184600"/>
                </a:lnTo>
                <a:cubicBezTo>
                  <a:pt x="284000" y="200285"/>
                  <a:pt x="271285" y="213000"/>
                  <a:pt x="255600" y="213000"/>
                </a:cubicBezTo>
                <a:lnTo>
                  <a:pt x="28400" y="213000"/>
                </a:lnTo>
                <a:cubicBezTo>
                  <a:pt x="12715" y="213000"/>
                  <a:pt x="0" y="200285"/>
                  <a:pt x="0" y="184600"/>
                </a:cubicBezTo>
                <a:lnTo>
                  <a:pt x="0" y="28400"/>
                </a:lnTo>
                <a:close/>
              </a:path>
              <a:path w="284000" h="2130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255600" y="0"/>
                </a:lnTo>
                <a:cubicBezTo>
                  <a:pt x="271285" y="0"/>
                  <a:pt x="284000" y="12715"/>
                  <a:pt x="284000" y="28400"/>
                </a:cubicBezTo>
                <a:lnTo>
                  <a:pt x="284000" y="184600"/>
                </a:lnTo>
                <a:cubicBezTo>
                  <a:pt x="284000" y="200285"/>
                  <a:pt x="271285" y="213000"/>
                  <a:pt x="255600" y="213000"/>
                </a:cubicBezTo>
                <a:lnTo>
                  <a:pt x="28400" y="213000"/>
                </a:lnTo>
                <a:cubicBezTo>
                  <a:pt x="12715" y="213000"/>
                  <a:pt x="0" y="200285"/>
                  <a:pt x="0" y="184600"/>
                </a:cubicBezTo>
                <a:lnTo>
                  <a:pt x="0" y="28400"/>
                </a:lnTo>
                <a:close/>
              </a:path>
            </a:pathLst>
          </a:custGeom>
          <a:solidFill>
            <a:srgbClr val="E2E8F0"/>
          </a:solidFill>
          <a:ln w="7100" cap="flat">
            <a:noFill/>
            <a:miter/>
          </a:ln>
        </p:spPr>
      </p:sp>
      <p:sp>
        <p:nvSpPr>
          <p:cNvPr id="1100" name="任意多边形 1099"/>
          <p:cNvSpPr/>
          <p:nvPr/>
        </p:nvSpPr>
        <p:spPr>
          <a:xfrm>
            <a:off x="104290" y="440485"/>
            <a:ext cx="134900" cy="177500"/>
          </a:xfrm>
          <a:custGeom>
            <a:avLst/>
            <a:gdLst>
              <a:gd name="connsiteX0" fmla="*/ 0 w 134900"/>
              <a:gd name="connsiteY0" fmla="*/ 88750 h 177500"/>
              <a:gd name="connsiteX1" fmla="*/ 67450 w 134900"/>
              <a:gd name="connsiteY1" fmla="*/ 0 h 177500"/>
              <a:gd name="connsiteX2" fmla="*/ 134900 w 134900"/>
              <a:gd name="connsiteY2" fmla="*/ 88750 h 177500"/>
              <a:gd name="connsiteX3" fmla="*/ 67450 w 134900"/>
              <a:gd name="connsiteY3" fmla="*/ 177500 h 177500"/>
              <a:gd name="rtl" fmla="*/ 6877458 w 134900"/>
              <a:gd name="rtt" fmla="*/ 1293187 h 177500"/>
              <a:gd name="rtr" fmla="*/ 7012358 w 134900"/>
              <a:gd name="rtb" fmla="*/ 14706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F172A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lang="zh-CN" altLang="en-US" sz="69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1" name="任意多边形 1100"/>
          <p:cNvSpPr/>
          <p:nvPr/>
        </p:nvSpPr>
        <p:spPr>
          <a:xfrm>
            <a:off x="7223176" y="1740772"/>
            <a:ext cx="284000" cy="213000"/>
          </a:xfrm>
          <a:custGeom>
            <a:avLst/>
            <a:gdLst/>
            <a:ahLst/>
            <a:cxnLst/>
            <a:rect l="l" t="t" r="r" b="b"/>
            <a:pathLst>
              <a:path w="284000" h="2130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255600" y="0"/>
                </a:lnTo>
                <a:cubicBezTo>
                  <a:pt x="271285" y="0"/>
                  <a:pt x="284000" y="12715"/>
                  <a:pt x="284000" y="28400"/>
                </a:cubicBezTo>
                <a:lnTo>
                  <a:pt x="284000" y="184600"/>
                </a:lnTo>
                <a:cubicBezTo>
                  <a:pt x="284000" y="200285"/>
                  <a:pt x="271285" y="213000"/>
                  <a:pt x="255600" y="213000"/>
                </a:cubicBezTo>
                <a:lnTo>
                  <a:pt x="28400" y="213000"/>
                </a:lnTo>
                <a:cubicBezTo>
                  <a:pt x="12715" y="213000"/>
                  <a:pt x="0" y="200285"/>
                  <a:pt x="0" y="184600"/>
                </a:cubicBezTo>
                <a:lnTo>
                  <a:pt x="0" y="28400"/>
                </a:lnTo>
                <a:close/>
              </a:path>
              <a:path w="284000" h="2130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255600" y="0"/>
                </a:lnTo>
                <a:cubicBezTo>
                  <a:pt x="271285" y="0"/>
                  <a:pt x="284000" y="12715"/>
                  <a:pt x="284000" y="28400"/>
                </a:cubicBezTo>
                <a:lnTo>
                  <a:pt x="284000" y="184600"/>
                </a:lnTo>
                <a:cubicBezTo>
                  <a:pt x="284000" y="200285"/>
                  <a:pt x="271285" y="213000"/>
                  <a:pt x="255600" y="213000"/>
                </a:cubicBezTo>
                <a:lnTo>
                  <a:pt x="28400" y="213000"/>
                </a:lnTo>
                <a:cubicBezTo>
                  <a:pt x="12715" y="213000"/>
                  <a:pt x="0" y="200285"/>
                  <a:pt x="0" y="184600"/>
                </a:cubicBezTo>
                <a:lnTo>
                  <a:pt x="0" y="2840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1102" name="任意多边形 1101"/>
          <p:cNvSpPr/>
          <p:nvPr/>
        </p:nvSpPr>
        <p:spPr>
          <a:xfrm>
            <a:off x="104290" y="440485"/>
            <a:ext cx="134900" cy="191700"/>
          </a:xfrm>
          <a:custGeom>
            <a:avLst/>
            <a:gdLst>
              <a:gd name="connsiteX0" fmla="*/ 0 w 134900"/>
              <a:gd name="connsiteY0" fmla="*/ 95850 h 191700"/>
              <a:gd name="connsiteX1" fmla="*/ 67450 w 134900"/>
              <a:gd name="connsiteY1" fmla="*/ 0 h 191700"/>
              <a:gd name="connsiteX2" fmla="*/ 134900 w 134900"/>
              <a:gd name="connsiteY2" fmla="*/ 95850 h 191700"/>
              <a:gd name="connsiteX3" fmla="*/ 67450 w 134900"/>
              <a:gd name="connsiteY3" fmla="*/ 191700 h 191700"/>
              <a:gd name="rtl" fmla="*/ 7196986 w 134900"/>
              <a:gd name="rtt" fmla="*/ 1286087 h 191700"/>
              <a:gd name="rtr" fmla="*/ 7331886 w 134900"/>
              <a:gd name="rtb" fmla="*/ 14777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FFFF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lang="zh-CN" altLang="en-US" sz="74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3" name="任意多边形 1102"/>
          <p:cNvSpPr/>
          <p:nvPr/>
        </p:nvSpPr>
        <p:spPr>
          <a:xfrm>
            <a:off x="7542676" y="1740772"/>
            <a:ext cx="284000" cy="213000"/>
          </a:xfrm>
          <a:custGeom>
            <a:avLst/>
            <a:gdLst/>
            <a:ahLst/>
            <a:cxnLst/>
            <a:rect l="l" t="t" r="r" b="b"/>
            <a:pathLst>
              <a:path w="284000" h="2130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255600" y="0"/>
                </a:lnTo>
                <a:cubicBezTo>
                  <a:pt x="271285" y="0"/>
                  <a:pt x="284000" y="12715"/>
                  <a:pt x="284000" y="28400"/>
                </a:cubicBezTo>
                <a:lnTo>
                  <a:pt x="284000" y="184600"/>
                </a:lnTo>
                <a:cubicBezTo>
                  <a:pt x="284000" y="200285"/>
                  <a:pt x="271285" y="213000"/>
                  <a:pt x="255600" y="213000"/>
                </a:cubicBezTo>
                <a:lnTo>
                  <a:pt x="28400" y="213000"/>
                </a:lnTo>
                <a:cubicBezTo>
                  <a:pt x="12715" y="213000"/>
                  <a:pt x="0" y="200285"/>
                  <a:pt x="0" y="184600"/>
                </a:cubicBezTo>
                <a:lnTo>
                  <a:pt x="0" y="28400"/>
                </a:lnTo>
                <a:close/>
              </a:path>
              <a:path w="284000" h="2130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255600" y="0"/>
                </a:lnTo>
                <a:cubicBezTo>
                  <a:pt x="271285" y="0"/>
                  <a:pt x="284000" y="12715"/>
                  <a:pt x="284000" y="28400"/>
                </a:cubicBezTo>
                <a:lnTo>
                  <a:pt x="284000" y="184600"/>
                </a:lnTo>
                <a:cubicBezTo>
                  <a:pt x="284000" y="200285"/>
                  <a:pt x="271285" y="213000"/>
                  <a:pt x="255600" y="213000"/>
                </a:cubicBezTo>
                <a:lnTo>
                  <a:pt x="28400" y="213000"/>
                </a:lnTo>
                <a:cubicBezTo>
                  <a:pt x="12715" y="213000"/>
                  <a:pt x="0" y="200285"/>
                  <a:pt x="0" y="184600"/>
                </a:cubicBezTo>
                <a:lnTo>
                  <a:pt x="0" y="28400"/>
                </a:lnTo>
                <a:close/>
              </a:path>
            </a:pathLst>
          </a:custGeom>
          <a:solidFill>
            <a:srgbClr val="E2E8F0"/>
          </a:solidFill>
          <a:ln w="7100" cap="flat">
            <a:noFill/>
            <a:miter/>
          </a:ln>
        </p:spPr>
      </p:sp>
      <p:sp>
        <p:nvSpPr>
          <p:cNvPr id="1104" name="任意多边形 1103"/>
          <p:cNvSpPr/>
          <p:nvPr/>
        </p:nvSpPr>
        <p:spPr>
          <a:xfrm>
            <a:off x="104290" y="440485"/>
            <a:ext cx="120700" cy="177500"/>
          </a:xfrm>
          <a:custGeom>
            <a:avLst/>
            <a:gdLst>
              <a:gd name="connsiteX0" fmla="*/ 0 w 120700"/>
              <a:gd name="connsiteY0" fmla="*/ 88750 h 177500"/>
              <a:gd name="connsiteX1" fmla="*/ 60350 w 120700"/>
              <a:gd name="connsiteY1" fmla="*/ 0 h 177500"/>
              <a:gd name="connsiteX2" fmla="*/ 120700 w 120700"/>
              <a:gd name="connsiteY2" fmla="*/ 88750 h 177500"/>
              <a:gd name="connsiteX3" fmla="*/ 60350 w 120700"/>
              <a:gd name="connsiteY3" fmla="*/ 177500 h 177500"/>
              <a:gd name="rtl" fmla="*/ 7523586 w 120700"/>
              <a:gd name="rtt" fmla="*/ 1293187 h 177500"/>
              <a:gd name="rtr" fmla="*/ 7644286 w 120700"/>
              <a:gd name="rtb" fmla="*/ 14706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F172A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endParaRPr lang="zh-CN" altLang="en-US" sz="69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5" name="任意多边形 1104"/>
          <p:cNvSpPr/>
          <p:nvPr/>
        </p:nvSpPr>
        <p:spPr>
          <a:xfrm>
            <a:off x="7862176" y="1740772"/>
            <a:ext cx="284000" cy="213000"/>
          </a:xfrm>
          <a:custGeom>
            <a:avLst/>
            <a:gdLst/>
            <a:ahLst/>
            <a:cxnLst/>
            <a:rect l="l" t="t" r="r" b="b"/>
            <a:pathLst>
              <a:path w="284000" h="2130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255600" y="0"/>
                </a:lnTo>
                <a:cubicBezTo>
                  <a:pt x="271285" y="0"/>
                  <a:pt x="284000" y="12715"/>
                  <a:pt x="284000" y="28400"/>
                </a:cubicBezTo>
                <a:lnTo>
                  <a:pt x="284000" y="184600"/>
                </a:lnTo>
                <a:cubicBezTo>
                  <a:pt x="284000" y="200285"/>
                  <a:pt x="271285" y="213000"/>
                  <a:pt x="255600" y="213000"/>
                </a:cubicBezTo>
                <a:lnTo>
                  <a:pt x="28400" y="213000"/>
                </a:lnTo>
                <a:cubicBezTo>
                  <a:pt x="12715" y="213000"/>
                  <a:pt x="0" y="200285"/>
                  <a:pt x="0" y="184600"/>
                </a:cubicBezTo>
                <a:lnTo>
                  <a:pt x="0" y="28400"/>
                </a:lnTo>
                <a:close/>
              </a:path>
              <a:path w="284000" h="2130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255600" y="0"/>
                </a:lnTo>
                <a:cubicBezTo>
                  <a:pt x="271285" y="0"/>
                  <a:pt x="284000" y="12715"/>
                  <a:pt x="284000" y="28400"/>
                </a:cubicBezTo>
                <a:lnTo>
                  <a:pt x="284000" y="184600"/>
                </a:lnTo>
                <a:cubicBezTo>
                  <a:pt x="284000" y="200285"/>
                  <a:pt x="271285" y="213000"/>
                  <a:pt x="255600" y="213000"/>
                </a:cubicBezTo>
                <a:lnTo>
                  <a:pt x="28400" y="213000"/>
                </a:lnTo>
                <a:cubicBezTo>
                  <a:pt x="12715" y="213000"/>
                  <a:pt x="0" y="200285"/>
                  <a:pt x="0" y="184600"/>
                </a:cubicBezTo>
                <a:lnTo>
                  <a:pt x="0" y="28400"/>
                </a:lnTo>
                <a:close/>
              </a:path>
            </a:pathLst>
          </a:custGeom>
          <a:solidFill>
            <a:srgbClr val="FCA5A5"/>
          </a:solidFill>
          <a:ln w="14200" cap="flat">
            <a:solidFill>
              <a:srgbClr val="E11D48"/>
            </a:solidFill>
            <a:miter/>
          </a:ln>
        </p:spPr>
      </p:sp>
      <p:sp>
        <p:nvSpPr>
          <p:cNvPr id="1106" name="任意多边形 1105"/>
          <p:cNvSpPr/>
          <p:nvPr/>
        </p:nvSpPr>
        <p:spPr>
          <a:xfrm>
            <a:off x="104290" y="440485"/>
            <a:ext cx="127800" cy="177500"/>
          </a:xfrm>
          <a:custGeom>
            <a:avLst/>
            <a:gdLst>
              <a:gd name="connsiteX0" fmla="*/ 0 w 127800"/>
              <a:gd name="connsiteY0" fmla="*/ 88750 h 177500"/>
              <a:gd name="connsiteX1" fmla="*/ 63900 w 127800"/>
              <a:gd name="connsiteY1" fmla="*/ 0 h 177500"/>
              <a:gd name="connsiteX2" fmla="*/ 127800 w 127800"/>
              <a:gd name="connsiteY2" fmla="*/ 88750 h 177500"/>
              <a:gd name="connsiteX3" fmla="*/ 63900 w 127800"/>
              <a:gd name="connsiteY3" fmla="*/ 177500 h 177500"/>
              <a:gd name="rtl" fmla="*/ 7835986 w 127800"/>
              <a:gd name="rtt" fmla="*/ 1293187 h 177500"/>
              <a:gd name="rtr" fmla="*/ 7963786 w 127800"/>
              <a:gd name="rtb" fmla="*/ 14706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F172A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endParaRPr lang="zh-CN" altLang="en-US" sz="69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7" name="任意多边形 1106"/>
          <p:cNvSpPr/>
          <p:nvPr/>
        </p:nvSpPr>
        <p:spPr>
          <a:xfrm>
            <a:off x="8181676" y="1740772"/>
            <a:ext cx="284000" cy="213000"/>
          </a:xfrm>
          <a:custGeom>
            <a:avLst/>
            <a:gdLst/>
            <a:ahLst/>
            <a:cxnLst/>
            <a:rect l="l" t="t" r="r" b="b"/>
            <a:pathLst>
              <a:path w="284000" h="2130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255600" y="0"/>
                </a:lnTo>
                <a:cubicBezTo>
                  <a:pt x="271285" y="0"/>
                  <a:pt x="284000" y="12715"/>
                  <a:pt x="284000" y="28400"/>
                </a:cubicBezTo>
                <a:lnTo>
                  <a:pt x="284000" y="184600"/>
                </a:lnTo>
                <a:cubicBezTo>
                  <a:pt x="284000" y="200285"/>
                  <a:pt x="271285" y="213000"/>
                  <a:pt x="255600" y="213000"/>
                </a:cubicBezTo>
                <a:lnTo>
                  <a:pt x="28400" y="213000"/>
                </a:lnTo>
                <a:cubicBezTo>
                  <a:pt x="12715" y="213000"/>
                  <a:pt x="0" y="200285"/>
                  <a:pt x="0" y="184600"/>
                </a:cubicBezTo>
                <a:lnTo>
                  <a:pt x="0" y="28400"/>
                </a:lnTo>
                <a:close/>
              </a:path>
              <a:path w="284000" h="2130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255600" y="0"/>
                </a:lnTo>
                <a:cubicBezTo>
                  <a:pt x="271285" y="0"/>
                  <a:pt x="284000" y="12715"/>
                  <a:pt x="284000" y="28400"/>
                </a:cubicBezTo>
                <a:lnTo>
                  <a:pt x="284000" y="184600"/>
                </a:lnTo>
                <a:cubicBezTo>
                  <a:pt x="284000" y="200285"/>
                  <a:pt x="271285" y="213000"/>
                  <a:pt x="255600" y="213000"/>
                </a:cubicBezTo>
                <a:lnTo>
                  <a:pt x="28400" y="213000"/>
                </a:lnTo>
                <a:cubicBezTo>
                  <a:pt x="12715" y="213000"/>
                  <a:pt x="0" y="200285"/>
                  <a:pt x="0" y="184600"/>
                </a:cubicBezTo>
                <a:lnTo>
                  <a:pt x="0" y="2840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1108" name="任意多边形 1107"/>
          <p:cNvSpPr/>
          <p:nvPr/>
        </p:nvSpPr>
        <p:spPr>
          <a:xfrm>
            <a:off x="104290" y="440485"/>
            <a:ext cx="134900" cy="191700"/>
          </a:xfrm>
          <a:custGeom>
            <a:avLst/>
            <a:gdLst>
              <a:gd name="connsiteX0" fmla="*/ 0 w 134900"/>
              <a:gd name="connsiteY0" fmla="*/ 95850 h 191700"/>
              <a:gd name="connsiteX1" fmla="*/ 67450 w 134900"/>
              <a:gd name="connsiteY1" fmla="*/ 0 h 191700"/>
              <a:gd name="connsiteX2" fmla="*/ 134900 w 134900"/>
              <a:gd name="connsiteY2" fmla="*/ 95850 h 191700"/>
              <a:gd name="connsiteX3" fmla="*/ 67450 w 134900"/>
              <a:gd name="connsiteY3" fmla="*/ 191700 h 191700"/>
              <a:gd name="rtl" fmla="*/ 8155486 w 134900"/>
              <a:gd name="rtt" fmla="*/ 1286087 h 191700"/>
              <a:gd name="rtr" fmla="*/ 8290386 w 134900"/>
              <a:gd name="rtb" fmla="*/ 14777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FFFF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</a:t>
            </a:r>
            <a:endParaRPr lang="zh-CN" altLang="en-US" sz="74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9" name="任意多边形 1108"/>
          <p:cNvSpPr/>
          <p:nvPr/>
        </p:nvSpPr>
        <p:spPr>
          <a:xfrm>
            <a:off x="8501176" y="1740772"/>
            <a:ext cx="284000" cy="213000"/>
          </a:xfrm>
          <a:custGeom>
            <a:avLst/>
            <a:gdLst/>
            <a:ahLst/>
            <a:cxnLst/>
            <a:rect l="l" t="t" r="r" b="b"/>
            <a:pathLst>
              <a:path w="284000" h="2130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255600" y="0"/>
                </a:lnTo>
                <a:cubicBezTo>
                  <a:pt x="271285" y="0"/>
                  <a:pt x="284000" y="12715"/>
                  <a:pt x="284000" y="28400"/>
                </a:cubicBezTo>
                <a:lnTo>
                  <a:pt x="284000" y="184600"/>
                </a:lnTo>
                <a:cubicBezTo>
                  <a:pt x="284000" y="200285"/>
                  <a:pt x="271285" y="213000"/>
                  <a:pt x="255600" y="213000"/>
                </a:cubicBezTo>
                <a:lnTo>
                  <a:pt x="28400" y="213000"/>
                </a:lnTo>
                <a:cubicBezTo>
                  <a:pt x="12715" y="213000"/>
                  <a:pt x="0" y="200285"/>
                  <a:pt x="0" y="184600"/>
                </a:cubicBezTo>
                <a:lnTo>
                  <a:pt x="0" y="28400"/>
                </a:lnTo>
                <a:close/>
              </a:path>
              <a:path w="284000" h="2130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255600" y="0"/>
                </a:lnTo>
                <a:cubicBezTo>
                  <a:pt x="271285" y="0"/>
                  <a:pt x="284000" y="12715"/>
                  <a:pt x="284000" y="28400"/>
                </a:cubicBezTo>
                <a:lnTo>
                  <a:pt x="284000" y="184600"/>
                </a:lnTo>
                <a:cubicBezTo>
                  <a:pt x="284000" y="200285"/>
                  <a:pt x="271285" y="213000"/>
                  <a:pt x="255600" y="213000"/>
                </a:cubicBezTo>
                <a:lnTo>
                  <a:pt x="28400" y="213000"/>
                </a:lnTo>
                <a:cubicBezTo>
                  <a:pt x="12715" y="213000"/>
                  <a:pt x="0" y="200285"/>
                  <a:pt x="0" y="184600"/>
                </a:cubicBezTo>
                <a:lnTo>
                  <a:pt x="0" y="28400"/>
                </a:lnTo>
                <a:close/>
              </a:path>
            </a:pathLst>
          </a:custGeom>
          <a:solidFill>
            <a:srgbClr val="E2E8F0"/>
          </a:solidFill>
          <a:ln w="7100" cap="flat">
            <a:noFill/>
            <a:miter/>
          </a:ln>
        </p:spPr>
      </p:sp>
      <p:sp>
        <p:nvSpPr>
          <p:cNvPr id="1110" name="任意多边形 1109"/>
          <p:cNvSpPr/>
          <p:nvPr/>
        </p:nvSpPr>
        <p:spPr>
          <a:xfrm>
            <a:off x="104290" y="440485"/>
            <a:ext cx="134900" cy="177500"/>
          </a:xfrm>
          <a:custGeom>
            <a:avLst/>
            <a:gdLst>
              <a:gd name="connsiteX0" fmla="*/ 0 w 134900"/>
              <a:gd name="connsiteY0" fmla="*/ 88750 h 177500"/>
              <a:gd name="connsiteX1" fmla="*/ 67450 w 134900"/>
              <a:gd name="connsiteY1" fmla="*/ 0 h 177500"/>
              <a:gd name="connsiteX2" fmla="*/ 134900 w 134900"/>
              <a:gd name="connsiteY2" fmla="*/ 88750 h 177500"/>
              <a:gd name="connsiteX3" fmla="*/ 67450 w 134900"/>
              <a:gd name="connsiteY3" fmla="*/ 177500 h 177500"/>
              <a:gd name="rtl" fmla="*/ 8474986 w 134900"/>
              <a:gd name="rtt" fmla="*/ 1293187 h 177500"/>
              <a:gd name="rtr" fmla="*/ 8609886 w 134900"/>
              <a:gd name="rtb" fmla="*/ 14706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F172A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</a:t>
            </a:r>
            <a:endParaRPr lang="zh-CN" altLang="en-US" sz="69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1" name="任意多边形 1110"/>
          <p:cNvSpPr/>
          <p:nvPr/>
        </p:nvSpPr>
        <p:spPr>
          <a:xfrm>
            <a:off x="104290" y="440485"/>
            <a:ext cx="326600" cy="177500"/>
          </a:xfrm>
          <a:custGeom>
            <a:avLst/>
            <a:gdLst>
              <a:gd name="connsiteX0" fmla="*/ 0 w 326600"/>
              <a:gd name="connsiteY0" fmla="*/ 88750 h 177500"/>
              <a:gd name="connsiteX1" fmla="*/ 163300 w 326600"/>
              <a:gd name="connsiteY1" fmla="*/ 0 h 177500"/>
              <a:gd name="connsiteX2" fmla="*/ 326600 w 326600"/>
              <a:gd name="connsiteY2" fmla="*/ 88750 h 177500"/>
              <a:gd name="connsiteX3" fmla="*/ 163300 w 326600"/>
              <a:gd name="connsiteY3" fmla="*/ 177500 h 177500"/>
              <a:gd name="rtl" fmla="*/ 6778058 w 326600"/>
              <a:gd name="rtt" fmla="*/ 1087287 h 177500"/>
              <a:gd name="rtr" fmla="*/ 7104658 w 326600"/>
              <a:gd name="rtb" fmla="*/ 12647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保守区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2" name="任意多边形 1111"/>
          <p:cNvSpPr/>
          <p:nvPr/>
        </p:nvSpPr>
        <p:spPr>
          <a:xfrm>
            <a:off x="104290" y="440485"/>
            <a:ext cx="241400" cy="177500"/>
          </a:xfrm>
          <a:custGeom>
            <a:avLst/>
            <a:gdLst>
              <a:gd name="connsiteX0" fmla="*/ 0 w 241400"/>
              <a:gd name="connsiteY0" fmla="*/ 88750 h 177500"/>
              <a:gd name="connsiteX1" fmla="*/ 120700 w 241400"/>
              <a:gd name="connsiteY1" fmla="*/ 0 h 177500"/>
              <a:gd name="connsiteX2" fmla="*/ 241400 w 241400"/>
              <a:gd name="connsiteY2" fmla="*/ 88750 h 177500"/>
              <a:gd name="connsiteX3" fmla="*/ 120700 w 241400"/>
              <a:gd name="connsiteY3" fmla="*/ 177500 h 177500"/>
              <a:gd name="rtl" fmla="*/ 8098686 w 241400"/>
              <a:gd name="rtt" fmla="*/ 1087287 h 177500"/>
              <a:gd name="rtr" fmla="*/ 8340086 w 241400"/>
              <a:gd name="rtb" fmla="*/ 12647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禁区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3" name="任意多边形 1112"/>
          <p:cNvSpPr/>
          <p:nvPr/>
        </p:nvSpPr>
        <p:spPr>
          <a:xfrm>
            <a:off x="8004176" y="1989272"/>
            <a:ext cx="7100" cy="177500"/>
          </a:xfrm>
          <a:custGeom>
            <a:avLst/>
            <a:gdLst/>
            <a:ahLst/>
            <a:cxnLst/>
            <a:rect l="l" t="t" r="r" b="b"/>
            <a:pathLst>
              <a:path w="7100" h="177500" fill="none">
                <a:moveTo>
                  <a:pt x="0" y="0"/>
                </a:moveTo>
                <a:lnTo>
                  <a:pt x="0" y="177500"/>
                </a:lnTo>
              </a:path>
            </a:pathLst>
          </a:custGeom>
          <a:noFill/>
          <a:ln w="17750" cap="flat">
            <a:solidFill>
              <a:srgbClr val="94A3B8"/>
            </a:solidFill>
            <a:miter/>
          </a:ln>
        </p:spPr>
      </p:sp>
      <p:sp>
        <p:nvSpPr>
          <p:cNvPr id="1114" name="任意多边形 1113"/>
          <p:cNvSpPr/>
          <p:nvPr/>
        </p:nvSpPr>
        <p:spPr>
          <a:xfrm rot="5400000">
            <a:off x="7956735" y="2071895"/>
            <a:ext cx="94882" cy="94882"/>
          </a:xfrm>
          <a:custGeom>
            <a:avLst/>
            <a:gdLst/>
            <a:ahLst/>
            <a:cxnLst/>
            <a:rect l="l" t="t" r="r" b="b"/>
            <a:pathLst>
              <a:path w="94882" h="94882" stroke="0">
                <a:moveTo>
                  <a:pt x="0" y="0"/>
                </a:moveTo>
                <a:lnTo>
                  <a:pt x="94882" y="47441"/>
                </a:lnTo>
                <a:lnTo>
                  <a:pt x="0" y="94882"/>
                </a:lnTo>
                <a:lnTo>
                  <a:pt x="0" y="0"/>
                </a:lnTo>
                <a:close/>
              </a:path>
              <a:path w="94882" h="94882" fill="none">
                <a:moveTo>
                  <a:pt x="0" y="0"/>
                </a:moveTo>
                <a:lnTo>
                  <a:pt x="94882" y="47441"/>
                </a:lnTo>
                <a:lnTo>
                  <a:pt x="0" y="94882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1116" name="任意多边形 1115"/>
          <p:cNvSpPr/>
          <p:nvPr/>
        </p:nvSpPr>
        <p:spPr>
          <a:xfrm>
            <a:off x="7968676" y="2131272"/>
            <a:ext cx="71000" cy="71000"/>
          </a:xfrm>
          <a:custGeom>
            <a:avLst/>
            <a:gdLst/>
            <a:ahLst/>
            <a:cxnLst/>
            <a:rect l="l" t="t" r="r" b="b"/>
            <a:pathLst>
              <a:path w="71000" h="71000" stroke="0">
                <a:moveTo>
                  <a:pt x="35500" y="71000"/>
                </a:moveTo>
                <a:lnTo>
                  <a:pt x="0" y="0"/>
                </a:lnTo>
                <a:lnTo>
                  <a:pt x="71000" y="0"/>
                </a:lnTo>
                <a:lnTo>
                  <a:pt x="35500" y="71000"/>
                </a:lnTo>
                <a:close/>
              </a:path>
              <a:path w="71000" h="71000" fill="none">
                <a:moveTo>
                  <a:pt x="35500" y="71000"/>
                </a:moveTo>
                <a:lnTo>
                  <a:pt x="0" y="0"/>
                </a:lnTo>
                <a:lnTo>
                  <a:pt x="71000" y="0"/>
                </a:lnTo>
                <a:lnTo>
                  <a:pt x="35500" y="71000"/>
                </a:lnTo>
                <a:close/>
              </a:path>
            </a:pathLst>
          </a:custGeom>
          <a:solidFill>
            <a:srgbClr val="E11D48"/>
          </a:solidFill>
          <a:ln w="7100" cap="flat">
            <a:noFill/>
            <a:miter/>
          </a:ln>
        </p:spPr>
      </p:sp>
      <p:sp>
        <p:nvSpPr>
          <p:cNvPr id="1117" name="任意多边形 1116"/>
          <p:cNvSpPr/>
          <p:nvPr/>
        </p:nvSpPr>
        <p:spPr>
          <a:xfrm>
            <a:off x="7862176" y="2237772"/>
            <a:ext cx="284000" cy="213000"/>
          </a:xfrm>
          <a:custGeom>
            <a:avLst/>
            <a:gdLst/>
            <a:ahLst/>
            <a:cxnLst/>
            <a:rect l="l" t="t" r="r" b="b"/>
            <a:pathLst>
              <a:path w="284000" h="213000" stroke="0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255600" y="0"/>
                </a:lnTo>
                <a:cubicBezTo>
                  <a:pt x="271285" y="0"/>
                  <a:pt x="284000" y="12715"/>
                  <a:pt x="284000" y="28400"/>
                </a:cubicBezTo>
                <a:lnTo>
                  <a:pt x="284000" y="184600"/>
                </a:lnTo>
                <a:cubicBezTo>
                  <a:pt x="284000" y="200285"/>
                  <a:pt x="271285" y="213000"/>
                  <a:pt x="255600" y="213000"/>
                </a:cubicBezTo>
                <a:lnTo>
                  <a:pt x="28400" y="213000"/>
                </a:lnTo>
                <a:cubicBezTo>
                  <a:pt x="12715" y="213000"/>
                  <a:pt x="0" y="200285"/>
                  <a:pt x="0" y="184600"/>
                </a:cubicBezTo>
                <a:lnTo>
                  <a:pt x="0" y="28400"/>
                </a:lnTo>
                <a:close/>
              </a:path>
              <a:path w="284000" h="213000" fill="none">
                <a:moveTo>
                  <a:pt x="0" y="28400"/>
                </a:moveTo>
                <a:cubicBezTo>
                  <a:pt x="0" y="12715"/>
                  <a:pt x="12715" y="0"/>
                  <a:pt x="28400" y="0"/>
                </a:cubicBezTo>
                <a:lnTo>
                  <a:pt x="255600" y="0"/>
                </a:lnTo>
                <a:cubicBezTo>
                  <a:pt x="271285" y="0"/>
                  <a:pt x="284000" y="12715"/>
                  <a:pt x="284000" y="28400"/>
                </a:cubicBezTo>
                <a:lnTo>
                  <a:pt x="284000" y="184600"/>
                </a:lnTo>
                <a:cubicBezTo>
                  <a:pt x="284000" y="200285"/>
                  <a:pt x="271285" y="213000"/>
                  <a:pt x="255600" y="213000"/>
                </a:cubicBezTo>
                <a:lnTo>
                  <a:pt x="28400" y="213000"/>
                </a:lnTo>
                <a:cubicBezTo>
                  <a:pt x="12715" y="213000"/>
                  <a:pt x="0" y="200285"/>
                  <a:pt x="0" y="184600"/>
                </a:cubicBezTo>
                <a:lnTo>
                  <a:pt x="0" y="28400"/>
                </a:lnTo>
                <a:close/>
              </a:path>
            </a:pathLst>
          </a:custGeom>
          <a:solidFill>
            <a:srgbClr val="22C55E"/>
          </a:solidFill>
          <a:ln w="14200" cap="flat">
            <a:solidFill>
              <a:srgbClr val="16A34A"/>
            </a:solidFill>
            <a:miter/>
          </a:ln>
        </p:spPr>
      </p:sp>
      <p:sp>
        <p:nvSpPr>
          <p:cNvPr id="1118" name="任意多边形 1117"/>
          <p:cNvSpPr/>
          <p:nvPr/>
        </p:nvSpPr>
        <p:spPr>
          <a:xfrm>
            <a:off x="104290" y="440485"/>
            <a:ext cx="127800" cy="177500"/>
          </a:xfrm>
          <a:custGeom>
            <a:avLst/>
            <a:gdLst>
              <a:gd name="connsiteX0" fmla="*/ 0 w 127800"/>
              <a:gd name="connsiteY0" fmla="*/ 88750 h 177500"/>
              <a:gd name="connsiteX1" fmla="*/ 63900 w 127800"/>
              <a:gd name="connsiteY1" fmla="*/ 0 h 177500"/>
              <a:gd name="connsiteX2" fmla="*/ 127800 w 127800"/>
              <a:gd name="connsiteY2" fmla="*/ 88750 h 177500"/>
              <a:gd name="connsiteX3" fmla="*/ 63900 w 127800"/>
              <a:gd name="connsiteY3" fmla="*/ 177500 h 177500"/>
              <a:gd name="rtl" fmla="*/ 7835986 w 127800"/>
              <a:gd name="rtt" fmla="*/ 1790187 h 177500"/>
              <a:gd name="rtr" fmla="*/ 7963786 w 127800"/>
              <a:gd name="rtb" fmla="*/ 19676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F172A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</a:t>
            </a:r>
            <a:endParaRPr lang="zh-CN" altLang="en-US" sz="69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9" name="任意多边形 1118"/>
          <p:cNvSpPr/>
          <p:nvPr/>
        </p:nvSpPr>
        <p:spPr>
          <a:xfrm>
            <a:off x="8217176" y="2273272"/>
            <a:ext cx="639000" cy="142000"/>
          </a:xfrm>
          <a:custGeom>
            <a:avLst/>
            <a:gdLst/>
            <a:ahLst/>
            <a:cxnLst/>
            <a:rect l="l" t="t" r="r" b="b"/>
            <a:pathLst>
              <a:path w="639000" h="142000" stroke="0">
                <a:moveTo>
                  <a:pt x="0" y="71000"/>
                </a:moveTo>
                <a:cubicBezTo>
                  <a:pt x="0" y="31788"/>
                  <a:pt x="31788" y="0"/>
                  <a:pt x="71000" y="0"/>
                </a:cubicBezTo>
                <a:lnTo>
                  <a:pt x="568000" y="0"/>
                </a:lnTo>
                <a:cubicBezTo>
                  <a:pt x="607212" y="0"/>
                  <a:pt x="639000" y="31788"/>
                  <a:pt x="639000" y="71000"/>
                </a:cubicBezTo>
                <a:cubicBezTo>
                  <a:pt x="639000" y="110212"/>
                  <a:pt x="607212" y="142000"/>
                  <a:pt x="568000" y="142000"/>
                </a:cubicBezTo>
                <a:lnTo>
                  <a:pt x="71000" y="142000"/>
                </a:lnTo>
                <a:cubicBezTo>
                  <a:pt x="31788" y="142000"/>
                  <a:pt x="0" y="110212"/>
                  <a:pt x="0" y="71000"/>
                </a:cubicBezTo>
                <a:close/>
              </a:path>
              <a:path w="639000" h="142000" fill="none">
                <a:moveTo>
                  <a:pt x="0" y="71000"/>
                </a:moveTo>
                <a:cubicBezTo>
                  <a:pt x="0" y="31788"/>
                  <a:pt x="31788" y="0"/>
                  <a:pt x="71000" y="0"/>
                </a:cubicBezTo>
                <a:lnTo>
                  <a:pt x="568000" y="0"/>
                </a:lnTo>
                <a:cubicBezTo>
                  <a:pt x="607212" y="0"/>
                  <a:pt x="639000" y="31788"/>
                  <a:pt x="639000" y="71000"/>
                </a:cubicBezTo>
                <a:cubicBezTo>
                  <a:pt x="639000" y="110212"/>
                  <a:pt x="607212" y="142000"/>
                  <a:pt x="568000" y="142000"/>
                </a:cubicBezTo>
                <a:lnTo>
                  <a:pt x="71000" y="142000"/>
                </a:lnTo>
                <a:cubicBezTo>
                  <a:pt x="31788" y="142000"/>
                  <a:pt x="0" y="110212"/>
                  <a:pt x="0" y="71000"/>
                </a:cubicBezTo>
                <a:close/>
              </a:path>
            </a:pathLst>
          </a:custGeom>
          <a:solidFill>
            <a:srgbClr val="FEF2F2"/>
          </a:solidFill>
          <a:ln w="7100" cap="flat">
            <a:solidFill>
              <a:srgbClr val="FCA5A5"/>
            </a:solidFill>
            <a:miter/>
          </a:ln>
        </p:spPr>
      </p:sp>
      <p:sp>
        <p:nvSpPr>
          <p:cNvPr id="1120" name="任意多边形 1119"/>
          <p:cNvSpPr/>
          <p:nvPr/>
        </p:nvSpPr>
        <p:spPr>
          <a:xfrm>
            <a:off x="104290" y="440485"/>
            <a:ext cx="582200" cy="155735"/>
          </a:xfrm>
          <a:custGeom>
            <a:avLst/>
            <a:gdLst>
              <a:gd name="connsiteX0" fmla="*/ 0 w 582200"/>
              <a:gd name="connsiteY0" fmla="*/ 77867 h 155735"/>
              <a:gd name="connsiteX1" fmla="*/ 291100 w 582200"/>
              <a:gd name="connsiteY1" fmla="*/ 0 h 155735"/>
              <a:gd name="connsiteX2" fmla="*/ 582200 w 582200"/>
              <a:gd name="connsiteY2" fmla="*/ 77867 h 155735"/>
              <a:gd name="connsiteX3" fmla="*/ 291100 w 582200"/>
              <a:gd name="connsiteY3" fmla="*/ 155735 h 155735"/>
              <a:gd name="rtl" fmla="*/ 8141286 w 582200"/>
              <a:gd name="rtt" fmla="*/ 1811953 h 155735"/>
              <a:gd name="rtr" fmla="*/ 8723486 w 582200"/>
              <a:gd name="rtb" fmla="*/ 1989454 h 155735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高置信度替换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2" name="任意多边形 1121"/>
          <p:cNvSpPr/>
          <p:nvPr/>
        </p:nvSpPr>
        <p:spPr>
          <a:xfrm>
            <a:off x="104290" y="440485"/>
            <a:ext cx="1554900" cy="191700"/>
          </a:xfrm>
          <a:custGeom>
            <a:avLst/>
            <a:gdLst>
              <a:gd name="connsiteX0" fmla="*/ 0 w 1554900"/>
              <a:gd name="connsiteY0" fmla="*/ 95850 h 191700"/>
              <a:gd name="connsiteX1" fmla="*/ 777450 w 1554900"/>
              <a:gd name="connsiteY1" fmla="*/ 0 h 191700"/>
              <a:gd name="connsiteX2" fmla="*/ 1554900 w 1554900"/>
              <a:gd name="connsiteY2" fmla="*/ 95850 h 191700"/>
              <a:gd name="connsiteX3" fmla="*/ 777450 w 1554900"/>
              <a:gd name="connsiteY3" fmla="*/ 191700 h 191700"/>
              <a:gd name="rtl" fmla="*/ 7008836 w 1554900"/>
              <a:gd name="rtt" fmla="*/ 1996087 h 191700"/>
              <a:gd name="rtr" fmla="*/ 8585036 w 1554900"/>
              <a:gd name="rtb" fmla="*/ 21877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F172A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每次驱动 1-3 个位点精确氨基酸替换</a:t>
            </a:r>
            <a:endParaRPr lang="zh-CN" altLang="en-US" sz="69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3" name="任意多边形 1122"/>
          <p:cNvSpPr/>
          <p:nvPr/>
        </p:nvSpPr>
        <p:spPr>
          <a:xfrm>
            <a:off x="6903676" y="2699272"/>
            <a:ext cx="2037700" cy="255600"/>
          </a:xfrm>
          <a:custGeom>
            <a:avLst/>
            <a:gdLst/>
            <a:ahLst/>
            <a:cxnLst/>
            <a:rect l="l" t="t" r="r" b="b"/>
            <a:pathLst>
              <a:path w="2037700" h="255600" stroke="0">
                <a:moveTo>
                  <a:pt x="0" y="42600"/>
                </a:moveTo>
                <a:cubicBezTo>
                  <a:pt x="0" y="19073"/>
                  <a:pt x="19549" y="0"/>
                  <a:pt x="43665" y="0"/>
                </a:cubicBezTo>
                <a:lnTo>
                  <a:pt x="1994035" y="0"/>
                </a:lnTo>
                <a:cubicBezTo>
                  <a:pt x="2018154" y="0"/>
                  <a:pt x="2037700" y="19073"/>
                  <a:pt x="2037700" y="42600"/>
                </a:cubicBezTo>
                <a:lnTo>
                  <a:pt x="2037700" y="213000"/>
                </a:lnTo>
                <a:cubicBezTo>
                  <a:pt x="2037700" y="236527"/>
                  <a:pt x="2018154" y="255600"/>
                  <a:pt x="1994035" y="255600"/>
                </a:cubicBezTo>
                <a:lnTo>
                  <a:pt x="43665" y="255600"/>
                </a:lnTo>
                <a:cubicBezTo>
                  <a:pt x="19549" y="255600"/>
                  <a:pt x="0" y="236527"/>
                  <a:pt x="0" y="213000"/>
                </a:cubicBezTo>
                <a:lnTo>
                  <a:pt x="0" y="42600"/>
                </a:lnTo>
                <a:close/>
              </a:path>
              <a:path w="2037700" h="255600" fill="none">
                <a:moveTo>
                  <a:pt x="0" y="42600"/>
                </a:moveTo>
                <a:cubicBezTo>
                  <a:pt x="0" y="19073"/>
                  <a:pt x="19549" y="0"/>
                  <a:pt x="43665" y="0"/>
                </a:cubicBezTo>
                <a:lnTo>
                  <a:pt x="1994035" y="0"/>
                </a:lnTo>
                <a:cubicBezTo>
                  <a:pt x="2018154" y="0"/>
                  <a:pt x="2037700" y="19073"/>
                  <a:pt x="2037700" y="42600"/>
                </a:cubicBezTo>
                <a:lnTo>
                  <a:pt x="2037700" y="213000"/>
                </a:lnTo>
                <a:cubicBezTo>
                  <a:pt x="2037700" y="236527"/>
                  <a:pt x="2018154" y="255600"/>
                  <a:pt x="1994035" y="255600"/>
                </a:cubicBezTo>
                <a:lnTo>
                  <a:pt x="43665" y="255600"/>
                </a:lnTo>
                <a:cubicBezTo>
                  <a:pt x="19549" y="255600"/>
                  <a:pt x="0" y="236527"/>
                  <a:pt x="0" y="213000"/>
                </a:cubicBezTo>
                <a:lnTo>
                  <a:pt x="0" y="42600"/>
                </a:ln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1124" name="任意多边形 1123"/>
          <p:cNvSpPr/>
          <p:nvPr/>
        </p:nvSpPr>
        <p:spPr>
          <a:xfrm>
            <a:off x="6974648" y="2756072"/>
            <a:ext cx="113600" cy="142000"/>
          </a:xfrm>
          <a:custGeom>
            <a:avLst/>
            <a:gdLst/>
            <a:ahLst/>
            <a:cxnLst/>
            <a:rect l="l" t="t" r="r" b="b"/>
            <a:pathLst>
              <a:path w="113600" h="142000" stroke="0">
                <a:moveTo>
                  <a:pt x="0" y="14200"/>
                </a:moveTo>
                <a:cubicBezTo>
                  <a:pt x="0" y="6358"/>
                  <a:pt x="6358" y="0"/>
                  <a:pt x="14200" y="0"/>
                </a:cubicBezTo>
                <a:lnTo>
                  <a:pt x="99400" y="0"/>
                </a:lnTo>
                <a:cubicBezTo>
                  <a:pt x="107243" y="0"/>
                  <a:pt x="113600" y="6358"/>
                  <a:pt x="113600" y="14200"/>
                </a:cubicBezTo>
                <a:lnTo>
                  <a:pt x="113600" y="127800"/>
                </a:lnTo>
                <a:cubicBezTo>
                  <a:pt x="113600" y="135643"/>
                  <a:pt x="107243" y="142000"/>
                  <a:pt x="99400" y="142000"/>
                </a:cubicBezTo>
                <a:lnTo>
                  <a:pt x="14200" y="142000"/>
                </a:lnTo>
                <a:cubicBezTo>
                  <a:pt x="6358" y="142000"/>
                  <a:pt x="0" y="135643"/>
                  <a:pt x="0" y="127800"/>
                </a:cubicBezTo>
                <a:lnTo>
                  <a:pt x="0" y="14200"/>
                </a:lnTo>
                <a:close/>
              </a:path>
              <a:path w="113600" h="142000" fill="none">
                <a:moveTo>
                  <a:pt x="0" y="14200"/>
                </a:moveTo>
                <a:cubicBezTo>
                  <a:pt x="0" y="6358"/>
                  <a:pt x="6358" y="0"/>
                  <a:pt x="14200" y="0"/>
                </a:cubicBezTo>
                <a:lnTo>
                  <a:pt x="99400" y="0"/>
                </a:lnTo>
                <a:cubicBezTo>
                  <a:pt x="107243" y="0"/>
                  <a:pt x="113600" y="6358"/>
                  <a:pt x="113600" y="14200"/>
                </a:cubicBezTo>
                <a:lnTo>
                  <a:pt x="113600" y="127800"/>
                </a:lnTo>
                <a:cubicBezTo>
                  <a:pt x="113600" y="135643"/>
                  <a:pt x="107243" y="142000"/>
                  <a:pt x="99400" y="142000"/>
                </a:cubicBezTo>
                <a:lnTo>
                  <a:pt x="14200" y="142000"/>
                </a:lnTo>
                <a:cubicBezTo>
                  <a:pt x="6358" y="142000"/>
                  <a:pt x="0" y="135643"/>
                  <a:pt x="0" y="127800"/>
                </a:cubicBezTo>
                <a:lnTo>
                  <a:pt x="0" y="14200"/>
                </a:lnTo>
                <a:close/>
              </a:path>
            </a:pathLst>
          </a:custGeom>
          <a:solidFill>
            <a:srgbClr val="E2E8F0"/>
          </a:solidFill>
          <a:ln w="7100" cap="flat">
            <a:noFill/>
            <a:miter/>
          </a:ln>
        </p:spPr>
      </p:sp>
      <p:sp>
        <p:nvSpPr>
          <p:cNvPr id="1125" name="任意多边形 1124"/>
          <p:cNvSpPr/>
          <p:nvPr/>
        </p:nvSpPr>
        <p:spPr>
          <a:xfrm>
            <a:off x="7031448" y="2756072"/>
            <a:ext cx="42600" cy="42600"/>
          </a:xfrm>
          <a:custGeom>
            <a:avLst/>
            <a:gdLst/>
            <a:ahLst/>
            <a:cxnLst/>
            <a:rect l="l" t="t" r="r" b="b"/>
            <a:pathLst>
              <a:path w="42600" h="42600" stroke="0">
                <a:moveTo>
                  <a:pt x="42600" y="0"/>
                </a:moveTo>
                <a:lnTo>
                  <a:pt x="0" y="0"/>
                </a:lnTo>
                <a:lnTo>
                  <a:pt x="0" y="42600"/>
                </a:lnTo>
                <a:lnTo>
                  <a:pt x="42600" y="0"/>
                </a:lnTo>
                <a:close/>
              </a:path>
              <a:path w="42600" h="42600" fill="none">
                <a:moveTo>
                  <a:pt x="42600" y="0"/>
                </a:moveTo>
                <a:lnTo>
                  <a:pt x="0" y="0"/>
                </a:lnTo>
                <a:lnTo>
                  <a:pt x="0" y="42600"/>
                </a:lnTo>
                <a:lnTo>
                  <a:pt x="4260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1126" name="任意多边形 1125"/>
          <p:cNvSpPr/>
          <p:nvPr/>
        </p:nvSpPr>
        <p:spPr>
          <a:xfrm>
            <a:off x="104290" y="440485"/>
            <a:ext cx="1817600" cy="191700"/>
          </a:xfrm>
          <a:custGeom>
            <a:avLst/>
            <a:gdLst>
              <a:gd name="connsiteX0" fmla="*/ 0 w 1817600"/>
              <a:gd name="connsiteY0" fmla="*/ 95850 h 191700"/>
              <a:gd name="connsiteX1" fmla="*/ 908800 w 1817600"/>
              <a:gd name="connsiteY1" fmla="*/ 0 h 191700"/>
              <a:gd name="connsiteX2" fmla="*/ 1817600 w 1817600"/>
              <a:gd name="connsiteY2" fmla="*/ 95850 h 191700"/>
              <a:gd name="connsiteX3" fmla="*/ 908800 w 1817600"/>
              <a:gd name="connsiteY3" fmla="*/ 191700 h 191700"/>
              <a:gd name="rtl" fmla="*/ 7019486 w 1817600"/>
              <a:gd name="rtt" fmla="*/ 2265887 h 191700"/>
              <a:gd name="rtr" fmla="*/ 8837086 w 1817600"/>
              <a:gd name="rtb" fmla="*/ 24575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输出：突变前后序列对比 &amp; 文献/知识依据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8" name="任意多边形 1127"/>
          <p:cNvSpPr/>
          <p:nvPr/>
        </p:nvSpPr>
        <p:spPr>
          <a:xfrm>
            <a:off x="6797176" y="3160772"/>
            <a:ext cx="2201000" cy="2875500"/>
          </a:xfrm>
          <a:custGeom>
            <a:avLst/>
            <a:gdLst/>
            <a:ahLst/>
            <a:cxnLst/>
            <a:rect l="l" t="t" r="r" b="b"/>
            <a:pathLst>
              <a:path w="2201000" h="2875500" stroke="0">
                <a:moveTo>
                  <a:pt x="0" y="0"/>
                </a:moveTo>
                <a:lnTo>
                  <a:pt x="2201000" y="0"/>
                </a:lnTo>
                <a:lnTo>
                  <a:pt x="2201000" y="2875500"/>
                </a:lnTo>
                <a:lnTo>
                  <a:pt x="0" y="2875500"/>
                </a:lnTo>
                <a:lnTo>
                  <a:pt x="0" y="0"/>
                </a:lnTo>
                <a:close/>
              </a:path>
              <a:path w="2201000" h="2875500" fill="none">
                <a:moveTo>
                  <a:pt x="0" y="0"/>
                </a:moveTo>
                <a:lnTo>
                  <a:pt x="2201000" y="0"/>
                </a:lnTo>
                <a:lnTo>
                  <a:pt x="2201000" y="2875500"/>
                </a:lnTo>
                <a:lnTo>
                  <a:pt x="0" y="287550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1129" name="任意多边形 1128"/>
          <p:cNvSpPr/>
          <p:nvPr/>
        </p:nvSpPr>
        <p:spPr>
          <a:xfrm>
            <a:off x="104290" y="440485"/>
            <a:ext cx="1136000" cy="213000"/>
          </a:xfrm>
          <a:custGeom>
            <a:avLst/>
            <a:gdLst>
              <a:gd name="connsiteX0" fmla="*/ 0 w 1136000"/>
              <a:gd name="connsiteY0" fmla="*/ 106500 h 213000"/>
              <a:gd name="connsiteX1" fmla="*/ 568000 w 1136000"/>
              <a:gd name="connsiteY1" fmla="*/ 0 h 213000"/>
              <a:gd name="connsiteX2" fmla="*/ 1136000 w 1136000"/>
              <a:gd name="connsiteY2" fmla="*/ 106500 h 213000"/>
              <a:gd name="connsiteX3" fmla="*/ 568000 w 1136000"/>
              <a:gd name="connsiteY3" fmla="*/ 213000 h 213000"/>
              <a:gd name="rtl" fmla="*/ 6770986 w 1136000"/>
              <a:gd name="rtt" fmla="*/ 2727387 h 213000"/>
              <a:gd name="rtr" fmla="*/ 7906986 w 1136000"/>
              <a:gd name="rtb" fmla="*/ 2940387 h 21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0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突变体多维度量化评估</a:t>
            </a:r>
            <a:endParaRPr lang="zh-CN" altLang="en-US" sz="800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0" name="任意多边形 1129"/>
          <p:cNvSpPr/>
          <p:nvPr/>
        </p:nvSpPr>
        <p:spPr>
          <a:xfrm>
            <a:off x="6903676" y="3480272"/>
            <a:ext cx="1988000" cy="227200"/>
          </a:xfrm>
          <a:custGeom>
            <a:avLst/>
            <a:gdLst/>
            <a:ahLst/>
            <a:cxnLst/>
            <a:rect l="l" t="t" r="r" b="b"/>
            <a:pathLst>
              <a:path w="1988000" h="227200" stroke="0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1945400" y="0"/>
                </a:lnTo>
                <a:cubicBezTo>
                  <a:pt x="1968929" y="0"/>
                  <a:pt x="1988000" y="19073"/>
                  <a:pt x="1988000" y="42600"/>
                </a:cubicBezTo>
                <a:lnTo>
                  <a:pt x="1988000" y="184600"/>
                </a:lnTo>
                <a:cubicBezTo>
                  <a:pt x="1988000" y="208127"/>
                  <a:pt x="1968929" y="227200"/>
                  <a:pt x="1945400" y="227200"/>
                </a:cubicBezTo>
                <a:lnTo>
                  <a:pt x="42600" y="227200"/>
                </a:lnTo>
                <a:cubicBezTo>
                  <a:pt x="19073" y="227200"/>
                  <a:pt x="0" y="208127"/>
                  <a:pt x="0" y="184600"/>
                </a:cubicBezTo>
                <a:lnTo>
                  <a:pt x="0" y="42600"/>
                </a:lnTo>
                <a:close/>
              </a:path>
              <a:path w="1988000" h="227200" fill="none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1945400" y="0"/>
                </a:lnTo>
                <a:cubicBezTo>
                  <a:pt x="1968929" y="0"/>
                  <a:pt x="1988000" y="19073"/>
                  <a:pt x="1988000" y="42600"/>
                </a:cubicBezTo>
                <a:lnTo>
                  <a:pt x="1988000" y="184600"/>
                </a:lnTo>
                <a:cubicBezTo>
                  <a:pt x="1988000" y="208127"/>
                  <a:pt x="1968929" y="227200"/>
                  <a:pt x="1945400" y="227200"/>
                </a:cubicBezTo>
                <a:lnTo>
                  <a:pt x="42600" y="227200"/>
                </a:lnTo>
                <a:cubicBezTo>
                  <a:pt x="19073" y="227200"/>
                  <a:pt x="0" y="208127"/>
                  <a:pt x="0" y="184600"/>
                </a:cubicBezTo>
                <a:lnTo>
                  <a:pt x="0" y="42600"/>
                </a:ln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1131" name="任意多边形 1130"/>
          <p:cNvSpPr/>
          <p:nvPr/>
        </p:nvSpPr>
        <p:spPr>
          <a:xfrm>
            <a:off x="6960448" y="3537072"/>
            <a:ext cx="113600" cy="113600"/>
          </a:xfrm>
          <a:custGeom>
            <a:avLst/>
            <a:gdLst/>
            <a:ahLst/>
            <a:cxnLst/>
            <a:rect l="l" t="t" r="r" b="b"/>
            <a:pathLst>
              <a:path w="113600" h="113600" stroke="0">
                <a:moveTo>
                  <a:pt x="113600" y="56800"/>
                </a:moveTo>
                <a:cubicBezTo>
                  <a:pt x="113600" y="88170"/>
                  <a:pt x="88170" y="113600"/>
                  <a:pt x="56800" y="113600"/>
                </a:cubicBezTo>
                <a:cubicBezTo>
                  <a:pt x="25430" y="113600"/>
                  <a:pt x="0" y="88170"/>
                  <a:pt x="0" y="56800"/>
                </a:cubicBezTo>
                <a:cubicBezTo>
                  <a:pt x="0" y="25430"/>
                  <a:pt x="25430" y="0"/>
                  <a:pt x="56800" y="0"/>
                </a:cubicBezTo>
                <a:cubicBezTo>
                  <a:pt x="88170" y="0"/>
                  <a:pt x="113600" y="25430"/>
                  <a:pt x="113600" y="56800"/>
                </a:cubicBezTo>
                <a:close/>
              </a:path>
              <a:path w="113600" h="113600" fill="none">
                <a:moveTo>
                  <a:pt x="113600" y="56800"/>
                </a:moveTo>
                <a:cubicBezTo>
                  <a:pt x="113600" y="88170"/>
                  <a:pt x="88170" y="113600"/>
                  <a:pt x="56800" y="113600"/>
                </a:cubicBezTo>
                <a:cubicBezTo>
                  <a:pt x="25430" y="113600"/>
                  <a:pt x="0" y="88170"/>
                  <a:pt x="0" y="56800"/>
                </a:cubicBezTo>
                <a:cubicBezTo>
                  <a:pt x="0" y="25430"/>
                  <a:pt x="25430" y="0"/>
                  <a:pt x="56800" y="0"/>
                </a:cubicBezTo>
                <a:cubicBezTo>
                  <a:pt x="88170" y="0"/>
                  <a:pt x="113600" y="25430"/>
                  <a:pt x="113600" y="56800"/>
                </a:cubicBezTo>
                <a:close/>
              </a:path>
            </a:pathLst>
          </a:custGeom>
          <a:solidFill>
            <a:srgbClr val="10B981"/>
          </a:solidFill>
          <a:ln w="7100" cap="flat">
            <a:noFill/>
            <a:miter/>
          </a:ln>
        </p:spPr>
      </p:sp>
      <p:sp>
        <p:nvSpPr>
          <p:cNvPr id="1132" name="任意多边形 1131"/>
          <p:cNvSpPr/>
          <p:nvPr/>
        </p:nvSpPr>
        <p:spPr>
          <a:xfrm>
            <a:off x="6988848" y="3565472"/>
            <a:ext cx="63900" cy="49700"/>
          </a:xfrm>
          <a:custGeom>
            <a:avLst/>
            <a:gdLst/>
            <a:ahLst/>
            <a:cxnLst/>
            <a:rect l="l" t="t" r="r" b="b"/>
            <a:pathLst>
              <a:path w="63900" h="49700" stroke="0">
                <a:moveTo>
                  <a:pt x="0" y="28400"/>
                </a:moveTo>
                <a:lnTo>
                  <a:pt x="21300" y="49700"/>
                </a:lnTo>
                <a:lnTo>
                  <a:pt x="63900" y="0"/>
                </a:lnTo>
              </a:path>
              <a:path w="63900" h="49700" fill="none">
                <a:moveTo>
                  <a:pt x="0" y="28400"/>
                </a:moveTo>
                <a:lnTo>
                  <a:pt x="21300" y="49700"/>
                </a:lnTo>
                <a:lnTo>
                  <a:pt x="63900" y="0"/>
                </a:lnTo>
              </a:path>
            </a:pathLst>
          </a:custGeom>
          <a:noFill/>
          <a:ln w="14200" cap="flat">
            <a:solidFill>
              <a:srgbClr val="FFFFFF"/>
            </a:solidFill>
            <a:miter/>
          </a:ln>
        </p:spPr>
      </p:sp>
      <p:sp>
        <p:nvSpPr>
          <p:cNvPr id="1133" name="任意多边形 1132"/>
          <p:cNvSpPr/>
          <p:nvPr/>
        </p:nvSpPr>
        <p:spPr>
          <a:xfrm>
            <a:off x="104290" y="440485"/>
            <a:ext cx="717100" cy="191700"/>
          </a:xfrm>
          <a:custGeom>
            <a:avLst/>
            <a:gdLst>
              <a:gd name="connsiteX0" fmla="*/ 0 w 717100"/>
              <a:gd name="connsiteY0" fmla="*/ 95850 h 191700"/>
              <a:gd name="connsiteX1" fmla="*/ 358550 w 717100"/>
              <a:gd name="connsiteY1" fmla="*/ 0 h 191700"/>
              <a:gd name="connsiteX2" fmla="*/ 717100 w 717100"/>
              <a:gd name="connsiteY2" fmla="*/ 95850 h 191700"/>
              <a:gd name="connsiteX3" fmla="*/ 358550 w 717100"/>
              <a:gd name="connsiteY3" fmla="*/ 191700 h 191700"/>
              <a:gd name="rtl" fmla="*/ 7023036 w 717100"/>
              <a:gd name="rtt" fmla="*/ 3032687 h 191700"/>
              <a:gd name="rtr" fmla="*/ 7740136 w 717100"/>
              <a:gd name="rtb" fmla="*/ 32243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禁区合规性检查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4" name="任意多边形 1133"/>
          <p:cNvSpPr/>
          <p:nvPr/>
        </p:nvSpPr>
        <p:spPr>
          <a:xfrm>
            <a:off x="6903676" y="3764272"/>
            <a:ext cx="1988000" cy="227200"/>
          </a:xfrm>
          <a:custGeom>
            <a:avLst/>
            <a:gdLst/>
            <a:ahLst/>
            <a:cxnLst/>
            <a:rect l="l" t="t" r="r" b="b"/>
            <a:pathLst>
              <a:path w="1988000" h="227200" stroke="0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1945400" y="0"/>
                </a:lnTo>
                <a:cubicBezTo>
                  <a:pt x="1968929" y="0"/>
                  <a:pt x="1988000" y="19073"/>
                  <a:pt x="1988000" y="42600"/>
                </a:cubicBezTo>
                <a:lnTo>
                  <a:pt x="1988000" y="184600"/>
                </a:lnTo>
                <a:cubicBezTo>
                  <a:pt x="1988000" y="208127"/>
                  <a:pt x="1968929" y="227200"/>
                  <a:pt x="1945400" y="227200"/>
                </a:cubicBezTo>
                <a:lnTo>
                  <a:pt x="42600" y="227200"/>
                </a:lnTo>
                <a:cubicBezTo>
                  <a:pt x="19073" y="227200"/>
                  <a:pt x="0" y="208127"/>
                  <a:pt x="0" y="184600"/>
                </a:cubicBezTo>
                <a:lnTo>
                  <a:pt x="0" y="42600"/>
                </a:lnTo>
                <a:close/>
              </a:path>
              <a:path w="1988000" h="227200" fill="none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1945400" y="0"/>
                </a:lnTo>
                <a:cubicBezTo>
                  <a:pt x="1968929" y="0"/>
                  <a:pt x="1988000" y="19073"/>
                  <a:pt x="1988000" y="42600"/>
                </a:cubicBezTo>
                <a:lnTo>
                  <a:pt x="1988000" y="184600"/>
                </a:lnTo>
                <a:cubicBezTo>
                  <a:pt x="1988000" y="208127"/>
                  <a:pt x="1968929" y="227200"/>
                  <a:pt x="1945400" y="227200"/>
                </a:cubicBezTo>
                <a:lnTo>
                  <a:pt x="42600" y="227200"/>
                </a:lnTo>
                <a:cubicBezTo>
                  <a:pt x="19073" y="227200"/>
                  <a:pt x="0" y="208127"/>
                  <a:pt x="0" y="184600"/>
                </a:cubicBezTo>
                <a:lnTo>
                  <a:pt x="0" y="42600"/>
                </a:ln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1135" name="任意多边形 1134"/>
          <p:cNvSpPr/>
          <p:nvPr/>
        </p:nvSpPr>
        <p:spPr>
          <a:xfrm>
            <a:off x="6960448" y="3821072"/>
            <a:ext cx="113600" cy="113600"/>
          </a:xfrm>
          <a:custGeom>
            <a:avLst/>
            <a:gdLst/>
            <a:ahLst/>
            <a:cxnLst/>
            <a:rect l="l" t="t" r="r" b="b"/>
            <a:pathLst>
              <a:path w="113600" h="113600" stroke="0">
                <a:moveTo>
                  <a:pt x="113600" y="56800"/>
                </a:moveTo>
                <a:cubicBezTo>
                  <a:pt x="113600" y="88170"/>
                  <a:pt x="88170" y="113600"/>
                  <a:pt x="56800" y="113600"/>
                </a:cubicBezTo>
                <a:cubicBezTo>
                  <a:pt x="25430" y="113600"/>
                  <a:pt x="0" y="88170"/>
                  <a:pt x="0" y="56800"/>
                </a:cubicBezTo>
                <a:cubicBezTo>
                  <a:pt x="0" y="25430"/>
                  <a:pt x="25430" y="0"/>
                  <a:pt x="56800" y="0"/>
                </a:cubicBezTo>
                <a:cubicBezTo>
                  <a:pt x="88170" y="0"/>
                  <a:pt x="113600" y="25430"/>
                  <a:pt x="113600" y="56800"/>
                </a:cubicBezTo>
                <a:close/>
              </a:path>
              <a:path w="113600" h="113600" fill="none">
                <a:moveTo>
                  <a:pt x="113600" y="56800"/>
                </a:moveTo>
                <a:cubicBezTo>
                  <a:pt x="113600" y="88170"/>
                  <a:pt x="88170" y="113600"/>
                  <a:pt x="56800" y="113600"/>
                </a:cubicBezTo>
                <a:cubicBezTo>
                  <a:pt x="25430" y="113600"/>
                  <a:pt x="0" y="88170"/>
                  <a:pt x="0" y="56800"/>
                </a:cubicBezTo>
                <a:cubicBezTo>
                  <a:pt x="0" y="25430"/>
                  <a:pt x="25430" y="0"/>
                  <a:pt x="56800" y="0"/>
                </a:cubicBezTo>
                <a:cubicBezTo>
                  <a:pt x="88170" y="0"/>
                  <a:pt x="113600" y="25430"/>
                  <a:pt x="113600" y="56800"/>
                </a:cubicBezTo>
                <a:close/>
              </a:path>
            </a:pathLst>
          </a:custGeom>
          <a:solidFill>
            <a:srgbClr val="10B981"/>
          </a:solidFill>
          <a:ln w="7100" cap="flat">
            <a:noFill/>
            <a:miter/>
          </a:ln>
        </p:spPr>
      </p:sp>
      <p:sp>
        <p:nvSpPr>
          <p:cNvPr id="1136" name="任意多边形 1135"/>
          <p:cNvSpPr/>
          <p:nvPr/>
        </p:nvSpPr>
        <p:spPr>
          <a:xfrm>
            <a:off x="6988848" y="3849472"/>
            <a:ext cx="63900" cy="49700"/>
          </a:xfrm>
          <a:custGeom>
            <a:avLst/>
            <a:gdLst/>
            <a:ahLst/>
            <a:cxnLst/>
            <a:rect l="l" t="t" r="r" b="b"/>
            <a:pathLst>
              <a:path w="63900" h="49700" stroke="0">
                <a:moveTo>
                  <a:pt x="0" y="28400"/>
                </a:moveTo>
                <a:lnTo>
                  <a:pt x="21300" y="49700"/>
                </a:lnTo>
                <a:lnTo>
                  <a:pt x="63900" y="0"/>
                </a:lnTo>
              </a:path>
              <a:path w="63900" h="49700" fill="none">
                <a:moveTo>
                  <a:pt x="0" y="28400"/>
                </a:moveTo>
                <a:lnTo>
                  <a:pt x="21300" y="49700"/>
                </a:lnTo>
                <a:lnTo>
                  <a:pt x="63900" y="0"/>
                </a:lnTo>
              </a:path>
            </a:pathLst>
          </a:custGeom>
          <a:noFill/>
          <a:ln w="14200" cap="flat">
            <a:solidFill>
              <a:srgbClr val="FFFFFF"/>
            </a:solidFill>
            <a:miter/>
          </a:ln>
        </p:spPr>
      </p:sp>
      <p:sp>
        <p:nvSpPr>
          <p:cNvPr id="1137" name="任意多边形 1136"/>
          <p:cNvSpPr/>
          <p:nvPr/>
        </p:nvSpPr>
        <p:spPr>
          <a:xfrm>
            <a:off x="104290" y="440485"/>
            <a:ext cx="901700" cy="191700"/>
          </a:xfrm>
          <a:custGeom>
            <a:avLst/>
            <a:gdLst>
              <a:gd name="connsiteX0" fmla="*/ 0 w 901700"/>
              <a:gd name="connsiteY0" fmla="*/ 95850 h 191700"/>
              <a:gd name="connsiteX1" fmla="*/ 450850 w 901700"/>
              <a:gd name="connsiteY1" fmla="*/ 0 h 191700"/>
              <a:gd name="connsiteX2" fmla="*/ 901700 w 901700"/>
              <a:gd name="connsiteY2" fmla="*/ 95850 h 191700"/>
              <a:gd name="connsiteX3" fmla="*/ 450850 w 901700"/>
              <a:gd name="connsiteY3" fmla="*/ 191700 h 191700"/>
              <a:gd name="rtl" fmla="*/ 7023036 w 901700"/>
              <a:gd name="rtt" fmla="*/ 3316687 h 191700"/>
              <a:gd name="rtr" fmla="*/ 7924736 w 901700"/>
              <a:gd name="rtb" fmla="*/ 35083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冰结合面完整性判定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8" name="任意多边形 1137"/>
          <p:cNvSpPr/>
          <p:nvPr/>
        </p:nvSpPr>
        <p:spPr>
          <a:xfrm>
            <a:off x="6903676" y="4048272"/>
            <a:ext cx="1988000" cy="227200"/>
          </a:xfrm>
          <a:custGeom>
            <a:avLst/>
            <a:gdLst/>
            <a:ahLst/>
            <a:cxnLst/>
            <a:rect l="l" t="t" r="r" b="b"/>
            <a:pathLst>
              <a:path w="1988000" h="227200" stroke="0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1945400" y="0"/>
                </a:lnTo>
                <a:cubicBezTo>
                  <a:pt x="1968929" y="0"/>
                  <a:pt x="1988000" y="19073"/>
                  <a:pt x="1988000" y="42600"/>
                </a:cubicBezTo>
                <a:lnTo>
                  <a:pt x="1988000" y="184600"/>
                </a:lnTo>
                <a:cubicBezTo>
                  <a:pt x="1988000" y="208127"/>
                  <a:pt x="1968929" y="227200"/>
                  <a:pt x="1945400" y="227200"/>
                </a:cubicBezTo>
                <a:lnTo>
                  <a:pt x="42600" y="227200"/>
                </a:lnTo>
                <a:cubicBezTo>
                  <a:pt x="19073" y="227200"/>
                  <a:pt x="0" y="208127"/>
                  <a:pt x="0" y="184600"/>
                </a:cubicBezTo>
                <a:lnTo>
                  <a:pt x="0" y="42600"/>
                </a:lnTo>
                <a:close/>
              </a:path>
              <a:path w="1988000" h="227200" fill="none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1945400" y="0"/>
                </a:lnTo>
                <a:cubicBezTo>
                  <a:pt x="1968929" y="0"/>
                  <a:pt x="1988000" y="19073"/>
                  <a:pt x="1988000" y="42600"/>
                </a:cubicBezTo>
                <a:lnTo>
                  <a:pt x="1988000" y="184600"/>
                </a:lnTo>
                <a:cubicBezTo>
                  <a:pt x="1988000" y="208127"/>
                  <a:pt x="1968929" y="227200"/>
                  <a:pt x="1945400" y="227200"/>
                </a:cubicBezTo>
                <a:lnTo>
                  <a:pt x="42600" y="227200"/>
                </a:lnTo>
                <a:cubicBezTo>
                  <a:pt x="19073" y="227200"/>
                  <a:pt x="0" y="208127"/>
                  <a:pt x="0" y="184600"/>
                </a:cubicBezTo>
                <a:lnTo>
                  <a:pt x="0" y="42600"/>
                </a:ln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1139" name="任意多边形 1138"/>
          <p:cNvSpPr/>
          <p:nvPr/>
        </p:nvSpPr>
        <p:spPr>
          <a:xfrm>
            <a:off x="6960448" y="4105072"/>
            <a:ext cx="113600" cy="113600"/>
          </a:xfrm>
          <a:custGeom>
            <a:avLst/>
            <a:gdLst/>
            <a:ahLst/>
            <a:cxnLst/>
            <a:rect l="l" t="t" r="r" b="b"/>
            <a:pathLst>
              <a:path w="113600" h="113600" stroke="0">
                <a:moveTo>
                  <a:pt x="113600" y="56800"/>
                </a:moveTo>
                <a:cubicBezTo>
                  <a:pt x="113600" y="88170"/>
                  <a:pt x="88170" y="113600"/>
                  <a:pt x="56800" y="113600"/>
                </a:cubicBezTo>
                <a:cubicBezTo>
                  <a:pt x="25430" y="113600"/>
                  <a:pt x="0" y="88170"/>
                  <a:pt x="0" y="56800"/>
                </a:cubicBezTo>
                <a:cubicBezTo>
                  <a:pt x="0" y="25430"/>
                  <a:pt x="25430" y="0"/>
                  <a:pt x="56800" y="0"/>
                </a:cubicBezTo>
                <a:cubicBezTo>
                  <a:pt x="88170" y="0"/>
                  <a:pt x="113600" y="25430"/>
                  <a:pt x="113600" y="56800"/>
                </a:cubicBezTo>
                <a:close/>
              </a:path>
              <a:path w="113600" h="113600" fill="none">
                <a:moveTo>
                  <a:pt x="113600" y="56800"/>
                </a:moveTo>
                <a:cubicBezTo>
                  <a:pt x="113600" y="88170"/>
                  <a:pt x="88170" y="113600"/>
                  <a:pt x="56800" y="113600"/>
                </a:cubicBezTo>
                <a:cubicBezTo>
                  <a:pt x="25430" y="113600"/>
                  <a:pt x="0" y="88170"/>
                  <a:pt x="0" y="56800"/>
                </a:cubicBezTo>
                <a:cubicBezTo>
                  <a:pt x="0" y="25430"/>
                  <a:pt x="25430" y="0"/>
                  <a:pt x="56800" y="0"/>
                </a:cubicBezTo>
                <a:cubicBezTo>
                  <a:pt x="88170" y="0"/>
                  <a:pt x="113600" y="25430"/>
                  <a:pt x="113600" y="56800"/>
                </a:cubicBezTo>
                <a:close/>
              </a:path>
            </a:pathLst>
          </a:custGeom>
          <a:solidFill>
            <a:srgbClr val="10B981"/>
          </a:solidFill>
          <a:ln w="7100" cap="flat">
            <a:noFill/>
            <a:miter/>
          </a:ln>
        </p:spPr>
      </p:sp>
      <p:sp>
        <p:nvSpPr>
          <p:cNvPr id="1140" name="任意多边形 1139"/>
          <p:cNvSpPr/>
          <p:nvPr/>
        </p:nvSpPr>
        <p:spPr>
          <a:xfrm>
            <a:off x="6988848" y="4133472"/>
            <a:ext cx="63900" cy="49700"/>
          </a:xfrm>
          <a:custGeom>
            <a:avLst/>
            <a:gdLst/>
            <a:ahLst/>
            <a:cxnLst/>
            <a:rect l="l" t="t" r="r" b="b"/>
            <a:pathLst>
              <a:path w="63900" h="49700" stroke="0">
                <a:moveTo>
                  <a:pt x="0" y="28400"/>
                </a:moveTo>
                <a:lnTo>
                  <a:pt x="21300" y="49700"/>
                </a:lnTo>
                <a:lnTo>
                  <a:pt x="63900" y="0"/>
                </a:lnTo>
              </a:path>
              <a:path w="63900" h="49700" fill="none">
                <a:moveTo>
                  <a:pt x="0" y="28400"/>
                </a:moveTo>
                <a:lnTo>
                  <a:pt x="21300" y="49700"/>
                </a:lnTo>
                <a:lnTo>
                  <a:pt x="63900" y="0"/>
                </a:lnTo>
              </a:path>
            </a:pathLst>
          </a:custGeom>
          <a:noFill/>
          <a:ln w="14200" cap="flat">
            <a:solidFill>
              <a:srgbClr val="FFFFFF"/>
            </a:solidFill>
            <a:miter/>
          </a:ln>
        </p:spPr>
      </p:sp>
      <p:sp>
        <p:nvSpPr>
          <p:cNvPr id="1141" name="任意多边形 1140"/>
          <p:cNvSpPr/>
          <p:nvPr/>
        </p:nvSpPr>
        <p:spPr>
          <a:xfrm>
            <a:off x="104290" y="440485"/>
            <a:ext cx="937200" cy="191700"/>
          </a:xfrm>
          <a:custGeom>
            <a:avLst/>
            <a:gdLst>
              <a:gd name="connsiteX0" fmla="*/ 0 w 937200"/>
              <a:gd name="connsiteY0" fmla="*/ 95850 h 191700"/>
              <a:gd name="connsiteX1" fmla="*/ 468600 w 937200"/>
              <a:gd name="connsiteY1" fmla="*/ 0 h 191700"/>
              <a:gd name="connsiteX2" fmla="*/ 937200 w 937200"/>
              <a:gd name="connsiteY2" fmla="*/ 95850 h 191700"/>
              <a:gd name="connsiteX3" fmla="*/ 468600 w 937200"/>
              <a:gd name="connsiteY3" fmla="*/ 191700 h 191700"/>
              <a:gd name="rtl" fmla="*/ 7012386 w 937200"/>
              <a:gd name="rtt" fmla="*/ 3600687 h 191700"/>
              <a:gd name="rtr" fmla="*/ 7963786 w 937200"/>
              <a:gd name="rtb" fmla="*/ 37923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TH/IRI 活性变化预测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2" name="任意多边形 1141"/>
          <p:cNvSpPr/>
          <p:nvPr/>
        </p:nvSpPr>
        <p:spPr>
          <a:xfrm>
            <a:off x="6903676" y="4332272"/>
            <a:ext cx="1988000" cy="227200"/>
          </a:xfrm>
          <a:custGeom>
            <a:avLst/>
            <a:gdLst/>
            <a:ahLst/>
            <a:cxnLst/>
            <a:rect l="l" t="t" r="r" b="b"/>
            <a:pathLst>
              <a:path w="1988000" h="227200" stroke="0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1945400" y="0"/>
                </a:lnTo>
                <a:cubicBezTo>
                  <a:pt x="1968929" y="0"/>
                  <a:pt x="1988000" y="19073"/>
                  <a:pt x="1988000" y="42600"/>
                </a:cubicBezTo>
                <a:lnTo>
                  <a:pt x="1988000" y="184600"/>
                </a:lnTo>
                <a:cubicBezTo>
                  <a:pt x="1988000" y="208127"/>
                  <a:pt x="1968929" y="227200"/>
                  <a:pt x="1945400" y="227200"/>
                </a:cubicBezTo>
                <a:lnTo>
                  <a:pt x="42600" y="227200"/>
                </a:lnTo>
                <a:cubicBezTo>
                  <a:pt x="19073" y="227200"/>
                  <a:pt x="0" y="208127"/>
                  <a:pt x="0" y="184600"/>
                </a:cubicBezTo>
                <a:lnTo>
                  <a:pt x="0" y="42600"/>
                </a:lnTo>
                <a:close/>
              </a:path>
              <a:path w="1988000" h="227200" fill="none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1945400" y="0"/>
                </a:lnTo>
                <a:cubicBezTo>
                  <a:pt x="1968929" y="0"/>
                  <a:pt x="1988000" y="19073"/>
                  <a:pt x="1988000" y="42600"/>
                </a:cubicBezTo>
                <a:lnTo>
                  <a:pt x="1988000" y="184600"/>
                </a:lnTo>
                <a:cubicBezTo>
                  <a:pt x="1988000" y="208127"/>
                  <a:pt x="1968929" y="227200"/>
                  <a:pt x="1945400" y="227200"/>
                </a:cubicBezTo>
                <a:lnTo>
                  <a:pt x="42600" y="227200"/>
                </a:lnTo>
                <a:cubicBezTo>
                  <a:pt x="19073" y="227200"/>
                  <a:pt x="0" y="208127"/>
                  <a:pt x="0" y="184600"/>
                </a:cubicBezTo>
                <a:lnTo>
                  <a:pt x="0" y="42600"/>
                </a:ln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1143" name="任意多边形 1142"/>
          <p:cNvSpPr/>
          <p:nvPr/>
        </p:nvSpPr>
        <p:spPr>
          <a:xfrm>
            <a:off x="6960448" y="4389072"/>
            <a:ext cx="113600" cy="113600"/>
          </a:xfrm>
          <a:custGeom>
            <a:avLst/>
            <a:gdLst/>
            <a:ahLst/>
            <a:cxnLst/>
            <a:rect l="l" t="t" r="r" b="b"/>
            <a:pathLst>
              <a:path w="113600" h="113600" stroke="0">
                <a:moveTo>
                  <a:pt x="113600" y="56800"/>
                </a:moveTo>
                <a:cubicBezTo>
                  <a:pt x="113600" y="88170"/>
                  <a:pt x="88170" y="113600"/>
                  <a:pt x="56800" y="113600"/>
                </a:cubicBezTo>
                <a:cubicBezTo>
                  <a:pt x="25430" y="113600"/>
                  <a:pt x="0" y="88170"/>
                  <a:pt x="0" y="56800"/>
                </a:cubicBezTo>
                <a:cubicBezTo>
                  <a:pt x="0" y="25430"/>
                  <a:pt x="25430" y="0"/>
                  <a:pt x="56800" y="0"/>
                </a:cubicBezTo>
                <a:cubicBezTo>
                  <a:pt x="88170" y="0"/>
                  <a:pt x="113600" y="25430"/>
                  <a:pt x="113600" y="56800"/>
                </a:cubicBezTo>
                <a:close/>
              </a:path>
              <a:path w="113600" h="113600" fill="none">
                <a:moveTo>
                  <a:pt x="113600" y="56800"/>
                </a:moveTo>
                <a:cubicBezTo>
                  <a:pt x="113600" y="88170"/>
                  <a:pt x="88170" y="113600"/>
                  <a:pt x="56800" y="113600"/>
                </a:cubicBezTo>
                <a:cubicBezTo>
                  <a:pt x="25430" y="113600"/>
                  <a:pt x="0" y="88170"/>
                  <a:pt x="0" y="56800"/>
                </a:cubicBezTo>
                <a:cubicBezTo>
                  <a:pt x="0" y="25430"/>
                  <a:pt x="25430" y="0"/>
                  <a:pt x="56800" y="0"/>
                </a:cubicBezTo>
                <a:cubicBezTo>
                  <a:pt x="88170" y="0"/>
                  <a:pt x="113600" y="25430"/>
                  <a:pt x="113600" y="56800"/>
                </a:cubicBezTo>
                <a:close/>
              </a:path>
            </a:pathLst>
          </a:custGeom>
          <a:solidFill>
            <a:srgbClr val="10B981"/>
          </a:solidFill>
          <a:ln w="7100" cap="flat">
            <a:noFill/>
            <a:miter/>
          </a:ln>
        </p:spPr>
      </p:sp>
      <p:sp>
        <p:nvSpPr>
          <p:cNvPr id="1144" name="任意多边形 1143"/>
          <p:cNvSpPr/>
          <p:nvPr/>
        </p:nvSpPr>
        <p:spPr>
          <a:xfrm>
            <a:off x="6988848" y="4417472"/>
            <a:ext cx="63900" cy="49700"/>
          </a:xfrm>
          <a:custGeom>
            <a:avLst/>
            <a:gdLst/>
            <a:ahLst/>
            <a:cxnLst/>
            <a:rect l="l" t="t" r="r" b="b"/>
            <a:pathLst>
              <a:path w="63900" h="49700" stroke="0">
                <a:moveTo>
                  <a:pt x="0" y="28400"/>
                </a:moveTo>
                <a:lnTo>
                  <a:pt x="21300" y="49700"/>
                </a:lnTo>
                <a:lnTo>
                  <a:pt x="63900" y="0"/>
                </a:lnTo>
              </a:path>
              <a:path w="63900" h="49700" fill="none">
                <a:moveTo>
                  <a:pt x="0" y="28400"/>
                </a:moveTo>
                <a:lnTo>
                  <a:pt x="21300" y="49700"/>
                </a:lnTo>
                <a:lnTo>
                  <a:pt x="63900" y="0"/>
                </a:lnTo>
              </a:path>
            </a:pathLst>
          </a:custGeom>
          <a:noFill/>
          <a:ln w="14200" cap="flat">
            <a:solidFill>
              <a:srgbClr val="FFFFFF"/>
            </a:solidFill>
            <a:miter/>
          </a:ln>
        </p:spPr>
      </p:sp>
      <p:sp>
        <p:nvSpPr>
          <p:cNvPr id="1145" name="任意多边形 1144"/>
          <p:cNvSpPr/>
          <p:nvPr/>
        </p:nvSpPr>
        <p:spPr>
          <a:xfrm>
            <a:off x="104290" y="440485"/>
            <a:ext cx="717100" cy="191700"/>
          </a:xfrm>
          <a:custGeom>
            <a:avLst/>
            <a:gdLst>
              <a:gd name="connsiteX0" fmla="*/ 0 w 717100"/>
              <a:gd name="connsiteY0" fmla="*/ 95850 h 191700"/>
              <a:gd name="connsiteX1" fmla="*/ 358550 w 717100"/>
              <a:gd name="connsiteY1" fmla="*/ 0 h 191700"/>
              <a:gd name="connsiteX2" fmla="*/ 717100 w 717100"/>
              <a:gd name="connsiteY2" fmla="*/ 95850 h 191700"/>
              <a:gd name="connsiteX3" fmla="*/ 358550 w 717100"/>
              <a:gd name="connsiteY3" fmla="*/ 191700 h 191700"/>
              <a:gd name="rtl" fmla="*/ 7023036 w 717100"/>
              <a:gd name="rtt" fmla="*/ 3884687 h 191700"/>
              <a:gd name="rtr" fmla="*/ 7740136 w 717100"/>
              <a:gd name="rtb" fmla="*/ 40763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结构稳定性分析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6" name="任意多边形 1145"/>
          <p:cNvSpPr/>
          <p:nvPr/>
        </p:nvSpPr>
        <p:spPr>
          <a:xfrm>
            <a:off x="6903676" y="4616272"/>
            <a:ext cx="1988000" cy="227200"/>
          </a:xfrm>
          <a:custGeom>
            <a:avLst/>
            <a:gdLst/>
            <a:ahLst/>
            <a:cxnLst/>
            <a:rect l="l" t="t" r="r" b="b"/>
            <a:pathLst>
              <a:path w="1988000" h="227200" stroke="0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1945400" y="0"/>
                </a:lnTo>
                <a:cubicBezTo>
                  <a:pt x="1968929" y="0"/>
                  <a:pt x="1988000" y="19073"/>
                  <a:pt x="1988000" y="42600"/>
                </a:cubicBezTo>
                <a:lnTo>
                  <a:pt x="1988000" y="184600"/>
                </a:lnTo>
                <a:cubicBezTo>
                  <a:pt x="1988000" y="208127"/>
                  <a:pt x="1968929" y="227200"/>
                  <a:pt x="1945400" y="227200"/>
                </a:cubicBezTo>
                <a:lnTo>
                  <a:pt x="42600" y="227200"/>
                </a:lnTo>
                <a:cubicBezTo>
                  <a:pt x="19073" y="227200"/>
                  <a:pt x="0" y="208127"/>
                  <a:pt x="0" y="184600"/>
                </a:cubicBezTo>
                <a:lnTo>
                  <a:pt x="0" y="42600"/>
                </a:lnTo>
                <a:close/>
              </a:path>
              <a:path w="1988000" h="227200" fill="none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1945400" y="0"/>
                </a:lnTo>
                <a:cubicBezTo>
                  <a:pt x="1968929" y="0"/>
                  <a:pt x="1988000" y="19073"/>
                  <a:pt x="1988000" y="42600"/>
                </a:cubicBezTo>
                <a:lnTo>
                  <a:pt x="1988000" y="184600"/>
                </a:lnTo>
                <a:cubicBezTo>
                  <a:pt x="1988000" y="208127"/>
                  <a:pt x="1968929" y="227200"/>
                  <a:pt x="1945400" y="227200"/>
                </a:cubicBezTo>
                <a:lnTo>
                  <a:pt x="42600" y="227200"/>
                </a:lnTo>
                <a:cubicBezTo>
                  <a:pt x="19073" y="227200"/>
                  <a:pt x="0" y="208127"/>
                  <a:pt x="0" y="184600"/>
                </a:cubicBezTo>
                <a:lnTo>
                  <a:pt x="0" y="42600"/>
                </a:ln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1147" name="任意多边形 1146"/>
          <p:cNvSpPr/>
          <p:nvPr/>
        </p:nvSpPr>
        <p:spPr>
          <a:xfrm>
            <a:off x="6960448" y="4673072"/>
            <a:ext cx="113600" cy="113600"/>
          </a:xfrm>
          <a:custGeom>
            <a:avLst/>
            <a:gdLst/>
            <a:ahLst/>
            <a:cxnLst/>
            <a:rect l="l" t="t" r="r" b="b"/>
            <a:pathLst>
              <a:path w="113600" h="113600" stroke="0">
                <a:moveTo>
                  <a:pt x="113600" y="56800"/>
                </a:moveTo>
                <a:cubicBezTo>
                  <a:pt x="113600" y="88170"/>
                  <a:pt x="88170" y="113600"/>
                  <a:pt x="56800" y="113600"/>
                </a:cubicBezTo>
                <a:cubicBezTo>
                  <a:pt x="25430" y="113600"/>
                  <a:pt x="0" y="88170"/>
                  <a:pt x="0" y="56800"/>
                </a:cubicBezTo>
                <a:cubicBezTo>
                  <a:pt x="0" y="25430"/>
                  <a:pt x="25430" y="0"/>
                  <a:pt x="56800" y="0"/>
                </a:cubicBezTo>
                <a:cubicBezTo>
                  <a:pt x="88170" y="0"/>
                  <a:pt x="113600" y="25430"/>
                  <a:pt x="113600" y="56800"/>
                </a:cubicBezTo>
                <a:close/>
              </a:path>
              <a:path w="113600" h="113600" fill="none">
                <a:moveTo>
                  <a:pt x="113600" y="56800"/>
                </a:moveTo>
                <a:cubicBezTo>
                  <a:pt x="113600" y="88170"/>
                  <a:pt x="88170" y="113600"/>
                  <a:pt x="56800" y="113600"/>
                </a:cubicBezTo>
                <a:cubicBezTo>
                  <a:pt x="25430" y="113600"/>
                  <a:pt x="0" y="88170"/>
                  <a:pt x="0" y="56800"/>
                </a:cubicBezTo>
                <a:cubicBezTo>
                  <a:pt x="0" y="25430"/>
                  <a:pt x="25430" y="0"/>
                  <a:pt x="56800" y="0"/>
                </a:cubicBezTo>
                <a:cubicBezTo>
                  <a:pt x="88170" y="0"/>
                  <a:pt x="113600" y="25430"/>
                  <a:pt x="113600" y="56800"/>
                </a:cubicBezTo>
                <a:close/>
              </a:path>
            </a:pathLst>
          </a:custGeom>
          <a:solidFill>
            <a:srgbClr val="10B981"/>
          </a:solidFill>
          <a:ln w="7100" cap="flat">
            <a:noFill/>
            <a:miter/>
          </a:ln>
        </p:spPr>
      </p:sp>
      <p:sp>
        <p:nvSpPr>
          <p:cNvPr id="1148" name="任意多边形 1147"/>
          <p:cNvSpPr/>
          <p:nvPr/>
        </p:nvSpPr>
        <p:spPr>
          <a:xfrm>
            <a:off x="6988848" y="4701472"/>
            <a:ext cx="63900" cy="49700"/>
          </a:xfrm>
          <a:custGeom>
            <a:avLst/>
            <a:gdLst/>
            <a:ahLst/>
            <a:cxnLst/>
            <a:rect l="l" t="t" r="r" b="b"/>
            <a:pathLst>
              <a:path w="63900" h="49700" stroke="0">
                <a:moveTo>
                  <a:pt x="0" y="28400"/>
                </a:moveTo>
                <a:lnTo>
                  <a:pt x="21300" y="49700"/>
                </a:lnTo>
                <a:lnTo>
                  <a:pt x="63900" y="0"/>
                </a:lnTo>
              </a:path>
              <a:path w="63900" h="49700" fill="none">
                <a:moveTo>
                  <a:pt x="0" y="28400"/>
                </a:moveTo>
                <a:lnTo>
                  <a:pt x="21300" y="49700"/>
                </a:lnTo>
                <a:lnTo>
                  <a:pt x="63900" y="0"/>
                </a:lnTo>
              </a:path>
            </a:pathLst>
          </a:custGeom>
          <a:noFill/>
          <a:ln w="14200" cap="flat">
            <a:solidFill>
              <a:srgbClr val="FFFFFF"/>
            </a:solidFill>
            <a:miter/>
          </a:ln>
        </p:spPr>
      </p:sp>
      <p:sp>
        <p:nvSpPr>
          <p:cNvPr id="1149" name="任意多边形 1148"/>
          <p:cNvSpPr/>
          <p:nvPr/>
        </p:nvSpPr>
        <p:spPr>
          <a:xfrm>
            <a:off x="104290" y="440485"/>
            <a:ext cx="717100" cy="191700"/>
          </a:xfrm>
          <a:custGeom>
            <a:avLst/>
            <a:gdLst>
              <a:gd name="connsiteX0" fmla="*/ 0 w 717100"/>
              <a:gd name="connsiteY0" fmla="*/ 95850 h 191700"/>
              <a:gd name="connsiteX1" fmla="*/ 358550 w 717100"/>
              <a:gd name="connsiteY1" fmla="*/ 0 h 191700"/>
              <a:gd name="connsiteX2" fmla="*/ 717100 w 717100"/>
              <a:gd name="connsiteY2" fmla="*/ 95850 h 191700"/>
              <a:gd name="connsiteX3" fmla="*/ 358550 w 717100"/>
              <a:gd name="connsiteY3" fmla="*/ 191700 h 191700"/>
              <a:gd name="rtl" fmla="*/ 7023036 w 717100"/>
              <a:gd name="rtt" fmla="*/ 4168687 h 191700"/>
              <a:gd name="rtr" fmla="*/ 7740136 w 717100"/>
              <a:gd name="rtb" fmla="*/ 43603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表达可行性评估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0" name="任意多边形 1149"/>
          <p:cNvSpPr/>
          <p:nvPr/>
        </p:nvSpPr>
        <p:spPr>
          <a:xfrm>
            <a:off x="6903676" y="4900272"/>
            <a:ext cx="1988000" cy="227200"/>
          </a:xfrm>
          <a:custGeom>
            <a:avLst/>
            <a:gdLst/>
            <a:ahLst/>
            <a:cxnLst/>
            <a:rect l="l" t="t" r="r" b="b"/>
            <a:pathLst>
              <a:path w="1988000" h="227200" stroke="0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1945400" y="0"/>
                </a:lnTo>
                <a:cubicBezTo>
                  <a:pt x="1968929" y="0"/>
                  <a:pt x="1988000" y="19073"/>
                  <a:pt x="1988000" y="42600"/>
                </a:cubicBezTo>
                <a:lnTo>
                  <a:pt x="1988000" y="184600"/>
                </a:lnTo>
                <a:cubicBezTo>
                  <a:pt x="1988000" y="208127"/>
                  <a:pt x="1968929" y="227200"/>
                  <a:pt x="1945400" y="227200"/>
                </a:cubicBezTo>
                <a:lnTo>
                  <a:pt x="42600" y="227200"/>
                </a:lnTo>
                <a:cubicBezTo>
                  <a:pt x="19073" y="227200"/>
                  <a:pt x="0" y="208127"/>
                  <a:pt x="0" y="184600"/>
                </a:cubicBezTo>
                <a:lnTo>
                  <a:pt x="0" y="42600"/>
                </a:lnTo>
                <a:close/>
              </a:path>
              <a:path w="1988000" h="227200" fill="none">
                <a:moveTo>
                  <a:pt x="0" y="42600"/>
                </a:moveTo>
                <a:cubicBezTo>
                  <a:pt x="0" y="19073"/>
                  <a:pt x="19073" y="0"/>
                  <a:pt x="42600" y="0"/>
                </a:cubicBezTo>
                <a:lnTo>
                  <a:pt x="1945400" y="0"/>
                </a:lnTo>
                <a:cubicBezTo>
                  <a:pt x="1968929" y="0"/>
                  <a:pt x="1988000" y="19073"/>
                  <a:pt x="1988000" y="42600"/>
                </a:cubicBezTo>
                <a:lnTo>
                  <a:pt x="1988000" y="184600"/>
                </a:lnTo>
                <a:cubicBezTo>
                  <a:pt x="1988000" y="208127"/>
                  <a:pt x="1968929" y="227200"/>
                  <a:pt x="1945400" y="227200"/>
                </a:cubicBezTo>
                <a:lnTo>
                  <a:pt x="42600" y="227200"/>
                </a:lnTo>
                <a:cubicBezTo>
                  <a:pt x="19073" y="227200"/>
                  <a:pt x="0" y="208127"/>
                  <a:pt x="0" y="184600"/>
                </a:cubicBezTo>
                <a:lnTo>
                  <a:pt x="0" y="42600"/>
                </a:ln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1151" name="任意多边形 1150"/>
          <p:cNvSpPr/>
          <p:nvPr/>
        </p:nvSpPr>
        <p:spPr>
          <a:xfrm>
            <a:off x="6960448" y="4957072"/>
            <a:ext cx="113600" cy="113600"/>
          </a:xfrm>
          <a:custGeom>
            <a:avLst/>
            <a:gdLst/>
            <a:ahLst/>
            <a:cxnLst/>
            <a:rect l="l" t="t" r="r" b="b"/>
            <a:pathLst>
              <a:path w="113600" h="113600" stroke="0">
                <a:moveTo>
                  <a:pt x="113600" y="56800"/>
                </a:moveTo>
                <a:cubicBezTo>
                  <a:pt x="113600" y="88170"/>
                  <a:pt x="88170" y="113600"/>
                  <a:pt x="56800" y="113600"/>
                </a:cubicBezTo>
                <a:cubicBezTo>
                  <a:pt x="25430" y="113600"/>
                  <a:pt x="0" y="88170"/>
                  <a:pt x="0" y="56800"/>
                </a:cubicBezTo>
                <a:cubicBezTo>
                  <a:pt x="0" y="25430"/>
                  <a:pt x="25430" y="0"/>
                  <a:pt x="56800" y="0"/>
                </a:cubicBezTo>
                <a:cubicBezTo>
                  <a:pt x="88170" y="0"/>
                  <a:pt x="113600" y="25430"/>
                  <a:pt x="113600" y="56800"/>
                </a:cubicBezTo>
                <a:close/>
              </a:path>
              <a:path w="113600" h="113600" fill="none">
                <a:moveTo>
                  <a:pt x="113600" y="56800"/>
                </a:moveTo>
                <a:cubicBezTo>
                  <a:pt x="113600" y="88170"/>
                  <a:pt x="88170" y="113600"/>
                  <a:pt x="56800" y="113600"/>
                </a:cubicBezTo>
                <a:cubicBezTo>
                  <a:pt x="25430" y="113600"/>
                  <a:pt x="0" y="88170"/>
                  <a:pt x="0" y="56800"/>
                </a:cubicBezTo>
                <a:cubicBezTo>
                  <a:pt x="0" y="25430"/>
                  <a:pt x="25430" y="0"/>
                  <a:pt x="56800" y="0"/>
                </a:cubicBezTo>
                <a:cubicBezTo>
                  <a:pt x="88170" y="0"/>
                  <a:pt x="113600" y="25430"/>
                  <a:pt x="113600" y="56800"/>
                </a:cubicBezTo>
                <a:close/>
              </a:path>
            </a:pathLst>
          </a:custGeom>
          <a:solidFill>
            <a:srgbClr val="10B981"/>
          </a:solidFill>
          <a:ln w="7100" cap="flat">
            <a:noFill/>
            <a:miter/>
          </a:ln>
        </p:spPr>
      </p:sp>
      <p:sp>
        <p:nvSpPr>
          <p:cNvPr id="1152" name="任意多边形 1151"/>
          <p:cNvSpPr/>
          <p:nvPr/>
        </p:nvSpPr>
        <p:spPr>
          <a:xfrm>
            <a:off x="6988848" y="4985472"/>
            <a:ext cx="63900" cy="49700"/>
          </a:xfrm>
          <a:custGeom>
            <a:avLst/>
            <a:gdLst/>
            <a:ahLst/>
            <a:cxnLst/>
            <a:rect l="l" t="t" r="r" b="b"/>
            <a:pathLst>
              <a:path w="63900" h="49700" stroke="0">
                <a:moveTo>
                  <a:pt x="0" y="28400"/>
                </a:moveTo>
                <a:lnTo>
                  <a:pt x="21300" y="49700"/>
                </a:lnTo>
                <a:lnTo>
                  <a:pt x="63900" y="0"/>
                </a:lnTo>
              </a:path>
              <a:path w="63900" h="49700" fill="none">
                <a:moveTo>
                  <a:pt x="0" y="28400"/>
                </a:moveTo>
                <a:lnTo>
                  <a:pt x="21300" y="49700"/>
                </a:lnTo>
                <a:lnTo>
                  <a:pt x="63900" y="0"/>
                </a:lnTo>
              </a:path>
            </a:pathLst>
          </a:custGeom>
          <a:noFill/>
          <a:ln w="14200" cap="flat">
            <a:solidFill>
              <a:srgbClr val="FFFFFF"/>
            </a:solidFill>
            <a:miter/>
          </a:ln>
        </p:spPr>
      </p:sp>
      <p:sp>
        <p:nvSpPr>
          <p:cNvPr id="1153" name="任意多边形 1152"/>
          <p:cNvSpPr/>
          <p:nvPr/>
        </p:nvSpPr>
        <p:spPr>
          <a:xfrm>
            <a:off x="104290" y="440485"/>
            <a:ext cx="532500" cy="191700"/>
          </a:xfrm>
          <a:custGeom>
            <a:avLst/>
            <a:gdLst>
              <a:gd name="connsiteX0" fmla="*/ 0 w 532500"/>
              <a:gd name="connsiteY0" fmla="*/ 95850 h 191700"/>
              <a:gd name="connsiteX1" fmla="*/ 266250 w 532500"/>
              <a:gd name="connsiteY1" fmla="*/ 0 h 191700"/>
              <a:gd name="connsiteX2" fmla="*/ 532500 w 532500"/>
              <a:gd name="connsiteY2" fmla="*/ 95850 h 191700"/>
              <a:gd name="connsiteX3" fmla="*/ 266250 w 532500"/>
              <a:gd name="connsiteY3" fmla="*/ 191700 h 191700"/>
              <a:gd name="rtl" fmla="*/ 7023036 w 532500"/>
              <a:gd name="rtt" fmla="*/ 4452687 h 191700"/>
              <a:gd name="rtr" fmla="*/ 7555536 w 532500"/>
              <a:gd name="rtb" fmla="*/ 46443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安全性筛查</a:t>
            </a:r>
            <a:endParaRPr lang="zh-CN" altLang="en-US" sz="690" b="1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5" name="任意多边形 1154"/>
          <p:cNvSpPr/>
          <p:nvPr/>
        </p:nvSpPr>
        <p:spPr>
          <a:xfrm>
            <a:off x="104290" y="440485"/>
            <a:ext cx="1178600" cy="177500"/>
          </a:xfrm>
          <a:custGeom>
            <a:avLst/>
            <a:gdLst>
              <a:gd name="connsiteX0" fmla="*/ 0 w 1178600"/>
              <a:gd name="connsiteY0" fmla="*/ 88750 h 177500"/>
              <a:gd name="connsiteX1" fmla="*/ 589300 w 1178600"/>
              <a:gd name="connsiteY1" fmla="*/ 0 h 177500"/>
              <a:gd name="connsiteX2" fmla="*/ 1178600 w 1178600"/>
              <a:gd name="connsiteY2" fmla="*/ 88750 h 177500"/>
              <a:gd name="connsiteX3" fmla="*/ 589300 w 1178600"/>
              <a:gd name="connsiteY3" fmla="*/ 177500 h 177500"/>
              <a:gd name="rtl" fmla="*/ 7204086 w 1178600"/>
              <a:gd name="rtt" fmla="*/ 4672787 h 177500"/>
              <a:gd name="rtr" fmla="*/ 8382686 w 1178600"/>
              <a:gd name="rtb" fmla="*/ 48502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F172A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分级判定及详细评估报告输出</a:t>
            </a:r>
            <a:endParaRPr lang="zh-CN" altLang="en-US" sz="64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6" name="任意多边形 1155"/>
          <p:cNvSpPr/>
          <p:nvPr/>
        </p:nvSpPr>
        <p:spPr>
          <a:xfrm>
            <a:off x="7897676" y="5290772"/>
            <a:ext cx="7100" cy="142000"/>
          </a:xfrm>
          <a:custGeom>
            <a:avLst/>
            <a:gdLst/>
            <a:ahLst/>
            <a:cxnLst/>
            <a:rect l="l" t="t" r="r" b="b"/>
            <a:pathLst>
              <a:path w="7100" h="142000" fill="none">
                <a:moveTo>
                  <a:pt x="0" y="0"/>
                </a:moveTo>
                <a:lnTo>
                  <a:pt x="0" y="142000"/>
                </a:lnTo>
              </a:path>
            </a:pathLst>
          </a:custGeom>
          <a:noFill/>
          <a:ln w="17750" cap="flat">
            <a:solidFill>
              <a:srgbClr val="94A3B8"/>
            </a:solidFill>
            <a:miter/>
          </a:ln>
        </p:spPr>
      </p:sp>
      <p:sp>
        <p:nvSpPr>
          <p:cNvPr id="1157" name="任意多边形 1156"/>
          <p:cNvSpPr/>
          <p:nvPr/>
        </p:nvSpPr>
        <p:spPr>
          <a:xfrm rot="5400000">
            <a:off x="7843163" y="5362797"/>
            <a:ext cx="116125" cy="116125"/>
          </a:xfrm>
          <a:custGeom>
            <a:avLst/>
            <a:gdLst/>
            <a:ahLst/>
            <a:cxnLst/>
            <a:rect l="l" t="t" r="r" b="b"/>
            <a:pathLst>
              <a:path w="116125" h="116125" stroke="0">
                <a:moveTo>
                  <a:pt x="0" y="0"/>
                </a:moveTo>
                <a:lnTo>
                  <a:pt x="116125" y="58063"/>
                </a:lnTo>
                <a:lnTo>
                  <a:pt x="0" y="116125"/>
                </a:lnTo>
                <a:lnTo>
                  <a:pt x="0" y="0"/>
                </a:lnTo>
                <a:close/>
              </a:path>
              <a:path w="116125" h="116125" fill="none">
                <a:moveTo>
                  <a:pt x="0" y="0"/>
                </a:moveTo>
                <a:lnTo>
                  <a:pt x="116125" y="58063"/>
                </a:lnTo>
                <a:lnTo>
                  <a:pt x="0" y="116125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1159" name="任意多边形 1158"/>
          <p:cNvSpPr/>
          <p:nvPr/>
        </p:nvSpPr>
        <p:spPr>
          <a:xfrm>
            <a:off x="6903676" y="5468272"/>
            <a:ext cx="603500" cy="213000"/>
          </a:xfrm>
          <a:custGeom>
            <a:avLst/>
            <a:gdLst/>
            <a:ahLst/>
            <a:cxnLst/>
            <a:rect l="l" t="t" r="r" b="b"/>
            <a:pathLst>
              <a:path w="603500" h="213000" stroke="0">
                <a:moveTo>
                  <a:pt x="0" y="106500"/>
                </a:moveTo>
                <a:cubicBezTo>
                  <a:pt x="0" y="47682"/>
                  <a:pt x="47682" y="0"/>
                  <a:pt x="106500" y="0"/>
                </a:cubicBezTo>
                <a:lnTo>
                  <a:pt x="497000" y="0"/>
                </a:lnTo>
                <a:cubicBezTo>
                  <a:pt x="555819" y="0"/>
                  <a:pt x="603500" y="47682"/>
                  <a:pt x="603500" y="106500"/>
                </a:cubicBezTo>
                <a:cubicBezTo>
                  <a:pt x="603500" y="165319"/>
                  <a:pt x="555819" y="213000"/>
                  <a:pt x="497000" y="213000"/>
                </a:cubicBezTo>
                <a:lnTo>
                  <a:pt x="106500" y="213000"/>
                </a:lnTo>
                <a:cubicBezTo>
                  <a:pt x="47682" y="213000"/>
                  <a:pt x="0" y="165319"/>
                  <a:pt x="0" y="106500"/>
                </a:cubicBezTo>
                <a:close/>
              </a:path>
              <a:path w="603500" h="213000" fill="none">
                <a:moveTo>
                  <a:pt x="0" y="106500"/>
                </a:moveTo>
                <a:cubicBezTo>
                  <a:pt x="0" y="47682"/>
                  <a:pt x="47682" y="0"/>
                  <a:pt x="106500" y="0"/>
                </a:cubicBezTo>
                <a:lnTo>
                  <a:pt x="497000" y="0"/>
                </a:lnTo>
                <a:cubicBezTo>
                  <a:pt x="555819" y="0"/>
                  <a:pt x="603500" y="47682"/>
                  <a:pt x="603500" y="106500"/>
                </a:cubicBezTo>
                <a:cubicBezTo>
                  <a:pt x="603500" y="165319"/>
                  <a:pt x="555819" y="213000"/>
                  <a:pt x="497000" y="213000"/>
                </a:cubicBezTo>
                <a:lnTo>
                  <a:pt x="106500" y="213000"/>
                </a:lnTo>
                <a:cubicBezTo>
                  <a:pt x="47682" y="213000"/>
                  <a:pt x="0" y="165319"/>
                  <a:pt x="0" y="106500"/>
                </a:cubicBezTo>
                <a:close/>
              </a:path>
            </a:pathLst>
          </a:custGeom>
          <a:solidFill>
            <a:srgbClr val="10B981"/>
          </a:solidFill>
          <a:ln w="7100" cap="flat">
            <a:noFill/>
            <a:miter/>
          </a:ln>
        </p:spPr>
      </p:sp>
      <p:sp>
        <p:nvSpPr>
          <p:cNvPr id="1160" name="任意多边形 1159"/>
          <p:cNvSpPr/>
          <p:nvPr/>
        </p:nvSpPr>
        <p:spPr>
          <a:xfrm>
            <a:off x="104290" y="440485"/>
            <a:ext cx="312400" cy="191700"/>
          </a:xfrm>
          <a:custGeom>
            <a:avLst/>
            <a:gdLst>
              <a:gd name="connsiteX0" fmla="*/ 0 w 312400"/>
              <a:gd name="connsiteY0" fmla="*/ 95850 h 191700"/>
              <a:gd name="connsiteX1" fmla="*/ 156200 w 312400"/>
              <a:gd name="connsiteY1" fmla="*/ 0 h 191700"/>
              <a:gd name="connsiteX2" fmla="*/ 312400 w 312400"/>
              <a:gd name="connsiteY2" fmla="*/ 95850 h 191700"/>
              <a:gd name="connsiteX3" fmla="*/ 156200 w 312400"/>
              <a:gd name="connsiteY3" fmla="*/ 191700 h 191700"/>
              <a:gd name="rtl" fmla="*/ 6941386 w 312400"/>
              <a:gd name="rtt" fmla="*/ 5038437 h 191700"/>
              <a:gd name="rtr" fmla="*/ 7267986 w 312400"/>
              <a:gd name="rtb" fmla="*/ 523013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FFFF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PASS</a:t>
            </a:r>
            <a:endParaRPr lang="zh-CN" altLang="en-US" sz="74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1" name="任意多边形 1160"/>
          <p:cNvSpPr/>
          <p:nvPr/>
        </p:nvSpPr>
        <p:spPr>
          <a:xfrm>
            <a:off x="104290" y="440485"/>
            <a:ext cx="667400" cy="177500"/>
          </a:xfrm>
          <a:custGeom>
            <a:avLst/>
            <a:gdLst>
              <a:gd name="connsiteX0" fmla="*/ 0 w 667400"/>
              <a:gd name="connsiteY0" fmla="*/ 88750 h 177500"/>
              <a:gd name="connsiteX1" fmla="*/ 333700 w 667400"/>
              <a:gd name="connsiteY1" fmla="*/ 0 h 177500"/>
              <a:gd name="connsiteX2" fmla="*/ 667400 w 667400"/>
              <a:gd name="connsiteY2" fmla="*/ 88750 h 177500"/>
              <a:gd name="connsiteX3" fmla="*/ 333700 w 667400"/>
              <a:gd name="connsiteY3" fmla="*/ 177500 h 177500"/>
              <a:gd name="rtl" fmla="*/ 6799386 w 667400"/>
              <a:gd name="rtt" fmla="*/ 5240787 h 177500"/>
              <a:gd name="rtr" fmla="*/ 7466786 w 667400"/>
              <a:gd name="rtb" fmla="*/ 54182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高质量进入模拟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2" name="任意多边形 1161"/>
          <p:cNvSpPr/>
          <p:nvPr/>
        </p:nvSpPr>
        <p:spPr>
          <a:xfrm>
            <a:off x="7595926" y="5468272"/>
            <a:ext cx="603500" cy="213000"/>
          </a:xfrm>
          <a:custGeom>
            <a:avLst/>
            <a:gdLst/>
            <a:ahLst/>
            <a:cxnLst/>
            <a:rect l="l" t="t" r="r" b="b"/>
            <a:pathLst>
              <a:path w="603500" h="213000" stroke="0">
                <a:moveTo>
                  <a:pt x="0" y="106500"/>
                </a:moveTo>
                <a:cubicBezTo>
                  <a:pt x="0" y="47682"/>
                  <a:pt x="47682" y="0"/>
                  <a:pt x="106500" y="0"/>
                </a:cubicBezTo>
                <a:lnTo>
                  <a:pt x="497000" y="0"/>
                </a:lnTo>
                <a:cubicBezTo>
                  <a:pt x="555819" y="0"/>
                  <a:pt x="603500" y="47682"/>
                  <a:pt x="603500" y="106500"/>
                </a:cubicBezTo>
                <a:cubicBezTo>
                  <a:pt x="603500" y="165319"/>
                  <a:pt x="555819" y="213000"/>
                  <a:pt x="497000" y="213000"/>
                </a:cubicBezTo>
                <a:lnTo>
                  <a:pt x="106500" y="213000"/>
                </a:lnTo>
                <a:cubicBezTo>
                  <a:pt x="47682" y="213000"/>
                  <a:pt x="0" y="165319"/>
                  <a:pt x="0" y="106500"/>
                </a:cubicBezTo>
                <a:close/>
              </a:path>
              <a:path w="603500" h="213000" fill="none">
                <a:moveTo>
                  <a:pt x="0" y="106500"/>
                </a:moveTo>
                <a:cubicBezTo>
                  <a:pt x="0" y="47682"/>
                  <a:pt x="47682" y="0"/>
                  <a:pt x="106500" y="0"/>
                </a:cubicBezTo>
                <a:lnTo>
                  <a:pt x="497000" y="0"/>
                </a:lnTo>
                <a:cubicBezTo>
                  <a:pt x="555819" y="0"/>
                  <a:pt x="603500" y="47682"/>
                  <a:pt x="603500" y="106500"/>
                </a:cubicBezTo>
                <a:cubicBezTo>
                  <a:pt x="603500" y="165319"/>
                  <a:pt x="555819" y="213000"/>
                  <a:pt x="497000" y="213000"/>
                </a:cubicBezTo>
                <a:lnTo>
                  <a:pt x="106500" y="213000"/>
                </a:lnTo>
                <a:cubicBezTo>
                  <a:pt x="47682" y="213000"/>
                  <a:pt x="0" y="165319"/>
                  <a:pt x="0" y="106500"/>
                </a:cubicBezTo>
                <a:close/>
              </a:path>
            </a:pathLst>
          </a:custGeom>
          <a:solidFill>
            <a:srgbClr val="F59E0B"/>
          </a:solidFill>
          <a:ln w="7100" cap="flat">
            <a:noFill/>
            <a:miter/>
          </a:ln>
        </p:spPr>
      </p:sp>
      <p:sp>
        <p:nvSpPr>
          <p:cNvPr id="1163" name="任意多边形 1162"/>
          <p:cNvSpPr/>
          <p:nvPr/>
        </p:nvSpPr>
        <p:spPr>
          <a:xfrm>
            <a:off x="104290" y="440485"/>
            <a:ext cx="518300" cy="191700"/>
          </a:xfrm>
          <a:custGeom>
            <a:avLst/>
            <a:gdLst>
              <a:gd name="connsiteX0" fmla="*/ 0 w 518300"/>
              <a:gd name="connsiteY0" fmla="*/ 95850 h 191700"/>
              <a:gd name="connsiteX1" fmla="*/ 259150 w 518300"/>
              <a:gd name="connsiteY1" fmla="*/ 0 h 191700"/>
              <a:gd name="connsiteX2" fmla="*/ 518300 w 518300"/>
              <a:gd name="connsiteY2" fmla="*/ 95850 h 191700"/>
              <a:gd name="connsiteX3" fmla="*/ 259150 w 518300"/>
              <a:gd name="connsiteY3" fmla="*/ 191700 h 191700"/>
              <a:gd name="rtl" fmla="*/ 7520036 w 518300"/>
              <a:gd name="rtt" fmla="*/ 5038437 h 191700"/>
              <a:gd name="rtr" fmla="*/ 8073836 w 518300"/>
              <a:gd name="rtb" fmla="*/ 523013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FFFF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CAUTION</a:t>
            </a:r>
            <a:endParaRPr lang="zh-CN" altLang="en-US" sz="74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4" name="任意多边形 1163"/>
          <p:cNvSpPr/>
          <p:nvPr/>
        </p:nvSpPr>
        <p:spPr>
          <a:xfrm>
            <a:off x="104290" y="440485"/>
            <a:ext cx="582200" cy="177500"/>
          </a:xfrm>
          <a:custGeom>
            <a:avLst/>
            <a:gdLst>
              <a:gd name="connsiteX0" fmla="*/ 0 w 582200"/>
              <a:gd name="connsiteY0" fmla="*/ 88750 h 177500"/>
              <a:gd name="connsiteX1" fmla="*/ 291100 w 582200"/>
              <a:gd name="connsiteY1" fmla="*/ 0 h 177500"/>
              <a:gd name="connsiteX2" fmla="*/ 582200 w 582200"/>
              <a:gd name="connsiteY2" fmla="*/ 88750 h 177500"/>
              <a:gd name="connsiteX3" fmla="*/ 291100 w 582200"/>
              <a:gd name="connsiteY3" fmla="*/ 177500 h 177500"/>
              <a:gd name="rtl" fmla="*/ 7530686 w 582200"/>
              <a:gd name="rtt" fmla="*/ 5240787 h 177500"/>
              <a:gd name="rtr" fmla="*/ 8112886 w 582200"/>
              <a:gd name="rtb" fmla="*/ 54182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反馈提示警告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5" name="任意多边形 1164"/>
          <p:cNvSpPr/>
          <p:nvPr/>
        </p:nvSpPr>
        <p:spPr>
          <a:xfrm>
            <a:off x="8288176" y="5468272"/>
            <a:ext cx="603500" cy="213000"/>
          </a:xfrm>
          <a:custGeom>
            <a:avLst/>
            <a:gdLst/>
            <a:ahLst/>
            <a:cxnLst/>
            <a:rect l="l" t="t" r="r" b="b"/>
            <a:pathLst>
              <a:path w="603500" h="213000" stroke="0">
                <a:moveTo>
                  <a:pt x="0" y="106500"/>
                </a:moveTo>
                <a:cubicBezTo>
                  <a:pt x="0" y="47682"/>
                  <a:pt x="47682" y="0"/>
                  <a:pt x="106500" y="0"/>
                </a:cubicBezTo>
                <a:lnTo>
                  <a:pt x="497000" y="0"/>
                </a:lnTo>
                <a:cubicBezTo>
                  <a:pt x="555819" y="0"/>
                  <a:pt x="603500" y="47682"/>
                  <a:pt x="603500" y="106500"/>
                </a:cubicBezTo>
                <a:cubicBezTo>
                  <a:pt x="603500" y="165319"/>
                  <a:pt x="555819" y="213000"/>
                  <a:pt x="497000" y="213000"/>
                </a:cubicBezTo>
                <a:lnTo>
                  <a:pt x="106500" y="213000"/>
                </a:lnTo>
                <a:cubicBezTo>
                  <a:pt x="47682" y="213000"/>
                  <a:pt x="0" y="165319"/>
                  <a:pt x="0" y="106500"/>
                </a:cubicBezTo>
                <a:close/>
              </a:path>
              <a:path w="603500" h="213000" fill="none">
                <a:moveTo>
                  <a:pt x="0" y="106500"/>
                </a:moveTo>
                <a:cubicBezTo>
                  <a:pt x="0" y="47682"/>
                  <a:pt x="47682" y="0"/>
                  <a:pt x="106500" y="0"/>
                </a:cubicBezTo>
                <a:lnTo>
                  <a:pt x="497000" y="0"/>
                </a:lnTo>
                <a:cubicBezTo>
                  <a:pt x="555819" y="0"/>
                  <a:pt x="603500" y="47682"/>
                  <a:pt x="603500" y="106500"/>
                </a:cubicBezTo>
                <a:cubicBezTo>
                  <a:pt x="603500" y="165319"/>
                  <a:pt x="555819" y="213000"/>
                  <a:pt x="497000" y="213000"/>
                </a:cubicBezTo>
                <a:lnTo>
                  <a:pt x="106500" y="213000"/>
                </a:lnTo>
                <a:cubicBezTo>
                  <a:pt x="47682" y="213000"/>
                  <a:pt x="0" y="165319"/>
                  <a:pt x="0" y="106500"/>
                </a:cubicBezTo>
                <a:close/>
              </a:path>
            </a:pathLst>
          </a:custGeom>
          <a:solidFill>
            <a:srgbClr val="EF4444"/>
          </a:solidFill>
          <a:ln w="7100" cap="flat">
            <a:noFill/>
            <a:miter/>
          </a:ln>
        </p:spPr>
      </p:sp>
      <p:sp>
        <p:nvSpPr>
          <p:cNvPr id="1166" name="任意多边形 1165"/>
          <p:cNvSpPr/>
          <p:nvPr/>
        </p:nvSpPr>
        <p:spPr>
          <a:xfrm>
            <a:off x="104290" y="440485"/>
            <a:ext cx="525400" cy="191700"/>
          </a:xfrm>
          <a:custGeom>
            <a:avLst/>
            <a:gdLst>
              <a:gd name="connsiteX0" fmla="*/ 0 w 525400"/>
              <a:gd name="connsiteY0" fmla="*/ 95850 h 191700"/>
              <a:gd name="connsiteX1" fmla="*/ 262700 w 525400"/>
              <a:gd name="connsiteY1" fmla="*/ 0 h 191700"/>
              <a:gd name="connsiteX2" fmla="*/ 525400 w 525400"/>
              <a:gd name="connsiteY2" fmla="*/ 95850 h 191700"/>
              <a:gd name="connsiteX3" fmla="*/ 262700 w 525400"/>
              <a:gd name="connsiteY3" fmla="*/ 191700 h 191700"/>
              <a:gd name="rtl" fmla="*/ 8205186 w 525400"/>
              <a:gd name="rtt" fmla="*/ 5038437 h 191700"/>
              <a:gd name="rtr" fmla="*/ 8773186 w 525400"/>
              <a:gd name="rtb" fmla="*/ 523013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FFFF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REJECTED</a:t>
            </a:r>
            <a:endParaRPr lang="zh-CN" altLang="en-US" sz="74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7" name="任意多边形 1166"/>
          <p:cNvSpPr/>
          <p:nvPr/>
        </p:nvSpPr>
        <p:spPr>
          <a:xfrm>
            <a:off x="104290" y="440485"/>
            <a:ext cx="497000" cy="177500"/>
          </a:xfrm>
          <a:custGeom>
            <a:avLst/>
            <a:gdLst>
              <a:gd name="connsiteX0" fmla="*/ 0 w 497000"/>
              <a:gd name="connsiteY0" fmla="*/ 88750 h 177500"/>
              <a:gd name="connsiteX1" fmla="*/ 248500 w 497000"/>
              <a:gd name="connsiteY1" fmla="*/ 0 h 177500"/>
              <a:gd name="connsiteX2" fmla="*/ 497000 w 497000"/>
              <a:gd name="connsiteY2" fmla="*/ 88750 h 177500"/>
              <a:gd name="connsiteX3" fmla="*/ 248500 w 497000"/>
              <a:gd name="connsiteY3" fmla="*/ 177500 h 177500"/>
              <a:gd name="rtl" fmla="*/ 8269086 w 497000"/>
              <a:gd name="rtt" fmla="*/ 5240787 h 177500"/>
              <a:gd name="rtr" fmla="*/ 8766086 w 497000"/>
              <a:gd name="rtb" fmla="*/ 54182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舍弃并重试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1" name="任意多边形 1170"/>
          <p:cNvSpPr/>
          <p:nvPr/>
        </p:nvSpPr>
        <p:spPr>
          <a:xfrm>
            <a:off x="9459676" y="995272"/>
            <a:ext cx="1988000" cy="5183000"/>
          </a:xfrm>
          <a:custGeom>
            <a:avLst/>
            <a:gdLst/>
            <a:ahLst/>
            <a:cxnLst/>
            <a:rect l="l" t="t" r="r" b="b"/>
            <a:pathLst>
              <a:path w="1988000" h="5183000" stroke="0">
                <a:moveTo>
                  <a:pt x="0" y="0"/>
                </a:moveTo>
                <a:lnTo>
                  <a:pt x="1988000" y="0"/>
                </a:lnTo>
                <a:lnTo>
                  <a:pt x="1988000" y="5183000"/>
                </a:lnTo>
                <a:lnTo>
                  <a:pt x="0" y="5183000"/>
                </a:lnTo>
                <a:lnTo>
                  <a:pt x="0" y="0"/>
                </a:lnTo>
                <a:close/>
              </a:path>
              <a:path w="1988000" h="5183000" fill="none">
                <a:moveTo>
                  <a:pt x="0" y="0"/>
                </a:moveTo>
                <a:lnTo>
                  <a:pt x="1988000" y="0"/>
                </a:lnTo>
                <a:lnTo>
                  <a:pt x="1988000" y="5183000"/>
                </a:lnTo>
                <a:lnTo>
                  <a:pt x="0" y="5183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100" cap="flat">
            <a:solidFill>
              <a:srgbClr val="E2E8F0"/>
            </a:solidFill>
            <a:miter/>
          </a:ln>
        </p:spPr>
      </p:sp>
      <p:sp>
        <p:nvSpPr>
          <p:cNvPr id="1172" name="任意多边形 1171"/>
          <p:cNvSpPr/>
          <p:nvPr/>
        </p:nvSpPr>
        <p:spPr>
          <a:xfrm>
            <a:off x="9459676" y="995272"/>
            <a:ext cx="71000" cy="5183000"/>
          </a:xfrm>
          <a:custGeom>
            <a:avLst/>
            <a:gdLst/>
            <a:ahLst/>
            <a:cxnLst/>
            <a:rect l="l" t="t" r="r" b="b"/>
            <a:pathLst>
              <a:path w="71000" h="5183000" stroke="0">
                <a:moveTo>
                  <a:pt x="0" y="35500"/>
                </a:move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lnTo>
                  <a:pt x="71000" y="5147500"/>
                </a:lnTo>
                <a:cubicBezTo>
                  <a:pt x="71000" y="5167103"/>
                  <a:pt x="55106" y="5183000"/>
                  <a:pt x="35500" y="5183000"/>
                </a:cubicBezTo>
                <a:cubicBezTo>
                  <a:pt x="15894" y="5183000"/>
                  <a:pt x="0" y="5167103"/>
                  <a:pt x="0" y="5147500"/>
                </a:cubicBezTo>
                <a:lnTo>
                  <a:pt x="0" y="35500"/>
                </a:lnTo>
                <a:close/>
              </a:path>
              <a:path w="71000" h="5183000" fill="none">
                <a:moveTo>
                  <a:pt x="0" y="35500"/>
                </a:moveTo>
                <a:cubicBezTo>
                  <a:pt x="0" y="15894"/>
                  <a:pt x="15894" y="0"/>
                  <a:pt x="35500" y="0"/>
                </a:cubicBezTo>
                <a:cubicBezTo>
                  <a:pt x="55106" y="0"/>
                  <a:pt x="71000" y="15894"/>
                  <a:pt x="71000" y="35500"/>
                </a:cubicBezTo>
                <a:lnTo>
                  <a:pt x="71000" y="5147500"/>
                </a:lnTo>
                <a:cubicBezTo>
                  <a:pt x="71000" y="5167103"/>
                  <a:pt x="55106" y="5183000"/>
                  <a:pt x="35500" y="5183000"/>
                </a:cubicBezTo>
                <a:cubicBezTo>
                  <a:pt x="15894" y="5183000"/>
                  <a:pt x="0" y="5167103"/>
                  <a:pt x="0" y="5147500"/>
                </a:cubicBezTo>
                <a:lnTo>
                  <a:pt x="0" y="35500"/>
                </a:lnTo>
                <a:close/>
              </a:path>
            </a:pathLst>
          </a:custGeom>
          <a:solidFill>
            <a:srgbClr val="3B82F6"/>
          </a:solidFill>
          <a:ln w="7100" cap="flat">
            <a:noFill/>
            <a:miter/>
          </a:ln>
        </p:spPr>
      </p:sp>
      <p:sp>
        <p:nvSpPr>
          <p:cNvPr id="1173" name="任意多边形 1172"/>
          <p:cNvSpPr/>
          <p:nvPr/>
        </p:nvSpPr>
        <p:spPr>
          <a:xfrm>
            <a:off x="9743676" y="1634272"/>
            <a:ext cx="1562000" cy="3763000"/>
          </a:xfrm>
          <a:custGeom>
            <a:avLst/>
            <a:gdLst/>
            <a:ahLst/>
            <a:cxnLst/>
            <a:rect l="l" t="t" r="r" b="b"/>
            <a:pathLst>
              <a:path w="1562000" h="3763000" stroke="0">
                <a:moveTo>
                  <a:pt x="0" y="0"/>
                </a:moveTo>
                <a:lnTo>
                  <a:pt x="1562000" y="0"/>
                </a:lnTo>
                <a:lnTo>
                  <a:pt x="1278000" y="3763000"/>
                </a:lnTo>
                <a:lnTo>
                  <a:pt x="284000" y="3763000"/>
                </a:lnTo>
                <a:lnTo>
                  <a:pt x="0" y="0"/>
                </a:lnTo>
                <a:close/>
              </a:path>
              <a:path w="1562000" h="3763000" fill="none">
                <a:moveTo>
                  <a:pt x="0" y="0"/>
                </a:moveTo>
                <a:lnTo>
                  <a:pt x="1562000" y="0"/>
                </a:lnTo>
                <a:lnTo>
                  <a:pt x="1278000" y="3763000"/>
                </a:lnTo>
                <a:lnTo>
                  <a:pt x="284000" y="3763000"/>
                </a:lnTo>
                <a:lnTo>
                  <a:pt x="0" y="0"/>
                </a:lnTo>
                <a:close/>
              </a:path>
            </a:pathLst>
          </a:custGeom>
          <a:solidFill>
            <a:srgbClr val="EEF2FF">
              <a:alpha val="60000"/>
            </a:srgbClr>
          </a:solidFill>
          <a:ln w="7100" cap="flat">
            <a:noFill/>
            <a:miter/>
          </a:ln>
        </p:spPr>
      </p:sp>
      <p:sp>
        <p:nvSpPr>
          <p:cNvPr id="1174" name="任意多边形 1173"/>
          <p:cNvSpPr/>
          <p:nvPr/>
        </p:nvSpPr>
        <p:spPr>
          <a:xfrm>
            <a:off x="104290" y="440485"/>
            <a:ext cx="965600" cy="255600"/>
          </a:xfrm>
          <a:custGeom>
            <a:avLst/>
            <a:gdLst>
              <a:gd name="connsiteX0" fmla="*/ 0 w 965600"/>
              <a:gd name="connsiteY0" fmla="*/ 127800 h 255600"/>
              <a:gd name="connsiteX1" fmla="*/ 482800 w 965600"/>
              <a:gd name="connsiteY1" fmla="*/ 0 h 255600"/>
              <a:gd name="connsiteX2" fmla="*/ 965600 w 965600"/>
              <a:gd name="connsiteY2" fmla="*/ 127800 h 255600"/>
              <a:gd name="connsiteX3" fmla="*/ 482800 w 965600"/>
              <a:gd name="connsiteY3" fmla="*/ 255600 h 255600"/>
              <a:gd name="rtl" fmla="*/ 9504486 w 965600"/>
              <a:gd name="rtt" fmla="*/ 597387 h 255600"/>
              <a:gd name="rtr" fmla="*/ 10470086 w 965600"/>
              <a:gd name="rtb" fmla="*/ 852987 h 2556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293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960" b="1" dirty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验证与模拟体系</a:t>
            </a:r>
            <a:endParaRPr lang="zh-CN" altLang="en-US" sz="960" b="1" dirty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5" name="任意多边形 1174"/>
          <p:cNvSpPr/>
          <p:nvPr/>
        </p:nvSpPr>
        <p:spPr>
          <a:xfrm>
            <a:off x="104290" y="440485"/>
            <a:ext cx="1349000" cy="177500"/>
          </a:xfrm>
          <a:custGeom>
            <a:avLst/>
            <a:gdLst>
              <a:gd name="connsiteX0" fmla="*/ 0 w 1349000"/>
              <a:gd name="connsiteY0" fmla="*/ 88750 h 177500"/>
              <a:gd name="connsiteX1" fmla="*/ 674500 w 1349000"/>
              <a:gd name="connsiteY1" fmla="*/ 0 h 177500"/>
              <a:gd name="connsiteX2" fmla="*/ 1349000 w 1349000"/>
              <a:gd name="connsiteY2" fmla="*/ 88750 h 177500"/>
              <a:gd name="connsiteX3" fmla="*/ 674500 w 1349000"/>
              <a:gd name="connsiteY3" fmla="*/ 177500 h 177500"/>
              <a:gd name="rtl" fmla="*/ 9504486 w 1349000"/>
              <a:gd name="rtt" fmla="*/ 803287 h 177500"/>
              <a:gd name="rtr" fmla="*/ 10853486 w 1349000"/>
              <a:gd name="rtb" fmla="*/ 9807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从原子到功能的多层次计算证据链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6" name="任意多边形 1175"/>
          <p:cNvSpPr/>
          <p:nvPr/>
        </p:nvSpPr>
        <p:spPr>
          <a:xfrm>
            <a:off x="9637176" y="1634272"/>
            <a:ext cx="1633000" cy="923000"/>
          </a:xfrm>
          <a:custGeom>
            <a:avLst/>
            <a:gdLst/>
            <a:ahLst/>
            <a:cxnLst/>
            <a:rect l="l" t="t" r="r" b="b"/>
            <a:pathLst>
              <a:path w="1633000" h="923000" stroke="0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1576200" y="0"/>
                </a:lnTo>
                <a:cubicBezTo>
                  <a:pt x="1607568" y="0"/>
                  <a:pt x="1633000" y="25430"/>
                  <a:pt x="1633000" y="56800"/>
                </a:cubicBezTo>
                <a:lnTo>
                  <a:pt x="1633000" y="866200"/>
                </a:lnTo>
                <a:cubicBezTo>
                  <a:pt x="1633000" y="897568"/>
                  <a:pt x="1607568" y="923000"/>
                  <a:pt x="1576200" y="923000"/>
                </a:cubicBezTo>
                <a:lnTo>
                  <a:pt x="56800" y="923000"/>
                </a:lnTo>
                <a:cubicBezTo>
                  <a:pt x="25430" y="923000"/>
                  <a:pt x="0" y="897568"/>
                  <a:pt x="0" y="866200"/>
                </a:cubicBezTo>
                <a:lnTo>
                  <a:pt x="0" y="56800"/>
                </a:lnTo>
                <a:close/>
              </a:path>
              <a:path w="1633000" h="923000" fill="none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1576200" y="0"/>
                </a:lnTo>
                <a:cubicBezTo>
                  <a:pt x="1607568" y="0"/>
                  <a:pt x="1633000" y="25430"/>
                  <a:pt x="1633000" y="56800"/>
                </a:cubicBezTo>
                <a:lnTo>
                  <a:pt x="1633000" y="866200"/>
                </a:lnTo>
                <a:cubicBezTo>
                  <a:pt x="1633000" y="897568"/>
                  <a:pt x="1607568" y="923000"/>
                  <a:pt x="1576200" y="923000"/>
                </a:cubicBezTo>
                <a:lnTo>
                  <a:pt x="56800" y="923000"/>
                </a:lnTo>
                <a:cubicBezTo>
                  <a:pt x="25430" y="923000"/>
                  <a:pt x="0" y="897568"/>
                  <a:pt x="0" y="866200"/>
                </a:cubicBezTo>
                <a:lnTo>
                  <a:pt x="0" y="56800"/>
                </a:lnTo>
                <a:close/>
              </a:path>
            </a:pathLst>
          </a:custGeom>
          <a:solidFill>
            <a:srgbClr val="FFFFFF"/>
          </a:solidFill>
          <a:ln w="14200" cap="flat">
            <a:solidFill>
              <a:srgbClr val="93C5FD"/>
            </a:solidFill>
            <a:miter/>
          </a:ln>
        </p:spPr>
      </p:sp>
      <p:sp>
        <p:nvSpPr>
          <p:cNvPr id="1177" name="任意多边形 1176"/>
          <p:cNvSpPr/>
          <p:nvPr/>
        </p:nvSpPr>
        <p:spPr>
          <a:xfrm>
            <a:off x="9637176" y="1634272"/>
            <a:ext cx="1633000" cy="248500"/>
          </a:xfrm>
          <a:custGeom>
            <a:avLst/>
            <a:gdLst/>
            <a:ahLst/>
            <a:cxnLst/>
            <a:rect l="l" t="t" r="r" b="b"/>
            <a:pathLst>
              <a:path w="1633000" h="248500" stroke="0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1576200" y="0"/>
                </a:lnTo>
                <a:cubicBezTo>
                  <a:pt x="1607568" y="0"/>
                  <a:pt x="1633000" y="25430"/>
                  <a:pt x="1633000" y="56800"/>
                </a:cubicBezTo>
                <a:lnTo>
                  <a:pt x="1633000" y="191700"/>
                </a:lnTo>
                <a:cubicBezTo>
                  <a:pt x="1633000" y="223070"/>
                  <a:pt x="1607568" y="248500"/>
                  <a:pt x="1576200" y="248500"/>
                </a:cubicBezTo>
                <a:lnTo>
                  <a:pt x="56800" y="248500"/>
                </a:lnTo>
                <a:cubicBezTo>
                  <a:pt x="25430" y="248500"/>
                  <a:pt x="0" y="223070"/>
                  <a:pt x="0" y="191700"/>
                </a:cubicBezTo>
                <a:lnTo>
                  <a:pt x="0" y="56800"/>
                </a:lnTo>
                <a:close/>
              </a:path>
              <a:path w="1633000" h="248500" fill="none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1576200" y="0"/>
                </a:lnTo>
                <a:cubicBezTo>
                  <a:pt x="1607568" y="0"/>
                  <a:pt x="1633000" y="25430"/>
                  <a:pt x="1633000" y="56800"/>
                </a:cubicBezTo>
                <a:lnTo>
                  <a:pt x="1633000" y="191700"/>
                </a:lnTo>
                <a:cubicBezTo>
                  <a:pt x="1633000" y="223070"/>
                  <a:pt x="1607568" y="248500"/>
                  <a:pt x="1576200" y="248500"/>
                </a:cubicBezTo>
                <a:lnTo>
                  <a:pt x="56800" y="248500"/>
                </a:lnTo>
                <a:cubicBezTo>
                  <a:pt x="25430" y="248500"/>
                  <a:pt x="0" y="223070"/>
                  <a:pt x="0" y="191700"/>
                </a:cubicBezTo>
                <a:lnTo>
                  <a:pt x="0" y="56800"/>
                </a:lnTo>
                <a:close/>
              </a:path>
            </a:pathLst>
          </a:custGeom>
          <a:solidFill>
            <a:srgbClr val="DBEAFE"/>
          </a:solidFill>
          <a:ln w="7100" cap="flat">
            <a:noFill/>
            <a:miter/>
          </a:ln>
        </p:spPr>
      </p:sp>
      <p:sp>
        <p:nvSpPr>
          <p:cNvPr id="1178" name="任意多边形 1177"/>
          <p:cNvSpPr/>
          <p:nvPr/>
        </p:nvSpPr>
        <p:spPr>
          <a:xfrm>
            <a:off x="104290" y="440485"/>
            <a:ext cx="1249600" cy="213000"/>
          </a:xfrm>
          <a:custGeom>
            <a:avLst/>
            <a:gdLst>
              <a:gd name="connsiteX0" fmla="*/ 0 w 1249600"/>
              <a:gd name="connsiteY0" fmla="*/ 106500 h 213000"/>
              <a:gd name="connsiteX1" fmla="*/ 624800 w 1249600"/>
              <a:gd name="connsiteY1" fmla="*/ 0 h 213000"/>
              <a:gd name="connsiteX2" fmla="*/ 1249600 w 1249600"/>
              <a:gd name="connsiteY2" fmla="*/ 106500 h 213000"/>
              <a:gd name="connsiteX3" fmla="*/ 624800 w 1249600"/>
              <a:gd name="connsiteY3" fmla="*/ 213000 h 213000"/>
              <a:gd name="rtl" fmla="*/ 9728136 w 1249600"/>
              <a:gd name="rtt" fmla="*/ 1211537 h 213000"/>
              <a:gd name="rtr" fmla="*/ 10977736 w 1249600"/>
              <a:gd name="rtb" fmla="*/ 1424537 h 21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0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第一级：快速初筛 (秒级)</a:t>
            </a:r>
            <a:endParaRPr lang="zh-CN" altLang="en-US" sz="800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9" name="任意多边形 1178"/>
          <p:cNvSpPr/>
          <p:nvPr/>
        </p:nvSpPr>
        <p:spPr>
          <a:xfrm>
            <a:off x="9779176" y="2024772"/>
            <a:ext cx="213000" cy="248500"/>
          </a:xfrm>
          <a:custGeom>
            <a:avLst/>
            <a:gdLst/>
            <a:ahLst/>
            <a:cxnLst/>
            <a:rect l="l" t="t" r="r" b="b"/>
            <a:pathLst>
              <a:path w="213000" h="248500" stroke="0">
                <a:moveTo>
                  <a:pt x="106500" y="0"/>
                </a:moveTo>
                <a:lnTo>
                  <a:pt x="213000" y="71000"/>
                </a:lnTo>
                <a:lnTo>
                  <a:pt x="213000" y="177500"/>
                </a:lnTo>
                <a:lnTo>
                  <a:pt x="106500" y="248500"/>
                </a:lnTo>
                <a:lnTo>
                  <a:pt x="0" y="177500"/>
                </a:lnTo>
                <a:lnTo>
                  <a:pt x="0" y="71000"/>
                </a:lnTo>
                <a:lnTo>
                  <a:pt x="106500" y="0"/>
                </a:lnTo>
                <a:close/>
              </a:path>
              <a:path w="213000" h="248500" fill="none">
                <a:moveTo>
                  <a:pt x="106500" y="0"/>
                </a:moveTo>
                <a:lnTo>
                  <a:pt x="213000" y="71000"/>
                </a:lnTo>
                <a:lnTo>
                  <a:pt x="213000" y="177500"/>
                </a:lnTo>
                <a:lnTo>
                  <a:pt x="106500" y="248500"/>
                </a:lnTo>
                <a:lnTo>
                  <a:pt x="0" y="177500"/>
                </a:lnTo>
                <a:lnTo>
                  <a:pt x="0" y="71000"/>
                </a:lnTo>
                <a:lnTo>
                  <a:pt x="106500" y="0"/>
                </a:lnTo>
                <a:close/>
              </a:path>
            </a:pathLst>
          </a:custGeom>
          <a:solidFill>
            <a:srgbClr val="E0F2FE"/>
          </a:solidFill>
          <a:ln w="14200" cap="flat">
            <a:solidFill>
              <a:srgbClr val="0EA5E9"/>
            </a:solidFill>
            <a:miter/>
          </a:ln>
        </p:spPr>
      </p:sp>
      <p:sp>
        <p:nvSpPr>
          <p:cNvPr id="1180" name="任意多边形 1179"/>
          <p:cNvSpPr/>
          <p:nvPr/>
        </p:nvSpPr>
        <p:spPr>
          <a:xfrm>
            <a:off x="104290" y="440485"/>
            <a:ext cx="624800" cy="191700"/>
          </a:xfrm>
          <a:custGeom>
            <a:avLst/>
            <a:gdLst>
              <a:gd name="connsiteX0" fmla="*/ 0 w 624800"/>
              <a:gd name="connsiteY0" fmla="*/ 95850 h 191700"/>
              <a:gd name="connsiteX1" fmla="*/ 312400 w 624800"/>
              <a:gd name="connsiteY1" fmla="*/ 0 h 191700"/>
              <a:gd name="connsiteX2" fmla="*/ 624800 w 624800"/>
              <a:gd name="connsiteY2" fmla="*/ 95850 h 191700"/>
              <a:gd name="connsiteX3" fmla="*/ 312400 w 624800"/>
              <a:gd name="connsiteY3" fmla="*/ 191700 h 191700"/>
              <a:gd name="rtl" fmla="*/ 9965986 w 624800"/>
              <a:gd name="rtt" fmla="*/ 1534587 h 191700"/>
              <a:gd name="rtr" fmla="*/ 10590786 w 624800"/>
              <a:gd name="rtb" fmla="*/ 17262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F172A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几何评分引擎</a:t>
            </a:r>
            <a:endParaRPr lang="zh-CN" altLang="en-US" sz="69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1" name="任意多边形 1180"/>
          <p:cNvSpPr/>
          <p:nvPr/>
        </p:nvSpPr>
        <p:spPr>
          <a:xfrm>
            <a:off x="104290" y="440485"/>
            <a:ext cx="1093400" cy="177500"/>
          </a:xfrm>
          <a:custGeom>
            <a:avLst/>
            <a:gdLst>
              <a:gd name="connsiteX0" fmla="*/ 0 w 1093400"/>
              <a:gd name="connsiteY0" fmla="*/ 88750 h 177500"/>
              <a:gd name="connsiteX1" fmla="*/ 546700 w 1093400"/>
              <a:gd name="connsiteY1" fmla="*/ 0 h 177500"/>
              <a:gd name="connsiteX2" fmla="*/ 1093400 w 1093400"/>
              <a:gd name="connsiteY2" fmla="*/ 88750 h 177500"/>
              <a:gd name="connsiteX3" fmla="*/ 546700 w 1093400"/>
              <a:gd name="connsiteY3" fmla="*/ 177500 h 177500"/>
              <a:gd name="rtl" fmla="*/ 9965986 w 1093400"/>
              <a:gd name="rtt" fmla="*/ 1690787 h 177500"/>
              <a:gd name="rtr" fmla="*/ 11059386 w 1093400"/>
              <a:gd name="rtb" fmla="*/ 18682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冰结合潜力初筛与活性预测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4" name="任意多边形 1183"/>
          <p:cNvSpPr/>
          <p:nvPr/>
        </p:nvSpPr>
        <p:spPr>
          <a:xfrm>
            <a:off x="10453676" y="2557272"/>
            <a:ext cx="7100" cy="213000"/>
          </a:xfrm>
          <a:custGeom>
            <a:avLst/>
            <a:gdLst/>
            <a:ahLst/>
            <a:cxnLst/>
            <a:rect l="l" t="t" r="r" b="b"/>
            <a:pathLst>
              <a:path w="7100" h="213000" fill="none">
                <a:moveTo>
                  <a:pt x="0" y="0"/>
                </a:moveTo>
                <a:lnTo>
                  <a:pt x="0" y="213000"/>
                </a:lnTo>
              </a:path>
            </a:pathLst>
          </a:custGeom>
          <a:noFill/>
          <a:ln w="17750" cap="flat">
            <a:solidFill>
              <a:srgbClr val="94A3B8"/>
            </a:solidFill>
            <a:miter/>
          </a:ln>
        </p:spPr>
      </p:sp>
      <p:sp>
        <p:nvSpPr>
          <p:cNvPr id="1185" name="任意多边形 1184"/>
          <p:cNvSpPr/>
          <p:nvPr/>
        </p:nvSpPr>
        <p:spPr>
          <a:xfrm rot="5400000">
            <a:off x="10406851" y="2733421"/>
            <a:ext cx="100751" cy="100751"/>
          </a:xfrm>
          <a:custGeom>
            <a:avLst/>
            <a:gdLst/>
            <a:ahLst/>
            <a:cxnLst/>
            <a:rect l="l" t="t" r="r" b="b"/>
            <a:pathLst>
              <a:path w="100751" h="100751" stroke="0">
                <a:moveTo>
                  <a:pt x="0" y="0"/>
                </a:moveTo>
                <a:lnTo>
                  <a:pt x="100751" y="50376"/>
                </a:lnTo>
                <a:lnTo>
                  <a:pt x="0" y="100751"/>
                </a:lnTo>
                <a:lnTo>
                  <a:pt x="0" y="0"/>
                </a:lnTo>
                <a:close/>
              </a:path>
              <a:path w="100751" h="100751" fill="none">
                <a:moveTo>
                  <a:pt x="0" y="0"/>
                </a:moveTo>
                <a:lnTo>
                  <a:pt x="100751" y="50376"/>
                </a:lnTo>
                <a:lnTo>
                  <a:pt x="0" y="100751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1187" name="任意多边形 1186"/>
          <p:cNvSpPr/>
          <p:nvPr/>
        </p:nvSpPr>
        <p:spPr>
          <a:xfrm>
            <a:off x="9637176" y="2841272"/>
            <a:ext cx="1633000" cy="923000"/>
          </a:xfrm>
          <a:custGeom>
            <a:avLst/>
            <a:gdLst/>
            <a:ahLst/>
            <a:cxnLst/>
            <a:rect l="l" t="t" r="r" b="b"/>
            <a:pathLst>
              <a:path w="1633000" h="923000" stroke="0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1576200" y="0"/>
                </a:lnTo>
                <a:cubicBezTo>
                  <a:pt x="1607568" y="0"/>
                  <a:pt x="1633000" y="25430"/>
                  <a:pt x="1633000" y="56800"/>
                </a:cubicBezTo>
                <a:lnTo>
                  <a:pt x="1633000" y="866200"/>
                </a:lnTo>
                <a:cubicBezTo>
                  <a:pt x="1633000" y="897568"/>
                  <a:pt x="1607568" y="923000"/>
                  <a:pt x="1576200" y="923000"/>
                </a:cubicBezTo>
                <a:lnTo>
                  <a:pt x="56800" y="923000"/>
                </a:lnTo>
                <a:cubicBezTo>
                  <a:pt x="25430" y="923000"/>
                  <a:pt x="0" y="897568"/>
                  <a:pt x="0" y="866200"/>
                </a:cubicBezTo>
                <a:lnTo>
                  <a:pt x="0" y="56800"/>
                </a:lnTo>
                <a:close/>
              </a:path>
              <a:path w="1633000" h="923000" fill="none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1576200" y="0"/>
                </a:lnTo>
                <a:cubicBezTo>
                  <a:pt x="1607568" y="0"/>
                  <a:pt x="1633000" y="25430"/>
                  <a:pt x="1633000" y="56800"/>
                </a:cubicBezTo>
                <a:lnTo>
                  <a:pt x="1633000" y="866200"/>
                </a:lnTo>
                <a:cubicBezTo>
                  <a:pt x="1633000" y="897568"/>
                  <a:pt x="1607568" y="923000"/>
                  <a:pt x="1576200" y="923000"/>
                </a:cubicBezTo>
                <a:lnTo>
                  <a:pt x="56800" y="923000"/>
                </a:lnTo>
                <a:cubicBezTo>
                  <a:pt x="25430" y="923000"/>
                  <a:pt x="0" y="897568"/>
                  <a:pt x="0" y="866200"/>
                </a:cubicBezTo>
                <a:lnTo>
                  <a:pt x="0" y="56800"/>
                </a:lnTo>
                <a:close/>
              </a:path>
            </a:pathLst>
          </a:custGeom>
          <a:solidFill>
            <a:srgbClr val="FFFFFF"/>
          </a:solidFill>
          <a:ln w="14200" cap="flat">
            <a:solidFill>
              <a:srgbClr val="93C5FD"/>
            </a:solidFill>
            <a:miter/>
          </a:ln>
        </p:spPr>
      </p:sp>
      <p:sp>
        <p:nvSpPr>
          <p:cNvPr id="1188" name="任意多边形 1187"/>
          <p:cNvSpPr/>
          <p:nvPr/>
        </p:nvSpPr>
        <p:spPr>
          <a:xfrm>
            <a:off x="9637176" y="2841272"/>
            <a:ext cx="1633000" cy="248500"/>
          </a:xfrm>
          <a:custGeom>
            <a:avLst/>
            <a:gdLst/>
            <a:ahLst/>
            <a:cxnLst/>
            <a:rect l="l" t="t" r="r" b="b"/>
            <a:pathLst>
              <a:path w="1633000" h="248500" stroke="0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1576200" y="0"/>
                </a:lnTo>
                <a:cubicBezTo>
                  <a:pt x="1607568" y="0"/>
                  <a:pt x="1633000" y="25430"/>
                  <a:pt x="1633000" y="56800"/>
                </a:cubicBezTo>
                <a:lnTo>
                  <a:pt x="1633000" y="191700"/>
                </a:lnTo>
                <a:cubicBezTo>
                  <a:pt x="1633000" y="223070"/>
                  <a:pt x="1607568" y="248500"/>
                  <a:pt x="1576200" y="248500"/>
                </a:cubicBezTo>
                <a:lnTo>
                  <a:pt x="56800" y="248500"/>
                </a:lnTo>
                <a:cubicBezTo>
                  <a:pt x="25430" y="248500"/>
                  <a:pt x="0" y="223070"/>
                  <a:pt x="0" y="191700"/>
                </a:cubicBezTo>
                <a:lnTo>
                  <a:pt x="0" y="56800"/>
                </a:lnTo>
                <a:close/>
              </a:path>
              <a:path w="1633000" h="248500" fill="none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1576200" y="0"/>
                </a:lnTo>
                <a:cubicBezTo>
                  <a:pt x="1607568" y="0"/>
                  <a:pt x="1633000" y="25430"/>
                  <a:pt x="1633000" y="56800"/>
                </a:cubicBezTo>
                <a:lnTo>
                  <a:pt x="1633000" y="191700"/>
                </a:lnTo>
                <a:cubicBezTo>
                  <a:pt x="1633000" y="223070"/>
                  <a:pt x="1607568" y="248500"/>
                  <a:pt x="1576200" y="248500"/>
                </a:cubicBezTo>
                <a:lnTo>
                  <a:pt x="56800" y="248500"/>
                </a:lnTo>
                <a:cubicBezTo>
                  <a:pt x="25430" y="248500"/>
                  <a:pt x="0" y="223070"/>
                  <a:pt x="0" y="191700"/>
                </a:cubicBezTo>
                <a:lnTo>
                  <a:pt x="0" y="56800"/>
                </a:lnTo>
                <a:close/>
              </a:path>
            </a:pathLst>
          </a:custGeom>
          <a:solidFill>
            <a:srgbClr val="DBEAFE"/>
          </a:solidFill>
          <a:ln w="7100" cap="flat">
            <a:noFill/>
            <a:miter/>
          </a:ln>
        </p:spPr>
      </p:sp>
      <p:sp>
        <p:nvSpPr>
          <p:cNvPr id="1189" name="任意多边形 1188"/>
          <p:cNvSpPr/>
          <p:nvPr/>
        </p:nvSpPr>
        <p:spPr>
          <a:xfrm>
            <a:off x="104290" y="440485"/>
            <a:ext cx="1356100" cy="213000"/>
          </a:xfrm>
          <a:custGeom>
            <a:avLst/>
            <a:gdLst>
              <a:gd name="connsiteX0" fmla="*/ 0 w 1356100"/>
              <a:gd name="connsiteY0" fmla="*/ 106500 h 213000"/>
              <a:gd name="connsiteX1" fmla="*/ 678050 w 1356100"/>
              <a:gd name="connsiteY1" fmla="*/ 0 h 213000"/>
              <a:gd name="connsiteX2" fmla="*/ 1356100 w 1356100"/>
              <a:gd name="connsiteY2" fmla="*/ 106500 h 213000"/>
              <a:gd name="connsiteX3" fmla="*/ 678050 w 1356100"/>
              <a:gd name="connsiteY3" fmla="*/ 213000 h 213000"/>
              <a:gd name="rtl" fmla="*/ 9674886 w 1356100"/>
              <a:gd name="rtt" fmla="*/ 2393687 h 213000"/>
              <a:gd name="rtr" fmla="*/ 11030986 w 1356100"/>
              <a:gd name="rtb" fmla="*/ 2606687 h 21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0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第二级：结构验证 (分钟级)</a:t>
            </a:r>
            <a:endParaRPr lang="zh-CN" altLang="en-US" sz="800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0" name="任意多边形 1189"/>
          <p:cNvSpPr/>
          <p:nvPr/>
        </p:nvSpPr>
        <p:spPr>
          <a:xfrm>
            <a:off x="9779176" y="3320522"/>
            <a:ext cx="213000" cy="106500"/>
          </a:xfrm>
          <a:custGeom>
            <a:avLst/>
            <a:gdLst/>
            <a:ahLst/>
            <a:cxnLst/>
            <a:rect l="l" t="t" r="r" b="b"/>
            <a:pathLst>
              <a:path w="213000" h="106500" stroke="0">
                <a:moveTo>
                  <a:pt x="0" y="53250"/>
                </a:moveTo>
                <a:cubicBezTo>
                  <a:pt x="47333" y="-17750"/>
                  <a:pt x="82834" y="-17750"/>
                  <a:pt x="106500" y="53250"/>
                </a:cubicBezTo>
                <a:cubicBezTo>
                  <a:pt x="130166" y="124250"/>
                  <a:pt x="165666" y="124250"/>
                  <a:pt x="213000" y="53250"/>
                </a:cubicBezTo>
              </a:path>
              <a:path w="213000" h="106500" fill="none">
                <a:moveTo>
                  <a:pt x="0" y="53250"/>
                </a:moveTo>
                <a:cubicBezTo>
                  <a:pt x="47333" y="-17750"/>
                  <a:pt x="82834" y="-17750"/>
                  <a:pt x="106500" y="53250"/>
                </a:cubicBezTo>
                <a:cubicBezTo>
                  <a:pt x="130166" y="124250"/>
                  <a:pt x="165666" y="124250"/>
                  <a:pt x="213000" y="53250"/>
                </a:cubicBezTo>
              </a:path>
            </a:pathLst>
          </a:custGeom>
          <a:noFill/>
          <a:ln w="21300" cap="flat">
            <a:solidFill>
              <a:srgbClr val="8B5CF6"/>
            </a:solidFill>
            <a:miter/>
          </a:ln>
        </p:spPr>
      </p:sp>
      <p:sp>
        <p:nvSpPr>
          <p:cNvPr id="1191" name="任意多边形 1190"/>
          <p:cNvSpPr/>
          <p:nvPr/>
        </p:nvSpPr>
        <p:spPr>
          <a:xfrm>
            <a:off x="9757876" y="3352472"/>
            <a:ext cx="42600" cy="42600"/>
          </a:xfrm>
          <a:custGeom>
            <a:avLst/>
            <a:gdLst/>
            <a:ahLst/>
            <a:cxnLst/>
            <a:rect l="l" t="t" r="r" b="b"/>
            <a:pathLst>
              <a:path w="42600" h="42600" stroke="0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  <a:path w="42600" h="42600" fill="none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</a:pathLst>
          </a:custGeom>
          <a:solidFill>
            <a:srgbClr val="8B5CF6"/>
          </a:solidFill>
          <a:ln w="7100" cap="flat">
            <a:noFill/>
            <a:miter/>
          </a:ln>
        </p:spPr>
      </p:sp>
      <p:sp>
        <p:nvSpPr>
          <p:cNvPr id="1192" name="任意多边形 1191"/>
          <p:cNvSpPr/>
          <p:nvPr/>
        </p:nvSpPr>
        <p:spPr>
          <a:xfrm>
            <a:off x="9970876" y="3352472"/>
            <a:ext cx="42600" cy="42600"/>
          </a:xfrm>
          <a:custGeom>
            <a:avLst/>
            <a:gdLst/>
            <a:ahLst/>
            <a:cxnLst/>
            <a:rect l="l" t="t" r="r" b="b"/>
            <a:pathLst>
              <a:path w="42600" h="42600" stroke="0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  <a:path w="42600" h="42600" fill="none">
                <a:moveTo>
                  <a:pt x="42600" y="21300"/>
                </a:moveTo>
                <a:cubicBezTo>
                  <a:pt x="42600" y="33064"/>
                  <a:pt x="33064" y="42600"/>
                  <a:pt x="21300" y="42600"/>
                </a:cubicBezTo>
                <a:cubicBezTo>
                  <a:pt x="9536" y="42600"/>
                  <a:pt x="0" y="33064"/>
                  <a:pt x="0" y="21300"/>
                </a:cubicBezTo>
                <a:cubicBezTo>
                  <a:pt x="0" y="9536"/>
                  <a:pt x="9536" y="0"/>
                  <a:pt x="21300" y="0"/>
                </a:cubicBezTo>
                <a:cubicBezTo>
                  <a:pt x="33064" y="0"/>
                  <a:pt x="42600" y="9536"/>
                  <a:pt x="42600" y="21300"/>
                </a:cubicBezTo>
                <a:close/>
              </a:path>
            </a:pathLst>
          </a:custGeom>
          <a:solidFill>
            <a:srgbClr val="8B5CF6"/>
          </a:solidFill>
          <a:ln w="7100" cap="flat">
            <a:noFill/>
            <a:miter/>
          </a:ln>
        </p:spPr>
      </p:sp>
      <p:sp>
        <p:nvSpPr>
          <p:cNvPr id="1193" name="任意多边形 1192"/>
          <p:cNvSpPr/>
          <p:nvPr/>
        </p:nvSpPr>
        <p:spPr>
          <a:xfrm>
            <a:off x="104290" y="440485"/>
            <a:ext cx="781000" cy="191700"/>
          </a:xfrm>
          <a:custGeom>
            <a:avLst/>
            <a:gdLst>
              <a:gd name="connsiteX0" fmla="*/ 0 w 781000"/>
              <a:gd name="connsiteY0" fmla="*/ 95850 h 191700"/>
              <a:gd name="connsiteX1" fmla="*/ 390500 w 781000"/>
              <a:gd name="connsiteY1" fmla="*/ 0 h 191700"/>
              <a:gd name="connsiteX2" fmla="*/ 781000 w 781000"/>
              <a:gd name="connsiteY2" fmla="*/ 95850 h 191700"/>
              <a:gd name="connsiteX3" fmla="*/ 390500 w 781000"/>
              <a:gd name="connsiteY3" fmla="*/ 191700 h 191700"/>
              <a:gd name="rtl" fmla="*/ 9958886 w 781000"/>
              <a:gd name="rtt" fmla="*/ 2741587 h 191700"/>
              <a:gd name="rtr" fmla="*/ 10754086 w 781000"/>
              <a:gd name="rtb" fmla="*/ 29332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F172A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PLM 与 结构预测</a:t>
            </a:r>
            <a:endParaRPr lang="zh-CN" altLang="en-US" sz="69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4" name="任意多边形 1193"/>
          <p:cNvSpPr/>
          <p:nvPr/>
        </p:nvSpPr>
        <p:spPr>
          <a:xfrm>
            <a:off x="104290" y="440485"/>
            <a:ext cx="1093400" cy="177500"/>
          </a:xfrm>
          <a:custGeom>
            <a:avLst/>
            <a:gdLst>
              <a:gd name="connsiteX0" fmla="*/ 0 w 1093400"/>
              <a:gd name="connsiteY0" fmla="*/ 88750 h 177500"/>
              <a:gd name="connsiteX1" fmla="*/ 546700 w 1093400"/>
              <a:gd name="connsiteY1" fmla="*/ 0 h 177500"/>
              <a:gd name="connsiteX2" fmla="*/ 1093400 w 1093400"/>
              <a:gd name="connsiteY2" fmla="*/ 88750 h 177500"/>
              <a:gd name="connsiteX3" fmla="*/ 546700 w 1093400"/>
              <a:gd name="connsiteY3" fmla="*/ 177500 h 177500"/>
              <a:gd name="rtl" fmla="*/ 9965986 w 1093400"/>
              <a:gd name="rtt" fmla="*/ 2897787 h 177500"/>
              <a:gd name="rtr" fmla="*/ 11059386 w 1093400"/>
              <a:gd name="rtb" fmla="*/ 30752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突变体折叠合理性与稳定性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7" name="任意多边形 1196"/>
          <p:cNvSpPr/>
          <p:nvPr/>
        </p:nvSpPr>
        <p:spPr>
          <a:xfrm>
            <a:off x="10453676" y="3764272"/>
            <a:ext cx="7100" cy="213000"/>
          </a:xfrm>
          <a:custGeom>
            <a:avLst/>
            <a:gdLst/>
            <a:ahLst/>
            <a:cxnLst/>
            <a:rect l="l" t="t" r="r" b="b"/>
            <a:pathLst>
              <a:path w="7100" h="213000" fill="none">
                <a:moveTo>
                  <a:pt x="0" y="0"/>
                </a:moveTo>
                <a:lnTo>
                  <a:pt x="0" y="213000"/>
                </a:lnTo>
              </a:path>
            </a:pathLst>
          </a:custGeom>
          <a:noFill/>
          <a:ln w="17750" cap="flat">
            <a:solidFill>
              <a:srgbClr val="94A3B8"/>
            </a:solidFill>
            <a:miter/>
          </a:ln>
        </p:spPr>
      </p:sp>
      <p:sp>
        <p:nvSpPr>
          <p:cNvPr id="1198" name="任意多边形 1197"/>
          <p:cNvSpPr/>
          <p:nvPr/>
        </p:nvSpPr>
        <p:spPr>
          <a:xfrm rot="5400000">
            <a:off x="10410009" y="3953839"/>
            <a:ext cx="87334" cy="87334"/>
          </a:xfrm>
          <a:custGeom>
            <a:avLst/>
            <a:gdLst/>
            <a:ahLst/>
            <a:cxnLst/>
            <a:rect l="l" t="t" r="r" b="b"/>
            <a:pathLst>
              <a:path w="87334" h="87334" stroke="0">
                <a:moveTo>
                  <a:pt x="0" y="0"/>
                </a:moveTo>
                <a:lnTo>
                  <a:pt x="87334" y="43667"/>
                </a:lnTo>
                <a:lnTo>
                  <a:pt x="0" y="87334"/>
                </a:lnTo>
                <a:lnTo>
                  <a:pt x="0" y="0"/>
                </a:lnTo>
                <a:close/>
              </a:path>
              <a:path w="87334" h="87334" fill="none">
                <a:moveTo>
                  <a:pt x="0" y="0"/>
                </a:moveTo>
                <a:lnTo>
                  <a:pt x="87334" y="43667"/>
                </a:lnTo>
                <a:lnTo>
                  <a:pt x="0" y="87334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1200" name="任意多边形 1199"/>
          <p:cNvSpPr/>
          <p:nvPr/>
        </p:nvSpPr>
        <p:spPr>
          <a:xfrm>
            <a:off x="9637176" y="4048272"/>
            <a:ext cx="1633000" cy="923000"/>
          </a:xfrm>
          <a:custGeom>
            <a:avLst/>
            <a:gdLst/>
            <a:ahLst/>
            <a:cxnLst/>
            <a:rect l="l" t="t" r="r" b="b"/>
            <a:pathLst>
              <a:path w="1633000" h="923000" stroke="0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1576200" y="0"/>
                </a:lnTo>
                <a:cubicBezTo>
                  <a:pt x="1607568" y="0"/>
                  <a:pt x="1633000" y="25430"/>
                  <a:pt x="1633000" y="56800"/>
                </a:cubicBezTo>
                <a:lnTo>
                  <a:pt x="1633000" y="866200"/>
                </a:lnTo>
                <a:cubicBezTo>
                  <a:pt x="1633000" y="897568"/>
                  <a:pt x="1607568" y="923000"/>
                  <a:pt x="1576200" y="923000"/>
                </a:cubicBezTo>
                <a:lnTo>
                  <a:pt x="56800" y="923000"/>
                </a:lnTo>
                <a:cubicBezTo>
                  <a:pt x="25430" y="923000"/>
                  <a:pt x="0" y="897568"/>
                  <a:pt x="0" y="866200"/>
                </a:cubicBezTo>
                <a:lnTo>
                  <a:pt x="0" y="56800"/>
                </a:lnTo>
                <a:close/>
              </a:path>
              <a:path w="1633000" h="923000" fill="none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1576200" y="0"/>
                </a:lnTo>
                <a:cubicBezTo>
                  <a:pt x="1607568" y="0"/>
                  <a:pt x="1633000" y="25430"/>
                  <a:pt x="1633000" y="56800"/>
                </a:cubicBezTo>
                <a:lnTo>
                  <a:pt x="1633000" y="866200"/>
                </a:lnTo>
                <a:cubicBezTo>
                  <a:pt x="1633000" y="897568"/>
                  <a:pt x="1607568" y="923000"/>
                  <a:pt x="1576200" y="923000"/>
                </a:cubicBezTo>
                <a:lnTo>
                  <a:pt x="56800" y="923000"/>
                </a:lnTo>
                <a:cubicBezTo>
                  <a:pt x="25430" y="923000"/>
                  <a:pt x="0" y="897568"/>
                  <a:pt x="0" y="866200"/>
                </a:cubicBezTo>
                <a:lnTo>
                  <a:pt x="0" y="56800"/>
                </a:lnTo>
                <a:close/>
              </a:path>
            </a:pathLst>
          </a:custGeom>
          <a:solidFill>
            <a:srgbClr val="FFFFFF"/>
          </a:solidFill>
          <a:ln w="14200" cap="flat">
            <a:solidFill>
              <a:srgbClr val="93C5FD"/>
            </a:solidFill>
            <a:miter/>
          </a:ln>
        </p:spPr>
      </p:sp>
      <p:sp>
        <p:nvSpPr>
          <p:cNvPr id="1201" name="任意多边形 1200"/>
          <p:cNvSpPr/>
          <p:nvPr/>
        </p:nvSpPr>
        <p:spPr>
          <a:xfrm>
            <a:off x="9637176" y="4048272"/>
            <a:ext cx="1633000" cy="248500"/>
          </a:xfrm>
          <a:custGeom>
            <a:avLst/>
            <a:gdLst/>
            <a:ahLst/>
            <a:cxnLst/>
            <a:rect l="l" t="t" r="r" b="b"/>
            <a:pathLst>
              <a:path w="1633000" h="248500" stroke="0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1576200" y="0"/>
                </a:lnTo>
                <a:cubicBezTo>
                  <a:pt x="1607568" y="0"/>
                  <a:pt x="1633000" y="25430"/>
                  <a:pt x="1633000" y="56800"/>
                </a:cubicBezTo>
                <a:lnTo>
                  <a:pt x="1633000" y="191700"/>
                </a:lnTo>
                <a:cubicBezTo>
                  <a:pt x="1633000" y="223070"/>
                  <a:pt x="1607568" y="248500"/>
                  <a:pt x="1576200" y="248500"/>
                </a:cubicBezTo>
                <a:lnTo>
                  <a:pt x="56800" y="248500"/>
                </a:lnTo>
                <a:cubicBezTo>
                  <a:pt x="25430" y="248500"/>
                  <a:pt x="0" y="223070"/>
                  <a:pt x="0" y="191700"/>
                </a:cubicBezTo>
                <a:lnTo>
                  <a:pt x="0" y="56800"/>
                </a:lnTo>
                <a:close/>
              </a:path>
              <a:path w="1633000" h="248500" fill="none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1576200" y="0"/>
                </a:lnTo>
                <a:cubicBezTo>
                  <a:pt x="1607568" y="0"/>
                  <a:pt x="1633000" y="25430"/>
                  <a:pt x="1633000" y="56800"/>
                </a:cubicBezTo>
                <a:lnTo>
                  <a:pt x="1633000" y="191700"/>
                </a:lnTo>
                <a:cubicBezTo>
                  <a:pt x="1633000" y="223070"/>
                  <a:pt x="1607568" y="248500"/>
                  <a:pt x="1576200" y="248500"/>
                </a:cubicBezTo>
                <a:lnTo>
                  <a:pt x="56800" y="248500"/>
                </a:lnTo>
                <a:cubicBezTo>
                  <a:pt x="25430" y="248500"/>
                  <a:pt x="0" y="223070"/>
                  <a:pt x="0" y="191700"/>
                </a:cubicBezTo>
                <a:lnTo>
                  <a:pt x="0" y="56800"/>
                </a:lnTo>
                <a:close/>
              </a:path>
            </a:pathLst>
          </a:custGeom>
          <a:solidFill>
            <a:srgbClr val="DBEAFE"/>
          </a:solidFill>
          <a:ln w="7100" cap="flat">
            <a:noFill/>
            <a:miter/>
          </a:ln>
        </p:spPr>
      </p:sp>
      <p:sp>
        <p:nvSpPr>
          <p:cNvPr id="1202" name="任意多边形 1201"/>
          <p:cNvSpPr/>
          <p:nvPr/>
        </p:nvSpPr>
        <p:spPr>
          <a:xfrm>
            <a:off x="104290" y="440485"/>
            <a:ext cx="1249600" cy="213000"/>
          </a:xfrm>
          <a:custGeom>
            <a:avLst/>
            <a:gdLst>
              <a:gd name="connsiteX0" fmla="*/ 0 w 1249600"/>
              <a:gd name="connsiteY0" fmla="*/ 106500 h 213000"/>
              <a:gd name="connsiteX1" fmla="*/ 624800 w 1249600"/>
              <a:gd name="connsiteY1" fmla="*/ 0 h 213000"/>
              <a:gd name="connsiteX2" fmla="*/ 1249600 w 1249600"/>
              <a:gd name="connsiteY2" fmla="*/ 106500 h 213000"/>
              <a:gd name="connsiteX3" fmla="*/ 624800 w 1249600"/>
              <a:gd name="connsiteY3" fmla="*/ 213000 h 213000"/>
              <a:gd name="rtl" fmla="*/ 9724586 w 1249600"/>
              <a:gd name="rtt" fmla="*/ 3600687 h 213000"/>
              <a:gd name="rtr" fmla="*/ 10974186 w 1249600"/>
              <a:gd name="rtb" fmla="*/ 3813687 h 21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800" b="1" dirty="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第三级：机理阐释 (介观)</a:t>
            </a:r>
            <a:endParaRPr lang="zh-CN" altLang="en-US" sz="800" b="1" dirty="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3" name="任意多边形 1202"/>
          <p:cNvSpPr/>
          <p:nvPr/>
        </p:nvSpPr>
        <p:spPr>
          <a:xfrm>
            <a:off x="9786276" y="4481372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F43F5E"/>
          </a:solidFill>
          <a:ln w="7100" cap="flat">
            <a:noFill/>
            <a:miter/>
          </a:ln>
        </p:spPr>
      </p:sp>
      <p:sp>
        <p:nvSpPr>
          <p:cNvPr id="1204" name="任意多边形 1203"/>
          <p:cNvSpPr/>
          <p:nvPr/>
        </p:nvSpPr>
        <p:spPr>
          <a:xfrm>
            <a:off x="9928276" y="4481372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3B82F6"/>
          </a:solidFill>
          <a:ln w="7100" cap="flat">
            <a:noFill/>
            <a:miter/>
          </a:ln>
        </p:spPr>
      </p:sp>
      <p:sp>
        <p:nvSpPr>
          <p:cNvPr id="1205" name="任意多边形 1204"/>
          <p:cNvSpPr/>
          <p:nvPr/>
        </p:nvSpPr>
        <p:spPr>
          <a:xfrm>
            <a:off x="9857276" y="4587872"/>
            <a:ext cx="56800" cy="56800"/>
          </a:xfrm>
          <a:custGeom>
            <a:avLst/>
            <a:gdLst/>
            <a:ahLst/>
            <a:cxnLst/>
            <a:rect l="l" t="t" r="r" b="b"/>
            <a:pathLst>
              <a:path w="56800" h="56800" stroke="0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  <a:path w="56800" h="56800" fill="none">
                <a:moveTo>
                  <a:pt x="56800" y="28400"/>
                </a:moveTo>
                <a:cubicBezTo>
                  <a:pt x="56800" y="44085"/>
                  <a:pt x="44085" y="56800"/>
                  <a:pt x="28400" y="56800"/>
                </a:cubicBezTo>
                <a:cubicBezTo>
                  <a:pt x="12715" y="56800"/>
                  <a:pt x="0" y="44085"/>
                  <a:pt x="0" y="28400"/>
                </a:cubicBezTo>
                <a:cubicBezTo>
                  <a:pt x="0" y="12715"/>
                  <a:pt x="12715" y="0"/>
                  <a:pt x="28400" y="0"/>
                </a:cubicBezTo>
                <a:cubicBezTo>
                  <a:pt x="44085" y="0"/>
                  <a:pt x="56800" y="12715"/>
                  <a:pt x="56800" y="28400"/>
                </a:cubicBezTo>
                <a:close/>
              </a:path>
            </a:pathLst>
          </a:custGeom>
          <a:solidFill>
            <a:srgbClr val="10B981"/>
          </a:solidFill>
          <a:ln w="7100" cap="flat">
            <a:noFill/>
            <a:miter/>
          </a:ln>
        </p:spPr>
      </p:sp>
      <p:sp>
        <p:nvSpPr>
          <p:cNvPr id="1206" name="任意多边形 1205"/>
          <p:cNvSpPr/>
          <p:nvPr/>
        </p:nvSpPr>
        <p:spPr>
          <a:xfrm>
            <a:off x="9814676" y="4509772"/>
            <a:ext cx="142000" cy="7100"/>
          </a:xfrm>
          <a:custGeom>
            <a:avLst/>
            <a:gdLst/>
            <a:ahLst/>
            <a:cxnLst/>
            <a:rect l="l" t="t" r="r" b="b"/>
            <a:pathLst>
              <a:path w="142000" h="7100" fill="none">
                <a:moveTo>
                  <a:pt x="0" y="0"/>
                </a:moveTo>
                <a:lnTo>
                  <a:pt x="142000" y="0"/>
                </a:lnTo>
              </a:path>
            </a:pathLst>
          </a:custGeom>
          <a:solidFill>
            <a:srgbClr val="000000"/>
          </a:solidFill>
          <a:ln w="10650" cap="flat">
            <a:solidFill>
              <a:srgbClr val="94A3B8"/>
            </a:solidFill>
            <a:miter/>
          </a:ln>
        </p:spPr>
      </p:sp>
      <p:sp>
        <p:nvSpPr>
          <p:cNvPr id="1207" name="任意多边形 1206"/>
          <p:cNvSpPr/>
          <p:nvPr/>
        </p:nvSpPr>
        <p:spPr>
          <a:xfrm>
            <a:off x="9814676" y="4509772"/>
            <a:ext cx="71000" cy="106500"/>
          </a:xfrm>
          <a:custGeom>
            <a:avLst/>
            <a:gdLst/>
            <a:ahLst/>
            <a:cxnLst/>
            <a:rect l="l" t="t" r="r" b="b"/>
            <a:pathLst>
              <a:path w="71000" h="106500" fill="none">
                <a:moveTo>
                  <a:pt x="0" y="0"/>
                </a:moveTo>
                <a:lnTo>
                  <a:pt x="71000" y="106500"/>
                </a:lnTo>
              </a:path>
            </a:pathLst>
          </a:custGeom>
          <a:solidFill>
            <a:srgbClr val="000000"/>
          </a:solidFill>
          <a:ln w="10650" cap="flat">
            <a:solidFill>
              <a:srgbClr val="94A3B8"/>
            </a:solidFill>
            <a:miter/>
          </a:ln>
        </p:spPr>
      </p:sp>
      <p:sp>
        <p:nvSpPr>
          <p:cNvPr id="1208" name="任意多边形 1207"/>
          <p:cNvSpPr/>
          <p:nvPr/>
        </p:nvSpPr>
        <p:spPr>
          <a:xfrm>
            <a:off x="9885676" y="4509772"/>
            <a:ext cx="71000" cy="106500"/>
          </a:xfrm>
          <a:custGeom>
            <a:avLst/>
            <a:gdLst/>
            <a:ahLst/>
            <a:cxnLst/>
            <a:rect l="l" t="t" r="r" b="b"/>
            <a:pathLst>
              <a:path w="71000" h="106500" fill="none">
                <a:moveTo>
                  <a:pt x="71000" y="0"/>
                </a:moveTo>
                <a:lnTo>
                  <a:pt x="0" y="106500"/>
                </a:lnTo>
              </a:path>
            </a:pathLst>
          </a:custGeom>
          <a:solidFill>
            <a:srgbClr val="000000"/>
          </a:solidFill>
          <a:ln w="10650" cap="flat">
            <a:solidFill>
              <a:srgbClr val="94A3B8"/>
            </a:solidFill>
            <a:miter/>
          </a:ln>
        </p:spPr>
      </p:sp>
      <p:sp>
        <p:nvSpPr>
          <p:cNvPr id="1209" name="任意多边形 1208"/>
          <p:cNvSpPr/>
          <p:nvPr/>
        </p:nvSpPr>
        <p:spPr>
          <a:xfrm>
            <a:off x="104290" y="440485"/>
            <a:ext cx="958500" cy="191700"/>
          </a:xfrm>
          <a:custGeom>
            <a:avLst/>
            <a:gdLst>
              <a:gd name="connsiteX0" fmla="*/ 0 w 958500"/>
              <a:gd name="connsiteY0" fmla="*/ 95850 h 191700"/>
              <a:gd name="connsiteX1" fmla="*/ 479250 w 958500"/>
              <a:gd name="connsiteY1" fmla="*/ 0 h 191700"/>
              <a:gd name="connsiteX2" fmla="*/ 958500 w 958500"/>
              <a:gd name="connsiteY2" fmla="*/ 95850 h 191700"/>
              <a:gd name="connsiteX3" fmla="*/ 479250 w 958500"/>
              <a:gd name="connsiteY3" fmla="*/ 191700 h 191700"/>
              <a:gd name="rtl" fmla="*/ 9958886 w 958500"/>
              <a:gd name="rtt" fmla="*/ 3948587 h 191700"/>
              <a:gd name="rtr" fmla="*/ 10938686 w 958500"/>
              <a:gd name="rtb" fmla="*/ 41402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F172A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CGMD 与 自由能计算</a:t>
            </a:r>
            <a:endParaRPr lang="zh-CN" altLang="en-US" sz="69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0" name="任意多边形 1209"/>
          <p:cNvSpPr/>
          <p:nvPr/>
        </p:nvSpPr>
        <p:spPr>
          <a:xfrm>
            <a:off x="104290" y="440485"/>
            <a:ext cx="1178600" cy="177500"/>
          </a:xfrm>
          <a:custGeom>
            <a:avLst/>
            <a:gdLst>
              <a:gd name="connsiteX0" fmla="*/ 0 w 1178600"/>
              <a:gd name="connsiteY0" fmla="*/ 88750 h 177500"/>
              <a:gd name="connsiteX1" fmla="*/ 589300 w 1178600"/>
              <a:gd name="connsiteY1" fmla="*/ 0 h 177500"/>
              <a:gd name="connsiteX2" fmla="*/ 1178600 w 1178600"/>
              <a:gd name="connsiteY2" fmla="*/ 88750 h 177500"/>
              <a:gd name="connsiteX3" fmla="*/ 589300 w 1178600"/>
              <a:gd name="connsiteY3" fmla="*/ 177500 h 177500"/>
              <a:gd name="rtl" fmla="*/ 9965986 w 1178600"/>
              <a:gd name="rtt" fmla="*/ 4104787 h 177500"/>
              <a:gd name="rtr" fmla="*/ 11144586 w 1178600"/>
              <a:gd name="rtb" fmla="*/ 4282287 h 1775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40" b="1" dirty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在介观尺度阐释冰晶抑制机理</a:t>
            </a:r>
            <a:endParaRPr lang="zh-CN" altLang="en-US" sz="640" b="1" dirty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3" name="任意多边形 1212"/>
          <p:cNvSpPr/>
          <p:nvPr/>
        </p:nvSpPr>
        <p:spPr>
          <a:xfrm>
            <a:off x="10453676" y="4971272"/>
            <a:ext cx="7100" cy="355000"/>
          </a:xfrm>
          <a:custGeom>
            <a:avLst/>
            <a:gdLst/>
            <a:ahLst/>
            <a:cxnLst/>
            <a:rect l="l" t="t" r="r" b="b"/>
            <a:pathLst>
              <a:path w="7100" h="355000" fill="none">
                <a:moveTo>
                  <a:pt x="0" y="0"/>
                </a:moveTo>
                <a:lnTo>
                  <a:pt x="0" y="355000"/>
                </a:lnTo>
              </a:path>
            </a:pathLst>
          </a:custGeom>
          <a:noFill/>
          <a:ln w="17750" cap="flat">
            <a:solidFill>
              <a:srgbClr val="94A3B8"/>
            </a:solidFill>
            <a:miter/>
          </a:ln>
        </p:spPr>
      </p:sp>
      <p:sp>
        <p:nvSpPr>
          <p:cNvPr id="1214" name="任意多边形 1213"/>
          <p:cNvSpPr/>
          <p:nvPr/>
        </p:nvSpPr>
        <p:spPr>
          <a:xfrm rot="5400000">
            <a:off x="10389883" y="5269686"/>
            <a:ext cx="127586" cy="127586"/>
          </a:xfrm>
          <a:custGeom>
            <a:avLst/>
            <a:gdLst/>
            <a:ahLst/>
            <a:cxnLst/>
            <a:rect l="l" t="t" r="r" b="b"/>
            <a:pathLst>
              <a:path w="127586" h="127586" stroke="0">
                <a:moveTo>
                  <a:pt x="0" y="0"/>
                </a:moveTo>
                <a:lnTo>
                  <a:pt x="127586" y="63793"/>
                </a:lnTo>
                <a:lnTo>
                  <a:pt x="0" y="127586"/>
                </a:lnTo>
                <a:lnTo>
                  <a:pt x="0" y="0"/>
                </a:lnTo>
                <a:close/>
              </a:path>
              <a:path w="127586" h="127586" fill="none">
                <a:moveTo>
                  <a:pt x="0" y="0"/>
                </a:moveTo>
                <a:lnTo>
                  <a:pt x="127586" y="63793"/>
                </a:lnTo>
                <a:lnTo>
                  <a:pt x="0" y="127586"/>
                </a:lnTo>
                <a:lnTo>
                  <a:pt x="0" y="0"/>
                </a:lnTo>
                <a:close/>
              </a:path>
            </a:pathLst>
          </a:custGeom>
          <a:solidFill>
            <a:srgbClr val="94A3B8"/>
          </a:solidFill>
          <a:ln w="7100" cap="flat">
            <a:noFill/>
            <a:miter/>
          </a:ln>
        </p:spPr>
      </p:sp>
      <p:sp>
        <p:nvSpPr>
          <p:cNvPr id="1216" name="任意多边形 1215"/>
          <p:cNvSpPr/>
          <p:nvPr/>
        </p:nvSpPr>
        <p:spPr>
          <a:xfrm>
            <a:off x="9743676" y="5397272"/>
            <a:ext cx="1420000" cy="426000"/>
          </a:xfrm>
          <a:custGeom>
            <a:avLst/>
            <a:gdLst/>
            <a:ahLst/>
            <a:cxnLst/>
            <a:rect l="l" t="t" r="r" b="b"/>
            <a:pathLst>
              <a:path w="1420000" h="426000" stroke="0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1363200" y="0"/>
                </a:lnTo>
                <a:cubicBezTo>
                  <a:pt x="1394568" y="0"/>
                  <a:pt x="1420000" y="25430"/>
                  <a:pt x="1420000" y="56800"/>
                </a:cubicBezTo>
                <a:lnTo>
                  <a:pt x="1420000" y="369200"/>
                </a:lnTo>
                <a:cubicBezTo>
                  <a:pt x="1420000" y="400570"/>
                  <a:pt x="1394568" y="426000"/>
                  <a:pt x="1363200" y="426000"/>
                </a:cubicBezTo>
                <a:lnTo>
                  <a:pt x="56800" y="426000"/>
                </a:lnTo>
                <a:cubicBezTo>
                  <a:pt x="25430" y="426000"/>
                  <a:pt x="0" y="400570"/>
                  <a:pt x="0" y="369200"/>
                </a:cubicBezTo>
                <a:lnTo>
                  <a:pt x="0" y="56800"/>
                </a:lnTo>
                <a:close/>
              </a:path>
              <a:path w="1420000" h="426000" fill="none">
                <a:moveTo>
                  <a:pt x="0" y="56800"/>
                </a:moveTo>
                <a:cubicBezTo>
                  <a:pt x="0" y="25430"/>
                  <a:pt x="25430" y="0"/>
                  <a:pt x="56800" y="0"/>
                </a:cubicBezTo>
                <a:lnTo>
                  <a:pt x="1363200" y="0"/>
                </a:lnTo>
                <a:cubicBezTo>
                  <a:pt x="1394568" y="0"/>
                  <a:pt x="1420000" y="25430"/>
                  <a:pt x="1420000" y="56800"/>
                </a:cubicBezTo>
                <a:lnTo>
                  <a:pt x="1420000" y="369200"/>
                </a:lnTo>
                <a:cubicBezTo>
                  <a:pt x="1420000" y="400570"/>
                  <a:pt x="1394568" y="426000"/>
                  <a:pt x="1363200" y="426000"/>
                </a:cubicBezTo>
                <a:lnTo>
                  <a:pt x="56800" y="426000"/>
                </a:lnTo>
                <a:cubicBezTo>
                  <a:pt x="25430" y="426000"/>
                  <a:pt x="0" y="400570"/>
                  <a:pt x="0" y="369200"/>
                </a:cubicBezTo>
                <a:lnTo>
                  <a:pt x="0" y="5680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1D4ED8"/>
              </a:gs>
            </a:gsLst>
            <a:lin ang="2700000" scaled="0"/>
          </a:gradFill>
          <a:ln w="7100" cap="flat">
            <a:noFill/>
            <a:miter/>
          </a:ln>
        </p:spPr>
      </p:sp>
      <p:sp>
        <p:nvSpPr>
          <p:cNvPr id="1217" name="任意多边形 1216"/>
          <p:cNvSpPr/>
          <p:nvPr/>
        </p:nvSpPr>
        <p:spPr>
          <a:xfrm>
            <a:off x="104290" y="440485"/>
            <a:ext cx="965600" cy="205900"/>
          </a:xfrm>
          <a:custGeom>
            <a:avLst/>
            <a:gdLst>
              <a:gd name="connsiteX0" fmla="*/ 0 w 965600"/>
              <a:gd name="connsiteY0" fmla="*/ 102950 h 205900"/>
              <a:gd name="connsiteX1" fmla="*/ 482800 w 965600"/>
              <a:gd name="connsiteY1" fmla="*/ 0 h 205900"/>
              <a:gd name="connsiteX2" fmla="*/ 965600 w 965600"/>
              <a:gd name="connsiteY2" fmla="*/ 102950 h 205900"/>
              <a:gd name="connsiteX3" fmla="*/ 482800 w 965600"/>
              <a:gd name="connsiteY3" fmla="*/ 205900 h 205900"/>
              <a:gd name="rtl" fmla="*/ 9866586 w 965600"/>
              <a:gd name="rtt" fmla="*/ 4970987 h 205900"/>
              <a:gd name="rtr" fmla="*/ 10832186 w 965600"/>
              <a:gd name="rtb" fmla="*/ 5176887 h 2059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FFFF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745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输出高质量候选序列</a:t>
            </a:r>
            <a:endParaRPr lang="zh-CN" altLang="en-US" sz="745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8" name="任意多边形 1217"/>
          <p:cNvSpPr/>
          <p:nvPr/>
        </p:nvSpPr>
        <p:spPr>
          <a:xfrm>
            <a:off x="104290" y="440485"/>
            <a:ext cx="717100" cy="191700"/>
          </a:xfrm>
          <a:custGeom>
            <a:avLst/>
            <a:gdLst>
              <a:gd name="connsiteX0" fmla="*/ 0 w 717100"/>
              <a:gd name="connsiteY0" fmla="*/ 95850 h 191700"/>
              <a:gd name="connsiteX1" fmla="*/ 358550 w 717100"/>
              <a:gd name="connsiteY1" fmla="*/ 0 h 191700"/>
              <a:gd name="connsiteX2" fmla="*/ 717100 w 717100"/>
              <a:gd name="connsiteY2" fmla="*/ 95850 h 191700"/>
              <a:gd name="connsiteX3" fmla="*/ 358550 w 717100"/>
              <a:gd name="connsiteY3" fmla="*/ 191700 h 191700"/>
              <a:gd name="rtl" fmla="*/ 9994386 w 717100"/>
              <a:gd name="rtt" fmla="*/ 5120087 h 191700"/>
              <a:gd name="rtr" fmla="*/ 10711486 w 717100"/>
              <a:gd name="rtb" fmla="*/ 5311787 h 1917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100" cap="flat">
            <a:noFill/>
            <a:miter/>
          </a:ln>
        </p:spPr>
        <p:txBody>
          <a:bodyPr wrap="none" lIns="38100" tIns="38100" rIns="38100" bIns="38100" rtlCol="0" anchor="ctr"/>
          <a:lstStyle/>
          <a:p>
            <a:pPr algn="l"/>
            <a:r>
              <a:rPr lang="zh-CN" altLang="en-US" sz="690" b="1" dirty="0">
                <a:solidFill>
                  <a:srgbClr val="D7D7D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进入湿实验验证</a:t>
            </a:r>
            <a:endParaRPr lang="zh-CN" altLang="en-US" sz="690" b="1" dirty="0">
              <a:solidFill>
                <a:srgbClr val="D7D7D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59055" y="57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0665" y="215900"/>
            <a:ext cx="1172146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000" b="1" i="0">
                <a:solidFill>
                  <a:srgbClr val="000000"/>
                </a:solidFill>
                <a:latin typeface="Times New Roman Regular" panose="02020503050405090304" charset="0"/>
                <a:ea typeface="微软雅黑" charset="0"/>
                <a:cs typeface="Times New Roman Regular" panose="02020503050405090304" charset="0"/>
              </a:rPr>
              <a:t>抗冻蛋白</a:t>
            </a:r>
            <a:r>
              <a:rPr lang="en-US" altLang="zh-CN" sz="2000" b="1" i="0">
                <a:solidFill>
                  <a:srgbClr val="000000"/>
                </a:solidFill>
                <a:latin typeface="Times New Roman Regular" panose="02020503050405090304" charset="0"/>
                <a:ea typeface="微软雅黑" charset="0"/>
                <a:cs typeface="Times New Roman Regular" panose="02020503050405090304" charset="0"/>
              </a:rPr>
              <a:t>AFP</a:t>
            </a:r>
            <a:r>
              <a:rPr lang="zh-CN" altLang="en-US" sz="2000" b="1" i="0">
                <a:solidFill>
                  <a:srgbClr val="000000"/>
                </a:solidFill>
                <a:latin typeface="Times New Roman Regular" panose="02020503050405090304" charset="0"/>
                <a:ea typeface="微软雅黑" charset="0"/>
                <a:cs typeface="Times New Roman Regular" panose="02020503050405090304" charset="0"/>
              </a:rPr>
              <a:t>蛋白性能优化</a:t>
            </a:r>
            <a:r>
              <a:rPr lang="en-US" altLang="zh-CN" sz="2000" b="1" i="0">
                <a:solidFill>
                  <a:srgbClr val="000000"/>
                </a:solidFill>
                <a:latin typeface="Times New Roman Regular" panose="02020503050405090304" charset="0"/>
                <a:ea typeface="微软雅黑" charset="0"/>
                <a:cs typeface="Times New Roman Regular" panose="02020503050405090304" charset="0"/>
              </a:rPr>
              <a:t>---</a:t>
            </a:r>
            <a:r>
              <a:rPr lang="zh-CN" altLang="en-US" sz="2000" b="1" i="0">
                <a:solidFill>
                  <a:srgbClr val="000000"/>
                </a:solidFill>
                <a:latin typeface="Times New Roman Regular" panose="02020503050405090304" charset="0"/>
                <a:ea typeface="微软雅黑" charset="0"/>
                <a:cs typeface="Times New Roman Regular" panose="02020503050405090304" charset="0"/>
              </a:rPr>
              <a:t>传统</a:t>
            </a:r>
            <a:r>
              <a:rPr lang="en-US" altLang="zh-CN" sz="2000" b="1" i="0">
                <a:solidFill>
                  <a:srgbClr val="000000"/>
                </a:solidFill>
                <a:latin typeface="Times New Roman Regular" panose="02020503050405090304" charset="0"/>
                <a:ea typeface="微软雅黑" charset="0"/>
                <a:cs typeface="Times New Roman Regular" panose="02020503050405090304" charset="0"/>
              </a:rPr>
              <a:t> vs </a:t>
            </a:r>
            <a:r>
              <a:rPr lang="zh-CN" altLang="en-US" sz="2000" b="1" i="0">
                <a:solidFill>
                  <a:srgbClr val="000000"/>
                </a:solidFill>
                <a:latin typeface="Times New Roman Regular" panose="02020503050405090304" charset="0"/>
                <a:ea typeface="微软雅黑" charset="0"/>
                <a:cs typeface="Times New Roman Regular" panose="02020503050405090304" charset="0"/>
              </a:rPr>
              <a:t>智能体模式</a:t>
            </a:r>
            <a:endParaRPr lang="zh-CN" altLang="en-US" sz="2000" b="1" i="0">
              <a:solidFill>
                <a:srgbClr val="000000"/>
              </a:solidFill>
              <a:latin typeface="Times New Roman Regular" panose="02020503050405090304" charset="0"/>
              <a:ea typeface="微软雅黑" charset="0"/>
              <a:cs typeface="Times New Roman Regular" panose="02020503050405090304" charset="0"/>
            </a:endParaRPr>
          </a:p>
        </p:txBody>
      </p:sp>
      <p:sp>
        <p:nvSpPr>
          <p:cNvPr id="1413" name="任意多边形 1412"/>
          <p:cNvSpPr/>
          <p:nvPr/>
        </p:nvSpPr>
        <p:spPr>
          <a:xfrm>
            <a:off x="335680" y="978700"/>
            <a:ext cx="3150000" cy="5180000"/>
          </a:xfrm>
          <a:custGeom>
            <a:avLst/>
            <a:gdLst/>
            <a:ahLst/>
            <a:cxnLst/>
            <a:rect l="l" t="t" r="r" b="b"/>
            <a:pathLst>
              <a:path w="3150000" h="5180000" stroke="0">
                <a:moveTo>
                  <a:pt x="0" y="168000"/>
                </a:moveTo>
                <a:cubicBezTo>
                  <a:pt x="0" y="75216"/>
                  <a:pt x="75216" y="0"/>
                  <a:pt x="168000" y="0"/>
                </a:cubicBezTo>
                <a:lnTo>
                  <a:pt x="2982000" y="0"/>
                </a:lnTo>
                <a:cubicBezTo>
                  <a:pt x="3074784" y="0"/>
                  <a:pt x="3150000" y="75216"/>
                  <a:pt x="3150000" y="168000"/>
                </a:cubicBezTo>
                <a:lnTo>
                  <a:pt x="3150000" y="5012000"/>
                </a:lnTo>
                <a:cubicBezTo>
                  <a:pt x="3150000" y="5104784"/>
                  <a:pt x="3074784" y="5180000"/>
                  <a:pt x="2982000" y="5180000"/>
                </a:cubicBezTo>
                <a:lnTo>
                  <a:pt x="168000" y="5180000"/>
                </a:lnTo>
                <a:cubicBezTo>
                  <a:pt x="75216" y="5180000"/>
                  <a:pt x="0" y="5104784"/>
                  <a:pt x="0" y="5012000"/>
                </a:cubicBezTo>
                <a:lnTo>
                  <a:pt x="0" y="168000"/>
                </a:lnTo>
                <a:close/>
              </a:path>
              <a:path w="3150000" h="5180000" fill="none">
                <a:moveTo>
                  <a:pt x="0" y="168000"/>
                </a:moveTo>
                <a:cubicBezTo>
                  <a:pt x="0" y="75216"/>
                  <a:pt x="75216" y="0"/>
                  <a:pt x="168000" y="0"/>
                </a:cubicBezTo>
                <a:lnTo>
                  <a:pt x="2982000" y="0"/>
                </a:lnTo>
                <a:cubicBezTo>
                  <a:pt x="3074784" y="0"/>
                  <a:pt x="3150000" y="75216"/>
                  <a:pt x="3150000" y="168000"/>
                </a:cubicBezTo>
                <a:lnTo>
                  <a:pt x="3150000" y="5012000"/>
                </a:lnTo>
                <a:cubicBezTo>
                  <a:pt x="3150000" y="5104784"/>
                  <a:pt x="3074784" y="5180000"/>
                  <a:pt x="2982000" y="5180000"/>
                </a:cubicBezTo>
                <a:lnTo>
                  <a:pt x="168000" y="5180000"/>
                </a:lnTo>
                <a:cubicBezTo>
                  <a:pt x="75216" y="5180000"/>
                  <a:pt x="0" y="5104784"/>
                  <a:pt x="0" y="5012000"/>
                </a:cubicBezTo>
                <a:lnTo>
                  <a:pt x="0" y="168000"/>
                </a:lnTo>
                <a:close/>
              </a:path>
            </a:pathLst>
          </a:custGeom>
          <a:gradFill>
            <a:gsLst>
              <a:gs pos="0">
                <a:srgbClr val="F8FAFC"/>
              </a:gs>
              <a:gs pos="100000">
                <a:srgbClr val="E2E8F0"/>
              </a:gs>
            </a:gsLst>
            <a:lin ang="2700000" scaled="0"/>
          </a:gradFill>
          <a:ln w="7000" cap="flat">
            <a:noFill/>
            <a:miter/>
          </a:ln>
        </p:spPr>
      </p:sp>
      <p:sp>
        <p:nvSpPr>
          <p:cNvPr id="1414" name="任意多边形 1413"/>
          <p:cNvSpPr/>
          <p:nvPr/>
        </p:nvSpPr>
        <p:spPr>
          <a:xfrm>
            <a:off x="335680" y="978700"/>
            <a:ext cx="3150000" cy="5180000"/>
          </a:xfrm>
          <a:custGeom>
            <a:avLst/>
            <a:gdLst/>
            <a:ahLst/>
            <a:cxnLst/>
            <a:rect l="l" t="t" r="r" b="b"/>
            <a:pathLst>
              <a:path w="3150000" h="5180000" stroke="0">
                <a:moveTo>
                  <a:pt x="0" y="168000"/>
                </a:moveTo>
                <a:cubicBezTo>
                  <a:pt x="0" y="75216"/>
                  <a:pt x="75216" y="0"/>
                  <a:pt x="168000" y="0"/>
                </a:cubicBezTo>
                <a:lnTo>
                  <a:pt x="2982000" y="0"/>
                </a:lnTo>
                <a:cubicBezTo>
                  <a:pt x="3074784" y="0"/>
                  <a:pt x="3150000" y="75216"/>
                  <a:pt x="3150000" y="168000"/>
                </a:cubicBezTo>
                <a:lnTo>
                  <a:pt x="3150000" y="5012000"/>
                </a:lnTo>
                <a:cubicBezTo>
                  <a:pt x="3150000" y="5104784"/>
                  <a:pt x="3074784" y="5180000"/>
                  <a:pt x="2982000" y="5180000"/>
                </a:cubicBezTo>
                <a:lnTo>
                  <a:pt x="168000" y="5180000"/>
                </a:lnTo>
                <a:cubicBezTo>
                  <a:pt x="75216" y="5180000"/>
                  <a:pt x="0" y="5104784"/>
                  <a:pt x="0" y="5012000"/>
                </a:cubicBezTo>
                <a:lnTo>
                  <a:pt x="0" y="168000"/>
                </a:lnTo>
                <a:close/>
              </a:path>
              <a:path w="3150000" h="5180000" fill="none">
                <a:moveTo>
                  <a:pt x="0" y="168000"/>
                </a:moveTo>
                <a:cubicBezTo>
                  <a:pt x="0" y="75216"/>
                  <a:pt x="75216" y="0"/>
                  <a:pt x="168000" y="0"/>
                </a:cubicBezTo>
                <a:lnTo>
                  <a:pt x="2982000" y="0"/>
                </a:lnTo>
                <a:cubicBezTo>
                  <a:pt x="3074784" y="0"/>
                  <a:pt x="3150000" y="75216"/>
                  <a:pt x="3150000" y="168000"/>
                </a:cubicBezTo>
                <a:lnTo>
                  <a:pt x="3150000" y="5012000"/>
                </a:lnTo>
                <a:cubicBezTo>
                  <a:pt x="3150000" y="5104784"/>
                  <a:pt x="3074784" y="5180000"/>
                  <a:pt x="2982000" y="5180000"/>
                </a:cubicBezTo>
                <a:lnTo>
                  <a:pt x="168000" y="5180000"/>
                </a:lnTo>
                <a:cubicBezTo>
                  <a:pt x="75216" y="5180000"/>
                  <a:pt x="0" y="5104784"/>
                  <a:pt x="0" y="5012000"/>
                </a:cubicBezTo>
                <a:lnTo>
                  <a:pt x="0" y="168000"/>
                </a:lnTo>
                <a:close/>
              </a:path>
            </a:pathLst>
          </a:custGeom>
          <a:noFill/>
          <a:ln w="10500" cap="flat">
            <a:solidFill>
              <a:srgbClr val="CBD5E1"/>
            </a:solidFill>
            <a:miter/>
          </a:ln>
        </p:spPr>
      </p:sp>
      <p:sp>
        <p:nvSpPr>
          <p:cNvPr id="1415" name="任意多边形 1414"/>
          <p:cNvSpPr/>
          <p:nvPr/>
        </p:nvSpPr>
        <p:spPr>
          <a:xfrm>
            <a:off x="335680" y="978700"/>
            <a:ext cx="3150000" cy="560000"/>
          </a:xfrm>
          <a:custGeom>
            <a:avLst/>
            <a:gdLst/>
            <a:ahLst/>
            <a:cxnLst/>
            <a:rect l="l" t="t" r="r" b="b"/>
            <a:pathLst>
              <a:path w="3150000" h="560000" stroke="0">
                <a:moveTo>
                  <a:pt x="0" y="168000"/>
                </a:moveTo>
                <a:cubicBezTo>
                  <a:pt x="0" y="75216"/>
                  <a:pt x="75216" y="0"/>
                  <a:pt x="168000" y="0"/>
                </a:cubicBezTo>
                <a:lnTo>
                  <a:pt x="2982000" y="0"/>
                </a:lnTo>
                <a:cubicBezTo>
                  <a:pt x="3074784" y="0"/>
                  <a:pt x="3150000" y="75216"/>
                  <a:pt x="3150000" y="168000"/>
                </a:cubicBezTo>
                <a:lnTo>
                  <a:pt x="3150000" y="560000"/>
                </a:lnTo>
                <a:lnTo>
                  <a:pt x="0" y="560000"/>
                </a:lnTo>
                <a:lnTo>
                  <a:pt x="0" y="168000"/>
                </a:lnTo>
                <a:close/>
              </a:path>
              <a:path w="3150000" h="560000" fill="none">
                <a:moveTo>
                  <a:pt x="0" y="168000"/>
                </a:moveTo>
                <a:cubicBezTo>
                  <a:pt x="0" y="75216"/>
                  <a:pt x="75216" y="0"/>
                  <a:pt x="168000" y="0"/>
                </a:cubicBezTo>
                <a:lnTo>
                  <a:pt x="2982000" y="0"/>
                </a:lnTo>
                <a:cubicBezTo>
                  <a:pt x="3074784" y="0"/>
                  <a:pt x="3150000" y="75216"/>
                  <a:pt x="3150000" y="168000"/>
                </a:cubicBezTo>
                <a:lnTo>
                  <a:pt x="3150000" y="560000"/>
                </a:lnTo>
                <a:lnTo>
                  <a:pt x="0" y="560000"/>
                </a:lnTo>
                <a:lnTo>
                  <a:pt x="0" y="168000"/>
                </a:lnTo>
                <a:close/>
              </a:path>
            </a:pathLst>
          </a:custGeom>
          <a:solidFill>
            <a:srgbClr val="F8FAFC"/>
          </a:solidFill>
          <a:ln w="7000" cap="flat">
            <a:noFill/>
            <a:miter/>
          </a:ln>
        </p:spPr>
      </p:sp>
      <p:sp>
        <p:nvSpPr>
          <p:cNvPr id="1416" name="任意多边形 1415"/>
          <p:cNvSpPr/>
          <p:nvPr/>
        </p:nvSpPr>
        <p:spPr>
          <a:xfrm>
            <a:off x="62680" y="705700"/>
            <a:ext cx="1456000" cy="287000"/>
          </a:xfrm>
          <a:custGeom>
            <a:avLst/>
            <a:gdLst>
              <a:gd name="connsiteX0" fmla="*/ 0 w 1456000"/>
              <a:gd name="connsiteY0" fmla="*/ 143500 h 287000"/>
              <a:gd name="connsiteX1" fmla="*/ 728000 w 1456000"/>
              <a:gd name="connsiteY1" fmla="*/ 0 h 287000"/>
              <a:gd name="connsiteX2" fmla="*/ 1456000 w 1456000"/>
              <a:gd name="connsiteY2" fmla="*/ 143500 h 287000"/>
              <a:gd name="connsiteX3" fmla="*/ 728000 w 1456000"/>
              <a:gd name="connsiteY3" fmla="*/ 287000 h 287000"/>
              <a:gd name="rtl" fmla="*/ 1120000 w 1456000"/>
              <a:gd name="rtt" fmla="*/ 350000 h 287000"/>
              <a:gd name="rtr" fmla="*/ 2576000 w 1456000"/>
              <a:gd name="rtb" fmla="*/ 637000 h 287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1155" b="1" dirty="0">
                <a:solidFill>
                  <a:srgbClr val="334155"/>
                </a:solidFill>
                <a:latin typeface="Times New Roman Regular" panose="02020503050405090304" charset="0"/>
                <a:ea typeface="微软雅黑"/>
                <a:cs typeface="微软雅黑"/>
              </a:rPr>
              <a:t>传统</a:t>
            </a:r>
            <a:r>
              <a:rPr lang="zh-CN" altLang="en-US" sz="1155" b="1" dirty="0">
                <a:solidFill>
                  <a:srgbClr val="334155"/>
                </a:solidFill>
                <a:latin typeface="Times New Roman Regular" panose="02020503050405090304" charset="0"/>
                <a:ea typeface="微软雅黑"/>
                <a:cs typeface="微软雅黑"/>
              </a:rPr>
              <a:t>抗冻蛋白优化</a:t>
            </a:r>
            <a:endParaRPr lang="zh-CN" altLang="en-US" sz="1155" b="1" dirty="0">
              <a:solidFill>
                <a:srgbClr val="334155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417" name="任意多边形 1416"/>
          <p:cNvSpPr/>
          <p:nvPr/>
        </p:nvSpPr>
        <p:spPr>
          <a:xfrm>
            <a:off x="62680" y="705700"/>
            <a:ext cx="1015000" cy="210000"/>
          </a:xfrm>
          <a:custGeom>
            <a:avLst/>
            <a:gdLst>
              <a:gd name="connsiteX0" fmla="*/ 0 w 1015000"/>
              <a:gd name="connsiteY0" fmla="*/ 105000 h 210000"/>
              <a:gd name="connsiteX1" fmla="*/ 507500 w 1015000"/>
              <a:gd name="connsiteY1" fmla="*/ 0 h 210000"/>
              <a:gd name="connsiteX2" fmla="*/ 1015000 w 1015000"/>
              <a:gd name="connsiteY2" fmla="*/ 105000 h 210000"/>
              <a:gd name="connsiteX3" fmla="*/ 507500 w 1015000"/>
              <a:gd name="connsiteY3" fmla="*/ 210000 h 210000"/>
              <a:gd name="rtl" fmla="*/ 1344000 w 1015000"/>
              <a:gd name="rtt" fmla="*/ 581000 h 210000"/>
              <a:gd name="rtr" fmla="*/ 2359000 w 1015000"/>
              <a:gd name="rtb" fmla="*/ 791000 h 210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90" b="1" dirty="0">
                <a:solidFill>
                  <a:srgbClr val="64748B"/>
                </a:solidFill>
                <a:latin typeface="Times New Roman Regular" panose="02020503050405090304" charset="0"/>
                <a:ea typeface="微软雅黑"/>
                <a:cs typeface="微软雅黑"/>
              </a:rPr>
              <a:t>以人为主的实验工具</a:t>
            </a:r>
            <a:endParaRPr lang="zh-CN" altLang="en-US" sz="790" b="1" dirty="0">
              <a:solidFill>
                <a:srgbClr val="64748B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418" name="任意多边形 1417"/>
          <p:cNvSpPr/>
          <p:nvPr/>
        </p:nvSpPr>
        <p:spPr>
          <a:xfrm>
            <a:off x="335680" y="1538700"/>
            <a:ext cx="3150000" cy="7000"/>
          </a:xfrm>
          <a:custGeom>
            <a:avLst/>
            <a:gdLst/>
            <a:ahLst/>
            <a:cxnLst/>
            <a:rect l="l" t="t" r="r" b="b"/>
            <a:pathLst>
              <a:path w="3150000" h="7000" fill="none">
                <a:moveTo>
                  <a:pt x="0" y="0"/>
                </a:moveTo>
                <a:lnTo>
                  <a:pt x="3150000" y="0"/>
                </a:lnTo>
              </a:path>
            </a:pathLst>
          </a:custGeom>
          <a:solidFill>
            <a:srgbClr val="000000"/>
          </a:solidFill>
          <a:ln w="7000" cap="flat">
            <a:solidFill>
              <a:srgbClr val="CBD5E1"/>
            </a:solidFill>
            <a:miter/>
          </a:ln>
        </p:spPr>
      </p:sp>
      <p:sp>
        <p:nvSpPr>
          <p:cNvPr id="1419" name="任意多边形 1418"/>
          <p:cNvSpPr/>
          <p:nvPr/>
        </p:nvSpPr>
        <p:spPr>
          <a:xfrm>
            <a:off x="860680" y="1713700"/>
            <a:ext cx="2051000" cy="350000"/>
          </a:xfrm>
          <a:custGeom>
            <a:avLst/>
            <a:gdLst/>
            <a:ahLst/>
            <a:cxnLst/>
            <a:rect l="l" t="t" r="r" b="b"/>
            <a:pathLst>
              <a:path w="2051000" h="350000" stroke="0">
                <a:moveTo>
                  <a:pt x="0" y="175000"/>
                </a:moveTo>
                <a:cubicBezTo>
                  <a:pt x="0" y="78350"/>
                  <a:pt x="143479" y="0"/>
                  <a:pt x="320469" y="0"/>
                </a:cubicBezTo>
                <a:lnTo>
                  <a:pt x="1730531" y="0"/>
                </a:lnTo>
                <a:cubicBezTo>
                  <a:pt x="1907521" y="0"/>
                  <a:pt x="2051000" y="78350"/>
                  <a:pt x="2051000" y="175000"/>
                </a:cubicBezTo>
                <a:cubicBezTo>
                  <a:pt x="2051000" y="271650"/>
                  <a:pt x="1907521" y="350000"/>
                  <a:pt x="1730531" y="350000"/>
                </a:cubicBezTo>
                <a:lnTo>
                  <a:pt x="320469" y="350000"/>
                </a:lnTo>
                <a:cubicBezTo>
                  <a:pt x="143479" y="350000"/>
                  <a:pt x="0" y="271650"/>
                  <a:pt x="0" y="175000"/>
                </a:cubicBezTo>
                <a:close/>
              </a:path>
              <a:path w="2051000" h="350000" fill="none">
                <a:moveTo>
                  <a:pt x="0" y="175000"/>
                </a:moveTo>
                <a:cubicBezTo>
                  <a:pt x="0" y="78350"/>
                  <a:pt x="143479" y="0"/>
                  <a:pt x="320469" y="0"/>
                </a:cubicBezTo>
                <a:lnTo>
                  <a:pt x="1730531" y="0"/>
                </a:lnTo>
                <a:cubicBezTo>
                  <a:pt x="1907521" y="0"/>
                  <a:pt x="2051000" y="78350"/>
                  <a:pt x="2051000" y="175000"/>
                </a:cubicBezTo>
                <a:cubicBezTo>
                  <a:pt x="2051000" y="271650"/>
                  <a:pt x="1907521" y="350000"/>
                  <a:pt x="1730531" y="350000"/>
                </a:cubicBezTo>
                <a:lnTo>
                  <a:pt x="320469" y="350000"/>
                </a:lnTo>
                <a:cubicBezTo>
                  <a:pt x="143479" y="350000"/>
                  <a:pt x="0" y="271650"/>
                  <a:pt x="0" y="175000"/>
                </a:cubicBezTo>
                <a:close/>
              </a:path>
            </a:pathLst>
          </a:custGeom>
          <a:solidFill>
            <a:srgbClr val="FFFFFF"/>
          </a:solidFill>
          <a:ln w="10500" cap="flat">
            <a:solidFill>
              <a:srgbClr val="94A3B8"/>
            </a:solidFill>
            <a:miter/>
          </a:ln>
        </p:spPr>
      </p:sp>
      <p:sp>
        <p:nvSpPr>
          <p:cNvPr id="1420" name="任意多边形 1419"/>
          <p:cNvSpPr/>
          <p:nvPr/>
        </p:nvSpPr>
        <p:spPr>
          <a:xfrm>
            <a:off x="62680" y="705700"/>
            <a:ext cx="854000" cy="217000"/>
          </a:xfrm>
          <a:custGeom>
            <a:avLst/>
            <a:gdLst>
              <a:gd name="connsiteX0" fmla="*/ 0 w 854000"/>
              <a:gd name="connsiteY0" fmla="*/ 108500 h 217000"/>
              <a:gd name="connsiteX1" fmla="*/ 427000 w 854000"/>
              <a:gd name="connsiteY1" fmla="*/ 0 h 217000"/>
              <a:gd name="connsiteX2" fmla="*/ 854000 w 854000"/>
              <a:gd name="connsiteY2" fmla="*/ 108500 h 217000"/>
              <a:gd name="connsiteX3" fmla="*/ 427000 w 854000"/>
              <a:gd name="connsiteY3" fmla="*/ 217000 h 217000"/>
              <a:gd name="rtl" fmla="*/ 1477000 w 854000"/>
              <a:gd name="rtt" fmla="*/ 1064000 h 217000"/>
              <a:gd name="rtr" fmla="*/ 2331000 w 854000"/>
              <a:gd name="rtb" fmla="*/ 1281000 h 217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840" b="1" dirty="0">
                <a:solidFill>
                  <a:srgbClr val="475569"/>
                </a:solidFill>
                <a:latin typeface="Times New Roman Regular" panose="02020503050405090304" charset="0"/>
                <a:ea typeface="微软雅黑"/>
                <a:cs typeface="微软雅黑"/>
              </a:rPr>
              <a:t>抗冻蛋白序列</a:t>
            </a:r>
            <a:endParaRPr lang="zh-CN" altLang="en-US" sz="840" b="1" dirty="0">
              <a:solidFill>
                <a:srgbClr val="475569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421" name="任意多边形 1420"/>
          <p:cNvSpPr/>
          <p:nvPr/>
        </p:nvSpPr>
        <p:spPr>
          <a:xfrm>
            <a:off x="1231627" y="1836200"/>
            <a:ext cx="280000" cy="105000"/>
          </a:xfrm>
          <a:custGeom>
            <a:avLst/>
            <a:gdLst/>
            <a:ahLst/>
            <a:cxnLst/>
            <a:rect l="l" t="t" r="r" b="b"/>
            <a:pathLst>
              <a:path w="280000" h="105000" stroke="0">
                <a:moveTo>
                  <a:pt x="0" y="52500"/>
                </a:moveTo>
                <a:cubicBezTo>
                  <a:pt x="46667" y="-17500"/>
                  <a:pt x="93333" y="-17500"/>
                  <a:pt x="140000" y="52500"/>
                </a:cubicBezTo>
                <a:cubicBezTo>
                  <a:pt x="186667" y="122500"/>
                  <a:pt x="233333" y="122500"/>
                  <a:pt x="280000" y="52500"/>
                </a:cubicBezTo>
              </a:path>
              <a:path w="280000" h="105000" fill="none">
                <a:moveTo>
                  <a:pt x="0" y="52500"/>
                </a:moveTo>
                <a:cubicBezTo>
                  <a:pt x="46667" y="-17500"/>
                  <a:pt x="93333" y="-17500"/>
                  <a:pt x="140000" y="52500"/>
                </a:cubicBezTo>
                <a:cubicBezTo>
                  <a:pt x="186667" y="122500"/>
                  <a:pt x="233333" y="122500"/>
                  <a:pt x="280000" y="52500"/>
                </a:cubicBezTo>
              </a:path>
            </a:pathLst>
          </a:custGeom>
          <a:noFill/>
          <a:ln w="14000" cap="flat">
            <a:solidFill>
              <a:srgbClr val="3B82F6"/>
            </a:solidFill>
            <a:miter/>
          </a:ln>
        </p:spPr>
      </p:sp>
      <p:sp>
        <p:nvSpPr>
          <p:cNvPr id="1422" name="任意多边形 1421"/>
          <p:cNvSpPr/>
          <p:nvPr/>
        </p:nvSpPr>
        <p:spPr>
          <a:xfrm>
            <a:off x="1231627" y="1836200"/>
            <a:ext cx="280000" cy="105000"/>
          </a:xfrm>
          <a:custGeom>
            <a:avLst/>
            <a:gdLst/>
            <a:ahLst/>
            <a:cxnLst/>
            <a:rect l="l" t="t" r="r" b="b"/>
            <a:pathLst>
              <a:path w="280000" h="105000" stroke="0">
                <a:moveTo>
                  <a:pt x="0" y="52500"/>
                </a:moveTo>
                <a:cubicBezTo>
                  <a:pt x="46667" y="122500"/>
                  <a:pt x="93333" y="122500"/>
                  <a:pt x="140000" y="52500"/>
                </a:cubicBezTo>
                <a:cubicBezTo>
                  <a:pt x="186667" y="-17500"/>
                  <a:pt x="233333" y="-17500"/>
                  <a:pt x="280000" y="52500"/>
                </a:cubicBezTo>
              </a:path>
              <a:path w="280000" h="105000" fill="none">
                <a:moveTo>
                  <a:pt x="0" y="52500"/>
                </a:moveTo>
                <a:cubicBezTo>
                  <a:pt x="46667" y="122500"/>
                  <a:pt x="93333" y="122500"/>
                  <a:pt x="140000" y="52500"/>
                </a:cubicBezTo>
                <a:cubicBezTo>
                  <a:pt x="186667" y="-17500"/>
                  <a:pt x="233333" y="-17500"/>
                  <a:pt x="280000" y="52500"/>
                </a:cubicBezTo>
              </a:path>
            </a:pathLst>
          </a:custGeom>
          <a:noFill/>
          <a:ln w="14000" cap="flat">
            <a:solidFill>
              <a:srgbClr val="8B5CF6"/>
            </a:solidFill>
            <a:miter/>
          </a:ln>
        </p:spPr>
      </p:sp>
      <p:sp>
        <p:nvSpPr>
          <p:cNvPr id="1424" name="任意多边形 1423"/>
          <p:cNvSpPr/>
          <p:nvPr/>
        </p:nvSpPr>
        <p:spPr>
          <a:xfrm>
            <a:off x="1910680" y="2063700"/>
            <a:ext cx="7000" cy="210000"/>
          </a:xfrm>
          <a:custGeom>
            <a:avLst/>
            <a:gdLst/>
            <a:ahLst/>
            <a:cxnLst/>
            <a:rect l="l" t="t" r="r" b="b"/>
            <a:pathLst>
              <a:path w="7000" h="210000" fill="none">
                <a:moveTo>
                  <a:pt x="0" y="0"/>
                </a:moveTo>
                <a:lnTo>
                  <a:pt x="0" y="210000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425" name="任意多边形 1424"/>
          <p:cNvSpPr/>
          <p:nvPr/>
        </p:nvSpPr>
        <p:spPr>
          <a:xfrm rot="5400000">
            <a:off x="1867385" y="2218863"/>
            <a:ext cx="86591" cy="69272"/>
          </a:xfrm>
          <a:custGeom>
            <a:avLst/>
            <a:gdLst/>
            <a:ahLst/>
            <a:cxnLst/>
            <a:rect l="l" t="t" r="r" b="b"/>
            <a:pathLst>
              <a:path w="86591" h="69272" stroke="0">
                <a:moveTo>
                  <a:pt x="0" y="0"/>
                </a:moveTo>
                <a:lnTo>
                  <a:pt x="86591" y="34636"/>
                </a:lnTo>
                <a:lnTo>
                  <a:pt x="0" y="69272"/>
                </a:lnTo>
                <a:lnTo>
                  <a:pt x="0" y="0"/>
                </a:lnTo>
                <a:close/>
              </a:path>
              <a:path w="86591" h="69272" fill="none">
                <a:moveTo>
                  <a:pt x="0" y="0"/>
                </a:moveTo>
                <a:lnTo>
                  <a:pt x="86591" y="34636"/>
                </a:lnTo>
                <a:lnTo>
                  <a:pt x="0" y="69272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 w="7000" cap="flat">
            <a:noFill/>
            <a:miter/>
          </a:ln>
        </p:spPr>
      </p:sp>
      <p:sp>
        <p:nvSpPr>
          <p:cNvPr id="1427" name="任意多边形 1426"/>
          <p:cNvSpPr/>
          <p:nvPr/>
        </p:nvSpPr>
        <p:spPr>
          <a:xfrm>
            <a:off x="1560680" y="2308700"/>
            <a:ext cx="700000" cy="700000"/>
          </a:xfrm>
          <a:custGeom>
            <a:avLst/>
            <a:gdLst/>
            <a:ahLst/>
            <a:cxnLst/>
            <a:rect l="l" t="t" r="r" b="b"/>
            <a:pathLst>
              <a:path w="700000" h="700000" stroke="0">
                <a:moveTo>
                  <a:pt x="700000" y="350000"/>
                </a:moveTo>
                <a:cubicBezTo>
                  <a:pt x="700000" y="543300"/>
                  <a:pt x="543300" y="700000"/>
                  <a:pt x="350000" y="700000"/>
                </a:cubicBezTo>
                <a:cubicBezTo>
                  <a:pt x="156700" y="700000"/>
                  <a:pt x="0" y="543300"/>
                  <a:pt x="0" y="350000"/>
                </a:cubicBezTo>
                <a:cubicBezTo>
                  <a:pt x="0" y="156700"/>
                  <a:pt x="156700" y="0"/>
                  <a:pt x="350000" y="0"/>
                </a:cubicBezTo>
                <a:cubicBezTo>
                  <a:pt x="543300" y="0"/>
                  <a:pt x="700000" y="156700"/>
                  <a:pt x="700000" y="350000"/>
                </a:cubicBezTo>
                <a:close/>
              </a:path>
              <a:path w="700000" h="700000" fill="none">
                <a:moveTo>
                  <a:pt x="700000" y="350000"/>
                </a:moveTo>
                <a:cubicBezTo>
                  <a:pt x="700000" y="543300"/>
                  <a:pt x="543300" y="700000"/>
                  <a:pt x="350000" y="700000"/>
                </a:cubicBezTo>
                <a:cubicBezTo>
                  <a:pt x="156700" y="700000"/>
                  <a:pt x="0" y="543300"/>
                  <a:pt x="0" y="350000"/>
                </a:cubicBezTo>
                <a:cubicBezTo>
                  <a:pt x="0" y="156700"/>
                  <a:pt x="156700" y="0"/>
                  <a:pt x="350000" y="0"/>
                </a:cubicBezTo>
                <a:cubicBezTo>
                  <a:pt x="543300" y="0"/>
                  <a:pt x="700000" y="156700"/>
                  <a:pt x="700000" y="350000"/>
                </a:cubicBezTo>
                <a:close/>
              </a:path>
            </a:pathLst>
          </a:custGeom>
          <a:solidFill>
            <a:srgbClr val="FFFFFF"/>
          </a:solidFill>
          <a:ln w="14000" cap="flat">
            <a:solidFill>
              <a:srgbClr val="64748B"/>
            </a:solidFill>
            <a:miter/>
          </a:ln>
        </p:spPr>
      </p:sp>
      <p:sp>
        <p:nvSpPr>
          <p:cNvPr id="1428" name="任意多边形 1427"/>
          <p:cNvSpPr/>
          <p:nvPr/>
        </p:nvSpPr>
        <p:spPr>
          <a:xfrm>
            <a:off x="1805680" y="2518700"/>
            <a:ext cx="210000" cy="245000"/>
          </a:xfrm>
          <a:custGeom>
            <a:avLst/>
            <a:gdLst/>
            <a:ahLst/>
            <a:cxnLst/>
            <a:rect l="l" t="t" r="r" b="b"/>
            <a:pathLst>
              <a:path w="210000" h="245000" stroke="0">
                <a:moveTo>
                  <a:pt x="0" y="245000"/>
                </a:moveTo>
                <a:cubicBezTo>
                  <a:pt x="0" y="128333"/>
                  <a:pt x="35000" y="46667"/>
                  <a:pt x="105000" y="0"/>
                </a:cubicBezTo>
                <a:cubicBezTo>
                  <a:pt x="175000" y="46667"/>
                  <a:pt x="210000" y="128333"/>
                  <a:pt x="210000" y="245000"/>
                </a:cubicBezTo>
                <a:lnTo>
                  <a:pt x="0" y="245000"/>
                </a:lnTo>
                <a:close/>
              </a:path>
              <a:path w="210000" h="245000" fill="none">
                <a:moveTo>
                  <a:pt x="0" y="245000"/>
                </a:moveTo>
                <a:cubicBezTo>
                  <a:pt x="0" y="128333"/>
                  <a:pt x="35000" y="46667"/>
                  <a:pt x="105000" y="0"/>
                </a:cubicBezTo>
                <a:cubicBezTo>
                  <a:pt x="175000" y="46667"/>
                  <a:pt x="210000" y="128333"/>
                  <a:pt x="210000" y="245000"/>
                </a:cubicBezTo>
                <a:lnTo>
                  <a:pt x="0" y="245000"/>
                </a:lnTo>
                <a:close/>
              </a:path>
            </a:pathLst>
          </a:custGeom>
          <a:solidFill>
            <a:srgbClr val="94A3B8"/>
          </a:solidFill>
          <a:ln w="7000" cap="flat">
            <a:noFill/>
            <a:miter/>
          </a:ln>
        </p:spPr>
      </p:sp>
      <p:sp>
        <p:nvSpPr>
          <p:cNvPr id="1429" name="任意多边形 1428"/>
          <p:cNvSpPr/>
          <p:nvPr/>
        </p:nvSpPr>
        <p:spPr>
          <a:xfrm>
            <a:off x="1826680" y="2504700"/>
            <a:ext cx="168000" cy="168000"/>
          </a:xfrm>
          <a:custGeom>
            <a:avLst/>
            <a:gdLst/>
            <a:ahLst/>
            <a:cxnLst/>
            <a:rect l="l" t="t" r="r" b="b"/>
            <a:pathLst>
              <a:path w="168000" h="168000" stroke="0">
                <a:moveTo>
                  <a:pt x="168000" y="84000"/>
                </a:moveTo>
                <a:cubicBezTo>
                  <a:pt x="168000" y="130392"/>
                  <a:pt x="130392" y="168000"/>
                  <a:pt x="84000" y="168000"/>
                </a:cubicBezTo>
                <a:cubicBezTo>
                  <a:pt x="37608" y="168000"/>
                  <a:pt x="0" y="130392"/>
                  <a:pt x="0" y="84000"/>
                </a:cubicBezTo>
                <a:cubicBezTo>
                  <a:pt x="0" y="37608"/>
                  <a:pt x="37608" y="0"/>
                  <a:pt x="84000" y="0"/>
                </a:cubicBezTo>
                <a:cubicBezTo>
                  <a:pt x="130392" y="0"/>
                  <a:pt x="168000" y="37608"/>
                  <a:pt x="168000" y="84000"/>
                </a:cubicBezTo>
                <a:close/>
              </a:path>
              <a:path w="168000" h="168000" fill="none">
                <a:moveTo>
                  <a:pt x="168000" y="84000"/>
                </a:moveTo>
                <a:cubicBezTo>
                  <a:pt x="168000" y="130392"/>
                  <a:pt x="130392" y="168000"/>
                  <a:pt x="84000" y="168000"/>
                </a:cubicBezTo>
                <a:cubicBezTo>
                  <a:pt x="37608" y="168000"/>
                  <a:pt x="0" y="130392"/>
                  <a:pt x="0" y="84000"/>
                </a:cubicBezTo>
                <a:cubicBezTo>
                  <a:pt x="0" y="37608"/>
                  <a:pt x="37608" y="0"/>
                  <a:pt x="84000" y="0"/>
                </a:cubicBezTo>
                <a:cubicBezTo>
                  <a:pt x="130392" y="0"/>
                  <a:pt x="168000" y="37608"/>
                  <a:pt x="168000" y="84000"/>
                </a:cubicBezTo>
                <a:close/>
              </a:path>
            </a:pathLst>
          </a:custGeom>
          <a:solidFill>
            <a:srgbClr val="64748B"/>
          </a:solidFill>
          <a:ln w="7000" cap="flat">
            <a:noFill/>
            <a:miter/>
          </a:ln>
        </p:spPr>
      </p:sp>
      <p:sp>
        <p:nvSpPr>
          <p:cNvPr id="1430" name="任意多边形 1429"/>
          <p:cNvSpPr/>
          <p:nvPr/>
        </p:nvSpPr>
        <p:spPr>
          <a:xfrm>
            <a:off x="62680" y="705700"/>
            <a:ext cx="966000" cy="217000"/>
          </a:xfrm>
          <a:custGeom>
            <a:avLst/>
            <a:gdLst>
              <a:gd name="connsiteX0" fmla="*/ 0 w 966000"/>
              <a:gd name="connsiteY0" fmla="*/ 108500 h 217000"/>
              <a:gd name="connsiteX1" fmla="*/ 483000 w 966000"/>
              <a:gd name="connsiteY1" fmla="*/ 0 h 217000"/>
              <a:gd name="connsiteX2" fmla="*/ 966000 w 966000"/>
              <a:gd name="connsiteY2" fmla="*/ 108500 h 217000"/>
              <a:gd name="connsiteX3" fmla="*/ 483000 w 966000"/>
              <a:gd name="connsiteY3" fmla="*/ 217000 h 217000"/>
              <a:gd name="rtl" fmla="*/ 1365000 w 966000"/>
              <a:gd name="rtt" fmla="*/ 2265740 h 217000"/>
              <a:gd name="rtr" fmla="*/ 2331000 w 966000"/>
              <a:gd name="rtb" fmla="*/ 2482740 h 217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840" b="1" dirty="0">
                <a:solidFill>
                  <a:srgbClr val="334155"/>
                </a:solidFill>
                <a:latin typeface="Times New Roman Regular" panose="02020503050405090304" charset="0"/>
                <a:ea typeface="微软雅黑"/>
                <a:cs typeface="Times New Roman Regular" panose="02020503050405090304" charset="0"/>
              </a:rPr>
              <a:t>人类 (判断与思考)</a:t>
            </a:r>
            <a:endParaRPr lang="zh-CN" altLang="en-US" sz="840" b="1" dirty="0">
              <a:solidFill>
                <a:srgbClr val="334155"/>
              </a:solidFill>
              <a:latin typeface="Times New Roman Regular" panose="02020503050405090304" charset="0"/>
              <a:ea typeface="微软雅黑"/>
              <a:cs typeface="Times New Roman Regular" panose="02020503050405090304" charset="0"/>
            </a:endParaRPr>
          </a:p>
        </p:txBody>
      </p:sp>
      <p:sp>
        <p:nvSpPr>
          <p:cNvPr id="1432" name="任意多边形 1431"/>
          <p:cNvSpPr/>
          <p:nvPr/>
        </p:nvSpPr>
        <p:spPr>
          <a:xfrm>
            <a:off x="1910680" y="3008700"/>
            <a:ext cx="7000" cy="217000"/>
          </a:xfrm>
          <a:custGeom>
            <a:avLst/>
            <a:gdLst/>
            <a:ahLst/>
            <a:cxnLst/>
            <a:rect l="l" t="t" r="r" b="b"/>
            <a:pathLst>
              <a:path w="7000" h="217000" fill="none">
                <a:moveTo>
                  <a:pt x="0" y="0"/>
                </a:moveTo>
                <a:lnTo>
                  <a:pt x="0" y="217000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433" name="任意多边形 1432"/>
          <p:cNvSpPr/>
          <p:nvPr/>
        </p:nvSpPr>
        <p:spPr>
          <a:xfrm rot="5400000">
            <a:off x="1886702" y="3202217"/>
            <a:ext cx="47956" cy="38364"/>
          </a:xfrm>
          <a:custGeom>
            <a:avLst/>
            <a:gdLst/>
            <a:ahLst/>
            <a:cxnLst/>
            <a:rect l="l" t="t" r="r" b="b"/>
            <a:pathLst>
              <a:path w="47956" h="38364" stroke="0">
                <a:moveTo>
                  <a:pt x="0" y="0"/>
                </a:moveTo>
                <a:lnTo>
                  <a:pt x="47956" y="19182"/>
                </a:lnTo>
                <a:lnTo>
                  <a:pt x="0" y="38364"/>
                </a:lnTo>
                <a:lnTo>
                  <a:pt x="0" y="0"/>
                </a:lnTo>
                <a:close/>
              </a:path>
              <a:path w="47956" h="38364" fill="none">
                <a:moveTo>
                  <a:pt x="0" y="0"/>
                </a:moveTo>
                <a:lnTo>
                  <a:pt x="47956" y="19182"/>
                </a:lnTo>
                <a:lnTo>
                  <a:pt x="0" y="38364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 w="7000" cap="flat">
            <a:noFill/>
            <a:miter/>
          </a:ln>
        </p:spPr>
      </p:sp>
      <p:sp>
        <p:nvSpPr>
          <p:cNvPr id="1435" name="任意多边形 1434"/>
          <p:cNvSpPr/>
          <p:nvPr/>
        </p:nvSpPr>
        <p:spPr>
          <a:xfrm>
            <a:off x="728950" y="3323700"/>
            <a:ext cx="866730" cy="350000"/>
          </a:xfrm>
          <a:custGeom>
            <a:avLst/>
            <a:gdLst/>
            <a:ahLst/>
            <a:cxnLst/>
            <a:rect l="l" t="t" r="r" b="b"/>
            <a:pathLst>
              <a:path w="866730" h="350000" stroke="0">
                <a:moveTo>
                  <a:pt x="0" y="70000"/>
                </a:moveTo>
                <a:cubicBezTo>
                  <a:pt x="0" y="31340"/>
                  <a:pt x="29850" y="0"/>
                  <a:pt x="66672" y="0"/>
                </a:cubicBezTo>
                <a:lnTo>
                  <a:pt x="800059" y="0"/>
                </a:lnTo>
                <a:cubicBezTo>
                  <a:pt x="836880" y="0"/>
                  <a:pt x="866730" y="31340"/>
                  <a:pt x="866730" y="70000"/>
                </a:cubicBezTo>
                <a:lnTo>
                  <a:pt x="866730" y="280000"/>
                </a:lnTo>
                <a:cubicBezTo>
                  <a:pt x="866730" y="318660"/>
                  <a:pt x="836880" y="350000"/>
                  <a:pt x="800059" y="350000"/>
                </a:cubicBezTo>
                <a:lnTo>
                  <a:pt x="66672" y="350000"/>
                </a:lnTo>
                <a:cubicBezTo>
                  <a:pt x="29850" y="350000"/>
                  <a:pt x="0" y="318660"/>
                  <a:pt x="0" y="280000"/>
                </a:cubicBezTo>
                <a:lnTo>
                  <a:pt x="0" y="70000"/>
                </a:lnTo>
                <a:close/>
              </a:path>
              <a:path w="866730" h="350000" fill="none">
                <a:moveTo>
                  <a:pt x="0" y="70000"/>
                </a:moveTo>
                <a:cubicBezTo>
                  <a:pt x="0" y="31340"/>
                  <a:pt x="29850" y="0"/>
                  <a:pt x="66672" y="0"/>
                </a:cubicBezTo>
                <a:lnTo>
                  <a:pt x="800059" y="0"/>
                </a:lnTo>
                <a:cubicBezTo>
                  <a:pt x="836880" y="0"/>
                  <a:pt x="866730" y="31340"/>
                  <a:pt x="866730" y="70000"/>
                </a:cubicBezTo>
                <a:lnTo>
                  <a:pt x="866730" y="280000"/>
                </a:lnTo>
                <a:cubicBezTo>
                  <a:pt x="866730" y="318660"/>
                  <a:pt x="836880" y="350000"/>
                  <a:pt x="800059" y="350000"/>
                </a:cubicBezTo>
                <a:lnTo>
                  <a:pt x="66672" y="350000"/>
                </a:lnTo>
                <a:cubicBezTo>
                  <a:pt x="29850" y="350000"/>
                  <a:pt x="0" y="318660"/>
                  <a:pt x="0" y="280000"/>
                </a:cubicBezTo>
                <a:lnTo>
                  <a:pt x="0" y="70000"/>
                </a:lnTo>
                <a:close/>
              </a:path>
            </a:pathLst>
          </a:custGeom>
          <a:solidFill>
            <a:srgbClr val="FFFFFF"/>
          </a:solidFill>
          <a:ln w="10500" cap="flat">
            <a:solidFill>
              <a:srgbClr val="CBD5E1"/>
            </a:solidFill>
            <a:miter/>
          </a:ln>
        </p:spPr>
      </p:sp>
      <p:sp>
        <p:nvSpPr>
          <p:cNvPr id="1436" name="任意多边形 1435"/>
          <p:cNvSpPr/>
          <p:nvPr/>
        </p:nvSpPr>
        <p:spPr>
          <a:xfrm>
            <a:off x="62680" y="705700"/>
            <a:ext cx="462000" cy="203000"/>
          </a:xfrm>
          <a:custGeom>
            <a:avLst/>
            <a:gdLst>
              <a:gd name="connsiteX0" fmla="*/ 0 w 462000"/>
              <a:gd name="connsiteY0" fmla="*/ 101500 h 203000"/>
              <a:gd name="connsiteX1" fmla="*/ 231000 w 462000"/>
              <a:gd name="connsiteY1" fmla="*/ 0 h 203000"/>
              <a:gd name="connsiteX2" fmla="*/ 462000 w 462000"/>
              <a:gd name="connsiteY2" fmla="*/ 101500 h 203000"/>
              <a:gd name="connsiteX3" fmla="*/ 231000 w 462000"/>
              <a:gd name="connsiteY3" fmla="*/ 203000 h 203000"/>
              <a:gd name="rtl" fmla="*/ 847000 w 462000"/>
              <a:gd name="rtt" fmla="*/ 2653000 h 203000"/>
              <a:gd name="rtr" fmla="*/ 1309000 w 462000"/>
              <a:gd name="rtb" fmla="*/ 2856000 h 20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35" b="1" dirty="0">
                <a:solidFill>
                  <a:srgbClr val="475569"/>
                </a:solidFill>
                <a:latin typeface="Times New Roman Regular" panose="02020503050405090304" charset="0"/>
                <a:ea typeface="微软雅黑"/>
                <a:cs typeface="微软雅黑"/>
              </a:rPr>
              <a:t>查阅文献</a:t>
            </a:r>
            <a:endParaRPr lang="zh-CN" altLang="en-US" sz="735" b="1" dirty="0">
              <a:solidFill>
                <a:srgbClr val="475569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437" name="任意多边形 1436"/>
          <p:cNvSpPr/>
          <p:nvPr/>
        </p:nvSpPr>
        <p:spPr>
          <a:xfrm>
            <a:off x="62680" y="705700"/>
            <a:ext cx="497000" cy="161000"/>
          </a:xfrm>
          <a:custGeom>
            <a:avLst/>
            <a:gdLst>
              <a:gd name="connsiteX0" fmla="*/ 0 w 497000"/>
              <a:gd name="connsiteY0" fmla="*/ 80500 h 161000"/>
              <a:gd name="connsiteX1" fmla="*/ 248500 w 497000"/>
              <a:gd name="connsiteY1" fmla="*/ 0 h 161000"/>
              <a:gd name="connsiteX2" fmla="*/ 497000 w 497000"/>
              <a:gd name="connsiteY2" fmla="*/ 80500 h 161000"/>
              <a:gd name="connsiteX3" fmla="*/ 248500 w 497000"/>
              <a:gd name="connsiteY3" fmla="*/ 161000 h 161000"/>
              <a:gd name="rtl" fmla="*/ 826000 w 497000"/>
              <a:gd name="rtt" fmla="*/ 2786000 h 161000"/>
              <a:gd name="rtr" fmla="*/ 1337000 w 497000"/>
              <a:gd name="rtb" fmla="*/ 2947000 h 161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580" dirty="0">
                <a:solidFill>
                  <a:srgbClr val="64748B"/>
                </a:solidFill>
                <a:latin typeface="Times New Roman Regular" panose="02020503050405090304" charset="0"/>
                <a:ea typeface="微软雅黑"/>
                <a:cs typeface="Times New Roman Regular" panose="02020503050405090304" charset="0"/>
              </a:rPr>
              <a:t>(基于元数据)</a:t>
            </a:r>
            <a:endParaRPr lang="zh-CN" altLang="en-US" sz="580" dirty="0">
              <a:solidFill>
                <a:srgbClr val="64748B"/>
              </a:solidFill>
              <a:latin typeface="Times New Roman Regular" panose="02020503050405090304" charset="0"/>
              <a:ea typeface="微软雅黑"/>
              <a:cs typeface="Times New Roman Regular" panose="02020503050405090304" charset="0"/>
            </a:endParaRPr>
          </a:p>
        </p:txBody>
      </p:sp>
      <p:sp>
        <p:nvSpPr>
          <p:cNvPr id="1439" name="任意多边形 1438"/>
          <p:cNvSpPr/>
          <p:nvPr/>
        </p:nvSpPr>
        <p:spPr>
          <a:xfrm>
            <a:off x="2225680" y="3323700"/>
            <a:ext cx="910000" cy="350000"/>
          </a:xfrm>
          <a:custGeom>
            <a:avLst/>
            <a:gdLst/>
            <a:ahLst/>
            <a:cxnLst/>
            <a:rect l="l" t="t" r="r" b="b"/>
            <a:pathLst>
              <a:path w="910000" h="350000" stroke="0">
                <a:moveTo>
                  <a:pt x="0" y="70000"/>
                </a:moveTo>
                <a:cubicBezTo>
                  <a:pt x="0" y="31340"/>
                  <a:pt x="31340" y="0"/>
                  <a:pt x="70000" y="0"/>
                </a:cubicBezTo>
                <a:lnTo>
                  <a:pt x="840000" y="0"/>
                </a:lnTo>
                <a:cubicBezTo>
                  <a:pt x="878660" y="0"/>
                  <a:pt x="910000" y="31340"/>
                  <a:pt x="910000" y="70000"/>
                </a:cubicBezTo>
                <a:lnTo>
                  <a:pt x="910000" y="280000"/>
                </a:lnTo>
                <a:cubicBezTo>
                  <a:pt x="910000" y="318660"/>
                  <a:pt x="878660" y="350000"/>
                  <a:pt x="840000" y="350000"/>
                </a:cubicBezTo>
                <a:lnTo>
                  <a:pt x="70000" y="350000"/>
                </a:lnTo>
                <a:cubicBezTo>
                  <a:pt x="31340" y="350000"/>
                  <a:pt x="0" y="318660"/>
                  <a:pt x="0" y="280000"/>
                </a:cubicBezTo>
                <a:lnTo>
                  <a:pt x="0" y="70000"/>
                </a:lnTo>
                <a:close/>
              </a:path>
              <a:path w="910000" h="350000" fill="none">
                <a:moveTo>
                  <a:pt x="0" y="70000"/>
                </a:moveTo>
                <a:cubicBezTo>
                  <a:pt x="0" y="31340"/>
                  <a:pt x="31340" y="0"/>
                  <a:pt x="70000" y="0"/>
                </a:cubicBezTo>
                <a:lnTo>
                  <a:pt x="840000" y="0"/>
                </a:lnTo>
                <a:cubicBezTo>
                  <a:pt x="878660" y="0"/>
                  <a:pt x="910000" y="31340"/>
                  <a:pt x="910000" y="70000"/>
                </a:cubicBezTo>
                <a:lnTo>
                  <a:pt x="910000" y="280000"/>
                </a:lnTo>
                <a:cubicBezTo>
                  <a:pt x="910000" y="318660"/>
                  <a:pt x="878660" y="350000"/>
                  <a:pt x="840000" y="350000"/>
                </a:cubicBezTo>
                <a:lnTo>
                  <a:pt x="70000" y="350000"/>
                </a:lnTo>
                <a:cubicBezTo>
                  <a:pt x="31340" y="350000"/>
                  <a:pt x="0" y="318660"/>
                  <a:pt x="0" y="280000"/>
                </a:cubicBezTo>
                <a:lnTo>
                  <a:pt x="0" y="70000"/>
                </a:lnTo>
                <a:close/>
              </a:path>
            </a:pathLst>
          </a:custGeom>
          <a:solidFill>
            <a:srgbClr val="FFFFFF"/>
          </a:solidFill>
          <a:ln w="10500" cap="flat">
            <a:solidFill>
              <a:srgbClr val="CBD5E1"/>
            </a:solidFill>
            <a:miter/>
          </a:ln>
        </p:spPr>
      </p:sp>
      <p:sp>
        <p:nvSpPr>
          <p:cNvPr id="1440" name="任意多边形 1439"/>
          <p:cNvSpPr/>
          <p:nvPr/>
        </p:nvSpPr>
        <p:spPr>
          <a:xfrm>
            <a:off x="62680" y="705700"/>
            <a:ext cx="560000" cy="203000"/>
          </a:xfrm>
          <a:custGeom>
            <a:avLst/>
            <a:gdLst>
              <a:gd name="connsiteX0" fmla="*/ 0 w 560000"/>
              <a:gd name="connsiteY0" fmla="*/ 101500 h 203000"/>
              <a:gd name="connsiteX1" fmla="*/ 280000 w 560000"/>
              <a:gd name="connsiteY1" fmla="*/ 0 h 203000"/>
              <a:gd name="connsiteX2" fmla="*/ 560000 w 560000"/>
              <a:gd name="connsiteY2" fmla="*/ 101500 h 203000"/>
              <a:gd name="connsiteX3" fmla="*/ 280000 w 560000"/>
              <a:gd name="connsiteY3" fmla="*/ 203000 h 203000"/>
              <a:gd name="rtl" fmla="*/ 2338000 w 560000"/>
              <a:gd name="rtt" fmla="*/ 2688000 h 203000"/>
              <a:gd name="rtr" fmla="*/ 2898000 w 560000"/>
              <a:gd name="rtb" fmla="*/ 2891000 h 20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35" b="1" dirty="0">
                <a:solidFill>
                  <a:srgbClr val="475569"/>
                </a:solidFill>
                <a:latin typeface="Times New Roman Regular" panose="02020503050405090304" charset="0"/>
                <a:ea typeface="微软雅黑"/>
                <a:cs typeface="微软雅黑"/>
              </a:rPr>
              <a:t>多角度分析</a:t>
            </a:r>
            <a:endParaRPr lang="zh-CN" altLang="en-US" sz="735" b="1" dirty="0">
              <a:solidFill>
                <a:srgbClr val="475569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442" name="任意多边形 1441"/>
          <p:cNvSpPr/>
          <p:nvPr/>
        </p:nvSpPr>
        <p:spPr>
          <a:xfrm>
            <a:off x="1140680" y="3245377"/>
            <a:ext cx="770000" cy="140000"/>
          </a:xfrm>
          <a:custGeom>
            <a:avLst/>
            <a:gdLst/>
            <a:ahLst/>
            <a:cxnLst/>
            <a:rect l="l" t="t" r="r" b="b"/>
            <a:pathLst>
              <a:path w="770000" h="140000" fill="none">
                <a:moveTo>
                  <a:pt x="770000" y="0"/>
                </a:moveTo>
                <a:lnTo>
                  <a:pt x="0" y="0"/>
                </a:lnTo>
                <a:lnTo>
                  <a:pt x="0" y="140000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443" name="任意多边形 1442"/>
          <p:cNvSpPr/>
          <p:nvPr/>
        </p:nvSpPr>
        <p:spPr>
          <a:xfrm rot="5400000">
            <a:off x="1108900" y="3374647"/>
            <a:ext cx="63561" cy="50849"/>
          </a:xfrm>
          <a:custGeom>
            <a:avLst/>
            <a:gdLst/>
            <a:ahLst/>
            <a:cxnLst/>
            <a:rect l="l" t="t" r="r" b="b"/>
            <a:pathLst>
              <a:path w="63561" h="50849" stroke="0">
                <a:moveTo>
                  <a:pt x="0" y="0"/>
                </a:moveTo>
                <a:lnTo>
                  <a:pt x="63561" y="25424"/>
                </a:lnTo>
                <a:lnTo>
                  <a:pt x="0" y="50849"/>
                </a:lnTo>
                <a:lnTo>
                  <a:pt x="0" y="0"/>
                </a:lnTo>
                <a:close/>
              </a:path>
              <a:path w="63561" h="50849" fill="none">
                <a:moveTo>
                  <a:pt x="0" y="0"/>
                </a:moveTo>
                <a:lnTo>
                  <a:pt x="63561" y="25424"/>
                </a:lnTo>
                <a:lnTo>
                  <a:pt x="0" y="50849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 w="7000" cap="flat">
            <a:noFill/>
            <a:miter/>
          </a:ln>
        </p:spPr>
      </p:sp>
      <p:sp>
        <p:nvSpPr>
          <p:cNvPr id="1445" name="任意多边形 1444"/>
          <p:cNvSpPr/>
          <p:nvPr/>
        </p:nvSpPr>
        <p:spPr>
          <a:xfrm>
            <a:off x="1910680" y="3245377"/>
            <a:ext cx="770000" cy="175827"/>
          </a:xfrm>
          <a:custGeom>
            <a:avLst/>
            <a:gdLst/>
            <a:ahLst/>
            <a:cxnLst/>
            <a:rect l="l" t="t" r="r" b="b"/>
            <a:pathLst>
              <a:path w="770000" h="175827" fill="none">
                <a:moveTo>
                  <a:pt x="0" y="0"/>
                </a:moveTo>
                <a:lnTo>
                  <a:pt x="770000" y="0"/>
                </a:lnTo>
                <a:lnTo>
                  <a:pt x="770000" y="175827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446" name="任意多边形 1445"/>
          <p:cNvSpPr/>
          <p:nvPr/>
        </p:nvSpPr>
        <p:spPr>
          <a:xfrm rot="5400000">
            <a:off x="2651031" y="3399630"/>
            <a:ext cx="59297" cy="47438"/>
          </a:xfrm>
          <a:custGeom>
            <a:avLst/>
            <a:gdLst/>
            <a:ahLst/>
            <a:cxnLst/>
            <a:rect l="l" t="t" r="r" b="b"/>
            <a:pathLst>
              <a:path w="59297" h="47438" stroke="0">
                <a:moveTo>
                  <a:pt x="0" y="0"/>
                </a:moveTo>
                <a:lnTo>
                  <a:pt x="59297" y="23719"/>
                </a:lnTo>
                <a:lnTo>
                  <a:pt x="0" y="47438"/>
                </a:lnTo>
                <a:lnTo>
                  <a:pt x="0" y="0"/>
                </a:lnTo>
                <a:close/>
              </a:path>
              <a:path w="59297" h="47438" fill="none">
                <a:moveTo>
                  <a:pt x="0" y="0"/>
                </a:moveTo>
                <a:lnTo>
                  <a:pt x="59297" y="23719"/>
                </a:lnTo>
                <a:lnTo>
                  <a:pt x="0" y="47438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 w="7000" cap="flat">
            <a:noFill/>
            <a:miter/>
          </a:ln>
        </p:spPr>
      </p:sp>
      <p:sp>
        <p:nvSpPr>
          <p:cNvPr id="1448" name="任意多边形 1447"/>
          <p:cNvSpPr/>
          <p:nvPr/>
        </p:nvSpPr>
        <p:spPr>
          <a:xfrm>
            <a:off x="1140680" y="3673700"/>
            <a:ext cx="7000" cy="175000"/>
          </a:xfrm>
          <a:custGeom>
            <a:avLst/>
            <a:gdLst/>
            <a:ahLst/>
            <a:cxnLst/>
            <a:rect l="l" t="t" r="r" b="b"/>
            <a:pathLst>
              <a:path w="7000" h="175000" fill="none">
                <a:moveTo>
                  <a:pt x="0" y="0"/>
                </a:moveTo>
                <a:lnTo>
                  <a:pt x="0" y="175000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449" name="任意多边形 1448"/>
          <p:cNvSpPr/>
          <p:nvPr/>
        </p:nvSpPr>
        <p:spPr>
          <a:xfrm rot="5400000">
            <a:off x="1104962" y="3787558"/>
            <a:ext cx="67936" cy="54349"/>
          </a:xfrm>
          <a:custGeom>
            <a:avLst/>
            <a:gdLst/>
            <a:ahLst/>
            <a:cxnLst/>
            <a:rect l="l" t="t" r="r" b="b"/>
            <a:pathLst>
              <a:path w="67936" h="54349" stroke="0">
                <a:moveTo>
                  <a:pt x="0" y="0"/>
                </a:moveTo>
                <a:lnTo>
                  <a:pt x="67936" y="27174"/>
                </a:lnTo>
                <a:lnTo>
                  <a:pt x="0" y="54349"/>
                </a:lnTo>
                <a:lnTo>
                  <a:pt x="0" y="0"/>
                </a:lnTo>
                <a:close/>
              </a:path>
              <a:path w="67936" h="54349" fill="none">
                <a:moveTo>
                  <a:pt x="0" y="0"/>
                </a:moveTo>
                <a:lnTo>
                  <a:pt x="67936" y="27174"/>
                </a:lnTo>
                <a:lnTo>
                  <a:pt x="0" y="54349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 w="7000" cap="flat">
            <a:noFill/>
            <a:miter/>
          </a:ln>
        </p:spPr>
      </p:sp>
      <p:sp>
        <p:nvSpPr>
          <p:cNvPr id="1451" name="任意多边形 1450"/>
          <p:cNvSpPr/>
          <p:nvPr/>
        </p:nvSpPr>
        <p:spPr>
          <a:xfrm>
            <a:off x="2680680" y="3673700"/>
            <a:ext cx="7000" cy="175000"/>
          </a:xfrm>
          <a:custGeom>
            <a:avLst/>
            <a:gdLst/>
            <a:ahLst/>
            <a:cxnLst/>
            <a:rect l="l" t="t" r="r" b="b"/>
            <a:pathLst>
              <a:path w="7000" h="175000" fill="none">
                <a:moveTo>
                  <a:pt x="0" y="0"/>
                </a:moveTo>
                <a:lnTo>
                  <a:pt x="0" y="175000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452" name="任意多边形 1451"/>
          <p:cNvSpPr/>
          <p:nvPr/>
        </p:nvSpPr>
        <p:spPr>
          <a:xfrm rot="5400000">
            <a:off x="2644077" y="3782814"/>
            <a:ext cx="73206" cy="58565"/>
          </a:xfrm>
          <a:custGeom>
            <a:avLst/>
            <a:gdLst/>
            <a:ahLst/>
            <a:cxnLst/>
            <a:rect l="l" t="t" r="r" b="b"/>
            <a:pathLst>
              <a:path w="73206" h="58565" stroke="0">
                <a:moveTo>
                  <a:pt x="0" y="0"/>
                </a:moveTo>
                <a:lnTo>
                  <a:pt x="73206" y="29283"/>
                </a:lnTo>
                <a:lnTo>
                  <a:pt x="0" y="58565"/>
                </a:lnTo>
                <a:lnTo>
                  <a:pt x="0" y="0"/>
                </a:lnTo>
                <a:close/>
              </a:path>
              <a:path w="73206" h="58565" fill="none">
                <a:moveTo>
                  <a:pt x="0" y="0"/>
                </a:moveTo>
                <a:lnTo>
                  <a:pt x="73206" y="29283"/>
                </a:lnTo>
                <a:lnTo>
                  <a:pt x="0" y="58565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 w="7000" cap="flat">
            <a:noFill/>
            <a:miter/>
          </a:ln>
        </p:spPr>
      </p:sp>
      <p:sp>
        <p:nvSpPr>
          <p:cNvPr id="1454" name="任意多边形 1453"/>
          <p:cNvSpPr/>
          <p:nvPr/>
        </p:nvSpPr>
        <p:spPr>
          <a:xfrm>
            <a:off x="728950" y="3848700"/>
            <a:ext cx="866730" cy="350000"/>
          </a:xfrm>
          <a:custGeom>
            <a:avLst/>
            <a:gdLst/>
            <a:ahLst/>
            <a:cxnLst/>
            <a:rect l="l" t="t" r="r" b="b"/>
            <a:pathLst>
              <a:path w="866730" h="350000" stroke="0">
                <a:moveTo>
                  <a:pt x="0" y="70000"/>
                </a:moveTo>
                <a:cubicBezTo>
                  <a:pt x="0" y="31340"/>
                  <a:pt x="29850" y="0"/>
                  <a:pt x="66672" y="0"/>
                </a:cubicBezTo>
                <a:lnTo>
                  <a:pt x="800059" y="0"/>
                </a:lnTo>
                <a:cubicBezTo>
                  <a:pt x="836880" y="0"/>
                  <a:pt x="866730" y="31340"/>
                  <a:pt x="866730" y="70000"/>
                </a:cubicBezTo>
                <a:lnTo>
                  <a:pt x="866730" y="280000"/>
                </a:lnTo>
                <a:cubicBezTo>
                  <a:pt x="866730" y="318660"/>
                  <a:pt x="836880" y="350000"/>
                  <a:pt x="800059" y="350000"/>
                </a:cubicBezTo>
                <a:lnTo>
                  <a:pt x="66672" y="350000"/>
                </a:lnTo>
                <a:cubicBezTo>
                  <a:pt x="29850" y="350000"/>
                  <a:pt x="0" y="318660"/>
                  <a:pt x="0" y="280000"/>
                </a:cubicBezTo>
                <a:lnTo>
                  <a:pt x="0" y="70000"/>
                </a:lnTo>
                <a:close/>
              </a:path>
              <a:path w="866730" h="350000" fill="none">
                <a:moveTo>
                  <a:pt x="0" y="70000"/>
                </a:moveTo>
                <a:cubicBezTo>
                  <a:pt x="0" y="31340"/>
                  <a:pt x="29850" y="0"/>
                  <a:pt x="66672" y="0"/>
                </a:cubicBezTo>
                <a:lnTo>
                  <a:pt x="800059" y="0"/>
                </a:lnTo>
                <a:cubicBezTo>
                  <a:pt x="836880" y="0"/>
                  <a:pt x="866730" y="31340"/>
                  <a:pt x="866730" y="70000"/>
                </a:cubicBezTo>
                <a:lnTo>
                  <a:pt x="866730" y="280000"/>
                </a:lnTo>
                <a:cubicBezTo>
                  <a:pt x="866730" y="318660"/>
                  <a:pt x="836880" y="350000"/>
                  <a:pt x="800059" y="350000"/>
                </a:cubicBezTo>
                <a:lnTo>
                  <a:pt x="66672" y="350000"/>
                </a:lnTo>
                <a:cubicBezTo>
                  <a:pt x="29850" y="350000"/>
                  <a:pt x="0" y="318660"/>
                  <a:pt x="0" y="280000"/>
                </a:cubicBezTo>
                <a:lnTo>
                  <a:pt x="0" y="70000"/>
                </a:lnTo>
                <a:close/>
              </a:path>
            </a:pathLst>
          </a:custGeom>
          <a:solidFill>
            <a:srgbClr val="FFFFFF"/>
          </a:solidFill>
          <a:ln w="10500" cap="flat">
            <a:solidFill>
              <a:srgbClr val="CBD5E1"/>
            </a:solidFill>
            <a:miter/>
          </a:ln>
        </p:spPr>
      </p:sp>
      <p:sp>
        <p:nvSpPr>
          <p:cNvPr id="1455" name="任意多边形 1454"/>
          <p:cNvSpPr/>
          <p:nvPr/>
        </p:nvSpPr>
        <p:spPr>
          <a:xfrm>
            <a:off x="62680" y="705700"/>
            <a:ext cx="560000" cy="203000"/>
          </a:xfrm>
          <a:custGeom>
            <a:avLst/>
            <a:gdLst>
              <a:gd name="connsiteX0" fmla="*/ 0 w 560000"/>
              <a:gd name="connsiteY0" fmla="*/ 101500 h 203000"/>
              <a:gd name="connsiteX1" fmla="*/ 280000 w 560000"/>
              <a:gd name="connsiteY1" fmla="*/ 0 h 203000"/>
              <a:gd name="connsiteX2" fmla="*/ 560000 w 560000"/>
              <a:gd name="connsiteY2" fmla="*/ 101500 h 203000"/>
              <a:gd name="connsiteX3" fmla="*/ 280000 w 560000"/>
              <a:gd name="connsiteY3" fmla="*/ 203000 h 203000"/>
              <a:gd name="rtl" fmla="*/ 798000 w 560000"/>
              <a:gd name="rtt" fmla="*/ 3213000 h 203000"/>
              <a:gd name="rtr" fmla="*/ 1358000 w 560000"/>
              <a:gd name="rtb" fmla="*/ 3416000 h 20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35" b="1" dirty="0">
                <a:solidFill>
                  <a:srgbClr val="475569"/>
                </a:solidFill>
                <a:latin typeface="Times New Roman Regular" panose="02020503050405090304" charset="0"/>
                <a:ea typeface="微软雅黑"/>
                <a:cs typeface="微软雅黑"/>
              </a:rPr>
              <a:t>氨基酸突变</a:t>
            </a:r>
            <a:endParaRPr lang="zh-CN" altLang="en-US" sz="735" b="1" dirty="0">
              <a:solidFill>
                <a:srgbClr val="475569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457" name="任意多边形 1456"/>
          <p:cNvSpPr/>
          <p:nvPr/>
        </p:nvSpPr>
        <p:spPr>
          <a:xfrm>
            <a:off x="2225680" y="3848700"/>
            <a:ext cx="910000" cy="350000"/>
          </a:xfrm>
          <a:custGeom>
            <a:avLst/>
            <a:gdLst/>
            <a:ahLst/>
            <a:cxnLst/>
            <a:rect l="l" t="t" r="r" b="b"/>
            <a:pathLst>
              <a:path w="910000" h="350000" stroke="0">
                <a:moveTo>
                  <a:pt x="0" y="70000"/>
                </a:moveTo>
                <a:cubicBezTo>
                  <a:pt x="0" y="31340"/>
                  <a:pt x="31340" y="0"/>
                  <a:pt x="70000" y="0"/>
                </a:cubicBezTo>
                <a:lnTo>
                  <a:pt x="840000" y="0"/>
                </a:lnTo>
                <a:cubicBezTo>
                  <a:pt x="878660" y="0"/>
                  <a:pt x="910000" y="31340"/>
                  <a:pt x="910000" y="70000"/>
                </a:cubicBezTo>
                <a:lnTo>
                  <a:pt x="910000" y="280000"/>
                </a:lnTo>
                <a:cubicBezTo>
                  <a:pt x="910000" y="318660"/>
                  <a:pt x="878660" y="350000"/>
                  <a:pt x="840000" y="350000"/>
                </a:cubicBezTo>
                <a:lnTo>
                  <a:pt x="70000" y="350000"/>
                </a:lnTo>
                <a:cubicBezTo>
                  <a:pt x="31340" y="350000"/>
                  <a:pt x="0" y="318660"/>
                  <a:pt x="0" y="280000"/>
                </a:cubicBezTo>
                <a:lnTo>
                  <a:pt x="0" y="70000"/>
                </a:lnTo>
                <a:close/>
              </a:path>
              <a:path w="910000" h="350000" fill="none">
                <a:moveTo>
                  <a:pt x="0" y="70000"/>
                </a:moveTo>
                <a:cubicBezTo>
                  <a:pt x="0" y="31340"/>
                  <a:pt x="31340" y="0"/>
                  <a:pt x="70000" y="0"/>
                </a:cubicBezTo>
                <a:lnTo>
                  <a:pt x="840000" y="0"/>
                </a:lnTo>
                <a:cubicBezTo>
                  <a:pt x="878660" y="0"/>
                  <a:pt x="910000" y="31340"/>
                  <a:pt x="910000" y="70000"/>
                </a:cubicBezTo>
                <a:lnTo>
                  <a:pt x="910000" y="280000"/>
                </a:lnTo>
                <a:cubicBezTo>
                  <a:pt x="910000" y="318660"/>
                  <a:pt x="878660" y="350000"/>
                  <a:pt x="840000" y="350000"/>
                </a:cubicBezTo>
                <a:lnTo>
                  <a:pt x="70000" y="350000"/>
                </a:lnTo>
                <a:cubicBezTo>
                  <a:pt x="31340" y="350000"/>
                  <a:pt x="0" y="318660"/>
                  <a:pt x="0" y="280000"/>
                </a:cubicBezTo>
                <a:lnTo>
                  <a:pt x="0" y="70000"/>
                </a:lnTo>
                <a:close/>
              </a:path>
            </a:pathLst>
          </a:custGeom>
          <a:solidFill>
            <a:srgbClr val="FFFFFF"/>
          </a:solidFill>
          <a:ln w="10500" cap="flat">
            <a:solidFill>
              <a:srgbClr val="CBD5E1"/>
            </a:solidFill>
            <a:miter/>
          </a:ln>
        </p:spPr>
      </p:sp>
      <p:sp>
        <p:nvSpPr>
          <p:cNvPr id="1458" name="任意多边形 1457"/>
          <p:cNvSpPr/>
          <p:nvPr/>
        </p:nvSpPr>
        <p:spPr>
          <a:xfrm>
            <a:off x="62680" y="705700"/>
            <a:ext cx="462000" cy="203000"/>
          </a:xfrm>
          <a:custGeom>
            <a:avLst/>
            <a:gdLst>
              <a:gd name="connsiteX0" fmla="*/ 0 w 462000"/>
              <a:gd name="connsiteY0" fmla="*/ 101500 h 203000"/>
              <a:gd name="connsiteX1" fmla="*/ 231000 w 462000"/>
              <a:gd name="connsiteY1" fmla="*/ 0 h 203000"/>
              <a:gd name="connsiteX2" fmla="*/ 462000 w 462000"/>
              <a:gd name="connsiteY2" fmla="*/ 101500 h 203000"/>
              <a:gd name="connsiteX3" fmla="*/ 231000 w 462000"/>
              <a:gd name="connsiteY3" fmla="*/ 203000 h 203000"/>
              <a:gd name="rtl" fmla="*/ 2387000 w 462000"/>
              <a:gd name="rtt" fmla="*/ 3213000 h 203000"/>
              <a:gd name="rtr" fmla="*/ 2849000 w 462000"/>
              <a:gd name="rtb" fmla="*/ 3416000 h 20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75569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35" b="1" dirty="0">
                <a:solidFill>
                  <a:srgbClr val="475569"/>
                </a:solidFill>
                <a:latin typeface="Times New Roman Regular" panose="02020503050405090304" charset="0"/>
                <a:ea typeface="微软雅黑"/>
                <a:cs typeface="微软雅黑"/>
              </a:rPr>
              <a:t>序列评估</a:t>
            </a:r>
            <a:endParaRPr lang="zh-CN" altLang="en-US" sz="735" b="1" dirty="0">
              <a:solidFill>
                <a:srgbClr val="475569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460" name="任意多边形 1459"/>
          <p:cNvSpPr/>
          <p:nvPr/>
        </p:nvSpPr>
        <p:spPr>
          <a:xfrm>
            <a:off x="1140680" y="4198700"/>
            <a:ext cx="770000" cy="140000"/>
          </a:xfrm>
          <a:custGeom>
            <a:avLst/>
            <a:gdLst/>
            <a:ahLst/>
            <a:cxnLst/>
            <a:rect l="l" t="t" r="r" b="b"/>
            <a:pathLst>
              <a:path w="770000" h="140000" stroke="0">
                <a:moveTo>
                  <a:pt x="0" y="0"/>
                </a:moveTo>
                <a:lnTo>
                  <a:pt x="0" y="140000"/>
                </a:lnTo>
                <a:lnTo>
                  <a:pt x="770000" y="140000"/>
                </a:lnTo>
              </a:path>
              <a:path w="770000" h="140000" fill="none">
                <a:moveTo>
                  <a:pt x="0" y="0"/>
                </a:moveTo>
                <a:lnTo>
                  <a:pt x="0" y="140000"/>
                </a:lnTo>
                <a:lnTo>
                  <a:pt x="770000" y="140000"/>
                </a:lnTo>
              </a:path>
            </a:pathLst>
          </a:custGeom>
          <a:noFill/>
          <a:ln w="14000" cap="flat">
            <a:solidFill>
              <a:srgbClr val="64748B"/>
            </a:solidFill>
            <a:miter/>
          </a:ln>
        </p:spPr>
      </p:sp>
      <p:sp>
        <p:nvSpPr>
          <p:cNvPr id="1461" name="任意多边形 1460"/>
          <p:cNvSpPr/>
          <p:nvPr/>
        </p:nvSpPr>
        <p:spPr>
          <a:xfrm>
            <a:off x="1910680" y="4198700"/>
            <a:ext cx="770000" cy="280000"/>
          </a:xfrm>
          <a:custGeom>
            <a:avLst/>
            <a:gdLst/>
            <a:ahLst/>
            <a:cxnLst/>
            <a:rect l="l" t="t" r="r" b="b"/>
            <a:pathLst>
              <a:path w="770000" h="280000" fill="none">
                <a:moveTo>
                  <a:pt x="770000" y="0"/>
                </a:moveTo>
                <a:lnTo>
                  <a:pt x="770000" y="140000"/>
                </a:lnTo>
                <a:lnTo>
                  <a:pt x="0" y="140000"/>
                </a:lnTo>
                <a:lnTo>
                  <a:pt x="0" y="280000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462" name="任意多边形 1461"/>
          <p:cNvSpPr/>
          <p:nvPr/>
        </p:nvSpPr>
        <p:spPr>
          <a:xfrm rot="5400000">
            <a:off x="1868792" y="4473301"/>
            <a:ext cx="83777" cy="67021"/>
          </a:xfrm>
          <a:custGeom>
            <a:avLst/>
            <a:gdLst/>
            <a:ahLst/>
            <a:cxnLst/>
            <a:rect l="l" t="t" r="r" b="b"/>
            <a:pathLst>
              <a:path w="83777" h="67021" stroke="0">
                <a:moveTo>
                  <a:pt x="0" y="0"/>
                </a:moveTo>
                <a:lnTo>
                  <a:pt x="83777" y="33511"/>
                </a:lnTo>
                <a:lnTo>
                  <a:pt x="0" y="67021"/>
                </a:lnTo>
                <a:lnTo>
                  <a:pt x="0" y="0"/>
                </a:lnTo>
                <a:close/>
              </a:path>
              <a:path w="83777" h="67021" fill="none">
                <a:moveTo>
                  <a:pt x="0" y="0"/>
                </a:moveTo>
                <a:lnTo>
                  <a:pt x="83777" y="33511"/>
                </a:lnTo>
                <a:lnTo>
                  <a:pt x="0" y="67021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 w="7000" cap="flat">
            <a:noFill/>
            <a:miter/>
          </a:ln>
        </p:spPr>
      </p:sp>
      <p:sp>
        <p:nvSpPr>
          <p:cNvPr id="1465" name="任意多边形 1464"/>
          <p:cNvSpPr/>
          <p:nvPr/>
        </p:nvSpPr>
        <p:spPr>
          <a:xfrm>
            <a:off x="1350680" y="4548700"/>
            <a:ext cx="1120000" cy="420000"/>
          </a:xfrm>
          <a:custGeom>
            <a:avLst/>
            <a:gdLst/>
            <a:ahLst/>
            <a:cxnLst/>
            <a:rect l="l" t="t" r="r" b="b"/>
            <a:pathLst>
              <a:path w="1120000" h="420000" stroke="0">
                <a:moveTo>
                  <a:pt x="0" y="84000"/>
                </a:moveTo>
                <a:cubicBezTo>
                  <a:pt x="0" y="37608"/>
                  <a:pt x="37608" y="0"/>
                  <a:pt x="84000" y="0"/>
                </a:cubicBezTo>
                <a:lnTo>
                  <a:pt x="1036000" y="0"/>
                </a:lnTo>
                <a:cubicBezTo>
                  <a:pt x="1082392" y="0"/>
                  <a:pt x="1120000" y="37608"/>
                  <a:pt x="1120000" y="84000"/>
                </a:cubicBezTo>
                <a:lnTo>
                  <a:pt x="1120000" y="336000"/>
                </a:lnTo>
                <a:cubicBezTo>
                  <a:pt x="1120000" y="382392"/>
                  <a:pt x="1082392" y="420000"/>
                  <a:pt x="1036000" y="420000"/>
                </a:cubicBezTo>
                <a:lnTo>
                  <a:pt x="84000" y="420000"/>
                </a:lnTo>
                <a:cubicBezTo>
                  <a:pt x="37608" y="420000"/>
                  <a:pt x="0" y="382392"/>
                  <a:pt x="0" y="336000"/>
                </a:cubicBezTo>
                <a:lnTo>
                  <a:pt x="0" y="84000"/>
                </a:lnTo>
                <a:close/>
              </a:path>
              <a:path w="1120000" h="420000" fill="none">
                <a:moveTo>
                  <a:pt x="0" y="84000"/>
                </a:moveTo>
                <a:cubicBezTo>
                  <a:pt x="0" y="37608"/>
                  <a:pt x="37608" y="0"/>
                  <a:pt x="84000" y="0"/>
                </a:cubicBezTo>
                <a:lnTo>
                  <a:pt x="1036000" y="0"/>
                </a:lnTo>
                <a:cubicBezTo>
                  <a:pt x="1082392" y="0"/>
                  <a:pt x="1120000" y="37608"/>
                  <a:pt x="1120000" y="84000"/>
                </a:cubicBezTo>
                <a:lnTo>
                  <a:pt x="1120000" y="336000"/>
                </a:lnTo>
                <a:cubicBezTo>
                  <a:pt x="1120000" y="382392"/>
                  <a:pt x="1082392" y="420000"/>
                  <a:pt x="1036000" y="420000"/>
                </a:cubicBezTo>
                <a:lnTo>
                  <a:pt x="84000" y="420000"/>
                </a:lnTo>
                <a:cubicBezTo>
                  <a:pt x="37608" y="420000"/>
                  <a:pt x="0" y="382392"/>
                  <a:pt x="0" y="336000"/>
                </a:cubicBezTo>
                <a:lnTo>
                  <a:pt x="0" y="84000"/>
                </a:lnTo>
                <a:close/>
              </a:path>
            </a:pathLst>
          </a:custGeom>
          <a:solidFill>
            <a:srgbClr val="F1F5F9"/>
          </a:solidFill>
          <a:ln w="14000" cap="flat">
            <a:solidFill>
              <a:srgbClr val="64748B"/>
            </a:solidFill>
            <a:miter/>
          </a:ln>
        </p:spPr>
      </p:sp>
      <p:sp>
        <p:nvSpPr>
          <p:cNvPr id="1466" name="任意多边形 1465"/>
          <p:cNvSpPr/>
          <p:nvPr/>
        </p:nvSpPr>
        <p:spPr>
          <a:xfrm>
            <a:off x="62680" y="705700"/>
            <a:ext cx="630000" cy="217000"/>
          </a:xfrm>
          <a:custGeom>
            <a:avLst/>
            <a:gdLst>
              <a:gd name="connsiteX0" fmla="*/ 0 w 630000"/>
              <a:gd name="connsiteY0" fmla="*/ 108500 h 217000"/>
              <a:gd name="connsiteX1" fmla="*/ 315000 w 630000"/>
              <a:gd name="connsiteY1" fmla="*/ 0 h 217000"/>
              <a:gd name="connsiteX2" fmla="*/ 630000 w 630000"/>
              <a:gd name="connsiteY2" fmla="*/ 108500 h 217000"/>
              <a:gd name="connsiteX3" fmla="*/ 315000 w 630000"/>
              <a:gd name="connsiteY3" fmla="*/ 217000 h 217000"/>
              <a:gd name="rtl" fmla="*/ 1533000 w 630000"/>
              <a:gd name="rtt" fmla="*/ 3899000 h 217000"/>
              <a:gd name="rtr" fmla="*/ 2163000 w 630000"/>
              <a:gd name="rtb" fmla="*/ 4116000 h 217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34155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840" b="1" dirty="0">
                <a:solidFill>
                  <a:srgbClr val="334155"/>
                </a:solidFill>
                <a:latin typeface="Times New Roman Regular" panose="02020503050405090304" charset="0"/>
                <a:ea typeface="微软雅黑"/>
                <a:cs typeface="微软雅黑"/>
              </a:rPr>
              <a:t>湿实验验证</a:t>
            </a:r>
            <a:endParaRPr lang="zh-CN" altLang="en-US" sz="840" b="1" dirty="0">
              <a:solidFill>
                <a:srgbClr val="334155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467" name="任意多边形 1466"/>
          <p:cNvSpPr/>
          <p:nvPr/>
        </p:nvSpPr>
        <p:spPr>
          <a:xfrm>
            <a:off x="62680" y="705700"/>
            <a:ext cx="630000" cy="175000"/>
          </a:xfrm>
          <a:custGeom>
            <a:avLst/>
            <a:gdLst>
              <a:gd name="connsiteX0" fmla="*/ 0 w 630000"/>
              <a:gd name="connsiteY0" fmla="*/ 87500 h 175000"/>
              <a:gd name="connsiteX1" fmla="*/ 315000 w 630000"/>
              <a:gd name="connsiteY1" fmla="*/ 0 h 175000"/>
              <a:gd name="connsiteX2" fmla="*/ 630000 w 630000"/>
              <a:gd name="connsiteY2" fmla="*/ 87500 h 175000"/>
              <a:gd name="connsiteX3" fmla="*/ 315000 w 630000"/>
              <a:gd name="connsiteY3" fmla="*/ 175000 h 175000"/>
              <a:gd name="rtl" fmla="*/ 1533000 w 630000"/>
              <a:gd name="rtt" fmla="*/ 4060000 h 175000"/>
              <a:gd name="rtr" fmla="*/ 2163000 w 630000"/>
              <a:gd name="rtb" fmla="*/ 4235000 h 175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630" dirty="0">
                <a:solidFill>
                  <a:srgbClr val="64748B"/>
                </a:solidFill>
                <a:latin typeface="Times New Roman Regular" panose="02020503050405090304" charset="0"/>
                <a:ea typeface="微软雅黑"/>
                <a:cs typeface="Times New Roman Regular" panose="02020503050405090304" charset="0"/>
              </a:rPr>
              <a:t>(力学性能比较)</a:t>
            </a:r>
            <a:endParaRPr lang="zh-CN" altLang="en-US" sz="630" dirty="0">
              <a:solidFill>
                <a:srgbClr val="64748B"/>
              </a:solidFill>
              <a:latin typeface="Times New Roman Regular" panose="02020503050405090304" charset="0"/>
              <a:ea typeface="微软雅黑"/>
              <a:cs typeface="Times New Roman Regular" panose="02020503050405090304" charset="0"/>
            </a:endParaRPr>
          </a:p>
        </p:txBody>
      </p:sp>
      <p:sp>
        <p:nvSpPr>
          <p:cNvPr id="1470" name="任意多边形 1469"/>
          <p:cNvSpPr/>
          <p:nvPr/>
        </p:nvSpPr>
        <p:spPr>
          <a:xfrm>
            <a:off x="615680" y="2658700"/>
            <a:ext cx="875000" cy="2100000"/>
          </a:xfrm>
          <a:custGeom>
            <a:avLst/>
            <a:gdLst/>
            <a:ahLst/>
            <a:cxnLst/>
            <a:rect l="l" t="t" r="r" b="b"/>
            <a:pathLst>
              <a:path w="875000" h="2100000" fill="none">
                <a:moveTo>
                  <a:pt x="735000" y="2100000"/>
                </a:moveTo>
                <a:lnTo>
                  <a:pt x="0" y="2100000"/>
                </a:lnTo>
                <a:lnTo>
                  <a:pt x="0" y="0"/>
                </a:lnTo>
                <a:lnTo>
                  <a:pt x="875000" y="0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471" name="任意多边形 1470"/>
          <p:cNvSpPr/>
          <p:nvPr/>
        </p:nvSpPr>
        <p:spPr>
          <a:xfrm>
            <a:off x="1455680" y="2616700"/>
            <a:ext cx="105000" cy="84000"/>
          </a:xfrm>
          <a:custGeom>
            <a:avLst/>
            <a:gdLst/>
            <a:ahLst/>
            <a:cxnLst/>
            <a:rect l="l" t="t" r="r" b="b"/>
            <a:pathLst>
              <a:path w="105000" h="84000" stroke="0">
                <a:moveTo>
                  <a:pt x="0" y="0"/>
                </a:moveTo>
                <a:lnTo>
                  <a:pt x="105000" y="42000"/>
                </a:lnTo>
                <a:lnTo>
                  <a:pt x="0" y="84000"/>
                </a:lnTo>
                <a:lnTo>
                  <a:pt x="0" y="0"/>
                </a:lnTo>
                <a:close/>
              </a:path>
              <a:path w="105000" h="84000" fill="none">
                <a:moveTo>
                  <a:pt x="0" y="0"/>
                </a:moveTo>
                <a:lnTo>
                  <a:pt x="105000" y="42000"/>
                </a:lnTo>
                <a:lnTo>
                  <a:pt x="0" y="84000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 w="7000" cap="flat">
            <a:noFill/>
            <a:miter/>
          </a:ln>
        </p:spPr>
      </p:sp>
      <p:sp>
        <p:nvSpPr>
          <p:cNvPr id="1473" name="任意多边形 1472"/>
          <p:cNvSpPr/>
          <p:nvPr/>
        </p:nvSpPr>
        <p:spPr>
          <a:xfrm>
            <a:off x="517296" y="3568700"/>
            <a:ext cx="185197" cy="770000"/>
          </a:xfrm>
          <a:custGeom>
            <a:avLst/>
            <a:gdLst/>
            <a:ahLst/>
            <a:cxnLst/>
            <a:rect l="l" t="t" r="r" b="b"/>
            <a:pathLst>
              <a:path w="185197" h="770000" stroke="0">
                <a:moveTo>
                  <a:pt x="0" y="105000"/>
                </a:moveTo>
                <a:cubicBezTo>
                  <a:pt x="0" y="47010"/>
                  <a:pt x="41458" y="0"/>
                  <a:pt x="92598" y="0"/>
                </a:cubicBezTo>
                <a:cubicBezTo>
                  <a:pt x="143739" y="0"/>
                  <a:pt x="185197" y="47010"/>
                  <a:pt x="185197" y="105000"/>
                </a:cubicBezTo>
                <a:lnTo>
                  <a:pt x="185197" y="665000"/>
                </a:lnTo>
                <a:cubicBezTo>
                  <a:pt x="185197" y="722990"/>
                  <a:pt x="143739" y="770000"/>
                  <a:pt x="92598" y="770000"/>
                </a:cubicBezTo>
                <a:cubicBezTo>
                  <a:pt x="41458" y="770000"/>
                  <a:pt x="0" y="722990"/>
                  <a:pt x="0" y="665000"/>
                </a:cubicBezTo>
                <a:lnTo>
                  <a:pt x="0" y="105000"/>
                </a:lnTo>
                <a:close/>
              </a:path>
              <a:path w="185197" h="770000" fill="none">
                <a:moveTo>
                  <a:pt x="0" y="105000"/>
                </a:moveTo>
                <a:cubicBezTo>
                  <a:pt x="0" y="47010"/>
                  <a:pt x="41458" y="0"/>
                  <a:pt x="92598" y="0"/>
                </a:cubicBezTo>
                <a:cubicBezTo>
                  <a:pt x="143739" y="0"/>
                  <a:pt x="185197" y="47010"/>
                  <a:pt x="185197" y="105000"/>
                </a:cubicBezTo>
                <a:lnTo>
                  <a:pt x="185197" y="665000"/>
                </a:lnTo>
                <a:cubicBezTo>
                  <a:pt x="185197" y="722990"/>
                  <a:pt x="143739" y="770000"/>
                  <a:pt x="92598" y="770000"/>
                </a:cubicBezTo>
                <a:cubicBezTo>
                  <a:pt x="41458" y="770000"/>
                  <a:pt x="0" y="722990"/>
                  <a:pt x="0" y="665000"/>
                </a:cubicBezTo>
                <a:lnTo>
                  <a:pt x="0" y="105000"/>
                </a:lnTo>
                <a:close/>
              </a:path>
            </a:pathLst>
          </a:custGeom>
          <a:solidFill>
            <a:srgbClr val="FFFFFF"/>
          </a:solidFill>
          <a:ln w="7000" cap="flat">
            <a:solidFill>
              <a:srgbClr val="94A3B8"/>
            </a:solidFill>
            <a:miter/>
          </a:ln>
        </p:spPr>
      </p:sp>
      <p:sp>
        <p:nvSpPr>
          <p:cNvPr id="1474" name="任意多边形 1473"/>
          <p:cNvSpPr/>
          <p:nvPr/>
        </p:nvSpPr>
        <p:spPr>
          <a:xfrm>
            <a:off x="62680" y="705700"/>
            <a:ext cx="553882" cy="203000"/>
          </a:xfrm>
          <a:custGeom>
            <a:avLst/>
            <a:gdLst>
              <a:gd name="connsiteX0" fmla="*/ 0 w 553882"/>
              <a:gd name="connsiteY0" fmla="*/ 101500 h 203000"/>
              <a:gd name="connsiteX1" fmla="*/ 276941 w 553882"/>
              <a:gd name="connsiteY1" fmla="*/ 0 h 203000"/>
              <a:gd name="connsiteX2" fmla="*/ 553882 w 553882"/>
              <a:gd name="connsiteY2" fmla="*/ 101500 h 203000"/>
              <a:gd name="connsiteX3" fmla="*/ 276941 w 553882"/>
              <a:gd name="connsiteY3" fmla="*/ 203000 h 203000"/>
              <a:gd name="rtl" fmla="*/ 231443 w 553882"/>
              <a:gd name="rtt" fmla="*/ 3143000 h 203000"/>
              <a:gd name="rtr" fmla="*/ 889443 w 553882"/>
              <a:gd name="rtb" fmla="*/ 3346000 h 20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endParaRPr lang="zh-CN" altLang="en-US" sz="595" b="1" dirty="0">
              <a:solidFill>
                <a:srgbClr val="64748B"/>
              </a:solidFill>
              <a:latin typeface="Times New Roman Regular" panose="02020503050405090304" charset="0"/>
              <a:ea typeface="微软雅黑"/>
              <a:cs typeface="Times New Roman Regular" panose="02020503050405090304" charset="0"/>
            </a:endParaRPr>
          </a:p>
        </p:txBody>
      </p:sp>
      <p:sp>
        <p:nvSpPr>
          <p:cNvPr id="1476" name="任意多边形 1475"/>
          <p:cNvSpPr/>
          <p:nvPr/>
        </p:nvSpPr>
        <p:spPr>
          <a:xfrm>
            <a:off x="3625680" y="978700"/>
            <a:ext cx="4900000" cy="5180000"/>
          </a:xfrm>
          <a:custGeom>
            <a:avLst/>
            <a:gdLst/>
            <a:ahLst/>
            <a:cxnLst/>
            <a:rect l="l" t="t" r="r" b="b"/>
            <a:pathLst>
              <a:path w="4900000" h="5180000" stroke="0">
                <a:moveTo>
                  <a:pt x="0" y="168000"/>
                </a:moveTo>
                <a:cubicBezTo>
                  <a:pt x="0" y="75216"/>
                  <a:pt x="75216" y="0"/>
                  <a:pt x="168000" y="0"/>
                </a:cubicBezTo>
                <a:lnTo>
                  <a:pt x="4732000" y="0"/>
                </a:lnTo>
                <a:cubicBezTo>
                  <a:pt x="4824784" y="0"/>
                  <a:pt x="4900000" y="75216"/>
                  <a:pt x="4900000" y="168000"/>
                </a:cubicBezTo>
                <a:lnTo>
                  <a:pt x="4900000" y="5012000"/>
                </a:lnTo>
                <a:cubicBezTo>
                  <a:pt x="4900000" y="5104784"/>
                  <a:pt x="4824784" y="5180000"/>
                  <a:pt x="4732000" y="5180000"/>
                </a:cubicBezTo>
                <a:lnTo>
                  <a:pt x="168000" y="5180000"/>
                </a:lnTo>
                <a:cubicBezTo>
                  <a:pt x="75216" y="5180000"/>
                  <a:pt x="0" y="5104784"/>
                  <a:pt x="0" y="5012000"/>
                </a:cubicBezTo>
                <a:lnTo>
                  <a:pt x="0" y="168000"/>
                </a:lnTo>
                <a:close/>
              </a:path>
              <a:path w="4900000" h="5180000" fill="none">
                <a:moveTo>
                  <a:pt x="0" y="168000"/>
                </a:moveTo>
                <a:cubicBezTo>
                  <a:pt x="0" y="75216"/>
                  <a:pt x="75216" y="0"/>
                  <a:pt x="168000" y="0"/>
                </a:cubicBezTo>
                <a:lnTo>
                  <a:pt x="4732000" y="0"/>
                </a:lnTo>
                <a:cubicBezTo>
                  <a:pt x="4824784" y="0"/>
                  <a:pt x="4900000" y="75216"/>
                  <a:pt x="4900000" y="168000"/>
                </a:cubicBezTo>
                <a:lnTo>
                  <a:pt x="4900000" y="5012000"/>
                </a:lnTo>
                <a:cubicBezTo>
                  <a:pt x="4900000" y="5104784"/>
                  <a:pt x="4824784" y="5180000"/>
                  <a:pt x="4732000" y="5180000"/>
                </a:cubicBezTo>
                <a:lnTo>
                  <a:pt x="168000" y="5180000"/>
                </a:lnTo>
                <a:cubicBezTo>
                  <a:pt x="75216" y="5180000"/>
                  <a:pt x="0" y="5104784"/>
                  <a:pt x="0" y="5012000"/>
                </a:cubicBezTo>
                <a:lnTo>
                  <a:pt x="0" y="168000"/>
                </a:lnTo>
                <a:close/>
              </a:path>
            </a:pathLst>
          </a:custGeom>
          <a:solidFill>
            <a:srgbClr val="FFFFFF"/>
          </a:solidFill>
          <a:ln w="14000" cap="flat">
            <a:solidFill>
              <a:srgbClr val="C7D2FE"/>
            </a:solidFill>
            <a:miter/>
          </a:ln>
        </p:spPr>
      </p:sp>
      <p:sp>
        <p:nvSpPr>
          <p:cNvPr id="1477" name="任意多边形 1476"/>
          <p:cNvSpPr/>
          <p:nvPr/>
        </p:nvSpPr>
        <p:spPr>
          <a:xfrm>
            <a:off x="3625680" y="978700"/>
            <a:ext cx="4900000" cy="5180000"/>
          </a:xfrm>
          <a:custGeom>
            <a:avLst/>
            <a:gdLst/>
            <a:ahLst/>
            <a:cxnLst/>
            <a:rect l="l" t="t" r="r" b="b"/>
            <a:pathLst>
              <a:path w="4900000" h="5180000" stroke="0">
                <a:moveTo>
                  <a:pt x="0" y="168000"/>
                </a:moveTo>
                <a:cubicBezTo>
                  <a:pt x="0" y="75216"/>
                  <a:pt x="75216" y="0"/>
                  <a:pt x="168000" y="0"/>
                </a:cubicBezTo>
                <a:lnTo>
                  <a:pt x="4732000" y="0"/>
                </a:lnTo>
                <a:cubicBezTo>
                  <a:pt x="4824784" y="0"/>
                  <a:pt x="4900000" y="75216"/>
                  <a:pt x="4900000" y="168000"/>
                </a:cubicBezTo>
                <a:lnTo>
                  <a:pt x="4900000" y="5012000"/>
                </a:lnTo>
                <a:cubicBezTo>
                  <a:pt x="4900000" y="5104784"/>
                  <a:pt x="4824784" y="5180000"/>
                  <a:pt x="4732000" y="5180000"/>
                </a:cubicBezTo>
                <a:lnTo>
                  <a:pt x="168000" y="5180000"/>
                </a:lnTo>
                <a:cubicBezTo>
                  <a:pt x="75216" y="5180000"/>
                  <a:pt x="0" y="5104784"/>
                  <a:pt x="0" y="5012000"/>
                </a:cubicBezTo>
                <a:lnTo>
                  <a:pt x="0" y="168000"/>
                </a:lnTo>
                <a:close/>
              </a:path>
              <a:path w="4900000" h="5180000" fill="none">
                <a:moveTo>
                  <a:pt x="0" y="168000"/>
                </a:moveTo>
                <a:cubicBezTo>
                  <a:pt x="0" y="75216"/>
                  <a:pt x="75216" y="0"/>
                  <a:pt x="168000" y="0"/>
                </a:cubicBezTo>
                <a:lnTo>
                  <a:pt x="4732000" y="0"/>
                </a:lnTo>
                <a:cubicBezTo>
                  <a:pt x="4824784" y="0"/>
                  <a:pt x="4900000" y="75216"/>
                  <a:pt x="4900000" y="168000"/>
                </a:cubicBezTo>
                <a:lnTo>
                  <a:pt x="4900000" y="5012000"/>
                </a:lnTo>
                <a:cubicBezTo>
                  <a:pt x="4900000" y="5104784"/>
                  <a:pt x="4824784" y="5180000"/>
                  <a:pt x="4732000" y="5180000"/>
                </a:cubicBezTo>
                <a:lnTo>
                  <a:pt x="168000" y="5180000"/>
                </a:lnTo>
                <a:cubicBezTo>
                  <a:pt x="75216" y="5180000"/>
                  <a:pt x="0" y="5104784"/>
                  <a:pt x="0" y="5012000"/>
                </a:cubicBezTo>
                <a:lnTo>
                  <a:pt x="0" y="168000"/>
                </a:lnTo>
                <a:close/>
              </a:path>
            </a:pathLst>
          </a:custGeom>
          <a:gradFill>
            <a:gsLst>
              <a:gs pos="0">
                <a:srgbClr val="EEF2FF">
                  <a:alpha val="40000"/>
                </a:srgbClr>
              </a:gs>
              <a:gs pos="100000">
                <a:srgbClr val="E0E7FF">
                  <a:alpha val="40000"/>
                </a:srgbClr>
              </a:gs>
            </a:gsLst>
            <a:lin ang="2700000" scaled="0"/>
          </a:gradFill>
          <a:ln w="7000" cap="flat">
            <a:noFill/>
            <a:miter/>
          </a:ln>
        </p:spPr>
      </p:sp>
      <p:sp>
        <p:nvSpPr>
          <p:cNvPr id="1478" name="任意多边形 1477"/>
          <p:cNvSpPr/>
          <p:nvPr/>
        </p:nvSpPr>
        <p:spPr>
          <a:xfrm>
            <a:off x="3625680" y="978700"/>
            <a:ext cx="4900000" cy="560000"/>
          </a:xfrm>
          <a:custGeom>
            <a:avLst/>
            <a:gdLst/>
            <a:ahLst/>
            <a:cxnLst/>
            <a:rect l="l" t="t" r="r" b="b"/>
            <a:pathLst>
              <a:path w="4900000" h="560000" stroke="0">
                <a:moveTo>
                  <a:pt x="0" y="168000"/>
                </a:moveTo>
                <a:cubicBezTo>
                  <a:pt x="0" y="75216"/>
                  <a:pt x="75216" y="0"/>
                  <a:pt x="168000" y="0"/>
                </a:cubicBezTo>
                <a:lnTo>
                  <a:pt x="4732000" y="0"/>
                </a:lnTo>
                <a:cubicBezTo>
                  <a:pt x="4824784" y="0"/>
                  <a:pt x="4900000" y="75216"/>
                  <a:pt x="4900000" y="168000"/>
                </a:cubicBezTo>
                <a:lnTo>
                  <a:pt x="4900000" y="560000"/>
                </a:lnTo>
                <a:lnTo>
                  <a:pt x="0" y="560000"/>
                </a:lnTo>
                <a:lnTo>
                  <a:pt x="0" y="168000"/>
                </a:lnTo>
                <a:close/>
              </a:path>
              <a:path w="4900000" h="560000" fill="none">
                <a:moveTo>
                  <a:pt x="0" y="168000"/>
                </a:moveTo>
                <a:cubicBezTo>
                  <a:pt x="0" y="75216"/>
                  <a:pt x="75216" y="0"/>
                  <a:pt x="168000" y="0"/>
                </a:cubicBezTo>
                <a:lnTo>
                  <a:pt x="4732000" y="0"/>
                </a:lnTo>
                <a:cubicBezTo>
                  <a:pt x="4824784" y="0"/>
                  <a:pt x="4900000" y="75216"/>
                  <a:pt x="4900000" y="168000"/>
                </a:cubicBezTo>
                <a:lnTo>
                  <a:pt x="4900000" y="560000"/>
                </a:lnTo>
                <a:lnTo>
                  <a:pt x="0" y="560000"/>
                </a:lnTo>
                <a:lnTo>
                  <a:pt x="0" y="168000"/>
                </a:lnTo>
                <a:close/>
              </a:path>
            </a:pathLst>
          </a:custGeom>
          <a:solidFill>
            <a:srgbClr val="EEF2FF"/>
          </a:solidFill>
          <a:ln w="7000" cap="flat">
            <a:noFill/>
            <a:miter/>
          </a:ln>
        </p:spPr>
      </p:sp>
      <p:sp>
        <p:nvSpPr>
          <p:cNvPr id="1479" name="任意多边形 1478"/>
          <p:cNvSpPr/>
          <p:nvPr/>
        </p:nvSpPr>
        <p:spPr>
          <a:xfrm>
            <a:off x="62680" y="705700"/>
            <a:ext cx="1456000" cy="287000"/>
          </a:xfrm>
          <a:custGeom>
            <a:avLst/>
            <a:gdLst>
              <a:gd name="connsiteX0" fmla="*/ 0 w 1456000"/>
              <a:gd name="connsiteY0" fmla="*/ 143500 h 287000"/>
              <a:gd name="connsiteX1" fmla="*/ 728000 w 1456000"/>
              <a:gd name="connsiteY1" fmla="*/ 0 h 287000"/>
              <a:gd name="connsiteX2" fmla="*/ 1456000 w 1456000"/>
              <a:gd name="connsiteY2" fmla="*/ 143500 h 287000"/>
              <a:gd name="connsiteX3" fmla="*/ 728000 w 1456000"/>
              <a:gd name="connsiteY3" fmla="*/ 287000 h 287000"/>
              <a:gd name="rtl" fmla="*/ 5285000 w 1456000"/>
              <a:gd name="rtt" fmla="*/ 350000 h 287000"/>
              <a:gd name="rtr" fmla="*/ 6741000 w 1456000"/>
              <a:gd name="rtb" fmla="*/ 637000 h 287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3A8A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1155" b="1" dirty="0">
                <a:solidFill>
                  <a:srgbClr val="1E3A8A"/>
                </a:solidFill>
                <a:latin typeface="Times New Roman Regular" panose="02020503050405090304" charset="0"/>
                <a:ea typeface="微软雅黑"/>
                <a:cs typeface="微软雅黑"/>
              </a:rPr>
              <a:t>智能体模式优化提升</a:t>
            </a:r>
            <a:endParaRPr lang="zh-CN" altLang="en-US" sz="1155" b="1" dirty="0">
              <a:solidFill>
                <a:srgbClr val="1E3A8A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480" name="任意多边形 1479"/>
          <p:cNvSpPr/>
          <p:nvPr/>
        </p:nvSpPr>
        <p:spPr>
          <a:xfrm>
            <a:off x="62680" y="705700"/>
            <a:ext cx="1540000" cy="210000"/>
          </a:xfrm>
          <a:custGeom>
            <a:avLst/>
            <a:gdLst>
              <a:gd name="connsiteX0" fmla="*/ 0 w 1540000"/>
              <a:gd name="connsiteY0" fmla="*/ 105000 h 210000"/>
              <a:gd name="connsiteX1" fmla="*/ 770000 w 1540000"/>
              <a:gd name="connsiteY1" fmla="*/ 0 h 210000"/>
              <a:gd name="connsiteX2" fmla="*/ 1540000 w 1540000"/>
              <a:gd name="connsiteY2" fmla="*/ 105000 h 210000"/>
              <a:gd name="connsiteX3" fmla="*/ 770000 w 1540000"/>
              <a:gd name="connsiteY3" fmla="*/ 210000 h 210000"/>
              <a:gd name="rtl" fmla="*/ 5243000 w 1540000"/>
              <a:gd name="rtt" fmla="*/ 581000 h 210000"/>
              <a:gd name="rtr" fmla="*/ 6783000 w 1540000"/>
              <a:gd name="rtb" fmla="*/ 791000 h 210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F46E5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90" b="1" dirty="0">
                <a:solidFill>
                  <a:srgbClr val="4F46E5"/>
                </a:solidFill>
                <a:latin typeface="Times New Roman Regular" panose="02020503050405090304" charset="0"/>
                <a:ea typeface="微软雅黑"/>
                <a:cs typeface="微软雅黑"/>
              </a:rPr>
              <a:t>以大模型为核心的自主实验系统</a:t>
            </a:r>
            <a:endParaRPr lang="zh-CN" altLang="en-US" sz="790" b="1" dirty="0">
              <a:solidFill>
                <a:srgbClr val="4F46E5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481" name="任意多边形 1480"/>
          <p:cNvSpPr/>
          <p:nvPr/>
        </p:nvSpPr>
        <p:spPr>
          <a:xfrm>
            <a:off x="3625680" y="1538700"/>
            <a:ext cx="4900000" cy="7000"/>
          </a:xfrm>
          <a:custGeom>
            <a:avLst/>
            <a:gdLst/>
            <a:ahLst/>
            <a:cxnLst/>
            <a:rect l="l" t="t" r="r" b="b"/>
            <a:pathLst>
              <a:path w="4900000" h="7000" fill="none">
                <a:moveTo>
                  <a:pt x="0" y="0"/>
                </a:moveTo>
                <a:lnTo>
                  <a:pt x="4900000" y="0"/>
                </a:lnTo>
              </a:path>
            </a:pathLst>
          </a:custGeom>
          <a:solidFill>
            <a:srgbClr val="000000"/>
          </a:solidFill>
          <a:ln w="7000" cap="flat">
            <a:solidFill>
              <a:srgbClr val="C7D2FE"/>
            </a:solidFill>
            <a:miter/>
          </a:ln>
        </p:spPr>
      </p:sp>
      <p:sp>
        <p:nvSpPr>
          <p:cNvPr id="1482" name="任意多边形 1481"/>
          <p:cNvSpPr/>
          <p:nvPr/>
        </p:nvSpPr>
        <p:spPr>
          <a:xfrm>
            <a:off x="5515680" y="1713700"/>
            <a:ext cx="1120000" cy="350000"/>
          </a:xfrm>
          <a:custGeom>
            <a:avLst/>
            <a:gdLst/>
            <a:ahLst/>
            <a:cxnLst/>
            <a:rect l="l" t="t" r="r" b="b"/>
            <a:pathLst>
              <a:path w="1120000" h="350000" stroke="0">
                <a:moveTo>
                  <a:pt x="0" y="175000"/>
                </a:moveTo>
                <a:cubicBezTo>
                  <a:pt x="0" y="78350"/>
                  <a:pt x="78350" y="0"/>
                  <a:pt x="175000" y="0"/>
                </a:cubicBezTo>
                <a:lnTo>
                  <a:pt x="945000" y="0"/>
                </a:lnTo>
                <a:cubicBezTo>
                  <a:pt x="1041650" y="0"/>
                  <a:pt x="1120000" y="78350"/>
                  <a:pt x="1120000" y="175000"/>
                </a:cubicBezTo>
                <a:cubicBezTo>
                  <a:pt x="1120000" y="271650"/>
                  <a:pt x="1041650" y="350000"/>
                  <a:pt x="945000" y="350000"/>
                </a:cubicBezTo>
                <a:lnTo>
                  <a:pt x="175000" y="350000"/>
                </a:lnTo>
                <a:cubicBezTo>
                  <a:pt x="78350" y="350000"/>
                  <a:pt x="0" y="271650"/>
                  <a:pt x="0" y="175000"/>
                </a:cubicBezTo>
                <a:close/>
              </a:path>
              <a:path w="1120000" h="350000" fill="none">
                <a:moveTo>
                  <a:pt x="0" y="175000"/>
                </a:moveTo>
                <a:cubicBezTo>
                  <a:pt x="0" y="78350"/>
                  <a:pt x="78350" y="0"/>
                  <a:pt x="175000" y="0"/>
                </a:cubicBezTo>
                <a:lnTo>
                  <a:pt x="945000" y="0"/>
                </a:lnTo>
                <a:cubicBezTo>
                  <a:pt x="1041650" y="0"/>
                  <a:pt x="1120000" y="78350"/>
                  <a:pt x="1120000" y="175000"/>
                </a:cubicBezTo>
                <a:cubicBezTo>
                  <a:pt x="1120000" y="271650"/>
                  <a:pt x="1041650" y="350000"/>
                  <a:pt x="945000" y="350000"/>
                </a:cubicBezTo>
                <a:lnTo>
                  <a:pt x="175000" y="350000"/>
                </a:lnTo>
                <a:cubicBezTo>
                  <a:pt x="78350" y="350000"/>
                  <a:pt x="0" y="271650"/>
                  <a:pt x="0" y="175000"/>
                </a:cubicBezTo>
                <a:close/>
              </a:path>
            </a:pathLst>
          </a:custGeom>
          <a:solidFill>
            <a:srgbClr val="FFFFFF"/>
          </a:solidFill>
          <a:ln w="14000" cap="flat">
            <a:solidFill>
              <a:srgbClr val="6366F1"/>
            </a:solidFill>
            <a:miter/>
          </a:ln>
        </p:spPr>
      </p:sp>
      <p:sp>
        <p:nvSpPr>
          <p:cNvPr id="1483" name="任意多边形 1482"/>
          <p:cNvSpPr/>
          <p:nvPr/>
        </p:nvSpPr>
        <p:spPr>
          <a:xfrm>
            <a:off x="62680" y="705700"/>
            <a:ext cx="854000" cy="217000"/>
          </a:xfrm>
          <a:custGeom>
            <a:avLst/>
            <a:gdLst>
              <a:gd name="connsiteX0" fmla="*/ 0 w 854000"/>
              <a:gd name="connsiteY0" fmla="*/ 108500 h 217000"/>
              <a:gd name="connsiteX1" fmla="*/ 427000 w 854000"/>
              <a:gd name="connsiteY1" fmla="*/ 0 h 217000"/>
              <a:gd name="connsiteX2" fmla="*/ 854000 w 854000"/>
              <a:gd name="connsiteY2" fmla="*/ 108500 h 217000"/>
              <a:gd name="connsiteX3" fmla="*/ 427000 w 854000"/>
              <a:gd name="connsiteY3" fmla="*/ 217000 h 217000"/>
              <a:gd name="rtl" fmla="*/ 5586000 w 854000"/>
              <a:gd name="rtt" fmla="*/ 1064000 h 217000"/>
              <a:gd name="rtr" fmla="*/ 6440000 w 854000"/>
              <a:gd name="rtb" fmla="*/ 1281000 h 217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730A3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840" b="1" dirty="0">
                <a:solidFill>
                  <a:srgbClr val="3730A3"/>
                </a:solidFill>
                <a:latin typeface="Times New Roman Regular" panose="02020503050405090304" charset="0"/>
                <a:ea typeface="微软雅黑"/>
                <a:cs typeface="微软雅黑"/>
              </a:rPr>
              <a:t>抗冻蛋白序列</a:t>
            </a:r>
            <a:endParaRPr lang="zh-CN" altLang="en-US" sz="840" b="1" dirty="0">
              <a:solidFill>
                <a:srgbClr val="3730A3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484" name="任意多边形 1483"/>
          <p:cNvSpPr/>
          <p:nvPr/>
        </p:nvSpPr>
        <p:spPr>
          <a:xfrm>
            <a:off x="5655680" y="1836200"/>
            <a:ext cx="280000" cy="105000"/>
          </a:xfrm>
          <a:custGeom>
            <a:avLst/>
            <a:gdLst/>
            <a:ahLst/>
            <a:cxnLst/>
            <a:rect l="l" t="t" r="r" b="b"/>
            <a:pathLst>
              <a:path w="280000" h="105000" stroke="0">
                <a:moveTo>
                  <a:pt x="0" y="52500"/>
                </a:moveTo>
                <a:cubicBezTo>
                  <a:pt x="46667" y="-17500"/>
                  <a:pt x="93333" y="-17500"/>
                  <a:pt x="140000" y="52500"/>
                </a:cubicBezTo>
                <a:cubicBezTo>
                  <a:pt x="186667" y="122500"/>
                  <a:pt x="233333" y="122500"/>
                  <a:pt x="280000" y="52500"/>
                </a:cubicBezTo>
              </a:path>
              <a:path w="280000" h="105000" fill="none">
                <a:moveTo>
                  <a:pt x="0" y="52500"/>
                </a:moveTo>
                <a:cubicBezTo>
                  <a:pt x="46667" y="-17500"/>
                  <a:pt x="93333" y="-17500"/>
                  <a:pt x="140000" y="52500"/>
                </a:cubicBezTo>
                <a:cubicBezTo>
                  <a:pt x="186667" y="122500"/>
                  <a:pt x="233333" y="122500"/>
                  <a:pt x="280000" y="52500"/>
                </a:cubicBezTo>
              </a:path>
            </a:pathLst>
          </a:custGeom>
          <a:noFill/>
          <a:ln w="14000" cap="flat">
            <a:solidFill>
              <a:srgbClr val="3B82F6"/>
            </a:solidFill>
            <a:miter/>
          </a:ln>
        </p:spPr>
      </p:sp>
      <p:sp>
        <p:nvSpPr>
          <p:cNvPr id="1485" name="任意多边形 1484"/>
          <p:cNvSpPr/>
          <p:nvPr/>
        </p:nvSpPr>
        <p:spPr>
          <a:xfrm>
            <a:off x="5655680" y="1836200"/>
            <a:ext cx="280000" cy="105000"/>
          </a:xfrm>
          <a:custGeom>
            <a:avLst/>
            <a:gdLst/>
            <a:ahLst/>
            <a:cxnLst/>
            <a:rect l="l" t="t" r="r" b="b"/>
            <a:pathLst>
              <a:path w="280000" h="105000" stroke="0">
                <a:moveTo>
                  <a:pt x="0" y="52500"/>
                </a:moveTo>
                <a:cubicBezTo>
                  <a:pt x="46667" y="122500"/>
                  <a:pt x="93333" y="122500"/>
                  <a:pt x="140000" y="52500"/>
                </a:cubicBezTo>
                <a:cubicBezTo>
                  <a:pt x="186667" y="-17500"/>
                  <a:pt x="233333" y="-17500"/>
                  <a:pt x="280000" y="52500"/>
                </a:cubicBezTo>
              </a:path>
              <a:path w="280000" h="105000" fill="none">
                <a:moveTo>
                  <a:pt x="0" y="52500"/>
                </a:moveTo>
                <a:cubicBezTo>
                  <a:pt x="46667" y="122500"/>
                  <a:pt x="93333" y="122500"/>
                  <a:pt x="140000" y="52500"/>
                </a:cubicBezTo>
                <a:cubicBezTo>
                  <a:pt x="186667" y="-17500"/>
                  <a:pt x="233333" y="-17500"/>
                  <a:pt x="280000" y="52500"/>
                </a:cubicBezTo>
              </a:path>
            </a:pathLst>
          </a:custGeom>
          <a:noFill/>
          <a:ln w="14000" cap="flat">
            <a:solidFill>
              <a:srgbClr val="8B5CF6"/>
            </a:solidFill>
            <a:miter/>
          </a:ln>
        </p:spPr>
      </p:sp>
      <p:sp>
        <p:nvSpPr>
          <p:cNvPr id="1487" name="任意多边形 1486"/>
          <p:cNvSpPr/>
          <p:nvPr/>
        </p:nvSpPr>
        <p:spPr>
          <a:xfrm>
            <a:off x="6075680" y="2063700"/>
            <a:ext cx="7000" cy="595000"/>
          </a:xfrm>
          <a:custGeom>
            <a:avLst/>
            <a:gdLst/>
            <a:ahLst/>
            <a:cxnLst/>
            <a:rect l="l" t="t" r="r" b="b"/>
            <a:pathLst>
              <a:path w="7000" h="595000" fill="none">
                <a:moveTo>
                  <a:pt x="0" y="0"/>
                </a:moveTo>
                <a:lnTo>
                  <a:pt x="0" y="595000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488" name="任意多边形 1487"/>
          <p:cNvSpPr/>
          <p:nvPr/>
        </p:nvSpPr>
        <p:spPr>
          <a:xfrm rot="5400000">
            <a:off x="6040282" y="2349984"/>
            <a:ext cx="70795" cy="56636"/>
          </a:xfrm>
          <a:custGeom>
            <a:avLst/>
            <a:gdLst/>
            <a:ahLst/>
            <a:cxnLst/>
            <a:rect l="l" t="t" r="r" b="b"/>
            <a:pathLst>
              <a:path w="70795" h="56636" stroke="0">
                <a:moveTo>
                  <a:pt x="0" y="0"/>
                </a:moveTo>
                <a:lnTo>
                  <a:pt x="70795" y="28318"/>
                </a:lnTo>
                <a:lnTo>
                  <a:pt x="0" y="56636"/>
                </a:lnTo>
                <a:lnTo>
                  <a:pt x="0" y="0"/>
                </a:lnTo>
                <a:close/>
              </a:path>
              <a:path w="70795" h="56636" fill="none">
                <a:moveTo>
                  <a:pt x="0" y="0"/>
                </a:moveTo>
                <a:lnTo>
                  <a:pt x="70795" y="28318"/>
                </a:lnTo>
                <a:lnTo>
                  <a:pt x="0" y="56636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 w="7000" cap="flat">
            <a:noFill/>
            <a:miter/>
          </a:ln>
        </p:spPr>
      </p:sp>
      <p:sp>
        <p:nvSpPr>
          <p:cNvPr id="1490" name="任意多边形 1489"/>
          <p:cNvSpPr/>
          <p:nvPr/>
        </p:nvSpPr>
        <p:spPr>
          <a:xfrm>
            <a:off x="4745680" y="2588700"/>
            <a:ext cx="2660000" cy="2660000"/>
          </a:xfrm>
          <a:custGeom>
            <a:avLst/>
            <a:gdLst/>
            <a:ahLst/>
            <a:cxnLst/>
            <a:rect l="l" t="t" r="r" b="b"/>
            <a:pathLst>
              <a:path w="2660000" h="2660000" stroke="0">
                <a:moveTo>
                  <a:pt x="2660000" y="1330000"/>
                </a:moveTo>
                <a:cubicBezTo>
                  <a:pt x="2660000" y="2064539"/>
                  <a:pt x="2064539" y="2660000"/>
                  <a:pt x="1330000" y="2660000"/>
                </a:cubicBezTo>
                <a:cubicBezTo>
                  <a:pt x="595461" y="2660000"/>
                  <a:pt x="0" y="2064539"/>
                  <a:pt x="0" y="1330000"/>
                </a:cubicBezTo>
                <a:cubicBezTo>
                  <a:pt x="0" y="595461"/>
                  <a:pt x="595461" y="0"/>
                  <a:pt x="1330000" y="0"/>
                </a:cubicBezTo>
                <a:cubicBezTo>
                  <a:pt x="2064539" y="0"/>
                  <a:pt x="2660000" y="595461"/>
                  <a:pt x="2660000" y="1330000"/>
                </a:cubicBezTo>
                <a:close/>
              </a:path>
              <a:path w="2660000" h="2660000" fill="none">
                <a:moveTo>
                  <a:pt x="2660000" y="1330000"/>
                </a:moveTo>
                <a:cubicBezTo>
                  <a:pt x="2660000" y="2064539"/>
                  <a:pt x="2064539" y="2660000"/>
                  <a:pt x="1330000" y="2660000"/>
                </a:cubicBezTo>
                <a:cubicBezTo>
                  <a:pt x="595461" y="2660000"/>
                  <a:pt x="0" y="2064539"/>
                  <a:pt x="0" y="1330000"/>
                </a:cubicBezTo>
                <a:cubicBezTo>
                  <a:pt x="0" y="595461"/>
                  <a:pt x="595461" y="0"/>
                  <a:pt x="1330000" y="0"/>
                </a:cubicBezTo>
                <a:cubicBezTo>
                  <a:pt x="2064539" y="0"/>
                  <a:pt x="2660000" y="595461"/>
                  <a:pt x="2660000" y="1330000"/>
                </a:cubicBezTo>
                <a:close/>
              </a:path>
            </a:pathLst>
          </a:custGeom>
          <a:noFill/>
          <a:ln w="21000" cap="flat">
            <a:solidFill>
              <a:srgbClr val="C7D2FE"/>
            </a:solidFill>
            <a:miter/>
          </a:ln>
        </p:spPr>
      </p:sp>
      <p:sp>
        <p:nvSpPr>
          <p:cNvPr id="1491" name="任意多边形 1490"/>
          <p:cNvSpPr/>
          <p:nvPr/>
        </p:nvSpPr>
        <p:spPr>
          <a:xfrm>
            <a:off x="6075680" y="2588700"/>
            <a:ext cx="1330000" cy="1330000"/>
          </a:xfrm>
          <a:custGeom>
            <a:avLst/>
            <a:gdLst/>
            <a:ahLst/>
            <a:cxnLst/>
            <a:rect l="l" t="t" r="r" b="b"/>
            <a:pathLst>
              <a:path w="1330000" h="1330000" fill="none">
                <a:moveTo>
                  <a:pt x="0" y="0"/>
                </a:moveTo>
                <a:cubicBezTo>
                  <a:pt x="734539" y="0"/>
                  <a:pt x="1330000" y="595461"/>
                  <a:pt x="1330000" y="1330000"/>
                </a:cubicBez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492" name="任意多边形 1491"/>
          <p:cNvSpPr/>
          <p:nvPr/>
        </p:nvSpPr>
        <p:spPr>
          <a:xfrm rot="5400000">
            <a:off x="7351424" y="3929536"/>
            <a:ext cx="108362" cy="86690"/>
          </a:xfrm>
          <a:custGeom>
            <a:avLst/>
            <a:gdLst/>
            <a:ahLst/>
            <a:cxnLst/>
            <a:rect l="l" t="t" r="r" b="b"/>
            <a:pathLst>
              <a:path w="108362" h="86690" stroke="0">
                <a:moveTo>
                  <a:pt x="0" y="0"/>
                </a:moveTo>
                <a:lnTo>
                  <a:pt x="108362" y="43345"/>
                </a:lnTo>
                <a:lnTo>
                  <a:pt x="0" y="86690"/>
                </a:lnTo>
                <a:lnTo>
                  <a:pt x="0" y="0"/>
                </a:lnTo>
                <a:close/>
              </a:path>
              <a:path w="108362" h="86690" fill="none">
                <a:moveTo>
                  <a:pt x="0" y="0"/>
                </a:moveTo>
                <a:lnTo>
                  <a:pt x="108362" y="43345"/>
                </a:lnTo>
                <a:lnTo>
                  <a:pt x="0" y="8669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 w="7000" cap="flat">
            <a:noFill/>
            <a:miter/>
          </a:ln>
        </p:spPr>
      </p:sp>
      <p:sp>
        <p:nvSpPr>
          <p:cNvPr id="1494" name="任意多边形 1493"/>
          <p:cNvSpPr/>
          <p:nvPr/>
        </p:nvSpPr>
        <p:spPr>
          <a:xfrm>
            <a:off x="4745680" y="3918700"/>
            <a:ext cx="1330000" cy="1330000"/>
          </a:xfrm>
          <a:custGeom>
            <a:avLst/>
            <a:gdLst/>
            <a:ahLst/>
            <a:cxnLst/>
            <a:rect l="l" t="t" r="r" b="b"/>
            <a:pathLst>
              <a:path w="1330000" h="1330000" fill="none">
                <a:moveTo>
                  <a:pt x="1330000" y="1330000"/>
                </a:moveTo>
                <a:cubicBezTo>
                  <a:pt x="595461" y="1330000"/>
                  <a:pt x="0" y="734539"/>
                  <a:pt x="0" y="0"/>
                </a:cubicBez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495" name="任意多边形 1494"/>
          <p:cNvSpPr/>
          <p:nvPr/>
        </p:nvSpPr>
        <p:spPr>
          <a:xfrm rot="-5400000">
            <a:off x="4701055" y="3848530"/>
            <a:ext cx="96253" cy="77002"/>
          </a:xfrm>
          <a:custGeom>
            <a:avLst/>
            <a:gdLst/>
            <a:ahLst/>
            <a:cxnLst/>
            <a:rect l="l" t="t" r="r" b="b"/>
            <a:pathLst>
              <a:path w="96253" h="77002" stroke="0">
                <a:moveTo>
                  <a:pt x="0" y="0"/>
                </a:moveTo>
                <a:lnTo>
                  <a:pt x="96253" y="38501"/>
                </a:lnTo>
                <a:lnTo>
                  <a:pt x="0" y="77002"/>
                </a:lnTo>
                <a:lnTo>
                  <a:pt x="0" y="0"/>
                </a:lnTo>
                <a:close/>
              </a:path>
              <a:path w="96253" h="77002" fill="none">
                <a:moveTo>
                  <a:pt x="0" y="0"/>
                </a:moveTo>
                <a:lnTo>
                  <a:pt x="96253" y="38501"/>
                </a:lnTo>
                <a:lnTo>
                  <a:pt x="0" y="77002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 w="7000" cap="flat">
            <a:noFill/>
            <a:miter/>
          </a:ln>
        </p:spPr>
      </p:sp>
      <p:sp>
        <p:nvSpPr>
          <p:cNvPr id="1497" name="任意多边形 1496"/>
          <p:cNvSpPr/>
          <p:nvPr/>
        </p:nvSpPr>
        <p:spPr>
          <a:xfrm>
            <a:off x="4419659" y="3813700"/>
            <a:ext cx="224882" cy="1050000"/>
          </a:xfrm>
          <a:custGeom>
            <a:avLst/>
            <a:gdLst/>
            <a:ahLst/>
            <a:cxnLst/>
            <a:rect l="l" t="t" r="r" b="b"/>
            <a:pathLst>
              <a:path w="224882" h="1050000" stroke="0">
                <a:moveTo>
                  <a:pt x="0" y="140000"/>
                </a:moveTo>
                <a:cubicBezTo>
                  <a:pt x="0" y="62680"/>
                  <a:pt x="50342" y="0"/>
                  <a:pt x="112441" y="0"/>
                </a:cubicBezTo>
                <a:cubicBezTo>
                  <a:pt x="174540" y="0"/>
                  <a:pt x="224882" y="62680"/>
                  <a:pt x="224882" y="140000"/>
                </a:cubicBezTo>
                <a:lnTo>
                  <a:pt x="224882" y="910000"/>
                </a:lnTo>
                <a:cubicBezTo>
                  <a:pt x="224882" y="987320"/>
                  <a:pt x="174540" y="1050000"/>
                  <a:pt x="112441" y="1050000"/>
                </a:cubicBezTo>
                <a:cubicBezTo>
                  <a:pt x="50342" y="1050000"/>
                  <a:pt x="0" y="987320"/>
                  <a:pt x="0" y="910000"/>
                </a:cubicBezTo>
                <a:lnTo>
                  <a:pt x="0" y="140000"/>
                </a:lnTo>
                <a:close/>
              </a:path>
              <a:path w="224882" h="1050000" fill="none">
                <a:moveTo>
                  <a:pt x="0" y="140000"/>
                </a:moveTo>
                <a:cubicBezTo>
                  <a:pt x="0" y="62680"/>
                  <a:pt x="50342" y="0"/>
                  <a:pt x="112441" y="0"/>
                </a:cubicBezTo>
                <a:cubicBezTo>
                  <a:pt x="174540" y="0"/>
                  <a:pt x="224882" y="62680"/>
                  <a:pt x="224882" y="140000"/>
                </a:cubicBezTo>
                <a:lnTo>
                  <a:pt x="224882" y="910000"/>
                </a:lnTo>
                <a:cubicBezTo>
                  <a:pt x="224882" y="987320"/>
                  <a:pt x="174540" y="1050000"/>
                  <a:pt x="112441" y="1050000"/>
                </a:cubicBezTo>
                <a:cubicBezTo>
                  <a:pt x="50342" y="1050000"/>
                  <a:pt x="0" y="987320"/>
                  <a:pt x="0" y="910000"/>
                </a:cubicBezTo>
                <a:lnTo>
                  <a:pt x="0" y="140000"/>
                </a:lnTo>
                <a:close/>
              </a:path>
            </a:pathLst>
          </a:custGeom>
          <a:solidFill>
            <a:srgbClr val="FFFFFF"/>
          </a:solidFill>
          <a:ln w="10500" cap="flat">
            <a:solidFill>
              <a:srgbClr val="6366F1"/>
            </a:solidFill>
            <a:miter/>
          </a:ln>
        </p:spPr>
      </p:sp>
      <p:sp>
        <p:nvSpPr>
          <p:cNvPr id="1498" name="任意多边形 1497"/>
          <p:cNvSpPr/>
          <p:nvPr/>
        </p:nvSpPr>
        <p:spPr>
          <a:xfrm>
            <a:off x="62680" y="705700"/>
            <a:ext cx="700000" cy="210000"/>
          </a:xfrm>
          <a:custGeom>
            <a:avLst/>
            <a:gdLst>
              <a:gd name="connsiteX0" fmla="*/ 0 w 700000"/>
              <a:gd name="connsiteY0" fmla="*/ 105000 h 210000"/>
              <a:gd name="connsiteX1" fmla="*/ 350000 w 700000"/>
              <a:gd name="connsiteY1" fmla="*/ 0 h 210000"/>
              <a:gd name="connsiteX2" fmla="*/ 700000 w 700000"/>
              <a:gd name="connsiteY2" fmla="*/ 105000 h 210000"/>
              <a:gd name="connsiteX3" fmla="*/ 350000 w 700000"/>
              <a:gd name="connsiteY3" fmla="*/ 210000 h 210000"/>
              <a:gd name="rtl" fmla="*/ 4123000 w 700000"/>
              <a:gd name="rtt" fmla="*/ 3486000 h 210000"/>
              <a:gd name="rtr" fmla="*/ 4823000 w 700000"/>
              <a:gd name="rtb" fmla="*/ 3696000 h 210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F46E5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endParaRPr lang="zh-CN" altLang="en-US" sz="790" b="1" dirty="0">
              <a:solidFill>
                <a:srgbClr val="4F46E5"/>
              </a:solidFill>
              <a:latin typeface="Times New Roman Regular" panose="02020503050405090304" charset="0"/>
              <a:ea typeface="微软雅黑"/>
              <a:cs typeface="Times New Roman Regular" panose="02020503050405090304" charset="0"/>
            </a:endParaRPr>
          </a:p>
        </p:txBody>
      </p:sp>
      <p:sp>
        <p:nvSpPr>
          <p:cNvPr id="1499" name="任意多边形 1498"/>
          <p:cNvSpPr/>
          <p:nvPr/>
        </p:nvSpPr>
        <p:spPr>
          <a:xfrm>
            <a:off x="5585680" y="3428700"/>
            <a:ext cx="980000" cy="980000"/>
          </a:xfrm>
          <a:custGeom>
            <a:avLst/>
            <a:gdLst/>
            <a:ahLst/>
            <a:cxnLst/>
            <a:rect l="l" t="t" r="r" b="b"/>
            <a:pathLst>
              <a:path w="980000" h="980000" stroke="0">
                <a:moveTo>
                  <a:pt x="980000" y="490000"/>
                </a:moveTo>
                <a:cubicBezTo>
                  <a:pt x="980000" y="760620"/>
                  <a:pt x="760620" y="980000"/>
                  <a:pt x="490000" y="980000"/>
                </a:cubicBezTo>
                <a:cubicBezTo>
                  <a:pt x="219380" y="980000"/>
                  <a:pt x="0" y="760620"/>
                  <a:pt x="0" y="490000"/>
                </a:cubicBezTo>
                <a:cubicBezTo>
                  <a:pt x="0" y="219380"/>
                  <a:pt x="219380" y="0"/>
                  <a:pt x="490000" y="0"/>
                </a:cubicBezTo>
                <a:cubicBezTo>
                  <a:pt x="760620" y="0"/>
                  <a:pt x="980000" y="219380"/>
                  <a:pt x="980000" y="490000"/>
                </a:cubicBezTo>
                <a:close/>
              </a:path>
              <a:path w="980000" h="980000" fill="none">
                <a:moveTo>
                  <a:pt x="980000" y="490000"/>
                </a:moveTo>
                <a:cubicBezTo>
                  <a:pt x="980000" y="760620"/>
                  <a:pt x="760620" y="980000"/>
                  <a:pt x="490000" y="980000"/>
                </a:cubicBezTo>
                <a:cubicBezTo>
                  <a:pt x="219380" y="980000"/>
                  <a:pt x="0" y="760620"/>
                  <a:pt x="0" y="490000"/>
                </a:cubicBezTo>
                <a:cubicBezTo>
                  <a:pt x="0" y="219380"/>
                  <a:pt x="219380" y="0"/>
                  <a:pt x="490000" y="0"/>
                </a:cubicBezTo>
                <a:cubicBezTo>
                  <a:pt x="760620" y="0"/>
                  <a:pt x="980000" y="219380"/>
                  <a:pt x="980000" y="490000"/>
                </a:cubicBezTo>
                <a:close/>
              </a:path>
            </a:pathLst>
          </a:custGeom>
          <a:gradFill>
            <a:gsLst>
              <a:gs pos="0">
                <a:srgbClr val="6366F1"/>
              </a:gs>
              <a:gs pos="100000">
                <a:srgbClr val="8B5CF6"/>
              </a:gs>
            </a:gsLst>
            <a:lin ang="2700000" scaled="0"/>
          </a:gradFill>
          <a:ln w="7000" cap="flat">
            <a:noFill/>
            <a:miter/>
          </a:ln>
        </p:spPr>
      </p:sp>
      <p:sp>
        <p:nvSpPr>
          <p:cNvPr id="1500" name="任意多边形 1499"/>
          <p:cNvSpPr/>
          <p:nvPr/>
        </p:nvSpPr>
        <p:spPr>
          <a:xfrm>
            <a:off x="5655680" y="3498700"/>
            <a:ext cx="840000" cy="840000"/>
          </a:xfrm>
          <a:custGeom>
            <a:avLst/>
            <a:gdLst/>
            <a:ahLst/>
            <a:cxnLst/>
            <a:rect l="l" t="t" r="r" b="b"/>
            <a:pathLst>
              <a:path w="840000" h="840000" stroke="0">
                <a:moveTo>
                  <a:pt x="840000" y="420000"/>
                </a:moveTo>
                <a:cubicBezTo>
                  <a:pt x="840000" y="651960"/>
                  <a:pt x="651960" y="840000"/>
                  <a:pt x="420000" y="840000"/>
                </a:cubicBezTo>
                <a:cubicBezTo>
                  <a:pt x="188040" y="840000"/>
                  <a:pt x="0" y="651960"/>
                  <a:pt x="0" y="420000"/>
                </a:cubicBezTo>
                <a:cubicBezTo>
                  <a:pt x="0" y="188040"/>
                  <a:pt x="188040" y="0"/>
                  <a:pt x="420000" y="0"/>
                </a:cubicBezTo>
                <a:cubicBezTo>
                  <a:pt x="651960" y="0"/>
                  <a:pt x="840000" y="188040"/>
                  <a:pt x="840000" y="420000"/>
                </a:cubicBezTo>
                <a:close/>
              </a:path>
              <a:path w="840000" h="840000" fill="none">
                <a:moveTo>
                  <a:pt x="840000" y="420000"/>
                </a:moveTo>
                <a:cubicBezTo>
                  <a:pt x="840000" y="651960"/>
                  <a:pt x="651960" y="840000"/>
                  <a:pt x="420000" y="840000"/>
                </a:cubicBezTo>
                <a:cubicBezTo>
                  <a:pt x="188040" y="840000"/>
                  <a:pt x="0" y="651960"/>
                  <a:pt x="0" y="420000"/>
                </a:cubicBezTo>
                <a:cubicBezTo>
                  <a:pt x="0" y="188040"/>
                  <a:pt x="188040" y="0"/>
                  <a:pt x="420000" y="0"/>
                </a:cubicBezTo>
                <a:cubicBezTo>
                  <a:pt x="651960" y="0"/>
                  <a:pt x="840000" y="188040"/>
                  <a:pt x="840000" y="420000"/>
                </a:cubicBezTo>
                <a:close/>
              </a:path>
            </a:pathLst>
          </a:custGeom>
          <a:solidFill>
            <a:srgbClr val="FFFFFF"/>
          </a:solidFill>
          <a:ln w="7000" cap="flat">
            <a:noFill/>
            <a:miter/>
          </a:ln>
        </p:spPr>
      </p:sp>
      <p:sp>
        <p:nvSpPr>
          <p:cNvPr id="1501" name="任意多边形 1500"/>
          <p:cNvSpPr/>
          <p:nvPr/>
        </p:nvSpPr>
        <p:spPr>
          <a:xfrm>
            <a:off x="5725680" y="3568700"/>
            <a:ext cx="700000" cy="700000"/>
          </a:xfrm>
          <a:custGeom>
            <a:avLst/>
            <a:gdLst/>
            <a:ahLst/>
            <a:cxnLst/>
            <a:rect l="l" t="t" r="r" b="b"/>
            <a:pathLst>
              <a:path w="700000" h="700000" stroke="0">
                <a:moveTo>
                  <a:pt x="700000" y="350000"/>
                </a:moveTo>
                <a:cubicBezTo>
                  <a:pt x="700000" y="543300"/>
                  <a:pt x="543300" y="700000"/>
                  <a:pt x="350000" y="700000"/>
                </a:cubicBezTo>
                <a:cubicBezTo>
                  <a:pt x="156700" y="700000"/>
                  <a:pt x="0" y="543300"/>
                  <a:pt x="0" y="350000"/>
                </a:cubicBezTo>
                <a:cubicBezTo>
                  <a:pt x="0" y="156700"/>
                  <a:pt x="156700" y="0"/>
                  <a:pt x="350000" y="0"/>
                </a:cubicBezTo>
                <a:cubicBezTo>
                  <a:pt x="543300" y="0"/>
                  <a:pt x="700000" y="156700"/>
                  <a:pt x="700000" y="350000"/>
                </a:cubicBezTo>
                <a:close/>
              </a:path>
              <a:path w="700000" h="700000" fill="none">
                <a:moveTo>
                  <a:pt x="700000" y="350000"/>
                </a:moveTo>
                <a:cubicBezTo>
                  <a:pt x="700000" y="543300"/>
                  <a:pt x="543300" y="700000"/>
                  <a:pt x="350000" y="700000"/>
                </a:cubicBezTo>
                <a:cubicBezTo>
                  <a:pt x="156700" y="700000"/>
                  <a:pt x="0" y="543300"/>
                  <a:pt x="0" y="350000"/>
                </a:cubicBezTo>
                <a:cubicBezTo>
                  <a:pt x="0" y="156700"/>
                  <a:pt x="156700" y="0"/>
                  <a:pt x="350000" y="0"/>
                </a:cubicBezTo>
                <a:cubicBezTo>
                  <a:pt x="543300" y="0"/>
                  <a:pt x="700000" y="156700"/>
                  <a:pt x="700000" y="350000"/>
                </a:cubicBezTo>
                <a:close/>
              </a:path>
            </a:pathLst>
          </a:custGeom>
          <a:gradFill>
            <a:gsLst>
              <a:gs pos="0">
                <a:srgbClr val="6366F1"/>
              </a:gs>
              <a:gs pos="100000">
                <a:srgbClr val="8B5CF6"/>
              </a:gs>
            </a:gsLst>
            <a:lin ang="2700000" scaled="0"/>
          </a:gradFill>
          <a:ln w="7000" cap="flat">
            <a:noFill/>
            <a:miter/>
          </a:ln>
        </p:spPr>
      </p:sp>
      <p:sp>
        <p:nvSpPr>
          <p:cNvPr id="1502" name="任意多边形 1501"/>
          <p:cNvSpPr/>
          <p:nvPr/>
        </p:nvSpPr>
        <p:spPr>
          <a:xfrm>
            <a:off x="5794053" y="3743700"/>
            <a:ext cx="563415" cy="286662"/>
          </a:xfrm>
          <a:custGeom>
            <a:avLst/>
            <a:gdLst/>
            <a:ahLst/>
            <a:cxnLst/>
            <a:rect l="l" t="t" r="r" b="b"/>
            <a:pathLst>
              <a:path w="563415" h="286662" stroke="0">
                <a:moveTo>
                  <a:pt x="176643" y="105000"/>
                </a:moveTo>
                <a:cubicBezTo>
                  <a:pt x="176643" y="47010"/>
                  <a:pt x="223653" y="0"/>
                  <a:pt x="281643" y="0"/>
                </a:cubicBezTo>
                <a:cubicBezTo>
                  <a:pt x="339633" y="0"/>
                  <a:pt x="386643" y="47010"/>
                  <a:pt x="386643" y="105000"/>
                </a:cubicBezTo>
                <a:cubicBezTo>
                  <a:pt x="424449" y="69602"/>
                  <a:pt x="482417" y="67057"/>
                  <a:pt x="523180" y="99005"/>
                </a:cubicBezTo>
                <a:cubicBezTo>
                  <a:pt x="563942" y="130953"/>
                  <a:pt x="575322" y="187851"/>
                  <a:pt x="549983" y="233019"/>
                </a:cubicBezTo>
                <a:cubicBezTo>
                  <a:pt x="524643" y="278188"/>
                  <a:pt x="470155" y="298134"/>
                  <a:pt x="421643" y="280000"/>
                </a:cubicBezTo>
                <a:lnTo>
                  <a:pt x="141643" y="280000"/>
                </a:lnTo>
                <a:cubicBezTo>
                  <a:pt x="93131" y="298134"/>
                  <a:pt x="38643" y="278188"/>
                  <a:pt x="13303" y="233019"/>
                </a:cubicBezTo>
                <a:cubicBezTo>
                  <a:pt x="-12036" y="187851"/>
                  <a:pt x="0" y="130953"/>
                  <a:pt x="40106" y="99005"/>
                </a:cubicBezTo>
                <a:cubicBezTo>
                  <a:pt x="80869" y="67057"/>
                  <a:pt x="138838" y="69602"/>
                  <a:pt x="176643" y="105000"/>
                </a:cubicBezTo>
                <a:close/>
              </a:path>
              <a:path w="563415" h="286662" fill="none">
                <a:moveTo>
                  <a:pt x="176643" y="105000"/>
                </a:moveTo>
                <a:cubicBezTo>
                  <a:pt x="176643" y="47010"/>
                  <a:pt x="223653" y="0"/>
                  <a:pt x="281643" y="0"/>
                </a:cubicBezTo>
                <a:cubicBezTo>
                  <a:pt x="339633" y="0"/>
                  <a:pt x="386643" y="47010"/>
                  <a:pt x="386643" y="105000"/>
                </a:cubicBezTo>
                <a:cubicBezTo>
                  <a:pt x="424449" y="69602"/>
                  <a:pt x="482417" y="67057"/>
                  <a:pt x="523180" y="99005"/>
                </a:cubicBezTo>
                <a:cubicBezTo>
                  <a:pt x="563942" y="130953"/>
                  <a:pt x="575322" y="187851"/>
                  <a:pt x="549983" y="233019"/>
                </a:cubicBezTo>
                <a:cubicBezTo>
                  <a:pt x="524643" y="278188"/>
                  <a:pt x="470155" y="298134"/>
                  <a:pt x="421643" y="280000"/>
                </a:cubicBezTo>
                <a:lnTo>
                  <a:pt x="141643" y="280000"/>
                </a:lnTo>
                <a:cubicBezTo>
                  <a:pt x="93131" y="298134"/>
                  <a:pt x="38643" y="278188"/>
                  <a:pt x="13303" y="233019"/>
                </a:cubicBezTo>
                <a:cubicBezTo>
                  <a:pt x="-12036" y="187851"/>
                  <a:pt x="0" y="130953"/>
                  <a:pt x="40106" y="99005"/>
                </a:cubicBezTo>
                <a:cubicBezTo>
                  <a:pt x="80869" y="67057"/>
                  <a:pt x="138838" y="69602"/>
                  <a:pt x="176643" y="105000"/>
                </a:cubicBezTo>
                <a:close/>
              </a:path>
            </a:pathLst>
          </a:custGeom>
          <a:noFill/>
          <a:ln w="17500" cap="flat">
            <a:solidFill>
              <a:srgbClr val="FFFFFF"/>
            </a:solidFill>
            <a:miter/>
          </a:ln>
        </p:spPr>
      </p:sp>
      <p:sp>
        <p:nvSpPr>
          <p:cNvPr id="1503" name="任意多边形 1502"/>
          <p:cNvSpPr/>
          <p:nvPr/>
        </p:nvSpPr>
        <p:spPr>
          <a:xfrm>
            <a:off x="5998680" y="3897700"/>
            <a:ext cx="42000" cy="42000"/>
          </a:xfrm>
          <a:custGeom>
            <a:avLst/>
            <a:gdLst/>
            <a:ahLst/>
            <a:cxnLst/>
            <a:rect l="l" t="t" r="r" b="b"/>
            <a:pathLst>
              <a:path w="42000" h="42000" stroke="0">
                <a:moveTo>
                  <a:pt x="42000" y="21000"/>
                </a:moveTo>
                <a:cubicBezTo>
                  <a:pt x="42000" y="32598"/>
                  <a:pt x="32598" y="42000"/>
                  <a:pt x="21000" y="42000"/>
                </a:cubicBezTo>
                <a:cubicBezTo>
                  <a:pt x="9402" y="42000"/>
                  <a:pt x="0" y="32598"/>
                  <a:pt x="0" y="21000"/>
                </a:cubicBezTo>
                <a:cubicBezTo>
                  <a:pt x="0" y="9402"/>
                  <a:pt x="9402" y="0"/>
                  <a:pt x="21000" y="0"/>
                </a:cubicBezTo>
                <a:cubicBezTo>
                  <a:pt x="32598" y="0"/>
                  <a:pt x="42000" y="9402"/>
                  <a:pt x="42000" y="21000"/>
                </a:cubicBezTo>
                <a:close/>
              </a:path>
              <a:path w="42000" h="42000" fill="none">
                <a:moveTo>
                  <a:pt x="42000" y="21000"/>
                </a:moveTo>
                <a:cubicBezTo>
                  <a:pt x="42000" y="32598"/>
                  <a:pt x="32598" y="42000"/>
                  <a:pt x="21000" y="42000"/>
                </a:cubicBezTo>
                <a:cubicBezTo>
                  <a:pt x="9402" y="42000"/>
                  <a:pt x="0" y="32598"/>
                  <a:pt x="0" y="21000"/>
                </a:cubicBezTo>
                <a:cubicBezTo>
                  <a:pt x="0" y="9402"/>
                  <a:pt x="9402" y="0"/>
                  <a:pt x="21000" y="0"/>
                </a:cubicBezTo>
                <a:cubicBezTo>
                  <a:pt x="32598" y="0"/>
                  <a:pt x="42000" y="9402"/>
                  <a:pt x="42000" y="21000"/>
                </a:cubicBezTo>
                <a:close/>
              </a:path>
            </a:pathLst>
          </a:custGeom>
          <a:solidFill>
            <a:srgbClr val="FFFFFF"/>
          </a:solidFill>
          <a:ln w="7000" cap="flat">
            <a:noFill/>
            <a:miter/>
          </a:ln>
        </p:spPr>
      </p:sp>
      <p:sp>
        <p:nvSpPr>
          <p:cNvPr id="1504" name="任意多边形 1503"/>
          <p:cNvSpPr/>
          <p:nvPr/>
        </p:nvSpPr>
        <p:spPr>
          <a:xfrm>
            <a:off x="6110680" y="3897700"/>
            <a:ext cx="42000" cy="42000"/>
          </a:xfrm>
          <a:custGeom>
            <a:avLst/>
            <a:gdLst/>
            <a:ahLst/>
            <a:cxnLst/>
            <a:rect l="l" t="t" r="r" b="b"/>
            <a:pathLst>
              <a:path w="42000" h="42000" stroke="0">
                <a:moveTo>
                  <a:pt x="42000" y="21000"/>
                </a:moveTo>
                <a:cubicBezTo>
                  <a:pt x="42000" y="32598"/>
                  <a:pt x="32598" y="42000"/>
                  <a:pt x="21000" y="42000"/>
                </a:cubicBezTo>
                <a:cubicBezTo>
                  <a:pt x="9402" y="42000"/>
                  <a:pt x="0" y="32598"/>
                  <a:pt x="0" y="21000"/>
                </a:cubicBezTo>
                <a:cubicBezTo>
                  <a:pt x="0" y="9402"/>
                  <a:pt x="9402" y="0"/>
                  <a:pt x="21000" y="0"/>
                </a:cubicBezTo>
                <a:cubicBezTo>
                  <a:pt x="32598" y="0"/>
                  <a:pt x="42000" y="9402"/>
                  <a:pt x="42000" y="21000"/>
                </a:cubicBezTo>
                <a:close/>
              </a:path>
              <a:path w="42000" h="42000" fill="none">
                <a:moveTo>
                  <a:pt x="42000" y="21000"/>
                </a:moveTo>
                <a:cubicBezTo>
                  <a:pt x="42000" y="32598"/>
                  <a:pt x="32598" y="42000"/>
                  <a:pt x="21000" y="42000"/>
                </a:cubicBezTo>
                <a:cubicBezTo>
                  <a:pt x="9402" y="42000"/>
                  <a:pt x="0" y="32598"/>
                  <a:pt x="0" y="21000"/>
                </a:cubicBezTo>
                <a:cubicBezTo>
                  <a:pt x="0" y="9402"/>
                  <a:pt x="9402" y="0"/>
                  <a:pt x="21000" y="0"/>
                </a:cubicBezTo>
                <a:cubicBezTo>
                  <a:pt x="32598" y="0"/>
                  <a:pt x="42000" y="9402"/>
                  <a:pt x="42000" y="21000"/>
                </a:cubicBezTo>
                <a:close/>
              </a:path>
            </a:pathLst>
          </a:custGeom>
          <a:solidFill>
            <a:srgbClr val="FFFFFF"/>
          </a:solidFill>
          <a:ln w="7000" cap="flat">
            <a:noFill/>
            <a:miter/>
          </a:ln>
        </p:spPr>
      </p:sp>
      <p:sp>
        <p:nvSpPr>
          <p:cNvPr id="1505" name="任意多边形 1504"/>
          <p:cNvSpPr/>
          <p:nvPr/>
        </p:nvSpPr>
        <p:spPr>
          <a:xfrm>
            <a:off x="62680" y="705700"/>
            <a:ext cx="1078000" cy="217000"/>
          </a:xfrm>
          <a:custGeom>
            <a:avLst/>
            <a:gdLst>
              <a:gd name="connsiteX0" fmla="*/ 0 w 1078000"/>
              <a:gd name="connsiteY0" fmla="*/ 108500 h 217000"/>
              <a:gd name="connsiteX1" fmla="*/ 539000 w 1078000"/>
              <a:gd name="connsiteY1" fmla="*/ 0 h 217000"/>
              <a:gd name="connsiteX2" fmla="*/ 1078000 w 1078000"/>
              <a:gd name="connsiteY2" fmla="*/ 108500 h 217000"/>
              <a:gd name="connsiteX3" fmla="*/ 539000 w 1078000"/>
              <a:gd name="connsiteY3" fmla="*/ 217000 h 217000"/>
              <a:gd name="rtl" fmla="*/ 5474000 w 1078000"/>
              <a:gd name="rtt" fmla="*/ 3654000 h 217000"/>
              <a:gd name="rtr" fmla="*/ 6552000 w 1078000"/>
              <a:gd name="rtb" fmla="*/ 3871000 h 217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3730A3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840" b="1" dirty="0">
                <a:solidFill>
                  <a:srgbClr val="3730A3"/>
                </a:solidFill>
                <a:latin typeface="Times New Roman Regular" panose="02020503050405090304" charset="0"/>
                <a:ea typeface="微软雅黑"/>
                <a:cs typeface="Times New Roman Regular" panose="02020503050405090304" charset="0"/>
              </a:rPr>
              <a:t>大模型 (决策与思考)</a:t>
            </a:r>
            <a:endParaRPr lang="zh-CN" altLang="en-US" sz="840" b="1" dirty="0">
              <a:solidFill>
                <a:srgbClr val="3730A3"/>
              </a:solidFill>
              <a:latin typeface="Times New Roman Regular" panose="02020503050405090304" charset="0"/>
              <a:ea typeface="微软雅黑"/>
              <a:cs typeface="Times New Roman Regular" panose="02020503050405090304" charset="0"/>
            </a:endParaRPr>
          </a:p>
        </p:txBody>
      </p:sp>
      <p:sp>
        <p:nvSpPr>
          <p:cNvPr id="1506" name="任意多边形 1505"/>
          <p:cNvSpPr/>
          <p:nvPr/>
        </p:nvSpPr>
        <p:spPr>
          <a:xfrm>
            <a:off x="6075680" y="3103724"/>
            <a:ext cx="7000" cy="324976"/>
          </a:xfrm>
          <a:custGeom>
            <a:avLst/>
            <a:gdLst/>
            <a:ahLst/>
            <a:cxnLst/>
            <a:rect l="l" t="t" r="r" b="b"/>
            <a:pathLst>
              <a:path w="7000" h="324976" fill="none">
                <a:moveTo>
                  <a:pt x="0" y="324976"/>
                </a:moveTo>
                <a:lnTo>
                  <a:pt x="0" y="0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507" name="任意多边形 1506"/>
          <p:cNvSpPr/>
          <p:nvPr/>
        </p:nvSpPr>
        <p:spPr>
          <a:xfrm rot="-5400000">
            <a:off x="6042229" y="3071390"/>
            <a:ext cx="66902" cy="53522"/>
          </a:xfrm>
          <a:custGeom>
            <a:avLst/>
            <a:gdLst/>
            <a:ahLst/>
            <a:cxnLst/>
            <a:rect l="l" t="t" r="r" b="b"/>
            <a:pathLst>
              <a:path w="66902" h="53522" stroke="0">
                <a:moveTo>
                  <a:pt x="0" y="0"/>
                </a:moveTo>
                <a:lnTo>
                  <a:pt x="66902" y="26761"/>
                </a:lnTo>
                <a:lnTo>
                  <a:pt x="0" y="53522"/>
                </a:lnTo>
                <a:lnTo>
                  <a:pt x="0" y="0"/>
                </a:lnTo>
                <a:close/>
              </a:path>
              <a:path w="66902" h="53522" fill="none">
                <a:moveTo>
                  <a:pt x="0" y="0"/>
                </a:moveTo>
                <a:lnTo>
                  <a:pt x="66902" y="26761"/>
                </a:lnTo>
                <a:lnTo>
                  <a:pt x="0" y="53522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 w="7000" cap="flat">
            <a:noFill/>
            <a:miter/>
          </a:ln>
        </p:spPr>
      </p:sp>
      <p:sp>
        <p:nvSpPr>
          <p:cNvPr id="1509" name="任意多边形 1508"/>
          <p:cNvSpPr/>
          <p:nvPr/>
        </p:nvSpPr>
        <p:spPr>
          <a:xfrm>
            <a:off x="6495680" y="3428700"/>
            <a:ext cx="420000" cy="245000"/>
          </a:xfrm>
          <a:custGeom>
            <a:avLst/>
            <a:gdLst/>
            <a:ahLst/>
            <a:cxnLst/>
            <a:rect l="l" t="t" r="r" b="b"/>
            <a:pathLst>
              <a:path w="420000" h="245000" fill="none">
                <a:moveTo>
                  <a:pt x="0" y="245000"/>
                </a:moveTo>
                <a:lnTo>
                  <a:pt x="420000" y="0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510" name="任意多边形 1509"/>
          <p:cNvSpPr/>
          <p:nvPr/>
        </p:nvSpPr>
        <p:spPr>
          <a:xfrm rot="-1815386">
            <a:off x="6813179" y="3436936"/>
            <a:ext cx="72435" cy="57948"/>
          </a:xfrm>
          <a:custGeom>
            <a:avLst/>
            <a:gdLst/>
            <a:ahLst/>
            <a:cxnLst/>
            <a:rect l="l" t="t" r="r" b="b"/>
            <a:pathLst>
              <a:path w="72435" h="57948" stroke="0">
                <a:moveTo>
                  <a:pt x="0" y="0"/>
                </a:moveTo>
                <a:lnTo>
                  <a:pt x="72435" y="28974"/>
                </a:lnTo>
                <a:lnTo>
                  <a:pt x="0" y="57948"/>
                </a:lnTo>
                <a:lnTo>
                  <a:pt x="0" y="0"/>
                </a:lnTo>
                <a:close/>
              </a:path>
              <a:path w="72435" h="57948" fill="none">
                <a:moveTo>
                  <a:pt x="0" y="0"/>
                </a:moveTo>
                <a:lnTo>
                  <a:pt x="72435" y="28974"/>
                </a:lnTo>
                <a:lnTo>
                  <a:pt x="0" y="57948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 w="7000" cap="flat">
            <a:noFill/>
            <a:miter/>
          </a:ln>
        </p:spPr>
      </p:sp>
      <p:sp>
        <p:nvSpPr>
          <p:cNvPr id="1512" name="任意多边形 1511"/>
          <p:cNvSpPr/>
          <p:nvPr/>
        </p:nvSpPr>
        <p:spPr>
          <a:xfrm>
            <a:off x="6495680" y="4163700"/>
            <a:ext cx="420000" cy="245000"/>
          </a:xfrm>
          <a:custGeom>
            <a:avLst/>
            <a:gdLst/>
            <a:ahLst/>
            <a:cxnLst/>
            <a:rect l="l" t="t" r="r" b="b"/>
            <a:pathLst>
              <a:path w="420000" h="245000" fill="none">
                <a:moveTo>
                  <a:pt x="0" y="0"/>
                </a:moveTo>
                <a:lnTo>
                  <a:pt x="420000" y="245000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513" name="任意多边形 1512"/>
          <p:cNvSpPr/>
          <p:nvPr/>
        </p:nvSpPr>
        <p:spPr>
          <a:xfrm rot="1815386">
            <a:off x="6876569" y="4381003"/>
            <a:ext cx="72439" cy="57951"/>
          </a:xfrm>
          <a:custGeom>
            <a:avLst/>
            <a:gdLst/>
            <a:ahLst/>
            <a:cxnLst/>
            <a:rect l="l" t="t" r="r" b="b"/>
            <a:pathLst>
              <a:path w="72439" h="57951" stroke="0">
                <a:moveTo>
                  <a:pt x="0" y="0"/>
                </a:moveTo>
                <a:lnTo>
                  <a:pt x="72439" y="28976"/>
                </a:lnTo>
                <a:lnTo>
                  <a:pt x="0" y="57951"/>
                </a:lnTo>
                <a:lnTo>
                  <a:pt x="0" y="0"/>
                </a:lnTo>
                <a:close/>
              </a:path>
              <a:path w="72439" h="57951" fill="none">
                <a:moveTo>
                  <a:pt x="0" y="0"/>
                </a:moveTo>
                <a:lnTo>
                  <a:pt x="72439" y="28976"/>
                </a:lnTo>
                <a:lnTo>
                  <a:pt x="0" y="57951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 w="7000" cap="flat">
            <a:noFill/>
            <a:miter/>
          </a:ln>
        </p:spPr>
      </p:sp>
      <p:sp>
        <p:nvSpPr>
          <p:cNvPr id="1515" name="任意多边形 1514"/>
          <p:cNvSpPr/>
          <p:nvPr/>
        </p:nvSpPr>
        <p:spPr>
          <a:xfrm>
            <a:off x="6075680" y="4408700"/>
            <a:ext cx="7000" cy="490000"/>
          </a:xfrm>
          <a:custGeom>
            <a:avLst/>
            <a:gdLst/>
            <a:ahLst/>
            <a:cxnLst/>
            <a:rect l="l" t="t" r="r" b="b"/>
            <a:pathLst>
              <a:path w="7000" h="490000" fill="none">
                <a:moveTo>
                  <a:pt x="0" y="0"/>
                </a:moveTo>
                <a:lnTo>
                  <a:pt x="0" y="490000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516" name="任意多边形 1515"/>
          <p:cNvSpPr/>
          <p:nvPr/>
        </p:nvSpPr>
        <p:spPr>
          <a:xfrm rot="5400000">
            <a:off x="6042229" y="4873488"/>
            <a:ext cx="66902" cy="53522"/>
          </a:xfrm>
          <a:custGeom>
            <a:avLst/>
            <a:gdLst/>
            <a:ahLst/>
            <a:cxnLst/>
            <a:rect l="l" t="t" r="r" b="b"/>
            <a:pathLst>
              <a:path w="66902" h="53522" stroke="0">
                <a:moveTo>
                  <a:pt x="0" y="0"/>
                </a:moveTo>
                <a:lnTo>
                  <a:pt x="66902" y="26761"/>
                </a:lnTo>
                <a:lnTo>
                  <a:pt x="0" y="53522"/>
                </a:lnTo>
                <a:lnTo>
                  <a:pt x="0" y="0"/>
                </a:lnTo>
                <a:close/>
              </a:path>
              <a:path w="66902" h="53522" fill="none">
                <a:moveTo>
                  <a:pt x="0" y="0"/>
                </a:moveTo>
                <a:lnTo>
                  <a:pt x="66902" y="26761"/>
                </a:lnTo>
                <a:lnTo>
                  <a:pt x="0" y="53522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 w="7000" cap="flat">
            <a:noFill/>
            <a:miter/>
          </a:ln>
        </p:spPr>
      </p:sp>
      <p:sp>
        <p:nvSpPr>
          <p:cNvPr id="1518" name="任意多边形 1517"/>
          <p:cNvSpPr/>
          <p:nvPr/>
        </p:nvSpPr>
        <p:spPr>
          <a:xfrm>
            <a:off x="5235680" y="4163700"/>
            <a:ext cx="420000" cy="245000"/>
          </a:xfrm>
          <a:custGeom>
            <a:avLst/>
            <a:gdLst/>
            <a:ahLst/>
            <a:cxnLst/>
            <a:rect l="l" t="t" r="r" b="b"/>
            <a:pathLst>
              <a:path w="420000" h="245000" fill="none">
                <a:moveTo>
                  <a:pt x="420000" y="0"/>
                </a:moveTo>
                <a:lnTo>
                  <a:pt x="0" y="245000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519" name="任意多边形 1518"/>
          <p:cNvSpPr/>
          <p:nvPr/>
        </p:nvSpPr>
        <p:spPr>
          <a:xfrm rot="8984614">
            <a:off x="5203383" y="4382776"/>
            <a:ext cx="67157" cy="53726"/>
          </a:xfrm>
          <a:custGeom>
            <a:avLst/>
            <a:gdLst/>
            <a:ahLst/>
            <a:cxnLst/>
            <a:rect l="l" t="t" r="r" b="b"/>
            <a:pathLst>
              <a:path w="67157" h="53726" stroke="0">
                <a:moveTo>
                  <a:pt x="0" y="0"/>
                </a:moveTo>
                <a:lnTo>
                  <a:pt x="67157" y="26863"/>
                </a:lnTo>
                <a:lnTo>
                  <a:pt x="0" y="53726"/>
                </a:lnTo>
                <a:lnTo>
                  <a:pt x="0" y="0"/>
                </a:lnTo>
                <a:close/>
              </a:path>
              <a:path w="67157" h="53726" fill="none">
                <a:moveTo>
                  <a:pt x="0" y="0"/>
                </a:moveTo>
                <a:lnTo>
                  <a:pt x="67157" y="26863"/>
                </a:lnTo>
                <a:lnTo>
                  <a:pt x="0" y="53726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 w="7000" cap="flat">
            <a:noFill/>
            <a:miter/>
          </a:ln>
        </p:spPr>
      </p:sp>
      <p:sp>
        <p:nvSpPr>
          <p:cNvPr id="1521" name="任意多边形 1520"/>
          <p:cNvSpPr/>
          <p:nvPr/>
        </p:nvSpPr>
        <p:spPr>
          <a:xfrm>
            <a:off x="5235680" y="3428700"/>
            <a:ext cx="420000" cy="245000"/>
          </a:xfrm>
          <a:custGeom>
            <a:avLst/>
            <a:gdLst/>
            <a:ahLst/>
            <a:cxnLst/>
            <a:rect l="l" t="t" r="r" b="b"/>
            <a:pathLst>
              <a:path w="420000" h="245000" fill="none">
                <a:moveTo>
                  <a:pt x="420000" y="245000"/>
                </a:moveTo>
                <a:lnTo>
                  <a:pt x="0" y="0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522" name="任意多边形 1521"/>
          <p:cNvSpPr/>
          <p:nvPr/>
        </p:nvSpPr>
        <p:spPr>
          <a:xfrm rot="-8984614">
            <a:off x="5230570" y="3417592"/>
            <a:ext cx="75019" cy="60015"/>
          </a:xfrm>
          <a:custGeom>
            <a:avLst/>
            <a:gdLst/>
            <a:ahLst/>
            <a:cxnLst/>
            <a:rect l="l" t="t" r="r" b="b"/>
            <a:pathLst>
              <a:path w="75019" h="60015" stroke="0">
                <a:moveTo>
                  <a:pt x="0" y="0"/>
                </a:moveTo>
                <a:lnTo>
                  <a:pt x="75019" y="30008"/>
                </a:lnTo>
                <a:lnTo>
                  <a:pt x="0" y="60015"/>
                </a:lnTo>
                <a:lnTo>
                  <a:pt x="0" y="0"/>
                </a:lnTo>
                <a:close/>
              </a:path>
              <a:path w="75019" h="60015" fill="none">
                <a:moveTo>
                  <a:pt x="0" y="0"/>
                </a:moveTo>
                <a:lnTo>
                  <a:pt x="75019" y="30008"/>
                </a:lnTo>
                <a:lnTo>
                  <a:pt x="0" y="60015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 w="7000" cap="flat">
            <a:noFill/>
            <a:miter/>
          </a:ln>
        </p:spPr>
      </p:sp>
      <p:sp>
        <p:nvSpPr>
          <p:cNvPr id="1524" name="任意多边形 1523"/>
          <p:cNvSpPr/>
          <p:nvPr/>
        </p:nvSpPr>
        <p:spPr>
          <a:xfrm>
            <a:off x="5795680" y="2413700"/>
            <a:ext cx="560000" cy="651000"/>
          </a:xfrm>
          <a:custGeom>
            <a:avLst/>
            <a:gdLst/>
            <a:ahLst/>
            <a:cxnLst/>
            <a:rect l="l" t="t" r="r" b="b"/>
            <a:pathLst>
              <a:path w="560000" h="651000" stroke="0">
                <a:moveTo>
                  <a:pt x="280000" y="0"/>
                </a:moveTo>
                <a:lnTo>
                  <a:pt x="560000" y="161000"/>
                </a:lnTo>
                <a:lnTo>
                  <a:pt x="560000" y="490000"/>
                </a:lnTo>
                <a:lnTo>
                  <a:pt x="280000" y="651000"/>
                </a:lnTo>
                <a:lnTo>
                  <a:pt x="0" y="490000"/>
                </a:lnTo>
                <a:lnTo>
                  <a:pt x="0" y="161000"/>
                </a:lnTo>
                <a:lnTo>
                  <a:pt x="280000" y="0"/>
                </a:lnTo>
                <a:close/>
              </a:path>
              <a:path w="560000" h="651000" fill="none">
                <a:moveTo>
                  <a:pt x="280000" y="0"/>
                </a:moveTo>
                <a:lnTo>
                  <a:pt x="560000" y="161000"/>
                </a:lnTo>
                <a:lnTo>
                  <a:pt x="560000" y="490000"/>
                </a:lnTo>
                <a:lnTo>
                  <a:pt x="280000" y="651000"/>
                </a:lnTo>
                <a:lnTo>
                  <a:pt x="0" y="490000"/>
                </a:lnTo>
                <a:lnTo>
                  <a:pt x="0" y="161000"/>
                </a:lnTo>
                <a:lnTo>
                  <a:pt x="280000" y="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F5F3FF"/>
              </a:gs>
            </a:gsLst>
            <a:lin ang="2700000" scaled="0"/>
          </a:gradFill>
          <a:ln w="14000" cap="flat">
            <a:solidFill>
              <a:srgbClr val="6366F1"/>
            </a:solidFill>
            <a:miter/>
          </a:ln>
        </p:spPr>
      </p:sp>
      <p:sp>
        <p:nvSpPr>
          <p:cNvPr id="1525" name="任意多边形 1524"/>
          <p:cNvSpPr/>
          <p:nvPr/>
        </p:nvSpPr>
        <p:spPr>
          <a:xfrm>
            <a:off x="5970680" y="2693700"/>
            <a:ext cx="210000" cy="140000"/>
          </a:xfrm>
          <a:custGeom>
            <a:avLst/>
            <a:gdLst/>
            <a:ahLst/>
            <a:cxnLst/>
            <a:rect l="l" t="t" r="r" b="b"/>
            <a:pathLst>
              <a:path w="210000" h="140000" stroke="0">
                <a:moveTo>
                  <a:pt x="0" y="0"/>
                </a:moveTo>
                <a:lnTo>
                  <a:pt x="210000" y="0"/>
                </a:lnTo>
                <a:moveTo>
                  <a:pt x="0" y="70000"/>
                </a:moveTo>
                <a:lnTo>
                  <a:pt x="210000" y="70000"/>
                </a:lnTo>
                <a:moveTo>
                  <a:pt x="0" y="140000"/>
                </a:moveTo>
                <a:lnTo>
                  <a:pt x="210000" y="140000"/>
                </a:lnTo>
              </a:path>
              <a:path w="210000" h="140000" fill="none">
                <a:moveTo>
                  <a:pt x="0" y="0"/>
                </a:moveTo>
                <a:lnTo>
                  <a:pt x="210000" y="0"/>
                </a:lnTo>
                <a:moveTo>
                  <a:pt x="0" y="70000"/>
                </a:moveTo>
                <a:lnTo>
                  <a:pt x="210000" y="70000"/>
                </a:lnTo>
                <a:moveTo>
                  <a:pt x="0" y="140000"/>
                </a:moveTo>
                <a:lnTo>
                  <a:pt x="210000" y="140000"/>
                </a:lnTo>
              </a:path>
            </a:pathLst>
          </a:custGeom>
          <a:solidFill>
            <a:srgbClr val="000000"/>
          </a:solidFill>
          <a:ln w="14000" cap="rnd">
            <a:solidFill>
              <a:srgbClr val="4F46E5"/>
            </a:solidFill>
            <a:miter/>
          </a:ln>
        </p:spPr>
      </p:sp>
      <p:sp>
        <p:nvSpPr>
          <p:cNvPr id="1526" name="任意多边形 1525"/>
          <p:cNvSpPr/>
          <p:nvPr/>
        </p:nvSpPr>
        <p:spPr>
          <a:xfrm>
            <a:off x="62680" y="705700"/>
            <a:ext cx="462000" cy="203000"/>
          </a:xfrm>
          <a:custGeom>
            <a:avLst/>
            <a:gdLst>
              <a:gd name="connsiteX0" fmla="*/ 0 w 462000"/>
              <a:gd name="connsiteY0" fmla="*/ 101500 h 203000"/>
              <a:gd name="connsiteX1" fmla="*/ 231000 w 462000"/>
              <a:gd name="connsiteY1" fmla="*/ 0 h 203000"/>
              <a:gd name="connsiteX2" fmla="*/ 462000 w 462000"/>
              <a:gd name="connsiteY2" fmla="*/ 101500 h 203000"/>
              <a:gd name="connsiteX3" fmla="*/ 231000 w 462000"/>
              <a:gd name="connsiteY3" fmla="*/ 203000 h 203000"/>
              <a:gd name="rtl" fmla="*/ 5785500 w 462000"/>
              <a:gd name="rtt" fmla="*/ 1798173 h 203000"/>
              <a:gd name="rtr" fmla="*/ 6247500 w 462000"/>
              <a:gd name="rtb" fmla="*/ 2001173 h 20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3A8A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35" b="1" dirty="0">
                <a:solidFill>
                  <a:srgbClr val="1E3A8A"/>
                </a:solidFill>
                <a:latin typeface="Times New Roman Regular" panose="02020503050405090304" charset="0"/>
                <a:ea typeface="微软雅黑"/>
                <a:cs typeface="微软雅黑"/>
              </a:rPr>
              <a:t>查知识库</a:t>
            </a:r>
            <a:endParaRPr lang="zh-CN" altLang="en-US" sz="735" b="1" dirty="0">
              <a:solidFill>
                <a:srgbClr val="1E3A8A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27" name="任意多边形 1526"/>
          <p:cNvSpPr/>
          <p:nvPr/>
        </p:nvSpPr>
        <p:spPr>
          <a:xfrm>
            <a:off x="62680" y="705700"/>
            <a:ext cx="343000" cy="161000"/>
          </a:xfrm>
          <a:custGeom>
            <a:avLst/>
            <a:gdLst>
              <a:gd name="connsiteX0" fmla="*/ 0 w 343000"/>
              <a:gd name="connsiteY0" fmla="*/ 80500 h 161000"/>
              <a:gd name="connsiteX1" fmla="*/ 171500 w 343000"/>
              <a:gd name="connsiteY1" fmla="*/ 0 h 161000"/>
              <a:gd name="connsiteX2" fmla="*/ 343000 w 343000"/>
              <a:gd name="connsiteY2" fmla="*/ 80500 h 161000"/>
              <a:gd name="connsiteX3" fmla="*/ 171500 w 343000"/>
              <a:gd name="connsiteY3" fmla="*/ 161000 h 161000"/>
              <a:gd name="rtl" fmla="*/ 5838000 w 343000"/>
              <a:gd name="rtt" fmla="*/ 2128000 h 161000"/>
              <a:gd name="rtr" fmla="*/ 6195000 w 343000"/>
              <a:gd name="rtb" fmla="*/ 2289000 h 161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F46E5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580" dirty="0">
                <a:solidFill>
                  <a:srgbClr val="4F46E5"/>
                </a:solidFill>
                <a:latin typeface="Times New Roman Regular" panose="02020503050405090304" charset="0"/>
                <a:ea typeface="微软雅黑"/>
                <a:cs typeface="Times New Roman Regular" panose="02020503050405090304" charset="0"/>
              </a:rPr>
              <a:t>(元数据)</a:t>
            </a:r>
            <a:endParaRPr lang="zh-CN" altLang="en-US" sz="580" dirty="0">
              <a:solidFill>
                <a:srgbClr val="4F46E5"/>
              </a:solidFill>
              <a:latin typeface="Times New Roman Regular" panose="02020503050405090304" charset="0"/>
              <a:ea typeface="微软雅黑"/>
              <a:cs typeface="Times New Roman Regular" panose="02020503050405090304" charset="0"/>
            </a:endParaRPr>
          </a:p>
        </p:txBody>
      </p:sp>
      <p:sp>
        <p:nvSpPr>
          <p:cNvPr id="1529" name="任意多边形 1528"/>
          <p:cNvSpPr/>
          <p:nvPr/>
        </p:nvSpPr>
        <p:spPr>
          <a:xfrm>
            <a:off x="6880680" y="3043700"/>
            <a:ext cx="560000" cy="651000"/>
          </a:xfrm>
          <a:custGeom>
            <a:avLst/>
            <a:gdLst/>
            <a:ahLst/>
            <a:cxnLst/>
            <a:rect l="l" t="t" r="r" b="b"/>
            <a:pathLst>
              <a:path w="560000" h="651000" stroke="0">
                <a:moveTo>
                  <a:pt x="280000" y="0"/>
                </a:moveTo>
                <a:lnTo>
                  <a:pt x="560000" y="161000"/>
                </a:lnTo>
                <a:lnTo>
                  <a:pt x="560000" y="490000"/>
                </a:lnTo>
                <a:lnTo>
                  <a:pt x="280000" y="651000"/>
                </a:lnTo>
                <a:lnTo>
                  <a:pt x="0" y="490000"/>
                </a:lnTo>
                <a:lnTo>
                  <a:pt x="0" y="161000"/>
                </a:lnTo>
                <a:lnTo>
                  <a:pt x="280000" y="0"/>
                </a:lnTo>
                <a:close/>
              </a:path>
              <a:path w="560000" h="651000" fill="none">
                <a:moveTo>
                  <a:pt x="280000" y="0"/>
                </a:moveTo>
                <a:lnTo>
                  <a:pt x="560000" y="161000"/>
                </a:lnTo>
                <a:lnTo>
                  <a:pt x="560000" y="490000"/>
                </a:lnTo>
                <a:lnTo>
                  <a:pt x="280000" y="651000"/>
                </a:lnTo>
                <a:lnTo>
                  <a:pt x="0" y="490000"/>
                </a:lnTo>
                <a:lnTo>
                  <a:pt x="0" y="161000"/>
                </a:lnTo>
                <a:lnTo>
                  <a:pt x="280000" y="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F5F3FF"/>
              </a:gs>
            </a:gsLst>
            <a:lin ang="2700000" scaled="0"/>
          </a:gradFill>
          <a:ln w="14000" cap="flat">
            <a:solidFill>
              <a:srgbClr val="6366F1"/>
            </a:solidFill>
            <a:miter/>
          </a:ln>
        </p:spPr>
      </p:sp>
      <p:sp>
        <p:nvSpPr>
          <p:cNvPr id="1530" name="任意多边形 1529"/>
          <p:cNvSpPr/>
          <p:nvPr/>
        </p:nvSpPr>
        <p:spPr>
          <a:xfrm>
            <a:off x="7070564" y="3272275"/>
            <a:ext cx="112000" cy="112000"/>
          </a:xfrm>
          <a:custGeom>
            <a:avLst/>
            <a:gdLst/>
            <a:ahLst/>
            <a:cxnLst/>
            <a:rect l="l" t="t" r="r" b="b"/>
            <a:pathLst>
              <a:path w="112000" h="112000" stroke="0">
                <a:moveTo>
                  <a:pt x="112000" y="56000"/>
                </a:moveTo>
                <a:cubicBezTo>
                  <a:pt x="112000" y="86928"/>
                  <a:pt x="86928" y="112000"/>
                  <a:pt x="56000" y="112000"/>
                </a:cubicBezTo>
                <a:cubicBezTo>
                  <a:pt x="25072" y="112000"/>
                  <a:pt x="0" y="86928"/>
                  <a:pt x="0" y="56000"/>
                </a:cubicBezTo>
                <a:cubicBezTo>
                  <a:pt x="0" y="25072"/>
                  <a:pt x="25072" y="0"/>
                  <a:pt x="56000" y="0"/>
                </a:cubicBezTo>
                <a:cubicBezTo>
                  <a:pt x="86928" y="0"/>
                  <a:pt x="112000" y="25072"/>
                  <a:pt x="112000" y="56000"/>
                </a:cubicBezTo>
                <a:close/>
              </a:path>
              <a:path w="112000" h="112000" fill="none">
                <a:moveTo>
                  <a:pt x="112000" y="56000"/>
                </a:moveTo>
                <a:cubicBezTo>
                  <a:pt x="112000" y="86928"/>
                  <a:pt x="86928" y="112000"/>
                  <a:pt x="56000" y="112000"/>
                </a:cubicBezTo>
                <a:cubicBezTo>
                  <a:pt x="25072" y="112000"/>
                  <a:pt x="0" y="86928"/>
                  <a:pt x="0" y="56000"/>
                </a:cubicBezTo>
                <a:cubicBezTo>
                  <a:pt x="0" y="25072"/>
                  <a:pt x="25072" y="0"/>
                  <a:pt x="56000" y="0"/>
                </a:cubicBezTo>
                <a:cubicBezTo>
                  <a:pt x="86928" y="0"/>
                  <a:pt x="112000" y="25072"/>
                  <a:pt x="112000" y="56000"/>
                </a:cubicBezTo>
                <a:close/>
              </a:path>
            </a:pathLst>
          </a:custGeom>
          <a:noFill/>
          <a:ln w="14000" cap="flat">
            <a:solidFill>
              <a:srgbClr val="4F46E5"/>
            </a:solidFill>
            <a:miter/>
          </a:ln>
        </p:spPr>
      </p:sp>
      <p:sp>
        <p:nvSpPr>
          <p:cNvPr id="1531" name="任意多边形 1530"/>
          <p:cNvSpPr/>
          <p:nvPr/>
        </p:nvSpPr>
        <p:spPr>
          <a:xfrm>
            <a:off x="7161564" y="3363275"/>
            <a:ext cx="105000" cy="105000"/>
          </a:xfrm>
          <a:custGeom>
            <a:avLst/>
            <a:gdLst/>
            <a:ahLst/>
            <a:cxnLst/>
            <a:rect l="l" t="t" r="r" b="b"/>
            <a:pathLst>
              <a:path w="105000" h="105000" fill="none">
                <a:moveTo>
                  <a:pt x="0" y="0"/>
                </a:moveTo>
                <a:lnTo>
                  <a:pt x="105000" y="105000"/>
                </a:lnTo>
              </a:path>
            </a:pathLst>
          </a:custGeom>
          <a:solidFill>
            <a:srgbClr val="000000"/>
          </a:solidFill>
          <a:ln w="14000" cap="rnd">
            <a:solidFill>
              <a:srgbClr val="4F46E5"/>
            </a:solidFill>
            <a:miter/>
          </a:ln>
        </p:spPr>
      </p:sp>
      <p:sp>
        <p:nvSpPr>
          <p:cNvPr id="1532" name="任意多边形 1531"/>
          <p:cNvSpPr/>
          <p:nvPr/>
        </p:nvSpPr>
        <p:spPr>
          <a:xfrm>
            <a:off x="62680" y="705700"/>
            <a:ext cx="266000" cy="203000"/>
          </a:xfrm>
          <a:custGeom>
            <a:avLst/>
            <a:gdLst>
              <a:gd name="connsiteX0" fmla="*/ 0 w 266000"/>
              <a:gd name="connsiteY0" fmla="*/ 101500 h 203000"/>
              <a:gd name="connsiteX1" fmla="*/ 133000 w 266000"/>
              <a:gd name="connsiteY1" fmla="*/ 0 h 203000"/>
              <a:gd name="connsiteX2" fmla="*/ 266000 w 266000"/>
              <a:gd name="connsiteY2" fmla="*/ 101500 h 203000"/>
              <a:gd name="connsiteX3" fmla="*/ 133000 w 266000"/>
              <a:gd name="connsiteY3" fmla="*/ 203000 h 203000"/>
              <a:gd name="rtl" fmla="*/ 6965000 w 266000"/>
              <a:gd name="rtt" fmla="*/ 2398024 h 203000"/>
              <a:gd name="rtr" fmla="*/ 7231000 w 266000"/>
              <a:gd name="rtb" fmla="*/ 2601024 h 20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3A8A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35" b="1" dirty="0">
                <a:solidFill>
                  <a:srgbClr val="1E3A8A"/>
                </a:solidFill>
                <a:latin typeface="Times New Roman Regular" panose="02020503050405090304" charset="0"/>
                <a:ea typeface="微软雅黑"/>
                <a:cs typeface="微软雅黑"/>
              </a:rPr>
              <a:t>分析</a:t>
            </a:r>
            <a:endParaRPr lang="zh-CN" altLang="en-US" sz="735" b="1" dirty="0">
              <a:solidFill>
                <a:srgbClr val="1E3A8A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33" name="任意多边形 1532"/>
          <p:cNvSpPr/>
          <p:nvPr/>
        </p:nvSpPr>
        <p:spPr>
          <a:xfrm>
            <a:off x="62680" y="705700"/>
            <a:ext cx="406000" cy="175000"/>
          </a:xfrm>
          <a:custGeom>
            <a:avLst/>
            <a:gdLst>
              <a:gd name="connsiteX0" fmla="*/ 0 w 406000"/>
              <a:gd name="connsiteY0" fmla="*/ 87500 h 175000"/>
              <a:gd name="connsiteX1" fmla="*/ 203000 w 406000"/>
              <a:gd name="connsiteY1" fmla="*/ 0 h 175000"/>
              <a:gd name="connsiteX2" fmla="*/ 406000 w 406000"/>
              <a:gd name="connsiteY2" fmla="*/ 87500 h 175000"/>
              <a:gd name="connsiteX3" fmla="*/ 203000 w 406000"/>
              <a:gd name="connsiteY3" fmla="*/ 175000 h 175000"/>
              <a:gd name="rtl" fmla="*/ 6913464 w 406000"/>
              <a:gd name="rtt" fmla="*/ 2725701 h 175000"/>
              <a:gd name="rtr" fmla="*/ 7319465 w 406000"/>
              <a:gd name="rtb" fmla="*/ 2900701 h 175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F46E5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630" dirty="0">
                <a:solidFill>
                  <a:srgbClr val="4F46E5"/>
                </a:solidFill>
                <a:latin typeface="Times New Roman Regular" panose="02020503050405090304" charset="0"/>
                <a:ea typeface="微软雅黑"/>
                <a:cs typeface="微软雅黑"/>
              </a:rPr>
              <a:t>子智能体</a:t>
            </a:r>
            <a:endParaRPr lang="zh-CN" altLang="en-US" sz="630" dirty="0">
              <a:solidFill>
                <a:srgbClr val="4F46E5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35" name="任意多边形 1534"/>
          <p:cNvSpPr/>
          <p:nvPr/>
        </p:nvSpPr>
        <p:spPr>
          <a:xfrm>
            <a:off x="6880680" y="4303700"/>
            <a:ext cx="560000" cy="651000"/>
          </a:xfrm>
          <a:custGeom>
            <a:avLst/>
            <a:gdLst/>
            <a:ahLst/>
            <a:cxnLst/>
            <a:rect l="l" t="t" r="r" b="b"/>
            <a:pathLst>
              <a:path w="560000" h="651000" stroke="0">
                <a:moveTo>
                  <a:pt x="280000" y="0"/>
                </a:moveTo>
                <a:lnTo>
                  <a:pt x="560000" y="161000"/>
                </a:lnTo>
                <a:lnTo>
                  <a:pt x="560000" y="490000"/>
                </a:lnTo>
                <a:lnTo>
                  <a:pt x="280000" y="651000"/>
                </a:lnTo>
                <a:lnTo>
                  <a:pt x="0" y="490000"/>
                </a:lnTo>
                <a:lnTo>
                  <a:pt x="0" y="161000"/>
                </a:lnTo>
                <a:lnTo>
                  <a:pt x="280000" y="0"/>
                </a:lnTo>
                <a:close/>
              </a:path>
              <a:path w="560000" h="651000" fill="none">
                <a:moveTo>
                  <a:pt x="280000" y="0"/>
                </a:moveTo>
                <a:lnTo>
                  <a:pt x="560000" y="161000"/>
                </a:lnTo>
                <a:lnTo>
                  <a:pt x="560000" y="490000"/>
                </a:lnTo>
                <a:lnTo>
                  <a:pt x="280000" y="651000"/>
                </a:lnTo>
                <a:lnTo>
                  <a:pt x="0" y="490000"/>
                </a:lnTo>
                <a:lnTo>
                  <a:pt x="0" y="161000"/>
                </a:lnTo>
                <a:lnTo>
                  <a:pt x="280000" y="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F5F3FF"/>
              </a:gs>
            </a:gsLst>
            <a:lin ang="2700000" scaled="0"/>
          </a:gradFill>
          <a:ln w="14000" cap="flat">
            <a:solidFill>
              <a:srgbClr val="6366F1"/>
            </a:solidFill>
            <a:miter/>
          </a:ln>
        </p:spPr>
      </p:sp>
      <p:sp>
        <p:nvSpPr>
          <p:cNvPr id="1536" name="任意多边形 1535"/>
          <p:cNvSpPr/>
          <p:nvPr/>
        </p:nvSpPr>
        <p:spPr>
          <a:xfrm>
            <a:off x="7090680" y="4562700"/>
            <a:ext cx="140000" cy="140000"/>
          </a:xfrm>
          <a:custGeom>
            <a:avLst/>
            <a:gdLst/>
            <a:ahLst/>
            <a:cxnLst/>
            <a:rect l="l" t="t" r="r" b="b"/>
            <a:pathLst>
              <a:path w="140000" h="140000" stroke="0">
                <a:moveTo>
                  <a:pt x="0" y="0"/>
                </a:moveTo>
                <a:lnTo>
                  <a:pt x="140000" y="140000"/>
                </a:lnTo>
              </a:path>
              <a:path w="140000" h="140000" stroke="0">
                <a:moveTo>
                  <a:pt x="140000" y="0"/>
                </a:moveTo>
                <a:lnTo>
                  <a:pt x="0" y="140000"/>
                </a:lnTo>
              </a:path>
              <a:path w="140000" h="140000" fill="none">
                <a:moveTo>
                  <a:pt x="0" y="0"/>
                </a:moveTo>
                <a:lnTo>
                  <a:pt x="140000" y="140000"/>
                </a:lnTo>
              </a:path>
              <a:path w="140000" h="140000" fill="none">
                <a:moveTo>
                  <a:pt x="140000" y="0"/>
                </a:moveTo>
                <a:lnTo>
                  <a:pt x="0" y="140000"/>
                </a:lnTo>
              </a:path>
            </a:pathLst>
          </a:custGeom>
          <a:solidFill>
            <a:srgbClr val="000000"/>
          </a:solidFill>
          <a:ln w="17500" cap="rnd">
            <a:solidFill>
              <a:srgbClr val="4F46E5"/>
            </a:solidFill>
            <a:miter/>
          </a:ln>
        </p:spPr>
      </p:sp>
      <p:sp>
        <p:nvSpPr>
          <p:cNvPr id="1537" name="任意多边形 1536"/>
          <p:cNvSpPr/>
          <p:nvPr/>
        </p:nvSpPr>
        <p:spPr>
          <a:xfrm>
            <a:off x="7076680" y="4548700"/>
            <a:ext cx="168000" cy="168000"/>
          </a:xfrm>
          <a:custGeom>
            <a:avLst/>
            <a:gdLst/>
            <a:ahLst/>
            <a:cxnLst/>
            <a:rect l="l" t="t" r="r" b="b"/>
            <a:pathLst>
              <a:path w="168000" h="168000" stroke="0">
                <a:moveTo>
                  <a:pt x="168000" y="84000"/>
                </a:moveTo>
                <a:cubicBezTo>
                  <a:pt x="168000" y="130392"/>
                  <a:pt x="130392" y="168000"/>
                  <a:pt x="84000" y="168000"/>
                </a:cubicBezTo>
                <a:cubicBezTo>
                  <a:pt x="37608" y="168000"/>
                  <a:pt x="0" y="130392"/>
                  <a:pt x="0" y="84000"/>
                </a:cubicBezTo>
                <a:cubicBezTo>
                  <a:pt x="0" y="37608"/>
                  <a:pt x="37608" y="0"/>
                  <a:pt x="84000" y="0"/>
                </a:cubicBezTo>
                <a:cubicBezTo>
                  <a:pt x="130392" y="0"/>
                  <a:pt x="168000" y="37608"/>
                  <a:pt x="168000" y="84000"/>
                </a:cubicBezTo>
                <a:close/>
              </a:path>
              <a:path w="168000" h="168000" fill="none">
                <a:moveTo>
                  <a:pt x="168000" y="84000"/>
                </a:moveTo>
                <a:cubicBezTo>
                  <a:pt x="168000" y="130392"/>
                  <a:pt x="130392" y="168000"/>
                  <a:pt x="84000" y="168000"/>
                </a:cubicBezTo>
                <a:cubicBezTo>
                  <a:pt x="37608" y="168000"/>
                  <a:pt x="0" y="130392"/>
                  <a:pt x="0" y="84000"/>
                </a:cubicBezTo>
                <a:cubicBezTo>
                  <a:pt x="0" y="37608"/>
                  <a:pt x="37608" y="0"/>
                  <a:pt x="84000" y="0"/>
                </a:cubicBezTo>
                <a:cubicBezTo>
                  <a:pt x="130392" y="0"/>
                  <a:pt x="168000" y="37608"/>
                  <a:pt x="168000" y="84000"/>
                </a:cubicBezTo>
                <a:close/>
              </a:path>
            </a:pathLst>
          </a:custGeom>
          <a:noFill/>
          <a:ln w="10500" cap="flat">
            <a:solidFill>
              <a:srgbClr val="8B5CF6"/>
            </a:solidFill>
            <a:miter/>
          </a:ln>
        </p:spPr>
      </p:sp>
      <p:sp>
        <p:nvSpPr>
          <p:cNvPr id="1538" name="任意多边形 1537"/>
          <p:cNvSpPr/>
          <p:nvPr/>
        </p:nvSpPr>
        <p:spPr>
          <a:xfrm>
            <a:off x="62680" y="705700"/>
            <a:ext cx="266000" cy="203000"/>
          </a:xfrm>
          <a:custGeom>
            <a:avLst/>
            <a:gdLst>
              <a:gd name="connsiteX0" fmla="*/ 0 w 266000"/>
              <a:gd name="connsiteY0" fmla="*/ 101500 h 203000"/>
              <a:gd name="connsiteX1" fmla="*/ 133000 w 266000"/>
              <a:gd name="connsiteY1" fmla="*/ 0 h 203000"/>
              <a:gd name="connsiteX2" fmla="*/ 266000 w 266000"/>
              <a:gd name="connsiteY2" fmla="*/ 101500 h 203000"/>
              <a:gd name="connsiteX3" fmla="*/ 133000 w 266000"/>
              <a:gd name="connsiteY3" fmla="*/ 203000 h 203000"/>
              <a:gd name="rtl" fmla="*/ 6965000 w 266000"/>
              <a:gd name="rtt" fmla="*/ 3661000 h 203000"/>
              <a:gd name="rtr" fmla="*/ 7231000 w 266000"/>
              <a:gd name="rtb" fmla="*/ 3864000 h 20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3A8A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35" b="1" dirty="0">
                <a:solidFill>
                  <a:srgbClr val="1E3A8A"/>
                </a:solidFill>
                <a:latin typeface="Times New Roman Regular" panose="02020503050405090304" charset="0"/>
                <a:ea typeface="微软雅黑"/>
                <a:cs typeface="微软雅黑"/>
              </a:rPr>
              <a:t>突变</a:t>
            </a:r>
            <a:endParaRPr lang="zh-CN" altLang="en-US" sz="735" b="1" dirty="0">
              <a:solidFill>
                <a:srgbClr val="1E3A8A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39" name="任意多边形 1538"/>
          <p:cNvSpPr/>
          <p:nvPr/>
        </p:nvSpPr>
        <p:spPr>
          <a:xfrm>
            <a:off x="62680" y="705700"/>
            <a:ext cx="406000" cy="175000"/>
          </a:xfrm>
          <a:custGeom>
            <a:avLst/>
            <a:gdLst>
              <a:gd name="connsiteX0" fmla="*/ 0 w 406000"/>
              <a:gd name="connsiteY0" fmla="*/ 87500 h 175000"/>
              <a:gd name="connsiteX1" fmla="*/ 203000 w 406000"/>
              <a:gd name="connsiteY1" fmla="*/ 0 h 175000"/>
              <a:gd name="connsiteX2" fmla="*/ 406000 w 406000"/>
              <a:gd name="connsiteY2" fmla="*/ 87500 h 175000"/>
              <a:gd name="connsiteX3" fmla="*/ 203000 w 406000"/>
              <a:gd name="connsiteY3" fmla="*/ 175000 h 175000"/>
              <a:gd name="rtl" fmla="*/ 6895000 w 406000"/>
              <a:gd name="rtt" fmla="*/ 3990000 h 175000"/>
              <a:gd name="rtr" fmla="*/ 7301000 w 406000"/>
              <a:gd name="rtb" fmla="*/ 4165000 h 175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F46E5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630" dirty="0">
                <a:solidFill>
                  <a:srgbClr val="4F46E5"/>
                </a:solidFill>
                <a:latin typeface="Times New Roman Regular" panose="02020503050405090304" charset="0"/>
                <a:ea typeface="微软雅黑"/>
                <a:cs typeface="微软雅黑"/>
              </a:rPr>
              <a:t>子智能体</a:t>
            </a:r>
            <a:endParaRPr lang="zh-CN" altLang="en-US" sz="630" dirty="0">
              <a:solidFill>
                <a:srgbClr val="4F46E5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41" name="任意多边形 1540"/>
          <p:cNvSpPr/>
          <p:nvPr/>
        </p:nvSpPr>
        <p:spPr>
          <a:xfrm>
            <a:off x="5795680" y="4933700"/>
            <a:ext cx="560000" cy="651000"/>
          </a:xfrm>
          <a:custGeom>
            <a:avLst/>
            <a:gdLst/>
            <a:ahLst/>
            <a:cxnLst/>
            <a:rect l="l" t="t" r="r" b="b"/>
            <a:pathLst>
              <a:path w="560000" h="651000" stroke="0">
                <a:moveTo>
                  <a:pt x="280000" y="0"/>
                </a:moveTo>
                <a:lnTo>
                  <a:pt x="560000" y="161000"/>
                </a:lnTo>
                <a:lnTo>
                  <a:pt x="560000" y="490000"/>
                </a:lnTo>
                <a:lnTo>
                  <a:pt x="280000" y="651000"/>
                </a:lnTo>
                <a:lnTo>
                  <a:pt x="0" y="490000"/>
                </a:lnTo>
                <a:lnTo>
                  <a:pt x="0" y="161000"/>
                </a:lnTo>
                <a:lnTo>
                  <a:pt x="280000" y="0"/>
                </a:lnTo>
                <a:close/>
              </a:path>
              <a:path w="560000" h="651000" fill="none">
                <a:moveTo>
                  <a:pt x="280000" y="0"/>
                </a:moveTo>
                <a:lnTo>
                  <a:pt x="560000" y="161000"/>
                </a:lnTo>
                <a:lnTo>
                  <a:pt x="560000" y="490000"/>
                </a:lnTo>
                <a:lnTo>
                  <a:pt x="280000" y="651000"/>
                </a:lnTo>
                <a:lnTo>
                  <a:pt x="0" y="490000"/>
                </a:lnTo>
                <a:lnTo>
                  <a:pt x="0" y="161000"/>
                </a:lnTo>
                <a:lnTo>
                  <a:pt x="280000" y="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F5F3FF"/>
              </a:gs>
            </a:gsLst>
            <a:lin ang="2700000" scaled="0"/>
          </a:gradFill>
          <a:ln w="14000" cap="flat">
            <a:solidFill>
              <a:srgbClr val="6366F1"/>
            </a:solidFill>
            <a:miter/>
          </a:ln>
        </p:spPr>
      </p:sp>
      <p:sp>
        <p:nvSpPr>
          <p:cNvPr id="1542" name="任意多边形 1541"/>
          <p:cNvSpPr/>
          <p:nvPr/>
        </p:nvSpPr>
        <p:spPr>
          <a:xfrm>
            <a:off x="5970680" y="5172857"/>
            <a:ext cx="210000" cy="140000"/>
          </a:xfrm>
          <a:custGeom>
            <a:avLst/>
            <a:gdLst/>
            <a:ahLst/>
            <a:cxnLst/>
            <a:rect l="l" t="t" r="r" b="b"/>
            <a:pathLst>
              <a:path w="210000" h="140000" stroke="0">
                <a:moveTo>
                  <a:pt x="0" y="70000"/>
                </a:moveTo>
                <a:lnTo>
                  <a:pt x="70000" y="140000"/>
                </a:lnTo>
                <a:lnTo>
                  <a:pt x="210000" y="0"/>
                </a:lnTo>
              </a:path>
              <a:path w="210000" h="140000" fill="none">
                <a:moveTo>
                  <a:pt x="0" y="70000"/>
                </a:moveTo>
                <a:lnTo>
                  <a:pt x="70000" y="140000"/>
                </a:lnTo>
                <a:lnTo>
                  <a:pt x="210000" y="0"/>
                </a:lnTo>
              </a:path>
            </a:pathLst>
          </a:custGeom>
          <a:noFill/>
          <a:ln w="17500" cap="rnd">
            <a:solidFill>
              <a:srgbClr val="4F46E5"/>
            </a:solidFill>
            <a:miter/>
          </a:ln>
        </p:spPr>
      </p:sp>
      <p:sp>
        <p:nvSpPr>
          <p:cNvPr id="1543" name="任意多边形 1542"/>
          <p:cNvSpPr/>
          <p:nvPr/>
        </p:nvSpPr>
        <p:spPr>
          <a:xfrm>
            <a:off x="62680" y="705700"/>
            <a:ext cx="266000" cy="203000"/>
          </a:xfrm>
          <a:custGeom>
            <a:avLst/>
            <a:gdLst>
              <a:gd name="connsiteX0" fmla="*/ 0 w 266000"/>
              <a:gd name="connsiteY0" fmla="*/ 101500 h 203000"/>
              <a:gd name="connsiteX1" fmla="*/ 133000 w 266000"/>
              <a:gd name="connsiteY1" fmla="*/ 0 h 203000"/>
              <a:gd name="connsiteX2" fmla="*/ 266000 w 266000"/>
              <a:gd name="connsiteY2" fmla="*/ 101500 h 203000"/>
              <a:gd name="connsiteX3" fmla="*/ 133000 w 266000"/>
              <a:gd name="connsiteY3" fmla="*/ 203000 h 203000"/>
              <a:gd name="rtl" fmla="*/ 5883500 w 266000"/>
              <a:gd name="rtt" fmla="*/ 4285102 h 203000"/>
              <a:gd name="rtr" fmla="*/ 6149500 w 266000"/>
              <a:gd name="rtb" fmla="*/ 4488103 h 20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3A8A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35" b="1" dirty="0">
                <a:solidFill>
                  <a:srgbClr val="1E3A8A"/>
                </a:solidFill>
                <a:latin typeface="Times New Roman Regular" panose="02020503050405090304" charset="0"/>
                <a:ea typeface="微软雅黑"/>
                <a:cs typeface="微软雅黑"/>
              </a:rPr>
              <a:t>评估</a:t>
            </a:r>
            <a:endParaRPr lang="zh-CN" altLang="en-US" sz="735" b="1" dirty="0">
              <a:solidFill>
                <a:srgbClr val="1E3A8A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44" name="任意多边形 1543"/>
          <p:cNvSpPr/>
          <p:nvPr/>
        </p:nvSpPr>
        <p:spPr>
          <a:xfrm>
            <a:off x="62680" y="705700"/>
            <a:ext cx="406000" cy="175000"/>
          </a:xfrm>
          <a:custGeom>
            <a:avLst/>
            <a:gdLst>
              <a:gd name="connsiteX0" fmla="*/ 0 w 406000"/>
              <a:gd name="connsiteY0" fmla="*/ 87500 h 175000"/>
              <a:gd name="connsiteX1" fmla="*/ 203000 w 406000"/>
              <a:gd name="connsiteY1" fmla="*/ 0 h 175000"/>
              <a:gd name="connsiteX2" fmla="*/ 406000 w 406000"/>
              <a:gd name="connsiteY2" fmla="*/ 87500 h 175000"/>
              <a:gd name="connsiteX3" fmla="*/ 203000 w 406000"/>
              <a:gd name="connsiteY3" fmla="*/ 175000 h 175000"/>
              <a:gd name="rtl" fmla="*/ 5810000 w 406000"/>
              <a:gd name="rtt" fmla="*/ 4572571 h 175000"/>
              <a:gd name="rtr" fmla="*/ 6216000 w 406000"/>
              <a:gd name="rtb" fmla="*/ 4747571 h 175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F46E5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630" dirty="0">
                <a:solidFill>
                  <a:srgbClr val="4F46E5"/>
                </a:solidFill>
                <a:latin typeface="Times New Roman Regular" panose="02020503050405090304" charset="0"/>
                <a:ea typeface="微软雅黑"/>
                <a:cs typeface="微软雅黑"/>
              </a:rPr>
              <a:t>子智能体</a:t>
            </a:r>
            <a:endParaRPr lang="zh-CN" altLang="en-US" sz="630" dirty="0">
              <a:solidFill>
                <a:srgbClr val="4F46E5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46" name="任意多边形 1545"/>
          <p:cNvSpPr/>
          <p:nvPr/>
        </p:nvSpPr>
        <p:spPr>
          <a:xfrm>
            <a:off x="4675680" y="3043700"/>
            <a:ext cx="560000" cy="651000"/>
          </a:xfrm>
          <a:custGeom>
            <a:avLst/>
            <a:gdLst/>
            <a:ahLst/>
            <a:cxnLst/>
            <a:rect l="l" t="t" r="r" b="b"/>
            <a:pathLst>
              <a:path w="560000" h="651000" stroke="0">
                <a:moveTo>
                  <a:pt x="280000" y="0"/>
                </a:moveTo>
                <a:lnTo>
                  <a:pt x="560000" y="161000"/>
                </a:lnTo>
                <a:lnTo>
                  <a:pt x="560000" y="490000"/>
                </a:lnTo>
                <a:lnTo>
                  <a:pt x="280000" y="651000"/>
                </a:lnTo>
                <a:lnTo>
                  <a:pt x="0" y="490000"/>
                </a:lnTo>
                <a:lnTo>
                  <a:pt x="0" y="161000"/>
                </a:lnTo>
                <a:lnTo>
                  <a:pt x="280000" y="0"/>
                </a:lnTo>
                <a:close/>
              </a:path>
              <a:path w="560000" h="651000" fill="none">
                <a:moveTo>
                  <a:pt x="280000" y="0"/>
                </a:moveTo>
                <a:lnTo>
                  <a:pt x="560000" y="161000"/>
                </a:lnTo>
                <a:lnTo>
                  <a:pt x="560000" y="490000"/>
                </a:lnTo>
                <a:lnTo>
                  <a:pt x="280000" y="651000"/>
                </a:lnTo>
                <a:lnTo>
                  <a:pt x="0" y="490000"/>
                </a:lnTo>
                <a:lnTo>
                  <a:pt x="0" y="161000"/>
                </a:lnTo>
                <a:lnTo>
                  <a:pt x="280000" y="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F5F3FF"/>
              </a:gs>
            </a:gsLst>
            <a:lin ang="2700000" scaled="0"/>
          </a:gradFill>
          <a:ln w="14000" cap="flat">
            <a:solidFill>
              <a:srgbClr val="6366F1"/>
            </a:solidFill>
            <a:miter/>
          </a:ln>
        </p:spPr>
      </p:sp>
      <p:sp>
        <p:nvSpPr>
          <p:cNvPr id="1547" name="任意多边形 1546"/>
          <p:cNvSpPr/>
          <p:nvPr/>
        </p:nvSpPr>
        <p:spPr>
          <a:xfrm>
            <a:off x="4850680" y="3313200"/>
            <a:ext cx="151301" cy="140001"/>
          </a:xfrm>
          <a:custGeom>
            <a:avLst/>
            <a:gdLst/>
            <a:ahLst/>
            <a:cxnLst/>
            <a:rect l="l" t="t" r="r" b="b"/>
            <a:pathLst>
              <a:path w="151301" h="140001" stroke="0">
                <a:moveTo>
                  <a:pt x="35000" y="17500"/>
                </a:moveTo>
                <a:cubicBezTo>
                  <a:pt x="63142" y="-7319"/>
                  <a:pt x="105848" y="-5534"/>
                  <a:pt x="131821" y="21547"/>
                </a:cubicBezTo>
                <a:cubicBezTo>
                  <a:pt x="157794" y="48628"/>
                  <a:pt x="157794" y="91372"/>
                  <a:pt x="131821" y="118453"/>
                </a:cubicBezTo>
                <a:cubicBezTo>
                  <a:pt x="105848" y="145534"/>
                  <a:pt x="63142" y="147319"/>
                  <a:pt x="35000" y="122500"/>
                </a:cubicBezTo>
                <a:lnTo>
                  <a:pt x="0" y="87500"/>
                </a:lnTo>
              </a:path>
              <a:path w="151301" h="140001" fill="none">
                <a:moveTo>
                  <a:pt x="35000" y="17500"/>
                </a:moveTo>
                <a:cubicBezTo>
                  <a:pt x="63142" y="-7319"/>
                  <a:pt x="105848" y="-5534"/>
                  <a:pt x="131821" y="21547"/>
                </a:cubicBezTo>
                <a:cubicBezTo>
                  <a:pt x="157794" y="48628"/>
                  <a:pt x="157794" y="91372"/>
                  <a:pt x="131821" y="118453"/>
                </a:cubicBezTo>
                <a:cubicBezTo>
                  <a:pt x="105848" y="145534"/>
                  <a:pt x="63142" y="147319"/>
                  <a:pt x="35000" y="122500"/>
                </a:cubicBezTo>
                <a:lnTo>
                  <a:pt x="0" y="87500"/>
                </a:lnTo>
              </a:path>
            </a:pathLst>
          </a:custGeom>
          <a:noFill/>
          <a:ln w="14000" cap="flat">
            <a:solidFill>
              <a:srgbClr val="4F46E5"/>
            </a:solidFill>
            <a:miter/>
          </a:ln>
        </p:spPr>
      </p:sp>
      <p:sp>
        <p:nvSpPr>
          <p:cNvPr id="1548" name="任意多边形 1547"/>
          <p:cNvSpPr/>
          <p:nvPr/>
        </p:nvSpPr>
        <p:spPr>
          <a:xfrm>
            <a:off x="4927680" y="3337700"/>
            <a:ext cx="56000" cy="56000"/>
          </a:xfrm>
          <a:custGeom>
            <a:avLst/>
            <a:gdLst/>
            <a:ahLst/>
            <a:cxnLst/>
            <a:rect l="l" t="t" r="r" b="b"/>
            <a:pathLst>
              <a:path w="56000" h="56000" stroke="0">
                <a:moveTo>
                  <a:pt x="56000" y="28000"/>
                </a:moveTo>
                <a:cubicBezTo>
                  <a:pt x="56000" y="43464"/>
                  <a:pt x="43464" y="56000"/>
                  <a:pt x="28000" y="56000"/>
                </a:cubicBezTo>
                <a:cubicBezTo>
                  <a:pt x="12536" y="56000"/>
                  <a:pt x="0" y="43464"/>
                  <a:pt x="0" y="28000"/>
                </a:cubicBezTo>
                <a:cubicBezTo>
                  <a:pt x="0" y="12536"/>
                  <a:pt x="12536" y="0"/>
                  <a:pt x="28000" y="0"/>
                </a:cubicBezTo>
                <a:cubicBezTo>
                  <a:pt x="43464" y="0"/>
                  <a:pt x="56000" y="12536"/>
                  <a:pt x="56000" y="28000"/>
                </a:cubicBezTo>
                <a:close/>
              </a:path>
              <a:path w="56000" h="56000" fill="none">
                <a:moveTo>
                  <a:pt x="56000" y="28000"/>
                </a:moveTo>
                <a:cubicBezTo>
                  <a:pt x="56000" y="43464"/>
                  <a:pt x="43464" y="56000"/>
                  <a:pt x="28000" y="56000"/>
                </a:cubicBezTo>
                <a:cubicBezTo>
                  <a:pt x="12536" y="56000"/>
                  <a:pt x="0" y="43464"/>
                  <a:pt x="0" y="28000"/>
                </a:cubicBezTo>
                <a:cubicBezTo>
                  <a:pt x="0" y="12536"/>
                  <a:pt x="12536" y="0"/>
                  <a:pt x="28000" y="0"/>
                </a:cubicBezTo>
                <a:cubicBezTo>
                  <a:pt x="43464" y="0"/>
                  <a:pt x="56000" y="12536"/>
                  <a:pt x="56000" y="28000"/>
                </a:cubicBezTo>
                <a:close/>
              </a:path>
            </a:pathLst>
          </a:custGeom>
          <a:solidFill>
            <a:srgbClr val="F59E0B"/>
          </a:solidFill>
          <a:ln w="7000" cap="flat">
            <a:noFill/>
            <a:miter/>
          </a:ln>
        </p:spPr>
      </p:sp>
      <p:sp>
        <p:nvSpPr>
          <p:cNvPr id="1549" name="任意多边形 1548"/>
          <p:cNvSpPr/>
          <p:nvPr/>
        </p:nvSpPr>
        <p:spPr>
          <a:xfrm>
            <a:off x="62680" y="705700"/>
            <a:ext cx="462000" cy="203000"/>
          </a:xfrm>
          <a:custGeom>
            <a:avLst/>
            <a:gdLst>
              <a:gd name="connsiteX0" fmla="*/ 0 w 462000"/>
              <a:gd name="connsiteY0" fmla="*/ 101500 h 203000"/>
              <a:gd name="connsiteX1" fmla="*/ 231000 w 462000"/>
              <a:gd name="connsiteY1" fmla="*/ 0 h 203000"/>
              <a:gd name="connsiteX2" fmla="*/ 462000 w 462000"/>
              <a:gd name="connsiteY2" fmla="*/ 101500 h 203000"/>
              <a:gd name="connsiteX3" fmla="*/ 231000 w 462000"/>
              <a:gd name="connsiteY3" fmla="*/ 203000 h 203000"/>
              <a:gd name="rtl" fmla="*/ 4662000 w 462000"/>
              <a:gd name="rtt" fmla="*/ 2445260 h 203000"/>
              <a:gd name="rtr" fmla="*/ 5124000 w 462000"/>
              <a:gd name="rtb" fmla="*/ 2648260 h 20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3A8A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35" b="1" dirty="0">
                <a:solidFill>
                  <a:srgbClr val="1E3A8A"/>
                </a:solidFill>
                <a:latin typeface="Times New Roman Regular" panose="02020503050405090304" charset="0"/>
                <a:ea typeface="微软雅黑"/>
                <a:cs typeface="微软雅黑"/>
              </a:rPr>
              <a:t>反思总结</a:t>
            </a:r>
            <a:endParaRPr lang="zh-CN" altLang="en-US" sz="735" b="1" dirty="0">
              <a:solidFill>
                <a:srgbClr val="1E3A8A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50" name="任意多边形 1549"/>
          <p:cNvSpPr/>
          <p:nvPr/>
        </p:nvSpPr>
        <p:spPr>
          <a:xfrm>
            <a:off x="62680" y="705700"/>
            <a:ext cx="406000" cy="175000"/>
          </a:xfrm>
          <a:custGeom>
            <a:avLst/>
            <a:gdLst>
              <a:gd name="connsiteX0" fmla="*/ 0 w 406000"/>
              <a:gd name="connsiteY0" fmla="*/ 87500 h 175000"/>
              <a:gd name="connsiteX1" fmla="*/ 203000 w 406000"/>
              <a:gd name="connsiteY1" fmla="*/ 0 h 175000"/>
              <a:gd name="connsiteX2" fmla="*/ 406000 w 406000"/>
              <a:gd name="connsiteY2" fmla="*/ 87500 h 175000"/>
              <a:gd name="connsiteX3" fmla="*/ 203000 w 406000"/>
              <a:gd name="connsiteY3" fmla="*/ 175000 h 175000"/>
              <a:gd name="rtl" fmla="*/ 4690000 w 406000"/>
              <a:gd name="rtt" fmla="*/ 2723000 h 175000"/>
              <a:gd name="rtr" fmla="*/ 5096000 w 406000"/>
              <a:gd name="rtb" fmla="*/ 2898000 h 175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F46E5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630" dirty="0">
                <a:solidFill>
                  <a:srgbClr val="4F46E5"/>
                </a:solidFill>
                <a:latin typeface="Times New Roman Regular" panose="02020503050405090304" charset="0"/>
                <a:ea typeface="微软雅黑"/>
                <a:cs typeface="微软雅黑"/>
              </a:rPr>
              <a:t>子智能体</a:t>
            </a:r>
            <a:endParaRPr lang="zh-CN" altLang="en-US" sz="630" dirty="0">
              <a:solidFill>
                <a:srgbClr val="4F46E5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52" name="任意多边形 1551"/>
          <p:cNvSpPr/>
          <p:nvPr/>
        </p:nvSpPr>
        <p:spPr>
          <a:xfrm>
            <a:off x="4764361" y="4328200"/>
            <a:ext cx="560000" cy="651000"/>
          </a:xfrm>
          <a:custGeom>
            <a:avLst/>
            <a:gdLst/>
            <a:ahLst/>
            <a:cxnLst/>
            <a:rect l="l" t="t" r="r" b="b"/>
            <a:pathLst>
              <a:path w="560000" h="651000" stroke="0">
                <a:moveTo>
                  <a:pt x="280000" y="0"/>
                </a:moveTo>
                <a:lnTo>
                  <a:pt x="560000" y="161000"/>
                </a:lnTo>
                <a:lnTo>
                  <a:pt x="560000" y="490000"/>
                </a:lnTo>
                <a:lnTo>
                  <a:pt x="280000" y="651000"/>
                </a:lnTo>
                <a:lnTo>
                  <a:pt x="0" y="490000"/>
                </a:lnTo>
                <a:lnTo>
                  <a:pt x="0" y="161000"/>
                </a:lnTo>
                <a:lnTo>
                  <a:pt x="280000" y="0"/>
                </a:lnTo>
                <a:close/>
              </a:path>
              <a:path w="560000" h="651000" fill="none">
                <a:moveTo>
                  <a:pt x="280000" y="0"/>
                </a:moveTo>
                <a:lnTo>
                  <a:pt x="560000" y="161000"/>
                </a:lnTo>
                <a:lnTo>
                  <a:pt x="560000" y="490000"/>
                </a:lnTo>
                <a:lnTo>
                  <a:pt x="280000" y="651000"/>
                </a:lnTo>
                <a:lnTo>
                  <a:pt x="0" y="490000"/>
                </a:lnTo>
                <a:lnTo>
                  <a:pt x="0" y="161000"/>
                </a:lnTo>
                <a:lnTo>
                  <a:pt x="280000" y="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F5F3FF"/>
              </a:gs>
            </a:gsLst>
            <a:lin ang="2700000" scaled="0"/>
          </a:gradFill>
          <a:ln w="14000" cap="flat">
            <a:solidFill>
              <a:srgbClr val="6366F1"/>
            </a:solidFill>
            <a:miter/>
          </a:ln>
        </p:spPr>
      </p:sp>
      <p:sp>
        <p:nvSpPr>
          <p:cNvPr id="1553" name="任意多边形 1552"/>
          <p:cNvSpPr/>
          <p:nvPr/>
        </p:nvSpPr>
        <p:spPr>
          <a:xfrm>
            <a:off x="4953361" y="4554901"/>
            <a:ext cx="210000" cy="140000"/>
          </a:xfrm>
          <a:custGeom>
            <a:avLst/>
            <a:gdLst/>
            <a:ahLst/>
            <a:cxnLst/>
            <a:rect l="l" t="t" r="r" b="b"/>
            <a:pathLst>
              <a:path w="210000" h="140000" stroke="0">
                <a:moveTo>
                  <a:pt x="0" y="21000"/>
                </a:moveTo>
                <a:cubicBezTo>
                  <a:pt x="0" y="9402"/>
                  <a:pt x="9402" y="0"/>
                  <a:pt x="21000" y="0"/>
                </a:cubicBezTo>
                <a:lnTo>
                  <a:pt x="189000" y="0"/>
                </a:lnTo>
                <a:cubicBezTo>
                  <a:pt x="200598" y="0"/>
                  <a:pt x="210000" y="9402"/>
                  <a:pt x="210000" y="21000"/>
                </a:cubicBezTo>
                <a:lnTo>
                  <a:pt x="210000" y="119000"/>
                </a:lnTo>
                <a:cubicBezTo>
                  <a:pt x="210000" y="130598"/>
                  <a:pt x="200598" y="140000"/>
                  <a:pt x="189000" y="140000"/>
                </a:cubicBezTo>
                <a:lnTo>
                  <a:pt x="21000" y="140000"/>
                </a:lnTo>
                <a:cubicBezTo>
                  <a:pt x="9402" y="140000"/>
                  <a:pt x="0" y="130598"/>
                  <a:pt x="0" y="119000"/>
                </a:cubicBezTo>
                <a:lnTo>
                  <a:pt x="0" y="21000"/>
                </a:lnTo>
                <a:close/>
              </a:path>
              <a:path w="210000" h="140000" fill="none">
                <a:moveTo>
                  <a:pt x="0" y="21000"/>
                </a:moveTo>
                <a:cubicBezTo>
                  <a:pt x="0" y="9402"/>
                  <a:pt x="9402" y="0"/>
                  <a:pt x="21000" y="0"/>
                </a:cubicBezTo>
                <a:lnTo>
                  <a:pt x="189000" y="0"/>
                </a:lnTo>
                <a:cubicBezTo>
                  <a:pt x="200598" y="0"/>
                  <a:pt x="210000" y="9402"/>
                  <a:pt x="210000" y="21000"/>
                </a:cubicBezTo>
                <a:lnTo>
                  <a:pt x="210000" y="119000"/>
                </a:lnTo>
                <a:cubicBezTo>
                  <a:pt x="210000" y="130598"/>
                  <a:pt x="200598" y="140000"/>
                  <a:pt x="189000" y="140000"/>
                </a:cubicBezTo>
                <a:lnTo>
                  <a:pt x="21000" y="140000"/>
                </a:lnTo>
                <a:cubicBezTo>
                  <a:pt x="9402" y="140000"/>
                  <a:pt x="0" y="130598"/>
                  <a:pt x="0" y="119000"/>
                </a:cubicBezTo>
                <a:lnTo>
                  <a:pt x="0" y="21000"/>
                </a:lnTo>
                <a:close/>
              </a:path>
            </a:pathLst>
          </a:custGeom>
          <a:noFill/>
          <a:ln w="14000" cap="flat">
            <a:solidFill>
              <a:srgbClr val="4F46E5"/>
            </a:solidFill>
            <a:miter/>
          </a:ln>
        </p:spPr>
      </p:sp>
      <p:sp>
        <p:nvSpPr>
          <p:cNvPr id="1554" name="任意多边形 1553"/>
          <p:cNvSpPr/>
          <p:nvPr/>
        </p:nvSpPr>
        <p:spPr>
          <a:xfrm>
            <a:off x="5023361" y="4729901"/>
            <a:ext cx="70000" cy="7000"/>
          </a:xfrm>
          <a:custGeom>
            <a:avLst/>
            <a:gdLst/>
            <a:ahLst/>
            <a:cxnLst/>
            <a:rect l="l" t="t" r="r" b="b"/>
            <a:pathLst>
              <a:path w="70000" h="7000" fill="none">
                <a:moveTo>
                  <a:pt x="0" y="0"/>
                </a:moveTo>
                <a:lnTo>
                  <a:pt x="70000" y="0"/>
                </a:lnTo>
              </a:path>
            </a:pathLst>
          </a:custGeom>
          <a:solidFill>
            <a:srgbClr val="000000"/>
          </a:solidFill>
          <a:ln w="14000" cap="flat">
            <a:solidFill>
              <a:srgbClr val="4F46E5"/>
            </a:solidFill>
            <a:miter/>
          </a:ln>
        </p:spPr>
      </p:sp>
      <p:sp>
        <p:nvSpPr>
          <p:cNvPr id="1555" name="任意多边形 1554"/>
          <p:cNvSpPr/>
          <p:nvPr/>
        </p:nvSpPr>
        <p:spPr>
          <a:xfrm>
            <a:off x="4988361" y="4603901"/>
            <a:ext cx="140000" cy="91000"/>
          </a:xfrm>
          <a:custGeom>
            <a:avLst/>
            <a:gdLst/>
            <a:ahLst/>
            <a:cxnLst/>
            <a:rect l="l" t="t" r="r" b="b"/>
            <a:pathLst>
              <a:path w="140000" h="91000" stroke="0">
                <a:moveTo>
                  <a:pt x="0" y="21000"/>
                </a:moveTo>
                <a:lnTo>
                  <a:pt x="35000" y="56000"/>
                </a:lnTo>
                <a:lnTo>
                  <a:pt x="70000" y="0"/>
                </a:lnTo>
                <a:lnTo>
                  <a:pt x="140000" y="91000"/>
                </a:lnTo>
              </a:path>
              <a:path w="140000" h="91000" fill="none">
                <a:moveTo>
                  <a:pt x="0" y="21000"/>
                </a:moveTo>
                <a:lnTo>
                  <a:pt x="35000" y="56000"/>
                </a:lnTo>
                <a:lnTo>
                  <a:pt x="70000" y="0"/>
                </a:lnTo>
                <a:lnTo>
                  <a:pt x="140000" y="91000"/>
                </a:lnTo>
              </a:path>
            </a:pathLst>
          </a:custGeom>
          <a:noFill/>
          <a:ln w="10500" cap="flat">
            <a:solidFill>
              <a:srgbClr val="3B82F6"/>
            </a:solidFill>
            <a:miter/>
          </a:ln>
        </p:spPr>
      </p:sp>
      <p:sp>
        <p:nvSpPr>
          <p:cNvPr id="1556" name="任意多边形 1555"/>
          <p:cNvSpPr/>
          <p:nvPr/>
        </p:nvSpPr>
        <p:spPr>
          <a:xfrm>
            <a:off x="62680" y="705700"/>
            <a:ext cx="462000" cy="203000"/>
          </a:xfrm>
          <a:custGeom>
            <a:avLst/>
            <a:gdLst>
              <a:gd name="connsiteX0" fmla="*/ 0 w 462000"/>
              <a:gd name="connsiteY0" fmla="*/ 101500 h 203000"/>
              <a:gd name="connsiteX1" fmla="*/ 231000 w 462000"/>
              <a:gd name="connsiteY1" fmla="*/ 0 h 203000"/>
              <a:gd name="connsiteX2" fmla="*/ 462000 w 462000"/>
              <a:gd name="connsiteY2" fmla="*/ 101500 h 203000"/>
              <a:gd name="connsiteX3" fmla="*/ 231000 w 462000"/>
              <a:gd name="connsiteY3" fmla="*/ 203000 h 203000"/>
              <a:gd name="rtl" fmla="*/ 4768181 w 462000"/>
              <a:gd name="rtt" fmla="*/ 3680953 h 203000"/>
              <a:gd name="rtr" fmla="*/ 5230182 w 462000"/>
              <a:gd name="rtb" fmla="*/ 3883953 h 20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1E3A8A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35" b="1" dirty="0">
                <a:solidFill>
                  <a:srgbClr val="1E3A8A"/>
                </a:solidFill>
                <a:latin typeface="Times New Roman Regular" panose="02020503050405090304" charset="0"/>
                <a:ea typeface="微软雅黑"/>
                <a:cs typeface="微软雅黑"/>
              </a:rPr>
              <a:t>虚拟实验</a:t>
            </a:r>
            <a:endParaRPr lang="zh-CN" altLang="en-US" sz="735" b="1" dirty="0">
              <a:solidFill>
                <a:srgbClr val="1E3A8A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57" name="任意多边形 1556"/>
          <p:cNvSpPr/>
          <p:nvPr/>
        </p:nvSpPr>
        <p:spPr>
          <a:xfrm>
            <a:off x="62680" y="705700"/>
            <a:ext cx="497000" cy="161000"/>
          </a:xfrm>
          <a:custGeom>
            <a:avLst/>
            <a:gdLst>
              <a:gd name="connsiteX0" fmla="*/ 0 w 497000"/>
              <a:gd name="connsiteY0" fmla="*/ 80500 h 161000"/>
              <a:gd name="connsiteX1" fmla="*/ 248500 w 497000"/>
              <a:gd name="connsiteY1" fmla="*/ 0 h 161000"/>
              <a:gd name="connsiteX2" fmla="*/ 497000 w 497000"/>
              <a:gd name="connsiteY2" fmla="*/ 80500 h 161000"/>
              <a:gd name="connsiteX3" fmla="*/ 248500 w 497000"/>
              <a:gd name="connsiteY3" fmla="*/ 161000 h 161000"/>
              <a:gd name="rtl" fmla="*/ 4743681 w 497000"/>
              <a:gd name="rtt" fmla="*/ 4024201 h 161000"/>
              <a:gd name="rtr" fmla="*/ 5254682 w 497000"/>
              <a:gd name="rtb" fmla="*/ 4185201 h 161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4F46E5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580" dirty="0">
                <a:solidFill>
                  <a:srgbClr val="4F46E5"/>
                </a:solidFill>
                <a:latin typeface="Times New Roman Regular" panose="02020503050405090304" charset="0"/>
                <a:ea typeface="微软雅黑"/>
                <a:cs typeface="Times New Roman Regular" panose="02020503050405090304" charset="0"/>
              </a:rPr>
              <a:t>(如虚拟拉伸)</a:t>
            </a:r>
            <a:endParaRPr lang="zh-CN" altLang="en-US" sz="580" dirty="0">
              <a:solidFill>
                <a:srgbClr val="4F46E5"/>
              </a:solidFill>
              <a:latin typeface="Times New Roman Regular" panose="02020503050405090304" charset="0"/>
              <a:ea typeface="微软雅黑"/>
              <a:cs typeface="Times New Roman Regular" panose="02020503050405090304" charset="0"/>
            </a:endParaRPr>
          </a:p>
        </p:txBody>
      </p:sp>
      <p:sp>
        <p:nvSpPr>
          <p:cNvPr id="1560" name="任意多边形 1559"/>
          <p:cNvSpPr/>
          <p:nvPr/>
        </p:nvSpPr>
        <p:spPr>
          <a:xfrm>
            <a:off x="6075680" y="5418684"/>
            <a:ext cx="7000" cy="210000"/>
          </a:xfrm>
          <a:custGeom>
            <a:avLst/>
            <a:gdLst/>
            <a:ahLst/>
            <a:cxnLst/>
            <a:rect l="l" t="t" r="r" b="b"/>
            <a:pathLst>
              <a:path w="7000" h="210000" fill="none">
                <a:moveTo>
                  <a:pt x="0" y="0"/>
                </a:moveTo>
                <a:lnTo>
                  <a:pt x="0" y="210000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561" name="任意多边形 1560"/>
          <p:cNvSpPr/>
          <p:nvPr/>
        </p:nvSpPr>
        <p:spPr>
          <a:xfrm rot="5400000">
            <a:off x="6038999" y="5545076"/>
            <a:ext cx="73362" cy="58690"/>
          </a:xfrm>
          <a:custGeom>
            <a:avLst/>
            <a:gdLst/>
            <a:ahLst/>
            <a:cxnLst/>
            <a:rect l="l" t="t" r="r" b="b"/>
            <a:pathLst>
              <a:path w="73362" h="58690" stroke="0">
                <a:moveTo>
                  <a:pt x="0" y="0"/>
                </a:moveTo>
                <a:lnTo>
                  <a:pt x="73362" y="29345"/>
                </a:lnTo>
                <a:lnTo>
                  <a:pt x="0" y="58690"/>
                </a:lnTo>
                <a:lnTo>
                  <a:pt x="0" y="0"/>
                </a:lnTo>
                <a:close/>
              </a:path>
              <a:path w="73362" h="58690" fill="none">
                <a:moveTo>
                  <a:pt x="0" y="0"/>
                </a:moveTo>
                <a:lnTo>
                  <a:pt x="73362" y="29345"/>
                </a:lnTo>
                <a:lnTo>
                  <a:pt x="0" y="5869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 w="7000" cap="flat">
            <a:noFill/>
            <a:miter/>
          </a:ln>
        </p:spPr>
      </p:sp>
      <p:sp>
        <p:nvSpPr>
          <p:cNvPr id="1563" name="任意多边形 1562"/>
          <p:cNvSpPr/>
          <p:nvPr/>
        </p:nvSpPr>
        <p:spPr>
          <a:xfrm>
            <a:off x="5235680" y="5598700"/>
            <a:ext cx="1680000" cy="420000"/>
          </a:xfrm>
          <a:custGeom>
            <a:avLst/>
            <a:gdLst/>
            <a:ahLst/>
            <a:cxnLst/>
            <a:rect l="l" t="t" r="r" b="b"/>
            <a:pathLst>
              <a:path w="1680000" h="420000" stroke="0">
                <a:moveTo>
                  <a:pt x="0" y="105000"/>
                </a:moveTo>
                <a:cubicBezTo>
                  <a:pt x="0" y="47010"/>
                  <a:pt x="47010" y="0"/>
                  <a:pt x="105000" y="0"/>
                </a:cubicBezTo>
                <a:lnTo>
                  <a:pt x="1575000" y="0"/>
                </a:lnTo>
                <a:cubicBezTo>
                  <a:pt x="1632990" y="0"/>
                  <a:pt x="1680000" y="47010"/>
                  <a:pt x="1680000" y="105000"/>
                </a:cubicBezTo>
                <a:lnTo>
                  <a:pt x="1680000" y="315000"/>
                </a:lnTo>
                <a:cubicBezTo>
                  <a:pt x="1680000" y="372990"/>
                  <a:pt x="1632990" y="420000"/>
                  <a:pt x="1575000" y="420000"/>
                </a:cubicBezTo>
                <a:lnTo>
                  <a:pt x="105000" y="420000"/>
                </a:lnTo>
                <a:cubicBezTo>
                  <a:pt x="47010" y="420000"/>
                  <a:pt x="0" y="372990"/>
                  <a:pt x="0" y="315000"/>
                </a:cubicBezTo>
                <a:lnTo>
                  <a:pt x="0" y="105000"/>
                </a:lnTo>
                <a:close/>
              </a:path>
              <a:path w="1680000" h="420000" fill="none">
                <a:moveTo>
                  <a:pt x="0" y="105000"/>
                </a:moveTo>
                <a:cubicBezTo>
                  <a:pt x="0" y="47010"/>
                  <a:pt x="47010" y="0"/>
                  <a:pt x="105000" y="0"/>
                </a:cubicBezTo>
                <a:lnTo>
                  <a:pt x="1575000" y="0"/>
                </a:lnTo>
                <a:cubicBezTo>
                  <a:pt x="1632990" y="0"/>
                  <a:pt x="1680000" y="47010"/>
                  <a:pt x="1680000" y="105000"/>
                </a:cubicBezTo>
                <a:lnTo>
                  <a:pt x="1680000" y="315000"/>
                </a:lnTo>
                <a:cubicBezTo>
                  <a:pt x="1680000" y="372990"/>
                  <a:pt x="1632990" y="420000"/>
                  <a:pt x="1575000" y="420000"/>
                </a:cubicBezTo>
                <a:lnTo>
                  <a:pt x="105000" y="420000"/>
                </a:lnTo>
                <a:cubicBezTo>
                  <a:pt x="47010" y="420000"/>
                  <a:pt x="0" y="372990"/>
                  <a:pt x="0" y="315000"/>
                </a:cubicBezTo>
                <a:lnTo>
                  <a:pt x="0" y="105000"/>
                </a:lnTo>
                <a:close/>
              </a:path>
            </a:pathLst>
          </a:custGeom>
          <a:solidFill>
            <a:srgbClr val="3B82F6"/>
          </a:solidFill>
          <a:ln w="7000" cap="flat">
            <a:noFill/>
            <a:miter/>
          </a:ln>
        </p:spPr>
      </p:sp>
      <p:sp>
        <p:nvSpPr>
          <p:cNvPr id="1564" name="任意多边形 1563"/>
          <p:cNvSpPr/>
          <p:nvPr/>
        </p:nvSpPr>
        <p:spPr>
          <a:xfrm>
            <a:off x="62680" y="705700"/>
            <a:ext cx="854000" cy="217000"/>
          </a:xfrm>
          <a:custGeom>
            <a:avLst/>
            <a:gdLst>
              <a:gd name="connsiteX0" fmla="*/ 0 w 854000"/>
              <a:gd name="connsiteY0" fmla="*/ 108500 h 217000"/>
              <a:gd name="connsiteX1" fmla="*/ 427000 w 854000"/>
              <a:gd name="connsiteY1" fmla="*/ 0 h 217000"/>
              <a:gd name="connsiteX2" fmla="*/ 854000 w 854000"/>
              <a:gd name="connsiteY2" fmla="*/ 108500 h 217000"/>
              <a:gd name="connsiteX3" fmla="*/ 427000 w 854000"/>
              <a:gd name="connsiteY3" fmla="*/ 217000 h 217000"/>
              <a:gd name="rtl" fmla="*/ 5593000 w 854000"/>
              <a:gd name="rtt" fmla="*/ 4935000 h 217000"/>
              <a:gd name="rtr" fmla="*/ 6447000 w 854000"/>
              <a:gd name="rtb" fmla="*/ 5152000 h 217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FFFF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840" b="1" dirty="0">
                <a:solidFill>
                  <a:srgbClr val="FFFFFF"/>
                </a:solidFill>
                <a:latin typeface="Times New Roman Regular" panose="02020503050405090304" charset="0"/>
                <a:ea typeface="微软雅黑"/>
                <a:cs typeface="微软雅黑"/>
              </a:rPr>
              <a:t>最终湿实验验证</a:t>
            </a:r>
            <a:endParaRPr lang="zh-CN" altLang="en-US" sz="840" b="1" dirty="0">
              <a:solidFill>
                <a:srgbClr val="FFFFFF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65" name="任意多边形 1564"/>
          <p:cNvSpPr/>
          <p:nvPr/>
        </p:nvSpPr>
        <p:spPr>
          <a:xfrm>
            <a:off x="62680" y="705700"/>
            <a:ext cx="966000" cy="175000"/>
          </a:xfrm>
          <a:custGeom>
            <a:avLst/>
            <a:gdLst>
              <a:gd name="connsiteX0" fmla="*/ 0 w 966000"/>
              <a:gd name="connsiteY0" fmla="*/ 87500 h 175000"/>
              <a:gd name="connsiteX1" fmla="*/ 483000 w 966000"/>
              <a:gd name="connsiteY1" fmla="*/ 0 h 175000"/>
              <a:gd name="connsiteX2" fmla="*/ 966000 w 966000"/>
              <a:gd name="connsiteY2" fmla="*/ 87500 h 175000"/>
              <a:gd name="connsiteX3" fmla="*/ 483000 w 966000"/>
              <a:gd name="connsiteY3" fmla="*/ 175000 h 175000"/>
              <a:gd name="rtl" fmla="*/ 5537000 w 966000"/>
              <a:gd name="rtt" fmla="*/ 5096000 h 175000"/>
              <a:gd name="rtr" fmla="*/ 6503000 w 966000"/>
              <a:gd name="rtb" fmla="*/ 5271000 h 175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DBEAFE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630" dirty="0">
                <a:solidFill>
                  <a:srgbClr val="DBEAFE"/>
                </a:solidFill>
                <a:latin typeface="Times New Roman Regular" panose="02020503050405090304" charset="0"/>
                <a:ea typeface="微软雅黑"/>
                <a:cs typeface="Times New Roman Regular" panose="02020503050405090304" charset="0"/>
              </a:rPr>
              <a:t>(仅验证满足预期的序列)</a:t>
            </a:r>
            <a:endParaRPr lang="zh-CN" altLang="en-US" sz="630" dirty="0">
              <a:solidFill>
                <a:srgbClr val="DBEAFE"/>
              </a:solidFill>
              <a:latin typeface="Times New Roman Regular" panose="02020503050405090304" charset="0"/>
              <a:ea typeface="微软雅黑"/>
              <a:cs typeface="Times New Roman Regular" panose="02020503050405090304" charset="0"/>
            </a:endParaRPr>
          </a:p>
        </p:txBody>
      </p:sp>
      <p:sp>
        <p:nvSpPr>
          <p:cNvPr id="1569" name="任意多边形 1568"/>
          <p:cNvSpPr/>
          <p:nvPr/>
        </p:nvSpPr>
        <p:spPr>
          <a:xfrm>
            <a:off x="8665680" y="978700"/>
            <a:ext cx="3150000" cy="2520000"/>
          </a:xfrm>
          <a:custGeom>
            <a:avLst/>
            <a:gdLst/>
            <a:ahLst/>
            <a:cxnLst/>
            <a:rect l="l" t="t" r="r" b="b"/>
            <a:pathLst>
              <a:path w="3150000" h="2520000" stroke="0">
                <a:moveTo>
                  <a:pt x="0" y="168000"/>
                </a:moveTo>
                <a:cubicBezTo>
                  <a:pt x="0" y="75216"/>
                  <a:pt x="75216" y="0"/>
                  <a:pt x="168000" y="0"/>
                </a:cubicBezTo>
                <a:lnTo>
                  <a:pt x="2982000" y="0"/>
                </a:lnTo>
                <a:cubicBezTo>
                  <a:pt x="3074784" y="0"/>
                  <a:pt x="3150000" y="75216"/>
                  <a:pt x="3150000" y="168000"/>
                </a:cubicBezTo>
                <a:lnTo>
                  <a:pt x="3150000" y="2352000"/>
                </a:lnTo>
                <a:cubicBezTo>
                  <a:pt x="3150000" y="2444784"/>
                  <a:pt x="3074784" y="2520000"/>
                  <a:pt x="2982000" y="2520000"/>
                </a:cubicBezTo>
                <a:lnTo>
                  <a:pt x="168000" y="2520000"/>
                </a:lnTo>
                <a:cubicBezTo>
                  <a:pt x="75216" y="2520000"/>
                  <a:pt x="0" y="2444784"/>
                  <a:pt x="0" y="2352000"/>
                </a:cubicBezTo>
                <a:lnTo>
                  <a:pt x="0" y="168000"/>
                </a:lnTo>
                <a:close/>
              </a:path>
              <a:path w="3150000" h="2520000" fill="none">
                <a:moveTo>
                  <a:pt x="0" y="168000"/>
                </a:moveTo>
                <a:cubicBezTo>
                  <a:pt x="0" y="75216"/>
                  <a:pt x="75216" y="0"/>
                  <a:pt x="168000" y="0"/>
                </a:cubicBezTo>
                <a:lnTo>
                  <a:pt x="2982000" y="0"/>
                </a:lnTo>
                <a:cubicBezTo>
                  <a:pt x="3074784" y="0"/>
                  <a:pt x="3150000" y="75216"/>
                  <a:pt x="3150000" y="168000"/>
                </a:cubicBezTo>
                <a:lnTo>
                  <a:pt x="3150000" y="2352000"/>
                </a:lnTo>
                <a:cubicBezTo>
                  <a:pt x="3150000" y="2444784"/>
                  <a:pt x="3074784" y="2520000"/>
                  <a:pt x="2982000" y="2520000"/>
                </a:cubicBezTo>
                <a:lnTo>
                  <a:pt x="168000" y="2520000"/>
                </a:lnTo>
                <a:cubicBezTo>
                  <a:pt x="75216" y="2520000"/>
                  <a:pt x="0" y="2444784"/>
                  <a:pt x="0" y="2352000"/>
                </a:cubicBezTo>
                <a:lnTo>
                  <a:pt x="0" y="168000"/>
                </a:lnTo>
                <a:close/>
              </a:path>
            </a:pathLst>
          </a:custGeom>
          <a:solidFill>
            <a:srgbClr val="FFFFFF"/>
          </a:solidFill>
          <a:ln w="10500" cap="flat">
            <a:solidFill>
              <a:srgbClr val="E2E8F0"/>
            </a:solidFill>
            <a:miter/>
          </a:ln>
        </p:spPr>
      </p:sp>
      <p:sp>
        <p:nvSpPr>
          <p:cNvPr id="1570" name="任意多边形 1569"/>
          <p:cNvSpPr/>
          <p:nvPr/>
        </p:nvSpPr>
        <p:spPr>
          <a:xfrm>
            <a:off x="8665680" y="978700"/>
            <a:ext cx="3150000" cy="420000"/>
          </a:xfrm>
          <a:custGeom>
            <a:avLst/>
            <a:gdLst/>
            <a:ahLst/>
            <a:cxnLst/>
            <a:rect l="l" t="t" r="r" b="b"/>
            <a:pathLst>
              <a:path w="3150000" h="420000" stroke="0">
                <a:moveTo>
                  <a:pt x="0" y="168000"/>
                </a:moveTo>
                <a:cubicBezTo>
                  <a:pt x="0" y="75216"/>
                  <a:pt x="75216" y="0"/>
                  <a:pt x="168000" y="0"/>
                </a:cubicBezTo>
                <a:lnTo>
                  <a:pt x="2982000" y="0"/>
                </a:lnTo>
                <a:cubicBezTo>
                  <a:pt x="3074784" y="0"/>
                  <a:pt x="3150000" y="75216"/>
                  <a:pt x="3150000" y="168000"/>
                </a:cubicBezTo>
                <a:lnTo>
                  <a:pt x="3150000" y="420000"/>
                </a:lnTo>
                <a:lnTo>
                  <a:pt x="0" y="420000"/>
                </a:lnTo>
                <a:lnTo>
                  <a:pt x="0" y="168000"/>
                </a:lnTo>
                <a:close/>
              </a:path>
              <a:path w="3150000" h="420000" fill="none">
                <a:moveTo>
                  <a:pt x="0" y="168000"/>
                </a:moveTo>
                <a:cubicBezTo>
                  <a:pt x="0" y="75216"/>
                  <a:pt x="75216" y="0"/>
                  <a:pt x="168000" y="0"/>
                </a:cubicBezTo>
                <a:lnTo>
                  <a:pt x="2982000" y="0"/>
                </a:lnTo>
                <a:cubicBezTo>
                  <a:pt x="3074784" y="0"/>
                  <a:pt x="3150000" y="75216"/>
                  <a:pt x="3150000" y="168000"/>
                </a:cubicBezTo>
                <a:lnTo>
                  <a:pt x="3150000" y="420000"/>
                </a:lnTo>
                <a:lnTo>
                  <a:pt x="0" y="420000"/>
                </a:lnTo>
                <a:lnTo>
                  <a:pt x="0" y="168000"/>
                </a:lnTo>
                <a:close/>
              </a:path>
            </a:pathLst>
          </a:custGeom>
          <a:solidFill>
            <a:srgbClr val="0F172A"/>
          </a:solidFill>
          <a:ln w="7000" cap="flat">
            <a:noFill/>
            <a:miter/>
          </a:ln>
        </p:spPr>
      </p:sp>
      <p:sp>
        <p:nvSpPr>
          <p:cNvPr id="1571" name="任意多边形 1570"/>
          <p:cNvSpPr/>
          <p:nvPr/>
        </p:nvSpPr>
        <p:spPr>
          <a:xfrm>
            <a:off x="62680" y="705700"/>
            <a:ext cx="1330000" cy="273000"/>
          </a:xfrm>
          <a:custGeom>
            <a:avLst/>
            <a:gdLst>
              <a:gd name="connsiteX0" fmla="*/ 0 w 1330000"/>
              <a:gd name="connsiteY0" fmla="*/ 136500 h 273000"/>
              <a:gd name="connsiteX1" fmla="*/ 665000 w 1330000"/>
              <a:gd name="connsiteY1" fmla="*/ 0 h 273000"/>
              <a:gd name="connsiteX2" fmla="*/ 1330000 w 1330000"/>
              <a:gd name="connsiteY2" fmla="*/ 136500 h 273000"/>
              <a:gd name="connsiteX3" fmla="*/ 665000 w 1330000"/>
              <a:gd name="connsiteY3" fmla="*/ 273000 h 273000"/>
              <a:gd name="rtl" fmla="*/ 9513000 w 1330000"/>
              <a:gd name="rtt" fmla="*/ 343000 h 273000"/>
              <a:gd name="rtr" fmla="*/ 10843000 w 1330000"/>
              <a:gd name="rtb" fmla="*/ 616000 h 27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FFFF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1050" b="1" dirty="0">
                <a:solidFill>
                  <a:srgbClr val="FFFFFF"/>
                </a:solidFill>
                <a:latin typeface="Times New Roman Regular" panose="02020503050405090304" charset="0"/>
                <a:ea typeface="微软雅黑"/>
                <a:cs typeface="微软雅黑"/>
              </a:rPr>
              <a:t>系统进化的四个维度</a:t>
            </a:r>
            <a:endParaRPr lang="zh-CN" altLang="en-US" sz="1050" b="1" dirty="0">
              <a:solidFill>
                <a:srgbClr val="FFFFFF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72" name="任意多边形 1571"/>
          <p:cNvSpPr/>
          <p:nvPr/>
        </p:nvSpPr>
        <p:spPr>
          <a:xfrm>
            <a:off x="8840680" y="1608700"/>
            <a:ext cx="2800000" cy="350000"/>
          </a:xfrm>
          <a:custGeom>
            <a:avLst/>
            <a:gdLst/>
            <a:ahLst/>
            <a:cxnLst/>
            <a:rect l="l" t="t" r="r" b="b"/>
            <a:pathLst>
              <a:path w="2800000" h="350000" stroke="0">
                <a:moveTo>
                  <a:pt x="0" y="70000"/>
                </a:moveTo>
                <a:cubicBezTo>
                  <a:pt x="0" y="31340"/>
                  <a:pt x="31340" y="0"/>
                  <a:pt x="70000" y="0"/>
                </a:cubicBezTo>
                <a:lnTo>
                  <a:pt x="2730000" y="0"/>
                </a:lnTo>
                <a:cubicBezTo>
                  <a:pt x="2768660" y="0"/>
                  <a:pt x="2800000" y="31340"/>
                  <a:pt x="2800000" y="70000"/>
                </a:cubicBezTo>
                <a:lnTo>
                  <a:pt x="2800000" y="280000"/>
                </a:lnTo>
                <a:cubicBezTo>
                  <a:pt x="2800000" y="318660"/>
                  <a:pt x="2768660" y="350000"/>
                  <a:pt x="2730000" y="350000"/>
                </a:cubicBezTo>
                <a:lnTo>
                  <a:pt x="70000" y="350000"/>
                </a:lnTo>
                <a:cubicBezTo>
                  <a:pt x="31340" y="350000"/>
                  <a:pt x="0" y="318660"/>
                  <a:pt x="0" y="280000"/>
                </a:cubicBezTo>
                <a:lnTo>
                  <a:pt x="0" y="70000"/>
                </a:lnTo>
                <a:close/>
              </a:path>
              <a:path w="2800000" h="350000" fill="none">
                <a:moveTo>
                  <a:pt x="0" y="70000"/>
                </a:moveTo>
                <a:cubicBezTo>
                  <a:pt x="0" y="31340"/>
                  <a:pt x="31340" y="0"/>
                  <a:pt x="70000" y="0"/>
                </a:cubicBezTo>
                <a:lnTo>
                  <a:pt x="2730000" y="0"/>
                </a:lnTo>
                <a:cubicBezTo>
                  <a:pt x="2768660" y="0"/>
                  <a:pt x="2800000" y="31340"/>
                  <a:pt x="2800000" y="70000"/>
                </a:cubicBezTo>
                <a:lnTo>
                  <a:pt x="2800000" y="280000"/>
                </a:lnTo>
                <a:cubicBezTo>
                  <a:pt x="2800000" y="318660"/>
                  <a:pt x="2768660" y="350000"/>
                  <a:pt x="2730000" y="350000"/>
                </a:cubicBezTo>
                <a:lnTo>
                  <a:pt x="70000" y="350000"/>
                </a:lnTo>
                <a:cubicBezTo>
                  <a:pt x="31340" y="350000"/>
                  <a:pt x="0" y="318660"/>
                  <a:pt x="0" y="280000"/>
                </a:cubicBezTo>
                <a:lnTo>
                  <a:pt x="0" y="70000"/>
                </a:lnTo>
                <a:close/>
              </a:path>
            </a:pathLst>
          </a:custGeom>
          <a:solidFill>
            <a:srgbClr val="F8FAFC"/>
          </a:solidFill>
          <a:ln w="7000" cap="flat">
            <a:solidFill>
              <a:srgbClr val="E2E8F0"/>
            </a:solidFill>
            <a:miter/>
          </a:ln>
        </p:spPr>
      </p:sp>
      <p:sp>
        <p:nvSpPr>
          <p:cNvPr id="1573" name="任意多边形 1572"/>
          <p:cNvSpPr/>
          <p:nvPr/>
        </p:nvSpPr>
        <p:spPr>
          <a:xfrm>
            <a:off x="62680" y="705700"/>
            <a:ext cx="518000" cy="217000"/>
          </a:xfrm>
          <a:custGeom>
            <a:avLst/>
            <a:gdLst>
              <a:gd name="connsiteX0" fmla="*/ 0 w 518000"/>
              <a:gd name="connsiteY0" fmla="*/ 108500 h 217000"/>
              <a:gd name="connsiteX1" fmla="*/ 259000 w 518000"/>
              <a:gd name="connsiteY1" fmla="*/ 0 h 217000"/>
              <a:gd name="connsiteX2" fmla="*/ 518000 w 518000"/>
              <a:gd name="connsiteY2" fmla="*/ 108500 h 217000"/>
              <a:gd name="connsiteX3" fmla="*/ 259000 w 518000"/>
              <a:gd name="connsiteY3" fmla="*/ 217000 h 217000"/>
              <a:gd name="rtl" fmla="*/ 8890000 w 518000"/>
              <a:gd name="rtt" fmla="*/ 959000 h 217000"/>
              <a:gd name="rtr" fmla="*/ 9408000 w 518000"/>
              <a:gd name="rtb" fmla="*/ 1176000 h 217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F172A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840" b="1" dirty="0">
                <a:solidFill>
                  <a:srgbClr val="0F172A"/>
                </a:solidFill>
                <a:latin typeface="Times New Roman Regular" panose="02020503050405090304" charset="0"/>
                <a:ea typeface="微软雅黑"/>
                <a:cs typeface="微软雅黑"/>
              </a:rPr>
              <a:t>决策主体</a:t>
            </a:r>
            <a:endParaRPr lang="zh-CN" altLang="en-US" sz="840" b="1" dirty="0">
              <a:solidFill>
                <a:srgbClr val="0F172A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74" name="任意多边形 1573"/>
          <p:cNvSpPr/>
          <p:nvPr/>
        </p:nvSpPr>
        <p:spPr>
          <a:xfrm>
            <a:off x="62680" y="705700"/>
            <a:ext cx="490000" cy="210000"/>
          </a:xfrm>
          <a:custGeom>
            <a:avLst/>
            <a:gdLst>
              <a:gd name="connsiteX0" fmla="*/ 0 w 490000"/>
              <a:gd name="connsiteY0" fmla="*/ 105000 h 210000"/>
              <a:gd name="connsiteX1" fmla="*/ 245000 w 490000"/>
              <a:gd name="connsiteY1" fmla="*/ 0 h 210000"/>
              <a:gd name="connsiteX2" fmla="*/ 490000 w 490000"/>
              <a:gd name="connsiteY2" fmla="*/ 105000 h 210000"/>
              <a:gd name="connsiteX3" fmla="*/ 245000 w 490000"/>
              <a:gd name="connsiteY3" fmla="*/ 210000 h 210000"/>
              <a:gd name="rtl" fmla="*/ 9660000 w 490000"/>
              <a:gd name="rtt" fmla="*/ 966000 h 210000"/>
              <a:gd name="rtr" fmla="*/ 10150000 w 490000"/>
              <a:gd name="rtb" fmla="*/ 1176000 h 210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90" dirty="0">
                <a:solidFill>
                  <a:srgbClr val="64748B"/>
                </a:solidFill>
                <a:latin typeface="Times New Roman Regular" panose="02020503050405090304" charset="0"/>
                <a:ea typeface="微软雅黑"/>
                <a:cs typeface="微软雅黑"/>
              </a:rPr>
              <a:t>人类驾驶</a:t>
            </a:r>
            <a:endParaRPr lang="zh-CN" altLang="en-US" sz="790" dirty="0">
              <a:solidFill>
                <a:srgbClr val="64748B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75" name="任意多边形 1574"/>
          <p:cNvSpPr/>
          <p:nvPr/>
        </p:nvSpPr>
        <p:spPr>
          <a:xfrm>
            <a:off x="10240680" y="1783700"/>
            <a:ext cx="175000" cy="7000"/>
          </a:xfrm>
          <a:custGeom>
            <a:avLst/>
            <a:gdLst/>
            <a:ahLst/>
            <a:cxnLst/>
            <a:rect l="l" t="t" r="r" b="b"/>
            <a:pathLst>
              <a:path w="175000" h="7000" fill="none">
                <a:moveTo>
                  <a:pt x="0" y="0"/>
                </a:moveTo>
                <a:lnTo>
                  <a:pt x="175000" y="0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576" name="任意多边形 1575"/>
          <p:cNvSpPr/>
          <p:nvPr/>
        </p:nvSpPr>
        <p:spPr>
          <a:xfrm>
            <a:off x="10380680" y="1759200"/>
            <a:ext cx="70000" cy="56000"/>
          </a:xfrm>
          <a:custGeom>
            <a:avLst/>
            <a:gdLst/>
            <a:ahLst/>
            <a:cxnLst/>
            <a:rect l="l" t="t" r="r" b="b"/>
            <a:pathLst>
              <a:path w="70000" h="56000" stroke="0">
                <a:moveTo>
                  <a:pt x="0" y="0"/>
                </a:moveTo>
                <a:lnTo>
                  <a:pt x="70000" y="28000"/>
                </a:lnTo>
                <a:lnTo>
                  <a:pt x="0" y="56000"/>
                </a:lnTo>
                <a:lnTo>
                  <a:pt x="0" y="0"/>
                </a:lnTo>
                <a:close/>
              </a:path>
              <a:path w="70000" h="56000" fill="none">
                <a:moveTo>
                  <a:pt x="0" y="0"/>
                </a:moveTo>
                <a:lnTo>
                  <a:pt x="70000" y="28000"/>
                </a:lnTo>
                <a:lnTo>
                  <a:pt x="0" y="560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 w="7000" cap="flat">
            <a:noFill/>
            <a:miter/>
          </a:ln>
        </p:spPr>
      </p:sp>
      <p:sp>
        <p:nvSpPr>
          <p:cNvPr id="1578" name="任意多边形 1577"/>
          <p:cNvSpPr/>
          <p:nvPr/>
        </p:nvSpPr>
        <p:spPr>
          <a:xfrm>
            <a:off x="62680" y="705700"/>
            <a:ext cx="420000" cy="210000"/>
          </a:xfrm>
          <a:custGeom>
            <a:avLst/>
            <a:gdLst>
              <a:gd name="connsiteX0" fmla="*/ 0 w 420000"/>
              <a:gd name="connsiteY0" fmla="*/ 105000 h 210000"/>
              <a:gd name="connsiteX1" fmla="*/ 210000 w 420000"/>
              <a:gd name="connsiteY1" fmla="*/ 0 h 210000"/>
              <a:gd name="connsiteX2" fmla="*/ 420000 w 420000"/>
              <a:gd name="connsiteY2" fmla="*/ 105000 h 210000"/>
              <a:gd name="connsiteX3" fmla="*/ 210000 w 420000"/>
              <a:gd name="connsiteY3" fmla="*/ 210000 h 210000"/>
              <a:gd name="rtl" fmla="*/ 10570000 w 420000"/>
              <a:gd name="rtt" fmla="*/ 966000 h 210000"/>
              <a:gd name="rtr" fmla="*/ 10990000 w 420000"/>
              <a:gd name="rtb" fmla="*/ 1176000 h 210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2563EB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90" b="1" dirty="0">
                <a:solidFill>
                  <a:srgbClr val="2563EB"/>
                </a:solidFill>
                <a:latin typeface="Times New Roman Regular" panose="02020503050405090304" charset="0"/>
                <a:ea typeface="微软雅黑"/>
                <a:cs typeface="Times New Roman Regular" panose="02020503050405090304" charset="0"/>
              </a:rPr>
              <a:t>AI 驾驶</a:t>
            </a:r>
            <a:endParaRPr lang="zh-CN" altLang="en-US" sz="790" b="1" dirty="0">
              <a:solidFill>
                <a:srgbClr val="2563EB"/>
              </a:solidFill>
              <a:latin typeface="Times New Roman Regular" panose="02020503050405090304" charset="0"/>
              <a:ea typeface="微软雅黑"/>
              <a:cs typeface="Times New Roman Regular" panose="02020503050405090304" charset="0"/>
            </a:endParaRPr>
          </a:p>
        </p:txBody>
      </p:sp>
      <p:sp>
        <p:nvSpPr>
          <p:cNvPr id="1580" name="任意多边形 1579"/>
          <p:cNvSpPr/>
          <p:nvPr/>
        </p:nvSpPr>
        <p:spPr>
          <a:xfrm>
            <a:off x="8840680" y="2063700"/>
            <a:ext cx="2800000" cy="350000"/>
          </a:xfrm>
          <a:custGeom>
            <a:avLst/>
            <a:gdLst/>
            <a:ahLst/>
            <a:cxnLst/>
            <a:rect l="l" t="t" r="r" b="b"/>
            <a:pathLst>
              <a:path w="2800000" h="350000" stroke="0">
                <a:moveTo>
                  <a:pt x="0" y="70000"/>
                </a:moveTo>
                <a:cubicBezTo>
                  <a:pt x="0" y="31340"/>
                  <a:pt x="31340" y="0"/>
                  <a:pt x="70000" y="0"/>
                </a:cubicBezTo>
                <a:lnTo>
                  <a:pt x="2730000" y="0"/>
                </a:lnTo>
                <a:cubicBezTo>
                  <a:pt x="2768660" y="0"/>
                  <a:pt x="2800000" y="31340"/>
                  <a:pt x="2800000" y="70000"/>
                </a:cubicBezTo>
                <a:lnTo>
                  <a:pt x="2800000" y="280000"/>
                </a:lnTo>
                <a:cubicBezTo>
                  <a:pt x="2800000" y="318660"/>
                  <a:pt x="2768660" y="350000"/>
                  <a:pt x="2730000" y="350000"/>
                </a:cubicBezTo>
                <a:lnTo>
                  <a:pt x="70000" y="350000"/>
                </a:lnTo>
                <a:cubicBezTo>
                  <a:pt x="31340" y="350000"/>
                  <a:pt x="0" y="318660"/>
                  <a:pt x="0" y="280000"/>
                </a:cubicBezTo>
                <a:lnTo>
                  <a:pt x="0" y="70000"/>
                </a:lnTo>
                <a:close/>
              </a:path>
              <a:path w="2800000" h="350000" fill="none">
                <a:moveTo>
                  <a:pt x="0" y="70000"/>
                </a:moveTo>
                <a:cubicBezTo>
                  <a:pt x="0" y="31340"/>
                  <a:pt x="31340" y="0"/>
                  <a:pt x="70000" y="0"/>
                </a:cubicBezTo>
                <a:lnTo>
                  <a:pt x="2730000" y="0"/>
                </a:lnTo>
                <a:cubicBezTo>
                  <a:pt x="2768660" y="0"/>
                  <a:pt x="2800000" y="31340"/>
                  <a:pt x="2800000" y="70000"/>
                </a:cubicBezTo>
                <a:lnTo>
                  <a:pt x="2800000" y="280000"/>
                </a:lnTo>
                <a:cubicBezTo>
                  <a:pt x="2800000" y="318660"/>
                  <a:pt x="2768660" y="350000"/>
                  <a:pt x="2730000" y="350000"/>
                </a:cubicBezTo>
                <a:lnTo>
                  <a:pt x="70000" y="350000"/>
                </a:lnTo>
                <a:cubicBezTo>
                  <a:pt x="31340" y="350000"/>
                  <a:pt x="0" y="318660"/>
                  <a:pt x="0" y="280000"/>
                </a:cubicBezTo>
                <a:lnTo>
                  <a:pt x="0" y="70000"/>
                </a:lnTo>
                <a:close/>
              </a:path>
            </a:pathLst>
          </a:custGeom>
          <a:solidFill>
            <a:srgbClr val="F8FAFC"/>
          </a:solidFill>
          <a:ln w="7000" cap="flat">
            <a:solidFill>
              <a:srgbClr val="E2E8F0"/>
            </a:solidFill>
            <a:miter/>
          </a:ln>
        </p:spPr>
      </p:sp>
      <p:sp>
        <p:nvSpPr>
          <p:cNvPr id="1581" name="任意多边形 1580"/>
          <p:cNvSpPr/>
          <p:nvPr/>
        </p:nvSpPr>
        <p:spPr>
          <a:xfrm>
            <a:off x="62680" y="705700"/>
            <a:ext cx="518000" cy="217000"/>
          </a:xfrm>
          <a:custGeom>
            <a:avLst/>
            <a:gdLst>
              <a:gd name="connsiteX0" fmla="*/ 0 w 518000"/>
              <a:gd name="connsiteY0" fmla="*/ 108500 h 217000"/>
              <a:gd name="connsiteX1" fmla="*/ 259000 w 518000"/>
              <a:gd name="connsiteY1" fmla="*/ 0 h 217000"/>
              <a:gd name="connsiteX2" fmla="*/ 518000 w 518000"/>
              <a:gd name="connsiteY2" fmla="*/ 108500 h 217000"/>
              <a:gd name="connsiteX3" fmla="*/ 259000 w 518000"/>
              <a:gd name="connsiteY3" fmla="*/ 217000 h 217000"/>
              <a:gd name="rtl" fmla="*/ 8890000 w 518000"/>
              <a:gd name="rtt" fmla="*/ 1414000 h 217000"/>
              <a:gd name="rtr" fmla="*/ 9408000 w 518000"/>
              <a:gd name="rtb" fmla="*/ 1631000 h 217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F172A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840" b="1" dirty="0">
                <a:solidFill>
                  <a:srgbClr val="0F172A"/>
                </a:solidFill>
                <a:latin typeface="Times New Roman Regular" panose="02020503050405090304" charset="0"/>
                <a:ea typeface="微软雅黑"/>
                <a:cs typeface="微软雅黑"/>
              </a:rPr>
              <a:t>实验迭代</a:t>
            </a:r>
            <a:endParaRPr lang="zh-CN" altLang="en-US" sz="840" b="1" dirty="0">
              <a:solidFill>
                <a:srgbClr val="0F172A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82" name="任意多边形 1581"/>
          <p:cNvSpPr/>
          <p:nvPr/>
        </p:nvSpPr>
        <p:spPr>
          <a:xfrm>
            <a:off x="62680" y="705700"/>
            <a:ext cx="490000" cy="210000"/>
          </a:xfrm>
          <a:custGeom>
            <a:avLst/>
            <a:gdLst>
              <a:gd name="connsiteX0" fmla="*/ 0 w 490000"/>
              <a:gd name="connsiteY0" fmla="*/ 105000 h 210000"/>
              <a:gd name="connsiteX1" fmla="*/ 245000 w 490000"/>
              <a:gd name="connsiteY1" fmla="*/ 0 h 210000"/>
              <a:gd name="connsiteX2" fmla="*/ 490000 w 490000"/>
              <a:gd name="connsiteY2" fmla="*/ 105000 h 210000"/>
              <a:gd name="connsiteX3" fmla="*/ 245000 w 490000"/>
              <a:gd name="connsiteY3" fmla="*/ 210000 h 210000"/>
              <a:gd name="rtl" fmla="*/ 9660000 w 490000"/>
              <a:gd name="rtt" fmla="*/ 1421000 h 210000"/>
              <a:gd name="rtr" fmla="*/ 10150000 w 490000"/>
              <a:gd name="rtb" fmla="*/ 1631000 h 210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90" dirty="0">
                <a:solidFill>
                  <a:srgbClr val="64748B"/>
                </a:solidFill>
                <a:latin typeface="Times New Roman Regular" panose="02020503050405090304" charset="0"/>
                <a:ea typeface="微软雅黑"/>
                <a:cs typeface="微软雅黑"/>
              </a:rPr>
              <a:t>慢速物理</a:t>
            </a:r>
            <a:endParaRPr lang="zh-CN" altLang="en-US" sz="790" dirty="0">
              <a:solidFill>
                <a:srgbClr val="64748B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83" name="任意多边形 1582"/>
          <p:cNvSpPr/>
          <p:nvPr/>
        </p:nvSpPr>
        <p:spPr>
          <a:xfrm>
            <a:off x="10240680" y="2238700"/>
            <a:ext cx="175000" cy="7000"/>
          </a:xfrm>
          <a:custGeom>
            <a:avLst/>
            <a:gdLst/>
            <a:ahLst/>
            <a:cxnLst/>
            <a:rect l="l" t="t" r="r" b="b"/>
            <a:pathLst>
              <a:path w="175000" h="7000" fill="none">
                <a:moveTo>
                  <a:pt x="0" y="0"/>
                </a:moveTo>
                <a:lnTo>
                  <a:pt x="175000" y="0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584" name="任意多边形 1583"/>
          <p:cNvSpPr/>
          <p:nvPr/>
        </p:nvSpPr>
        <p:spPr>
          <a:xfrm>
            <a:off x="10380680" y="2214200"/>
            <a:ext cx="70000" cy="56000"/>
          </a:xfrm>
          <a:custGeom>
            <a:avLst/>
            <a:gdLst/>
            <a:ahLst/>
            <a:cxnLst/>
            <a:rect l="l" t="t" r="r" b="b"/>
            <a:pathLst>
              <a:path w="70000" h="56000" stroke="0">
                <a:moveTo>
                  <a:pt x="0" y="0"/>
                </a:moveTo>
                <a:lnTo>
                  <a:pt x="70000" y="28000"/>
                </a:lnTo>
                <a:lnTo>
                  <a:pt x="0" y="56000"/>
                </a:lnTo>
                <a:lnTo>
                  <a:pt x="0" y="0"/>
                </a:lnTo>
                <a:close/>
              </a:path>
              <a:path w="70000" h="56000" fill="none">
                <a:moveTo>
                  <a:pt x="0" y="0"/>
                </a:moveTo>
                <a:lnTo>
                  <a:pt x="70000" y="28000"/>
                </a:lnTo>
                <a:lnTo>
                  <a:pt x="0" y="560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 w="7000" cap="flat">
            <a:noFill/>
            <a:miter/>
          </a:ln>
        </p:spPr>
      </p:sp>
      <p:sp>
        <p:nvSpPr>
          <p:cNvPr id="1586" name="任意多边形 1585"/>
          <p:cNvSpPr/>
          <p:nvPr/>
        </p:nvSpPr>
        <p:spPr>
          <a:xfrm>
            <a:off x="62680" y="705700"/>
            <a:ext cx="490000" cy="210000"/>
          </a:xfrm>
          <a:custGeom>
            <a:avLst/>
            <a:gdLst>
              <a:gd name="connsiteX0" fmla="*/ 0 w 490000"/>
              <a:gd name="connsiteY0" fmla="*/ 105000 h 210000"/>
              <a:gd name="connsiteX1" fmla="*/ 245000 w 490000"/>
              <a:gd name="connsiteY1" fmla="*/ 0 h 210000"/>
              <a:gd name="connsiteX2" fmla="*/ 490000 w 490000"/>
              <a:gd name="connsiteY2" fmla="*/ 105000 h 210000"/>
              <a:gd name="connsiteX3" fmla="*/ 245000 w 490000"/>
              <a:gd name="connsiteY3" fmla="*/ 210000 h 210000"/>
              <a:gd name="rtl" fmla="*/ 10570000 w 490000"/>
              <a:gd name="rtt" fmla="*/ 1421000 h 210000"/>
              <a:gd name="rtr" fmla="*/ 11060000 w 490000"/>
              <a:gd name="rtb" fmla="*/ 1631000 h 210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2563EB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90" b="1" dirty="0">
                <a:solidFill>
                  <a:srgbClr val="2563EB"/>
                </a:solidFill>
                <a:latin typeface="Times New Roman Regular" panose="02020503050405090304" charset="0"/>
                <a:ea typeface="微软雅黑"/>
                <a:cs typeface="微软雅黑"/>
              </a:rPr>
              <a:t>高速数字</a:t>
            </a:r>
            <a:endParaRPr lang="zh-CN" altLang="en-US" sz="790" b="1" dirty="0">
              <a:solidFill>
                <a:srgbClr val="2563EB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88" name="任意多边形 1587"/>
          <p:cNvSpPr/>
          <p:nvPr/>
        </p:nvSpPr>
        <p:spPr>
          <a:xfrm>
            <a:off x="8840680" y="2518700"/>
            <a:ext cx="2800000" cy="350000"/>
          </a:xfrm>
          <a:custGeom>
            <a:avLst/>
            <a:gdLst/>
            <a:ahLst/>
            <a:cxnLst/>
            <a:rect l="l" t="t" r="r" b="b"/>
            <a:pathLst>
              <a:path w="2800000" h="350000" stroke="0">
                <a:moveTo>
                  <a:pt x="0" y="70000"/>
                </a:moveTo>
                <a:cubicBezTo>
                  <a:pt x="0" y="31340"/>
                  <a:pt x="31340" y="0"/>
                  <a:pt x="70000" y="0"/>
                </a:cubicBezTo>
                <a:lnTo>
                  <a:pt x="2730000" y="0"/>
                </a:lnTo>
                <a:cubicBezTo>
                  <a:pt x="2768660" y="0"/>
                  <a:pt x="2800000" y="31340"/>
                  <a:pt x="2800000" y="70000"/>
                </a:cubicBezTo>
                <a:lnTo>
                  <a:pt x="2800000" y="280000"/>
                </a:lnTo>
                <a:cubicBezTo>
                  <a:pt x="2800000" y="318660"/>
                  <a:pt x="2768660" y="350000"/>
                  <a:pt x="2730000" y="350000"/>
                </a:cubicBezTo>
                <a:lnTo>
                  <a:pt x="70000" y="350000"/>
                </a:lnTo>
                <a:cubicBezTo>
                  <a:pt x="31340" y="350000"/>
                  <a:pt x="0" y="318660"/>
                  <a:pt x="0" y="280000"/>
                </a:cubicBezTo>
                <a:lnTo>
                  <a:pt x="0" y="70000"/>
                </a:lnTo>
                <a:close/>
              </a:path>
              <a:path w="2800000" h="350000" fill="none">
                <a:moveTo>
                  <a:pt x="0" y="70000"/>
                </a:moveTo>
                <a:cubicBezTo>
                  <a:pt x="0" y="31340"/>
                  <a:pt x="31340" y="0"/>
                  <a:pt x="70000" y="0"/>
                </a:cubicBezTo>
                <a:lnTo>
                  <a:pt x="2730000" y="0"/>
                </a:lnTo>
                <a:cubicBezTo>
                  <a:pt x="2768660" y="0"/>
                  <a:pt x="2800000" y="31340"/>
                  <a:pt x="2800000" y="70000"/>
                </a:cubicBezTo>
                <a:lnTo>
                  <a:pt x="2800000" y="280000"/>
                </a:lnTo>
                <a:cubicBezTo>
                  <a:pt x="2800000" y="318660"/>
                  <a:pt x="2768660" y="350000"/>
                  <a:pt x="2730000" y="350000"/>
                </a:cubicBezTo>
                <a:lnTo>
                  <a:pt x="70000" y="350000"/>
                </a:lnTo>
                <a:cubicBezTo>
                  <a:pt x="31340" y="350000"/>
                  <a:pt x="0" y="318660"/>
                  <a:pt x="0" y="280000"/>
                </a:cubicBezTo>
                <a:lnTo>
                  <a:pt x="0" y="70000"/>
                </a:lnTo>
                <a:close/>
              </a:path>
            </a:pathLst>
          </a:custGeom>
          <a:solidFill>
            <a:srgbClr val="F8FAFC"/>
          </a:solidFill>
          <a:ln w="7000" cap="flat">
            <a:solidFill>
              <a:srgbClr val="E2E8F0"/>
            </a:solidFill>
            <a:miter/>
          </a:ln>
        </p:spPr>
      </p:sp>
      <p:sp>
        <p:nvSpPr>
          <p:cNvPr id="1589" name="任意多边形 1588"/>
          <p:cNvSpPr/>
          <p:nvPr/>
        </p:nvSpPr>
        <p:spPr>
          <a:xfrm>
            <a:off x="62680" y="705700"/>
            <a:ext cx="518000" cy="217000"/>
          </a:xfrm>
          <a:custGeom>
            <a:avLst/>
            <a:gdLst>
              <a:gd name="connsiteX0" fmla="*/ 0 w 518000"/>
              <a:gd name="connsiteY0" fmla="*/ 108500 h 217000"/>
              <a:gd name="connsiteX1" fmla="*/ 259000 w 518000"/>
              <a:gd name="connsiteY1" fmla="*/ 0 h 217000"/>
              <a:gd name="connsiteX2" fmla="*/ 518000 w 518000"/>
              <a:gd name="connsiteY2" fmla="*/ 108500 h 217000"/>
              <a:gd name="connsiteX3" fmla="*/ 259000 w 518000"/>
              <a:gd name="connsiteY3" fmla="*/ 217000 h 217000"/>
              <a:gd name="rtl" fmla="*/ 8890000 w 518000"/>
              <a:gd name="rtt" fmla="*/ 1869000 h 217000"/>
              <a:gd name="rtr" fmla="*/ 9408000 w 518000"/>
              <a:gd name="rtb" fmla="*/ 2086000 h 217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F172A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840" b="1" dirty="0">
                <a:solidFill>
                  <a:srgbClr val="0F172A"/>
                </a:solidFill>
                <a:latin typeface="Times New Roman Regular" panose="02020503050405090304" charset="0"/>
                <a:ea typeface="微软雅黑"/>
                <a:cs typeface="微软雅黑"/>
              </a:rPr>
              <a:t>知识利用</a:t>
            </a:r>
            <a:endParaRPr lang="zh-CN" altLang="en-US" sz="840" b="1" dirty="0">
              <a:solidFill>
                <a:srgbClr val="0F172A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90" name="任意多边形 1589"/>
          <p:cNvSpPr/>
          <p:nvPr/>
        </p:nvSpPr>
        <p:spPr>
          <a:xfrm>
            <a:off x="62680" y="705700"/>
            <a:ext cx="490000" cy="210000"/>
          </a:xfrm>
          <a:custGeom>
            <a:avLst/>
            <a:gdLst>
              <a:gd name="connsiteX0" fmla="*/ 0 w 490000"/>
              <a:gd name="connsiteY0" fmla="*/ 105000 h 210000"/>
              <a:gd name="connsiteX1" fmla="*/ 245000 w 490000"/>
              <a:gd name="connsiteY1" fmla="*/ 0 h 210000"/>
              <a:gd name="connsiteX2" fmla="*/ 490000 w 490000"/>
              <a:gd name="connsiteY2" fmla="*/ 105000 h 210000"/>
              <a:gd name="connsiteX3" fmla="*/ 245000 w 490000"/>
              <a:gd name="connsiteY3" fmla="*/ 210000 h 210000"/>
              <a:gd name="rtl" fmla="*/ 9660000 w 490000"/>
              <a:gd name="rtt" fmla="*/ 1876000 h 210000"/>
              <a:gd name="rtr" fmla="*/ 10150000 w 490000"/>
              <a:gd name="rtb" fmla="*/ 2086000 h 210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90" dirty="0">
                <a:solidFill>
                  <a:srgbClr val="64748B"/>
                </a:solidFill>
                <a:latin typeface="Times New Roman Regular" panose="02020503050405090304" charset="0"/>
                <a:ea typeface="微软雅黑"/>
                <a:cs typeface="微软雅黑"/>
              </a:rPr>
              <a:t>静态检索</a:t>
            </a:r>
            <a:endParaRPr lang="zh-CN" altLang="en-US" sz="790" dirty="0">
              <a:solidFill>
                <a:srgbClr val="64748B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91" name="任意多边形 1590"/>
          <p:cNvSpPr/>
          <p:nvPr/>
        </p:nvSpPr>
        <p:spPr>
          <a:xfrm>
            <a:off x="10240680" y="2693700"/>
            <a:ext cx="175000" cy="7000"/>
          </a:xfrm>
          <a:custGeom>
            <a:avLst/>
            <a:gdLst/>
            <a:ahLst/>
            <a:cxnLst/>
            <a:rect l="l" t="t" r="r" b="b"/>
            <a:pathLst>
              <a:path w="175000" h="7000" fill="none">
                <a:moveTo>
                  <a:pt x="0" y="0"/>
                </a:moveTo>
                <a:lnTo>
                  <a:pt x="175000" y="0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592" name="任意多边形 1591"/>
          <p:cNvSpPr/>
          <p:nvPr/>
        </p:nvSpPr>
        <p:spPr>
          <a:xfrm>
            <a:off x="10380680" y="2669200"/>
            <a:ext cx="70000" cy="56000"/>
          </a:xfrm>
          <a:custGeom>
            <a:avLst/>
            <a:gdLst/>
            <a:ahLst/>
            <a:cxnLst/>
            <a:rect l="l" t="t" r="r" b="b"/>
            <a:pathLst>
              <a:path w="70000" h="56000" stroke="0">
                <a:moveTo>
                  <a:pt x="0" y="0"/>
                </a:moveTo>
                <a:lnTo>
                  <a:pt x="70000" y="28000"/>
                </a:lnTo>
                <a:lnTo>
                  <a:pt x="0" y="56000"/>
                </a:lnTo>
                <a:lnTo>
                  <a:pt x="0" y="0"/>
                </a:lnTo>
                <a:close/>
              </a:path>
              <a:path w="70000" h="56000" fill="none">
                <a:moveTo>
                  <a:pt x="0" y="0"/>
                </a:moveTo>
                <a:lnTo>
                  <a:pt x="70000" y="28000"/>
                </a:lnTo>
                <a:lnTo>
                  <a:pt x="0" y="560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 w="7000" cap="flat">
            <a:noFill/>
            <a:miter/>
          </a:ln>
        </p:spPr>
      </p:sp>
      <p:sp>
        <p:nvSpPr>
          <p:cNvPr id="1594" name="任意多边形 1593"/>
          <p:cNvSpPr/>
          <p:nvPr/>
        </p:nvSpPr>
        <p:spPr>
          <a:xfrm>
            <a:off x="62680" y="705700"/>
            <a:ext cx="490000" cy="210000"/>
          </a:xfrm>
          <a:custGeom>
            <a:avLst/>
            <a:gdLst>
              <a:gd name="connsiteX0" fmla="*/ 0 w 490000"/>
              <a:gd name="connsiteY0" fmla="*/ 105000 h 210000"/>
              <a:gd name="connsiteX1" fmla="*/ 245000 w 490000"/>
              <a:gd name="connsiteY1" fmla="*/ 0 h 210000"/>
              <a:gd name="connsiteX2" fmla="*/ 490000 w 490000"/>
              <a:gd name="connsiteY2" fmla="*/ 105000 h 210000"/>
              <a:gd name="connsiteX3" fmla="*/ 245000 w 490000"/>
              <a:gd name="connsiteY3" fmla="*/ 210000 h 210000"/>
              <a:gd name="rtl" fmla="*/ 10570000 w 490000"/>
              <a:gd name="rtt" fmla="*/ 1876000 h 210000"/>
              <a:gd name="rtr" fmla="*/ 11060000 w 490000"/>
              <a:gd name="rtb" fmla="*/ 2086000 h 210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2563EB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90" b="1" dirty="0">
                <a:solidFill>
                  <a:srgbClr val="2563EB"/>
                </a:solidFill>
                <a:latin typeface="Times New Roman Regular" panose="02020503050405090304" charset="0"/>
                <a:ea typeface="微软雅黑"/>
                <a:cs typeface="微软雅黑"/>
              </a:rPr>
              <a:t>动态综合</a:t>
            </a:r>
            <a:endParaRPr lang="zh-CN" altLang="en-US" sz="790" b="1" dirty="0">
              <a:solidFill>
                <a:srgbClr val="2563EB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96" name="任意多边形 1595"/>
          <p:cNvSpPr/>
          <p:nvPr/>
        </p:nvSpPr>
        <p:spPr>
          <a:xfrm>
            <a:off x="8840680" y="2973700"/>
            <a:ext cx="2800000" cy="350000"/>
          </a:xfrm>
          <a:custGeom>
            <a:avLst/>
            <a:gdLst/>
            <a:ahLst/>
            <a:cxnLst/>
            <a:rect l="l" t="t" r="r" b="b"/>
            <a:pathLst>
              <a:path w="2800000" h="350000" stroke="0">
                <a:moveTo>
                  <a:pt x="0" y="70000"/>
                </a:moveTo>
                <a:cubicBezTo>
                  <a:pt x="0" y="31340"/>
                  <a:pt x="31340" y="0"/>
                  <a:pt x="70000" y="0"/>
                </a:cubicBezTo>
                <a:lnTo>
                  <a:pt x="2730000" y="0"/>
                </a:lnTo>
                <a:cubicBezTo>
                  <a:pt x="2768660" y="0"/>
                  <a:pt x="2800000" y="31340"/>
                  <a:pt x="2800000" y="70000"/>
                </a:cubicBezTo>
                <a:lnTo>
                  <a:pt x="2800000" y="280000"/>
                </a:lnTo>
                <a:cubicBezTo>
                  <a:pt x="2800000" y="318660"/>
                  <a:pt x="2768660" y="350000"/>
                  <a:pt x="2730000" y="350000"/>
                </a:cubicBezTo>
                <a:lnTo>
                  <a:pt x="70000" y="350000"/>
                </a:lnTo>
                <a:cubicBezTo>
                  <a:pt x="31340" y="350000"/>
                  <a:pt x="0" y="318660"/>
                  <a:pt x="0" y="280000"/>
                </a:cubicBezTo>
                <a:lnTo>
                  <a:pt x="0" y="70000"/>
                </a:lnTo>
                <a:close/>
              </a:path>
              <a:path w="2800000" h="350000" fill="none">
                <a:moveTo>
                  <a:pt x="0" y="70000"/>
                </a:moveTo>
                <a:cubicBezTo>
                  <a:pt x="0" y="31340"/>
                  <a:pt x="31340" y="0"/>
                  <a:pt x="70000" y="0"/>
                </a:cubicBezTo>
                <a:lnTo>
                  <a:pt x="2730000" y="0"/>
                </a:lnTo>
                <a:cubicBezTo>
                  <a:pt x="2768660" y="0"/>
                  <a:pt x="2800000" y="31340"/>
                  <a:pt x="2800000" y="70000"/>
                </a:cubicBezTo>
                <a:lnTo>
                  <a:pt x="2800000" y="280000"/>
                </a:lnTo>
                <a:cubicBezTo>
                  <a:pt x="2800000" y="318660"/>
                  <a:pt x="2768660" y="350000"/>
                  <a:pt x="2730000" y="350000"/>
                </a:cubicBezTo>
                <a:lnTo>
                  <a:pt x="70000" y="350000"/>
                </a:lnTo>
                <a:cubicBezTo>
                  <a:pt x="31340" y="350000"/>
                  <a:pt x="0" y="318660"/>
                  <a:pt x="0" y="280000"/>
                </a:cubicBezTo>
                <a:lnTo>
                  <a:pt x="0" y="70000"/>
                </a:lnTo>
                <a:close/>
              </a:path>
            </a:pathLst>
          </a:custGeom>
          <a:solidFill>
            <a:srgbClr val="F8FAFC"/>
          </a:solidFill>
          <a:ln w="7000" cap="flat">
            <a:solidFill>
              <a:srgbClr val="E2E8F0"/>
            </a:solidFill>
            <a:miter/>
          </a:ln>
        </p:spPr>
      </p:sp>
      <p:sp>
        <p:nvSpPr>
          <p:cNvPr id="1597" name="任意多边形 1596"/>
          <p:cNvSpPr/>
          <p:nvPr/>
        </p:nvSpPr>
        <p:spPr>
          <a:xfrm>
            <a:off x="62680" y="705700"/>
            <a:ext cx="518000" cy="217000"/>
          </a:xfrm>
          <a:custGeom>
            <a:avLst/>
            <a:gdLst>
              <a:gd name="connsiteX0" fmla="*/ 0 w 518000"/>
              <a:gd name="connsiteY0" fmla="*/ 108500 h 217000"/>
              <a:gd name="connsiteX1" fmla="*/ 259000 w 518000"/>
              <a:gd name="connsiteY1" fmla="*/ 0 h 217000"/>
              <a:gd name="connsiteX2" fmla="*/ 518000 w 518000"/>
              <a:gd name="connsiteY2" fmla="*/ 108500 h 217000"/>
              <a:gd name="connsiteX3" fmla="*/ 259000 w 518000"/>
              <a:gd name="connsiteY3" fmla="*/ 217000 h 217000"/>
              <a:gd name="rtl" fmla="*/ 8890000 w 518000"/>
              <a:gd name="rtt" fmla="*/ 2324000 h 217000"/>
              <a:gd name="rtr" fmla="*/ 9408000 w 518000"/>
              <a:gd name="rtb" fmla="*/ 2541000 h 217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0F172A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840" b="1" dirty="0">
                <a:solidFill>
                  <a:srgbClr val="0F172A"/>
                </a:solidFill>
                <a:latin typeface="Times New Roman Regular" panose="02020503050405090304" charset="0"/>
                <a:ea typeface="微软雅黑"/>
                <a:cs typeface="微软雅黑"/>
              </a:rPr>
              <a:t>能力边界</a:t>
            </a:r>
            <a:endParaRPr lang="zh-CN" altLang="en-US" sz="840" b="1" dirty="0">
              <a:solidFill>
                <a:srgbClr val="0F172A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98" name="任意多边形 1597"/>
          <p:cNvSpPr/>
          <p:nvPr/>
        </p:nvSpPr>
        <p:spPr>
          <a:xfrm>
            <a:off x="62680" y="705700"/>
            <a:ext cx="490000" cy="210000"/>
          </a:xfrm>
          <a:custGeom>
            <a:avLst/>
            <a:gdLst>
              <a:gd name="connsiteX0" fmla="*/ 0 w 490000"/>
              <a:gd name="connsiteY0" fmla="*/ 105000 h 210000"/>
              <a:gd name="connsiteX1" fmla="*/ 245000 w 490000"/>
              <a:gd name="connsiteY1" fmla="*/ 0 h 210000"/>
              <a:gd name="connsiteX2" fmla="*/ 490000 w 490000"/>
              <a:gd name="connsiteY2" fmla="*/ 105000 h 210000"/>
              <a:gd name="connsiteX3" fmla="*/ 245000 w 490000"/>
              <a:gd name="connsiteY3" fmla="*/ 210000 h 210000"/>
              <a:gd name="rtl" fmla="*/ 9660000 w 490000"/>
              <a:gd name="rtt" fmla="*/ 2331000 h 210000"/>
              <a:gd name="rtr" fmla="*/ 10150000 w 490000"/>
              <a:gd name="rtb" fmla="*/ 2541000 h 210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64748B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90" dirty="0">
                <a:solidFill>
                  <a:srgbClr val="64748B"/>
                </a:solidFill>
                <a:latin typeface="Times New Roman Regular" panose="02020503050405090304" charset="0"/>
                <a:ea typeface="微软雅黑"/>
                <a:cs typeface="微软雅黑"/>
              </a:rPr>
              <a:t>局部扰动</a:t>
            </a:r>
            <a:endParaRPr lang="zh-CN" altLang="en-US" sz="790" dirty="0">
              <a:solidFill>
                <a:srgbClr val="64748B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599" name="任意多边形 1598"/>
          <p:cNvSpPr/>
          <p:nvPr/>
        </p:nvSpPr>
        <p:spPr>
          <a:xfrm>
            <a:off x="10240680" y="3148700"/>
            <a:ext cx="175000" cy="7000"/>
          </a:xfrm>
          <a:custGeom>
            <a:avLst/>
            <a:gdLst/>
            <a:ahLst/>
            <a:cxnLst/>
            <a:rect l="l" t="t" r="r" b="b"/>
            <a:pathLst>
              <a:path w="175000" h="7000" fill="none">
                <a:moveTo>
                  <a:pt x="0" y="0"/>
                </a:moveTo>
                <a:lnTo>
                  <a:pt x="175000" y="0"/>
                </a:lnTo>
              </a:path>
            </a:pathLst>
          </a:custGeom>
          <a:noFill/>
          <a:ln w="7000" cap="flat">
            <a:solidFill>
              <a:srgbClr val="000000"/>
            </a:solidFill>
            <a:miter/>
          </a:ln>
        </p:spPr>
      </p:sp>
      <p:sp>
        <p:nvSpPr>
          <p:cNvPr id="1600" name="任意多边形 1599"/>
          <p:cNvSpPr/>
          <p:nvPr/>
        </p:nvSpPr>
        <p:spPr>
          <a:xfrm>
            <a:off x="10380680" y="3120700"/>
            <a:ext cx="70000" cy="56000"/>
          </a:xfrm>
          <a:custGeom>
            <a:avLst/>
            <a:gdLst/>
            <a:ahLst/>
            <a:cxnLst/>
            <a:rect l="l" t="t" r="r" b="b"/>
            <a:pathLst>
              <a:path w="70000" h="56000" stroke="0">
                <a:moveTo>
                  <a:pt x="0" y="0"/>
                </a:moveTo>
                <a:lnTo>
                  <a:pt x="70000" y="28000"/>
                </a:lnTo>
                <a:lnTo>
                  <a:pt x="0" y="56000"/>
                </a:lnTo>
                <a:lnTo>
                  <a:pt x="0" y="0"/>
                </a:lnTo>
                <a:close/>
              </a:path>
              <a:path w="70000" h="56000" fill="none">
                <a:moveTo>
                  <a:pt x="0" y="0"/>
                </a:moveTo>
                <a:lnTo>
                  <a:pt x="70000" y="28000"/>
                </a:lnTo>
                <a:lnTo>
                  <a:pt x="0" y="560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 w="7000" cap="flat">
            <a:noFill/>
            <a:miter/>
          </a:ln>
        </p:spPr>
      </p:sp>
      <p:sp>
        <p:nvSpPr>
          <p:cNvPr id="1602" name="任意多边形 1601"/>
          <p:cNvSpPr/>
          <p:nvPr/>
        </p:nvSpPr>
        <p:spPr>
          <a:xfrm>
            <a:off x="62680" y="705700"/>
            <a:ext cx="490000" cy="210000"/>
          </a:xfrm>
          <a:custGeom>
            <a:avLst/>
            <a:gdLst>
              <a:gd name="connsiteX0" fmla="*/ 0 w 490000"/>
              <a:gd name="connsiteY0" fmla="*/ 105000 h 210000"/>
              <a:gd name="connsiteX1" fmla="*/ 245000 w 490000"/>
              <a:gd name="connsiteY1" fmla="*/ 0 h 210000"/>
              <a:gd name="connsiteX2" fmla="*/ 490000 w 490000"/>
              <a:gd name="connsiteY2" fmla="*/ 105000 h 210000"/>
              <a:gd name="connsiteX3" fmla="*/ 245000 w 490000"/>
              <a:gd name="connsiteY3" fmla="*/ 210000 h 210000"/>
              <a:gd name="rtl" fmla="*/ 10570000 w 490000"/>
              <a:gd name="rtt" fmla="*/ 2331000 h 210000"/>
              <a:gd name="rtr" fmla="*/ 11060000 w 490000"/>
              <a:gd name="rtb" fmla="*/ 2541000 h 210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2563EB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90" b="1" dirty="0">
                <a:solidFill>
                  <a:srgbClr val="2563EB"/>
                </a:solidFill>
                <a:latin typeface="Times New Roman Regular" panose="02020503050405090304" charset="0"/>
                <a:ea typeface="微软雅黑"/>
                <a:cs typeface="微软雅黑"/>
              </a:rPr>
              <a:t>全局探索</a:t>
            </a:r>
            <a:endParaRPr lang="zh-CN" altLang="en-US" sz="790" b="1" dirty="0">
              <a:solidFill>
                <a:srgbClr val="2563EB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605" name="任意多边形 1604"/>
          <p:cNvSpPr/>
          <p:nvPr/>
        </p:nvSpPr>
        <p:spPr>
          <a:xfrm>
            <a:off x="8665680" y="3638700"/>
            <a:ext cx="3150000" cy="2520000"/>
          </a:xfrm>
          <a:custGeom>
            <a:avLst/>
            <a:gdLst/>
            <a:ahLst/>
            <a:cxnLst/>
            <a:rect l="l" t="t" r="r" b="b"/>
            <a:pathLst>
              <a:path w="3150000" h="2520000" stroke="0">
                <a:moveTo>
                  <a:pt x="0" y="168000"/>
                </a:moveTo>
                <a:cubicBezTo>
                  <a:pt x="0" y="75216"/>
                  <a:pt x="75216" y="0"/>
                  <a:pt x="168000" y="0"/>
                </a:cubicBezTo>
                <a:lnTo>
                  <a:pt x="2982000" y="0"/>
                </a:lnTo>
                <a:cubicBezTo>
                  <a:pt x="3074784" y="0"/>
                  <a:pt x="3150000" y="75216"/>
                  <a:pt x="3150000" y="168000"/>
                </a:cubicBezTo>
                <a:lnTo>
                  <a:pt x="3150000" y="2352000"/>
                </a:lnTo>
                <a:cubicBezTo>
                  <a:pt x="3150000" y="2444784"/>
                  <a:pt x="3074784" y="2520000"/>
                  <a:pt x="2982000" y="2520000"/>
                </a:cubicBezTo>
                <a:lnTo>
                  <a:pt x="168000" y="2520000"/>
                </a:lnTo>
                <a:cubicBezTo>
                  <a:pt x="75216" y="2520000"/>
                  <a:pt x="0" y="2444784"/>
                  <a:pt x="0" y="2352000"/>
                </a:cubicBezTo>
                <a:lnTo>
                  <a:pt x="0" y="168000"/>
                </a:lnTo>
                <a:close/>
              </a:path>
              <a:path w="3150000" h="2520000" fill="none">
                <a:moveTo>
                  <a:pt x="0" y="168000"/>
                </a:moveTo>
                <a:cubicBezTo>
                  <a:pt x="0" y="75216"/>
                  <a:pt x="75216" y="0"/>
                  <a:pt x="168000" y="0"/>
                </a:cubicBezTo>
                <a:lnTo>
                  <a:pt x="2982000" y="0"/>
                </a:lnTo>
                <a:cubicBezTo>
                  <a:pt x="3074784" y="0"/>
                  <a:pt x="3150000" y="75216"/>
                  <a:pt x="3150000" y="168000"/>
                </a:cubicBezTo>
                <a:lnTo>
                  <a:pt x="3150000" y="2352000"/>
                </a:lnTo>
                <a:cubicBezTo>
                  <a:pt x="3150000" y="2444784"/>
                  <a:pt x="3074784" y="2520000"/>
                  <a:pt x="2982000" y="2520000"/>
                </a:cubicBezTo>
                <a:lnTo>
                  <a:pt x="168000" y="2520000"/>
                </a:lnTo>
                <a:cubicBezTo>
                  <a:pt x="75216" y="2520000"/>
                  <a:pt x="0" y="2444784"/>
                  <a:pt x="0" y="2352000"/>
                </a:cubicBezTo>
                <a:lnTo>
                  <a:pt x="0" y="168000"/>
                </a:lnTo>
                <a:close/>
              </a:path>
            </a:pathLst>
          </a:custGeom>
          <a:solidFill>
            <a:srgbClr val="0F172A"/>
          </a:solidFill>
          <a:ln w="7000" cap="flat">
            <a:noFill/>
            <a:miter/>
          </a:ln>
        </p:spPr>
      </p:sp>
      <p:sp>
        <p:nvSpPr>
          <p:cNvPr id="1606" name="任意多边形 1605"/>
          <p:cNvSpPr/>
          <p:nvPr/>
        </p:nvSpPr>
        <p:spPr>
          <a:xfrm>
            <a:off x="62680" y="705700"/>
            <a:ext cx="1470000" cy="273000"/>
          </a:xfrm>
          <a:custGeom>
            <a:avLst/>
            <a:gdLst>
              <a:gd name="connsiteX0" fmla="*/ 0 w 1470000"/>
              <a:gd name="connsiteY0" fmla="*/ 136500 h 273000"/>
              <a:gd name="connsiteX1" fmla="*/ 735000 w 1470000"/>
              <a:gd name="connsiteY1" fmla="*/ 0 h 273000"/>
              <a:gd name="connsiteX2" fmla="*/ 1470000 w 1470000"/>
              <a:gd name="connsiteY2" fmla="*/ 136500 h 273000"/>
              <a:gd name="connsiteX3" fmla="*/ 735000 w 1470000"/>
              <a:gd name="connsiteY3" fmla="*/ 273000 h 273000"/>
              <a:gd name="rtl" fmla="*/ 9443000 w 1470000"/>
              <a:gd name="rtt" fmla="*/ 3017000 h 273000"/>
              <a:gd name="rtr" fmla="*/ 10913000 w 1470000"/>
              <a:gd name="rtb" fmla="*/ 3290000 h 27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FFFF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1050" b="1" dirty="0">
                <a:solidFill>
                  <a:srgbClr val="FFFFFF"/>
                </a:solidFill>
                <a:latin typeface="Times New Roman Regular" panose="02020503050405090304" charset="0"/>
                <a:ea typeface="微软雅黑"/>
                <a:cs typeface="微软雅黑"/>
              </a:rPr>
              <a:t>性能边界突破对比示意</a:t>
            </a:r>
            <a:endParaRPr lang="zh-CN" altLang="en-US" sz="1050" b="1" dirty="0">
              <a:solidFill>
                <a:srgbClr val="FFFFFF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607" name="任意多边形 1606"/>
          <p:cNvSpPr/>
          <p:nvPr/>
        </p:nvSpPr>
        <p:spPr>
          <a:xfrm>
            <a:off x="8945680" y="4023700"/>
            <a:ext cx="2590000" cy="7000"/>
          </a:xfrm>
          <a:custGeom>
            <a:avLst/>
            <a:gdLst/>
            <a:ahLst/>
            <a:cxnLst/>
            <a:rect l="l" t="t" r="r" b="b"/>
            <a:pathLst>
              <a:path w="2590000" h="7000" fill="none">
                <a:moveTo>
                  <a:pt x="0" y="0"/>
                </a:moveTo>
                <a:lnTo>
                  <a:pt x="2590000" y="0"/>
                </a:lnTo>
              </a:path>
            </a:pathLst>
          </a:custGeom>
          <a:solidFill>
            <a:srgbClr val="000000"/>
          </a:solidFill>
          <a:ln w="7000" cap="flat">
            <a:solidFill>
              <a:srgbClr val="334155"/>
            </a:solidFill>
            <a:miter/>
          </a:ln>
        </p:spPr>
      </p:sp>
      <p:sp>
        <p:nvSpPr>
          <p:cNvPr id="1608" name="任意多边形 1607"/>
          <p:cNvSpPr/>
          <p:nvPr/>
        </p:nvSpPr>
        <p:spPr>
          <a:xfrm>
            <a:off x="9260680" y="4198700"/>
            <a:ext cx="1960000" cy="1960000"/>
          </a:xfrm>
          <a:custGeom>
            <a:avLst/>
            <a:gdLst/>
            <a:ahLst/>
            <a:cxnLst/>
            <a:rect l="l" t="t" r="r" b="b"/>
            <a:pathLst>
              <a:path w="1960000" h="1960000" stroke="0">
                <a:moveTo>
                  <a:pt x="1960000" y="980000"/>
                </a:moveTo>
                <a:cubicBezTo>
                  <a:pt x="1960000" y="1521239"/>
                  <a:pt x="1521239" y="1960000"/>
                  <a:pt x="980000" y="1960000"/>
                </a:cubicBezTo>
                <a:cubicBezTo>
                  <a:pt x="438761" y="1960000"/>
                  <a:pt x="0" y="1521239"/>
                  <a:pt x="0" y="980000"/>
                </a:cubicBezTo>
                <a:cubicBezTo>
                  <a:pt x="0" y="438761"/>
                  <a:pt x="438761" y="0"/>
                  <a:pt x="980000" y="0"/>
                </a:cubicBezTo>
                <a:cubicBezTo>
                  <a:pt x="1521239" y="0"/>
                  <a:pt x="1960000" y="438761"/>
                  <a:pt x="1960000" y="980000"/>
                </a:cubicBezTo>
                <a:close/>
              </a:path>
              <a:path w="1960000" h="1960000" fill="none">
                <a:moveTo>
                  <a:pt x="1960000" y="980000"/>
                </a:moveTo>
                <a:cubicBezTo>
                  <a:pt x="1960000" y="1521239"/>
                  <a:pt x="1521239" y="1960000"/>
                  <a:pt x="980000" y="1960000"/>
                </a:cubicBezTo>
                <a:cubicBezTo>
                  <a:pt x="438761" y="1960000"/>
                  <a:pt x="0" y="1521239"/>
                  <a:pt x="0" y="980000"/>
                </a:cubicBezTo>
                <a:cubicBezTo>
                  <a:pt x="0" y="438761"/>
                  <a:pt x="438761" y="0"/>
                  <a:pt x="980000" y="0"/>
                </a:cubicBezTo>
                <a:cubicBezTo>
                  <a:pt x="1521239" y="0"/>
                  <a:pt x="1960000" y="438761"/>
                  <a:pt x="1960000" y="980000"/>
                </a:cubicBezTo>
                <a:close/>
              </a:path>
            </a:pathLst>
          </a:custGeom>
          <a:noFill/>
          <a:ln w="7000" cap="flat">
            <a:solidFill>
              <a:srgbClr val="64748B">
                <a:alpha val="20000"/>
              </a:srgbClr>
            </a:solidFill>
            <a:miter/>
          </a:ln>
        </p:spPr>
      </p:sp>
      <p:sp>
        <p:nvSpPr>
          <p:cNvPr id="1609" name="任意多边形 1608"/>
          <p:cNvSpPr/>
          <p:nvPr/>
        </p:nvSpPr>
        <p:spPr>
          <a:xfrm>
            <a:off x="9540680" y="4478700"/>
            <a:ext cx="1400000" cy="1400000"/>
          </a:xfrm>
          <a:custGeom>
            <a:avLst/>
            <a:gdLst/>
            <a:ahLst/>
            <a:cxnLst/>
            <a:rect l="l" t="t" r="r" b="b"/>
            <a:pathLst>
              <a:path w="1400000" h="1400000" stroke="0">
                <a:moveTo>
                  <a:pt x="1400000" y="700000"/>
                </a:moveTo>
                <a:cubicBezTo>
                  <a:pt x="1400000" y="1086599"/>
                  <a:pt x="1086599" y="1400000"/>
                  <a:pt x="700000" y="1400000"/>
                </a:cubicBezTo>
                <a:cubicBezTo>
                  <a:pt x="313401" y="1400000"/>
                  <a:pt x="0" y="1086599"/>
                  <a:pt x="0" y="700000"/>
                </a:cubicBezTo>
                <a:cubicBezTo>
                  <a:pt x="0" y="313401"/>
                  <a:pt x="313401" y="0"/>
                  <a:pt x="700000" y="0"/>
                </a:cubicBezTo>
                <a:cubicBezTo>
                  <a:pt x="1086599" y="0"/>
                  <a:pt x="1400000" y="313401"/>
                  <a:pt x="1400000" y="700000"/>
                </a:cubicBezTo>
                <a:close/>
              </a:path>
              <a:path w="1400000" h="1400000" fill="none">
                <a:moveTo>
                  <a:pt x="1400000" y="700000"/>
                </a:moveTo>
                <a:cubicBezTo>
                  <a:pt x="1400000" y="1086599"/>
                  <a:pt x="1086599" y="1400000"/>
                  <a:pt x="700000" y="1400000"/>
                </a:cubicBezTo>
                <a:cubicBezTo>
                  <a:pt x="313401" y="1400000"/>
                  <a:pt x="0" y="1086599"/>
                  <a:pt x="0" y="700000"/>
                </a:cubicBezTo>
                <a:cubicBezTo>
                  <a:pt x="0" y="313401"/>
                  <a:pt x="313401" y="0"/>
                  <a:pt x="700000" y="0"/>
                </a:cubicBezTo>
                <a:cubicBezTo>
                  <a:pt x="1086599" y="0"/>
                  <a:pt x="1400000" y="313401"/>
                  <a:pt x="1400000" y="700000"/>
                </a:cubicBezTo>
                <a:close/>
              </a:path>
            </a:pathLst>
          </a:custGeom>
          <a:noFill/>
          <a:ln w="7000" cap="flat">
            <a:solidFill>
              <a:srgbClr val="64748B">
                <a:alpha val="20000"/>
              </a:srgbClr>
            </a:solidFill>
            <a:miter/>
          </a:ln>
        </p:spPr>
      </p:sp>
      <p:sp>
        <p:nvSpPr>
          <p:cNvPr id="1610" name="任意多边形 1609"/>
          <p:cNvSpPr/>
          <p:nvPr/>
        </p:nvSpPr>
        <p:spPr>
          <a:xfrm>
            <a:off x="9190680" y="4128700"/>
            <a:ext cx="2100000" cy="2100000"/>
          </a:xfrm>
          <a:custGeom>
            <a:avLst/>
            <a:gdLst/>
            <a:ahLst/>
            <a:cxnLst/>
            <a:rect l="l" t="t" r="r" b="b"/>
            <a:pathLst>
              <a:path w="2100000" h="2100000" stroke="0">
                <a:moveTo>
                  <a:pt x="0" y="1050000"/>
                </a:moveTo>
                <a:lnTo>
                  <a:pt x="2100000" y="1050000"/>
                </a:lnTo>
                <a:moveTo>
                  <a:pt x="1050000" y="0"/>
                </a:moveTo>
                <a:lnTo>
                  <a:pt x="1050000" y="2100000"/>
                </a:lnTo>
                <a:moveTo>
                  <a:pt x="308000" y="308000"/>
                </a:moveTo>
                <a:lnTo>
                  <a:pt x="1792000" y="1792000"/>
                </a:lnTo>
                <a:moveTo>
                  <a:pt x="308000" y="1792000"/>
                </a:moveTo>
                <a:lnTo>
                  <a:pt x="1792000" y="308000"/>
                </a:lnTo>
              </a:path>
              <a:path w="2100000" h="2100000" fill="none">
                <a:moveTo>
                  <a:pt x="0" y="1050000"/>
                </a:moveTo>
                <a:lnTo>
                  <a:pt x="2100000" y="1050000"/>
                </a:lnTo>
                <a:moveTo>
                  <a:pt x="1050000" y="0"/>
                </a:moveTo>
                <a:lnTo>
                  <a:pt x="1050000" y="2100000"/>
                </a:lnTo>
                <a:moveTo>
                  <a:pt x="308000" y="308000"/>
                </a:moveTo>
                <a:lnTo>
                  <a:pt x="1792000" y="1792000"/>
                </a:lnTo>
                <a:moveTo>
                  <a:pt x="308000" y="1792000"/>
                </a:moveTo>
                <a:lnTo>
                  <a:pt x="1792000" y="308000"/>
                </a:lnTo>
              </a:path>
            </a:pathLst>
          </a:custGeom>
          <a:solidFill>
            <a:srgbClr val="000000">
              <a:alpha val="20000"/>
            </a:srgbClr>
          </a:solidFill>
          <a:ln w="7000" cap="flat">
            <a:solidFill>
              <a:srgbClr val="64748B">
                <a:alpha val="20000"/>
              </a:srgbClr>
            </a:solidFill>
            <a:miter/>
          </a:ln>
        </p:spPr>
      </p:sp>
      <p:sp>
        <p:nvSpPr>
          <p:cNvPr id="1612" name="任意多边形 1611"/>
          <p:cNvSpPr/>
          <p:nvPr/>
        </p:nvSpPr>
        <p:spPr>
          <a:xfrm>
            <a:off x="9750680" y="4688700"/>
            <a:ext cx="980000" cy="980000"/>
          </a:xfrm>
          <a:custGeom>
            <a:avLst/>
            <a:gdLst/>
            <a:ahLst/>
            <a:cxnLst/>
            <a:rect l="l" t="t" r="r" b="b"/>
            <a:pathLst>
              <a:path w="980000" h="980000" stroke="0">
                <a:moveTo>
                  <a:pt x="980000" y="490000"/>
                </a:moveTo>
                <a:cubicBezTo>
                  <a:pt x="980000" y="760620"/>
                  <a:pt x="760620" y="980000"/>
                  <a:pt x="490000" y="980000"/>
                </a:cubicBezTo>
                <a:cubicBezTo>
                  <a:pt x="219380" y="980000"/>
                  <a:pt x="0" y="760620"/>
                  <a:pt x="0" y="490000"/>
                </a:cubicBezTo>
                <a:cubicBezTo>
                  <a:pt x="0" y="219380"/>
                  <a:pt x="219380" y="0"/>
                  <a:pt x="490000" y="0"/>
                </a:cubicBezTo>
                <a:cubicBezTo>
                  <a:pt x="760620" y="0"/>
                  <a:pt x="980000" y="219380"/>
                  <a:pt x="980000" y="490000"/>
                </a:cubicBezTo>
                <a:close/>
              </a:path>
              <a:path w="980000" h="980000" fill="none">
                <a:moveTo>
                  <a:pt x="980000" y="490000"/>
                </a:moveTo>
                <a:cubicBezTo>
                  <a:pt x="980000" y="760620"/>
                  <a:pt x="760620" y="980000"/>
                  <a:pt x="490000" y="980000"/>
                </a:cubicBezTo>
                <a:cubicBezTo>
                  <a:pt x="219380" y="980000"/>
                  <a:pt x="0" y="760620"/>
                  <a:pt x="0" y="490000"/>
                </a:cubicBezTo>
                <a:cubicBezTo>
                  <a:pt x="0" y="219380"/>
                  <a:pt x="219380" y="0"/>
                  <a:pt x="490000" y="0"/>
                </a:cubicBezTo>
                <a:cubicBezTo>
                  <a:pt x="760620" y="0"/>
                  <a:pt x="980000" y="219380"/>
                  <a:pt x="980000" y="490000"/>
                </a:cubicBezTo>
                <a:close/>
              </a:path>
            </a:pathLst>
          </a:custGeom>
          <a:solidFill>
            <a:srgbClr val="1E293B"/>
          </a:solidFill>
          <a:ln w="21000" cap="flat">
            <a:solidFill>
              <a:srgbClr val="475569"/>
            </a:solidFill>
            <a:miter/>
          </a:ln>
        </p:spPr>
      </p:sp>
      <p:sp>
        <p:nvSpPr>
          <p:cNvPr id="1613" name="任意多边形 1612"/>
          <p:cNvSpPr/>
          <p:nvPr/>
        </p:nvSpPr>
        <p:spPr>
          <a:xfrm>
            <a:off x="9820680" y="4758700"/>
            <a:ext cx="840000" cy="840000"/>
          </a:xfrm>
          <a:custGeom>
            <a:avLst/>
            <a:gdLst/>
            <a:ahLst/>
            <a:cxnLst/>
            <a:rect l="l" t="t" r="r" b="b"/>
            <a:pathLst>
              <a:path w="840000" h="840000" stroke="0">
                <a:moveTo>
                  <a:pt x="840000" y="420000"/>
                </a:moveTo>
                <a:cubicBezTo>
                  <a:pt x="840000" y="651960"/>
                  <a:pt x="651960" y="840000"/>
                  <a:pt x="420000" y="840000"/>
                </a:cubicBezTo>
                <a:cubicBezTo>
                  <a:pt x="188040" y="840000"/>
                  <a:pt x="0" y="651960"/>
                  <a:pt x="0" y="420000"/>
                </a:cubicBezTo>
                <a:cubicBezTo>
                  <a:pt x="0" y="188040"/>
                  <a:pt x="188040" y="0"/>
                  <a:pt x="420000" y="0"/>
                </a:cubicBezTo>
                <a:cubicBezTo>
                  <a:pt x="651960" y="0"/>
                  <a:pt x="840000" y="188040"/>
                  <a:pt x="840000" y="420000"/>
                </a:cubicBezTo>
                <a:close/>
              </a:path>
              <a:path w="840000" h="840000" fill="none">
                <a:moveTo>
                  <a:pt x="840000" y="420000"/>
                </a:moveTo>
                <a:cubicBezTo>
                  <a:pt x="840000" y="651960"/>
                  <a:pt x="651960" y="840000"/>
                  <a:pt x="420000" y="840000"/>
                </a:cubicBezTo>
                <a:cubicBezTo>
                  <a:pt x="188040" y="840000"/>
                  <a:pt x="0" y="651960"/>
                  <a:pt x="0" y="420000"/>
                </a:cubicBezTo>
                <a:cubicBezTo>
                  <a:pt x="0" y="188040"/>
                  <a:pt x="188040" y="0"/>
                  <a:pt x="420000" y="0"/>
                </a:cubicBezTo>
                <a:cubicBezTo>
                  <a:pt x="651960" y="0"/>
                  <a:pt x="840000" y="188040"/>
                  <a:pt x="840000" y="420000"/>
                </a:cubicBezTo>
                <a:close/>
              </a:path>
            </a:pathLst>
          </a:custGeom>
          <a:solidFill>
            <a:srgbClr val="334155"/>
          </a:solidFill>
          <a:ln w="7000" cap="flat">
            <a:noFill/>
            <a:miter/>
          </a:ln>
        </p:spPr>
      </p:sp>
      <p:sp>
        <p:nvSpPr>
          <p:cNvPr id="1614" name="任意多边形 1613"/>
          <p:cNvSpPr/>
          <p:nvPr/>
        </p:nvSpPr>
        <p:spPr>
          <a:xfrm>
            <a:off x="62680" y="705700"/>
            <a:ext cx="560000" cy="203000"/>
          </a:xfrm>
          <a:custGeom>
            <a:avLst/>
            <a:gdLst>
              <a:gd name="connsiteX0" fmla="*/ 0 w 560000"/>
              <a:gd name="connsiteY0" fmla="*/ 101500 h 203000"/>
              <a:gd name="connsiteX1" fmla="*/ 280000 w 560000"/>
              <a:gd name="connsiteY1" fmla="*/ 0 h 203000"/>
              <a:gd name="connsiteX2" fmla="*/ 560000 w 560000"/>
              <a:gd name="connsiteY2" fmla="*/ 101500 h 203000"/>
              <a:gd name="connsiteX3" fmla="*/ 280000 w 560000"/>
              <a:gd name="connsiteY3" fmla="*/ 203000 h 203000"/>
              <a:gd name="rtl" fmla="*/ 9898000 w 560000"/>
              <a:gd name="rtt" fmla="*/ 4368000 h 203000"/>
              <a:gd name="rtr" fmla="*/ 10458000 w 560000"/>
              <a:gd name="rtb" fmla="*/ 4571000 h 203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94A3B8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735" b="1" dirty="0">
                <a:solidFill>
                  <a:srgbClr val="94A3B8"/>
                </a:solidFill>
                <a:latin typeface="Times New Roman Regular" panose="02020503050405090304" charset="0"/>
                <a:ea typeface="微软雅黑"/>
                <a:cs typeface="微软雅黑"/>
              </a:rPr>
              <a:t>已知性能圈</a:t>
            </a:r>
            <a:endParaRPr lang="zh-CN" altLang="en-US" sz="735" b="1" dirty="0">
              <a:solidFill>
                <a:srgbClr val="94A3B8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615" name="任意多边形 1614"/>
          <p:cNvSpPr/>
          <p:nvPr/>
        </p:nvSpPr>
        <p:spPr>
          <a:xfrm>
            <a:off x="9715680" y="4653700"/>
            <a:ext cx="315000" cy="315000"/>
          </a:xfrm>
          <a:custGeom>
            <a:avLst/>
            <a:gdLst/>
            <a:ahLst/>
            <a:cxnLst/>
            <a:rect l="l" t="t" r="r" b="b"/>
            <a:pathLst>
              <a:path w="315000" h="315000" fill="none">
                <a:moveTo>
                  <a:pt x="315000" y="315000"/>
                </a:moveTo>
                <a:lnTo>
                  <a:pt x="0" y="0"/>
                </a:lnTo>
              </a:path>
            </a:pathLst>
          </a:custGeom>
          <a:noFill/>
          <a:ln w="7000" cap="flat">
            <a:solidFill>
              <a:srgbClr val="9B9B9B"/>
            </a:solidFill>
            <a:miter/>
          </a:ln>
        </p:spPr>
      </p:sp>
      <p:sp>
        <p:nvSpPr>
          <p:cNvPr id="1616" name="任意多边形 1615"/>
          <p:cNvSpPr/>
          <p:nvPr/>
        </p:nvSpPr>
        <p:spPr>
          <a:xfrm rot="-8100000">
            <a:off x="9588079" y="4542756"/>
            <a:ext cx="154326" cy="123461"/>
          </a:xfrm>
          <a:custGeom>
            <a:avLst/>
            <a:gdLst/>
            <a:ahLst/>
            <a:cxnLst/>
            <a:rect l="l" t="t" r="r" b="b"/>
            <a:pathLst>
              <a:path w="154326" h="123461" stroke="0">
                <a:moveTo>
                  <a:pt x="0" y="0"/>
                </a:moveTo>
                <a:lnTo>
                  <a:pt x="154326" y="61731"/>
                </a:lnTo>
                <a:lnTo>
                  <a:pt x="0" y="123461"/>
                </a:lnTo>
                <a:lnTo>
                  <a:pt x="0" y="0"/>
                </a:lnTo>
                <a:close/>
              </a:path>
              <a:path w="154326" h="123461" fill="none">
                <a:moveTo>
                  <a:pt x="0" y="0"/>
                </a:moveTo>
                <a:lnTo>
                  <a:pt x="154326" y="61731"/>
                </a:lnTo>
                <a:lnTo>
                  <a:pt x="0" y="123461"/>
                </a:lnTo>
                <a:lnTo>
                  <a:pt x="0" y="0"/>
                </a:lnTo>
                <a:close/>
              </a:path>
            </a:pathLst>
          </a:custGeom>
          <a:solidFill>
            <a:srgbClr val="64748B"/>
          </a:solidFill>
          <a:ln w="7000" cap="flat">
            <a:noFill/>
            <a:miter/>
          </a:ln>
        </p:spPr>
      </p:sp>
      <p:sp>
        <p:nvSpPr>
          <p:cNvPr id="1618" name="任意多边形 1617"/>
          <p:cNvSpPr/>
          <p:nvPr/>
        </p:nvSpPr>
        <p:spPr>
          <a:xfrm>
            <a:off x="9617680" y="4555700"/>
            <a:ext cx="56000" cy="56000"/>
          </a:xfrm>
          <a:custGeom>
            <a:avLst/>
            <a:gdLst/>
            <a:ahLst/>
            <a:cxnLst/>
            <a:rect l="l" t="t" r="r" b="b"/>
            <a:pathLst>
              <a:path w="56000" h="56000" stroke="0">
                <a:moveTo>
                  <a:pt x="56000" y="28000"/>
                </a:moveTo>
                <a:cubicBezTo>
                  <a:pt x="56000" y="43464"/>
                  <a:pt x="43464" y="56000"/>
                  <a:pt x="28000" y="56000"/>
                </a:cubicBezTo>
                <a:cubicBezTo>
                  <a:pt x="12536" y="56000"/>
                  <a:pt x="0" y="43464"/>
                  <a:pt x="0" y="28000"/>
                </a:cubicBezTo>
                <a:cubicBezTo>
                  <a:pt x="0" y="12536"/>
                  <a:pt x="12536" y="0"/>
                  <a:pt x="28000" y="0"/>
                </a:cubicBezTo>
                <a:cubicBezTo>
                  <a:pt x="43464" y="0"/>
                  <a:pt x="56000" y="12536"/>
                  <a:pt x="56000" y="28000"/>
                </a:cubicBezTo>
                <a:close/>
              </a:path>
              <a:path w="56000" h="56000" fill="none">
                <a:moveTo>
                  <a:pt x="56000" y="28000"/>
                </a:moveTo>
                <a:cubicBezTo>
                  <a:pt x="56000" y="43464"/>
                  <a:pt x="43464" y="56000"/>
                  <a:pt x="28000" y="56000"/>
                </a:cubicBezTo>
                <a:cubicBezTo>
                  <a:pt x="12536" y="56000"/>
                  <a:pt x="0" y="43464"/>
                  <a:pt x="0" y="28000"/>
                </a:cubicBezTo>
                <a:cubicBezTo>
                  <a:pt x="0" y="12536"/>
                  <a:pt x="12536" y="0"/>
                  <a:pt x="28000" y="0"/>
                </a:cubicBezTo>
                <a:cubicBezTo>
                  <a:pt x="43464" y="0"/>
                  <a:pt x="56000" y="12536"/>
                  <a:pt x="56000" y="28000"/>
                </a:cubicBezTo>
                <a:close/>
              </a:path>
            </a:pathLst>
          </a:custGeom>
          <a:solidFill>
            <a:srgbClr val="94A3B8"/>
          </a:solidFill>
          <a:ln w="7000" cap="flat">
            <a:noFill/>
            <a:miter/>
          </a:ln>
        </p:spPr>
      </p:sp>
      <p:sp>
        <p:nvSpPr>
          <p:cNvPr id="1619" name="任意多边形 1618"/>
          <p:cNvSpPr/>
          <p:nvPr/>
        </p:nvSpPr>
        <p:spPr>
          <a:xfrm>
            <a:off x="8980680" y="4443700"/>
            <a:ext cx="630000" cy="280000"/>
          </a:xfrm>
          <a:custGeom>
            <a:avLst/>
            <a:gdLst/>
            <a:ahLst/>
            <a:cxnLst/>
            <a:rect l="l" t="t" r="r" b="b"/>
            <a:pathLst>
              <a:path w="630000" h="280000" stroke="0">
                <a:moveTo>
                  <a:pt x="0" y="56000"/>
                </a:moveTo>
                <a:cubicBezTo>
                  <a:pt x="0" y="25072"/>
                  <a:pt x="25072" y="0"/>
                  <a:pt x="56000" y="0"/>
                </a:cubicBezTo>
                <a:lnTo>
                  <a:pt x="574000" y="0"/>
                </a:lnTo>
                <a:cubicBezTo>
                  <a:pt x="604928" y="0"/>
                  <a:pt x="630000" y="25072"/>
                  <a:pt x="630000" y="56000"/>
                </a:cubicBezTo>
                <a:lnTo>
                  <a:pt x="630000" y="224000"/>
                </a:lnTo>
                <a:cubicBezTo>
                  <a:pt x="630000" y="254928"/>
                  <a:pt x="604928" y="280000"/>
                  <a:pt x="574000" y="280000"/>
                </a:cubicBezTo>
                <a:lnTo>
                  <a:pt x="56000" y="280000"/>
                </a:lnTo>
                <a:cubicBezTo>
                  <a:pt x="25072" y="280000"/>
                  <a:pt x="0" y="254928"/>
                  <a:pt x="0" y="224000"/>
                </a:cubicBezTo>
                <a:lnTo>
                  <a:pt x="0" y="56000"/>
                </a:lnTo>
                <a:close/>
              </a:path>
              <a:path w="630000" h="280000" fill="none">
                <a:moveTo>
                  <a:pt x="0" y="56000"/>
                </a:moveTo>
                <a:cubicBezTo>
                  <a:pt x="0" y="25072"/>
                  <a:pt x="25072" y="0"/>
                  <a:pt x="56000" y="0"/>
                </a:cubicBezTo>
                <a:lnTo>
                  <a:pt x="574000" y="0"/>
                </a:lnTo>
                <a:cubicBezTo>
                  <a:pt x="604928" y="0"/>
                  <a:pt x="630000" y="25072"/>
                  <a:pt x="630000" y="56000"/>
                </a:cubicBezTo>
                <a:lnTo>
                  <a:pt x="630000" y="224000"/>
                </a:lnTo>
                <a:cubicBezTo>
                  <a:pt x="630000" y="254928"/>
                  <a:pt x="604928" y="280000"/>
                  <a:pt x="574000" y="280000"/>
                </a:cubicBezTo>
                <a:lnTo>
                  <a:pt x="56000" y="280000"/>
                </a:lnTo>
                <a:cubicBezTo>
                  <a:pt x="25072" y="280000"/>
                  <a:pt x="0" y="254928"/>
                  <a:pt x="0" y="224000"/>
                </a:cubicBezTo>
                <a:lnTo>
                  <a:pt x="0" y="56000"/>
                </a:lnTo>
                <a:close/>
              </a:path>
            </a:pathLst>
          </a:custGeom>
          <a:solidFill>
            <a:srgbClr val="1E293B"/>
          </a:solidFill>
          <a:ln w="7000" cap="flat">
            <a:solidFill>
              <a:srgbClr val="64748B"/>
            </a:solidFill>
            <a:miter/>
          </a:ln>
        </p:spPr>
      </p:sp>
      <p:sp>
        <p:nvSpPr>
          <p:cNvPr id="1620" name="任意多边形 1619"/>
          <p:cNvSpPr/>
          <p:nvPr/>
        </p:nvSpPr>
        <p:spPr>
          <a:xfrm>
            <a:off x="62680" y="705700"/>
            <a:ext cx="406000" cy="175000"/>
          </a:xfrm>
          <a:custGeom>
            <a:avLst/>
            <a:gdLst>
              <a:gd name="connsiteX0" fmla="*/ 0 w 406000"/>
              <a:gd name="connsiteY0" fmla="*/ 87500 h 175000"/>
              <a:gd name="connsiteX1" fmla="*/ 203000 w 406000"/>
              <a:gd name="connsiteY1" fmla="*/ 0 h 175000"/>
              <a:gd name="connsiteX2" fmla="*/ 406000 w 406000"/>
              <a:gd name="connsiteY2" fmla="*/ 87500 h 175000"/>
              <a:gd name="connsiteX3" fmla="*/ 203000 w 406000"/>
              <a:gd name="connsiteY3" fmla="*/ 175000 h 175000"/>
              <a:gd name="rtl" fmla="*/ 9046262 w 406000"/>
              <a:gd name="rtt" fmla="*/ 3738000 h 175000"/>
              <a:gd name="rtr" fmla="*/ 9452262 w 406000"/>
              <a:gd name="rtb" fmla="*/ 3913000 h 175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8FAFC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630" b="1" dirty="0">
                <a:solidFill>
                  <a:srgbClr val="F8FAFC"/>
                </a:solidFill>
                <a:latin typeface="Times New Roman Regular" panose="02020503050405090304" charset="0"/>
                <a:ea typeface="微软雅黑"/>
                <a:cs typeface="微软雅黑"/>
              </a:rPr>
              <a:t>传统模式</a:t>
            </a:r>
            <a:endParaRPr lang="zh-CN" altLang="en-US" sz="630" b="1" dirty="0">
              <a:solidFill>
                <a:srgbClr val="F8FAFC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621" name="任意多边形 1620"/>
          <p:cNvSpPr/>
          <p:nvPr/>
        </p:nvSpPr>
        <p:spPr>
          <a:xfrm>
            <a:off x="62680" y="705700"/>
            <a:ext cx="560000" cy="161000"/>
          </a:xfrm>
          <a:custGeom>
            <a:avLst/>
            <a:gdLst>
              <a:gd name="connsiteX0" fmla="*/ 0 w 560000"/>
              <a:gd name="connsiteY0" fmla="*/ 80500 h 161000"/>
              <a:gd name="connsiteX1" fmla="*/ 280000 w 560000"/>
              <a:gd name="connsiteY1" fmla="*/ 0 h 161000"/>
              <a:gd name="connsiteX2" fmla="*/ 560000 w 560000"/>
              <a:gd name="connsiteY2" fmla="*/ 80500 h 161000"/>
              <a:gd name="connsiteX3" fmla="*/ 280000 w 560000"/>
              <a:gd name="connsiteY3" fmla="*/ 161000 h 161000"/>
              <a:gd name="rtl" fmla="*/ 8969262 w 560000"/>
              <a:gd name="rtt" fmla="*/ 3850000 h 161000"/>
              <a:gd name="rtr" fmla="*/ 9529262 w 560000"/>
              <a:gd name="rtb" fmla="*/ 4011000 h 161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94A3B8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580" dirty="0">
                <a:solidFill>
                  <a:srgbClr val="94A3B8"/>
                </a:solidFill>
                <a:latin typeface="Times New Roman Regular" panose="02020503050405090304" charset="0"/>
                <a:ea typeface="微软雅黑"/>
                <a:cs typeface="Times New Roman Regular" panose="02020503050405090304" charset="0"/>
              </a:rPr>
              <a:t>局部/突破一点</a:t>
            </a:r>
            <a:endParaRPr lang="zh-CN" altLang="en-US" sz="580" dirty="0">
              <a:solidFill>
                <a:srgbClr val="94A3B8"/>
              </a:solidFill>
              <a:latin typeface="Times New Roman Regular" panose="02020503050405090304" charset="0"/>
              <a:ea typeface="微软雅黑"/>
              <a:cs typeface="Times New Roman Regular" panose="02020503050405090304" charset="0"/>
            </a:endParaRPr>
          </a:p>
        </p:txBody>
      </p:sp>
      <p:sp>
        <p:nvSpPr>
          <p:cNvPr id="1623" name="任意多边形 1622"/>
          <p:cNvSpPr/>
          <p:nvPr/>
        </p:nvSpPr>
        <p:spPr>
          <a:xfrm>
            <a:off x="10380680" y="4198700"/>
            <a:ext cx="840000" cy="840000"/>
          </a:xfrm>
          <a:custGeom>
            <a:avLst/>
            <a:gdLst/>
            <a:ahLst/>
            <a:cxnLst/>
            <a:rect l="l" t="t" r="r" b="b"/>
            <a:pathLst>
              <a:path w="840000" h="840000" stroke="0">
                <a:moveTo>
                  <a:pt x="140000" y="700000"/>
                </a:moveTo>
                <a:lnTo>
                  <a:pt x="840000" y="840000"/>
                </a:lnTo>
                <a:cubicBezTo>
                  <a:pt x="780955" y="402864"/>
                  <a:pt x="437136" y="59045"/>
                  <a:pt x="0" y="0"/>
                </a:cubicBezTo>
                <a:lnTo>
                  <a:pt x="140000" y="700000"/>
                </a:lnTo>
                <a:close/>
              </a:path>
              <a:path w="840000" h="840000" fill="none">
                <a:moveTo>
                  <a:pt x="140000" y="700000"/>
                </a:moveTo>
                <a:lnTo>
                  <a:pt x="840000" y="840000"/>
                </a:lnTo>
                <a:cubicBezTo>
                  <a:pt x="780955" y="402864"/>
                  <a:pt x="437136" y="59045"/>
                  <a:pt x="0" y="0"/>
                </a:cubicBezTo>
                <a:lnTo>
                  <a:pt x="140000" y="700000"/>
                </a:lnTo>
                <a:close/>
              </a:path>
            </a:pathLst>
          </a:custGeom>
          <a:gradFill>
            <a:gsLst>
              <a:gs pos="0">
                <a:srgbClr val="6366F1">
                  <a:alpha val="30000"/>
                </a:srgbClr>
              </a:gs>
              <a:gs pos="100000">
                <a:srgbClr val="8B5CF6">
                  <a:alpha val="30000"/>
                </a:srgbClr>
              </a:gs>
            </a:gsLst>
            <a:lin ang="2700000" scaled="0"/>
          </a:gradFill>
          <a:ln w="7000" cap="flat">
            <a:noFill/>
            <a:miter/>
          </a:ln>
        </p:spPr>
      </p:sp>
      <p:sp>
        <p:nvSpPr>
          <p:cNvPr id="1624" name="任意多边形 1623"/>
          <p:cNvSpPr/>
          <p:nvPr/>
        </p:nvSpPr>
        <p:spPr>
          <a:xfrm>
            <a:off x="10450680" y="4373700"/>
            <a:ext cx="595000" cy="595000"/>
          </a:xfrm>
          <a:custGeom>
            <a:avLst/>
            <a:gdLst/>
            <a:ahLst/>
            <a:cxnLst/>
            <a:rect l="l" t="t" r="r" b="b"/>
            <a:pathLst>
              <a:path w="595000" h="595000" fill="none">
                <a:moveTo>
                  <a:pt x="0" y="595000"/>
                </a:moveTo>
                <a:lnTo>
                  <a:pt x="595000" y="0"/>
                </a:lnTo>
              </a:path>
            </a:pathLst>
          </a:custGeom>
          <a:noFill/>
          <a:ln w="7000" cap="flat">
            <a:solidFill>
              <a:srgbClr val="9B9B9B"/>
            </a:solidFill>
            <a:miter/>
          </a:ln>
        </p:spPr>
      </p:sp>
      <p:sp>
        <p:nvSpPr>
          <p:cNvPr id="1625" name="任意多边形 1624"/>
          <p:cNvSpPr/>
          <p:nvPr/>
        </p:nvSpPr>
        <p:spPr>
          <a:xfrm rot="-2700000">
            <a:off x="10960488" y="4331955"/>
            <a:ext cx="145223" cy="116178"/>
          </a:xfrm>
          <a:custGeom>
            <a:avLst/>
            <a:gdLst/>
            <a:ahLst/>
            <a:cxnLst/>
            <a:rect l="l" t="t" r="r" b="b"/>
            <a:pathLst>
              <a:path w="145223" h="116178" stroke="0">
                <a:moveTo>
                  <a:pt x="0" y="0"/>
                </a:moveTo>
                <a:lnTo>
                  <a:pt x="145223" y="58089"/>
                </a:lnTo>
                <a:lnTo>
                  <a:pt x="0" y="116178"/>
                </a:lnTo>
                <a:lnTo>
                  <a:pt x="0" y="0"/>
                </a:lnTo>
                <a:close/>
              </a:path>
              <a:path w="145223" h="116178" fill="none">
                <a:moveTo>
                  <a:pt x="0" y="0"/>
                </a:moveTo>
                <a:lnTo>
                  <a:pt x="145223" y="58089"/>
                </a:lnTo>
                <a:lnTo>
                  <a:pt x="0" y="116178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 w="7000" cap="flat">
            <a:noFill/>
            <a:miter/>
          </a:ln>
        </p:spPr>
      </p:sp>
      <p:sp>
        <p:nvSpPr>
          <p:cNvPr id="1627" name="任意多边形 1626"/>
          <p:cNvSpPr/>
          <p:nvPr/>
        </p:nvSpPr>
        <p:spPr>
          <a:xfrm>
            <a:off x="11108680" y="4226700"/>
            <a:ext cx="84000" cy="84000"/>
          </a:xfrm>
          <a:custGeom>
            <a:avLst/>
            <a:gdLst/>
            <a:ahLst/>
            <a:cxnLst/>
            <a:rect l="l" t="t" r="r" b="b"/>
            <a:pathLst>
              <a:path w="84000" h="84000" stroke="0">
                <a:moveTo>
                  <a:pt x="84000" y="42000"/>
                </a:moveTo>
                <a:cubicBezTo>
                  <a:pt x="84000" y="65196"/>
                  <a:pt x="65196" y="84000"/>
                  <a:pt x="42000" y="84000"/>
                </a:cubicBezTo>
                <a:cubicBezTo>
                  <a:pt x="18804" y="84000"/>
                  <a:pt x="0" y="65196"/>
                  <a:pt x="0" y="42000"/>
                </a:cubicBezTo>
                <a:cubicBezTo>
                  <a:pt x="0" y="18804"/>
                  <a:pt x="18804" y="0"/>
                  <a:pt x="42000" y="0"/>
                </a:cubicBezTo>
                <a:cubicBezTo>
                  <a:pt x="65196" y="0"/>
                  <a:pt x="84000" y="18804"/>
                  <a:pt x="84000" y="42000"/>
                </a:cubicBezTo>
                <a:close/>
              </a:path>
              <a:path w="84000" h="84000" fill="none">
                <a:moveTo>
                  <a:pt x="84000" y="42000"/>
                </a:moveTo>
                <a:cubicBezTo>
                  <a:pt x="84000" y="65196"/>
                  <a:pt x="65196" y="84000"/>
                  <a:pt x="42000" y="84000"/>
                </a:cubicBezTo>
                <a:cubicBezTo>
                  <a:pt x="18804" y="84000"/>
                  <a:pt x="0" y="65196"/>
                  <a:pt x="0" y="42000"/>
                </a:cubicBezTo>
                <a:cubicBezTo>
                  <a:pt x="0" y="18804"/>
                  <a:pt x="18804" y="0"/>
                  <a:pt x="42000" y="0"/>
                </a:cubicBezTo>
                <a:cubicBezTo>
                  <a:pt x="65196" y="0"/>
                  <a:pt x="84000" y="18804"/>
                  <a:pt x="84000" y="42000"/>
                </a:cubicBezTo>
                <a:close/>
              </a:path>
            </a:pathLst>
          </a:custGeom>
          <a:solidFill>
            <a:srgbClr val="8B5CF6"/>
          </a:solidFill>
          <a:ln w="7000" cap="flat">
            <a:noFill/>
            <a:miter/>
          </a:ln>
        </p:spPr>
      </p:sp>
      <p:sp>
        <p:nvSpPr>
          <p:cNvPr id="1628" name="任意多边形 1627"/>
          <p:cNvSpPr/>
          <p:nvPr/>
        </p:nvSpPr>
        <p:spPr>
          <a:xfrm>
            <a:off x="10912680" y="4730700"/>
            <a:ext cx="56000" cy="56000"/>
          </a:xfrm>
          <a:custGeom>
            <a:avLst/>
            <a:gdLst/>
            <a:ahLst/>
            <a:cxnLst/>
            <a:rect l="l" t="t" r="r" b="b"/>
            <a:pathLst>
              <a:path w="56000" h="56000" stroke="0">
                <a:moveTo>
                  <a:pt x="56000" y="28000"/>
                </a:moveTo>
                <a:cubicBezTo>
                  <a:pt x="56000" y="43464"/>
                  <a:pt x="43464" y="56000"/>
                  <a:pt x="28000" y="56000"/>
                </a:cubicBezTo>
                <a:cubicBezTo>
                  <a:pt x="12536" y="56000"/>
                  <a:pt x="0" y="43464"/>
                  <a:pt x="0" y="28000"/>
                </a:cubicBezTo>
                <a:cubicBezTo>
                  <a:pt x="0" y="12536"/>
                  <a:pt x="12536" y="0"/>
                  <a:pt x="28000" y="0"/>
                </a:cubicBezTo>
                <a:cubicBezTo>
                  <a:pt x="43464" y="0"/>
                  <a:pt x="56000" y="12536"/>
                  <a:pt x="56000" y="28000"/>
                </a:cubicBezTo>
                <a:close/>
              </a:path>
              <a:path w="56000" h="56000" fill="none">
                <a:moveTo>
                  <a:pt x="56000" y="28000"/>
                </a:moveTo>
                <a:cubicBezTo>
                  <a:pt x="56000" y="43464"/>
                  <a:pt x="43464" y="56000"/>
                  <a:pt x="28000" y="56000"/>
                </a:cubicBezTo>
                <a:cubicBezTo>
                  <a:pt x="12536" y="56000"/>
                  <a:pt x="0" y="43464"/>
                  <a:pt x="0" y="28000"/>
                </a:cubicBezTo>
                <a:cubicBezTo>
                  <a:pt x="0" y="12536"/>
                  <a:pt x="12536" y="0"/>
                  <a:pt x="28000" y="0"/>
                </a:cubicBezTo>
                <a:cubicBezTo>
                  <a:pt x="43464" y="0"/>
                  <a:pt x="56000" y="12536"/>
                  <a:pt x="56000" y="28000"/>
                </a:cubicBezTo>
                <a:close/>
              </a:path>
            </a:pathLst>
          </a:custGeom>
          <a:solidFill>
            <a:srgbClr val="3B82F6"/>
          </a:solidFill>
          <a:ln w="7000" cap="flat">
            <a:noFill/>
            <a:miter/>
          </a:ln>
        </p:spPr>
      </p:sp>
      <p:sp>
        <p:nvSpPr>
          <p:cNvPr id="1629" name="任意多边形 1628"/>
          <p:cNvSpPr/>
          <p:nvPr/>
        </p:nvSpPr>
        <p:spPr>
          <a:xfrm>
            <a:off x="10632680" y="4450700"/>
            <a:ext cx="56000" cy="56000"/>
          </a:xfrm>
          <a:custGeom>
            <a:avLst/>
            <a:gdLst/>
            <a:ahLst/>
            <a:cxnLst/>
            <a:rect l="l" t="t" r="r" b="b"/>
            <a:pathLst>
              <a:path w="56000" h="56000" stroke="0">
                <a:moveTo>
                  <a:pt x="56000" y="28000"/>
                </a:moveTo>
                <a:cubicBezTo>
                  <a:pt x="56000" y="43464"/>
                  <a:pt x="43464" y="56000"/>
                  <a:pt x="28000" y="56000"/>
                </a:cubicBezTo>
                <a:cubicBezTo>
                  <a:pt x="12536" y="56000"/>
                  <a:pt x="0" y="43464"/>
                  <a:pt x="0" y="28000"/>
                </a:cubicBezTo>
                <a:cubicBezTo>
                  <a:pt x="0" y="12536"/>
                  <a:pt x="12536" y="0"/>
                  <a:pt x="28000" y="0"/>
                </a:cubicBezTo>
                <a:cubicBezTo>
                  <a:pt x="43464" y="0"/>
                  <a:pt x="56000" y="12536"/>
                  <a:pt x="56000" y="28000"/>
                </a:cubicBezTo>
                <a:close/>
              </a:path>
              <a:path w="56000" h="56000" fill="none">
                <a:moveTo>
                  <a:pt x="56000" y="28000"/>
                </a:moveTo>
                <a:cubicBezTo>
                  <a:pt x="56000" y="43464"/>
                  <a:pt x="43464" y="56000"/>
                  <a:pt x="28000" y="56000"/>
                </a:cubicBezTo>
                <a:cubicBezTo>
                  <a:pt x="12536" y="56000"/>
                  <a:pt x="0" y="43464"/>
                  <a:pt x="0" y="28000"/>
                </a:cubicBezTo>
                <a:cubicBezTo>
                  <a:pt x="0" y="12536"/>
                  <a:pt x="12536" y="0"/>
                  <a:pt x="28000" y="0"/>
                </a:cubicBezTo>
                <a:cubicBezTo>
                  <a:pt x="43464" y="0"/>
                  <a:pt x="56000" y="12536"/>
                  <a:pt x="56000" y="28000"/>
                </a:cubicBezTo>
                <a:close/>
              </a:path>
            </a:pathLst>
          </a:custGeom>
          <a:solidFill>
            <a:srgbClr val="3B82F6"/>
          </a:solidFill>
          <a:ln w="7000" cap="flat">
            <a:noFill/>
            <a:miter/>
          </a:ln>
        </p:spPr>
      </p:sp>
      <p:sp>
        <p:nvSpPr>
          <p:cNvPr id="1630" name="任意多边形 1629"/>
          <p:cNvSpPr/>
          <p:nvPr/>
        </p:nvSpPr>
        <p:spPr>
          <a:xfrm>
            <a:off x="10800680" y="4058700"/>
            <a:ext cx="735000" cy="280000"/>
          </a:xfrm>
          <a:custGeom>
            <a:avLst/>
            <a:gdLst/>
            <a:ahLst/>
            <a:cxnLst/>
            <a:rect l="l" t="t" r="r" b="b"/>
            <a:pathLst>
              <a:path w="735000" h="280000" stroke="0">
                <a:moveTo>
                  <a:pt x="0" y="56000"/>
                </a:moveTo>
                <a:cubicBezTo>
                  <a:pt x="0" y="25072"/>
                  <a:pt x="25072" y="0"/>
                  <a:pt x="56000" y="0"/>
                </a:cubicBezTo>
                <a:lnTo>
                  <a:pt x="679000" y="0"/>
                </a:lnTo>
                <a:cubicBezTo>
                  <a:pt x="709928" y="0"/>
                  <a:pt x="735000" y="25072"/>
                  <a:pt x="735000" y="56000"/>
                </a:cubicBezTo>
                <a:lnTo>
                  <a:pt x="735000" y="224000"/>
                </a:lnTo>
                <a:cubicBezTo>
                  <a:pt x="735000" y="254928"/>
                  <a:pt x="709928" y="280000"/>
                  <a:pt x="679000" y="280000"/>
                </a:cubicBezTo>
                <a:lnTo>
                  <a:pt x="56000" y="280000"/>
                </a:lnTo>
                <a:cubicBezTo>
                  <a:pt x="25072" y="280000"/>
                  <a:pt x="0" y="254928"/>
                  <a:pt x="0" y="224000"/>
                </a:cubicBezTo>
                <a:lnTo>
                  <a:pt x="0" y="56000"/>
                </a:lnTo>
                <a:close/>
              </a:path>
              <a:path w="735000" h="280000" fill="none">
                <a:moveTo>
                  <a:pt x="0" y="56000"/>
                </a:moveTo>
                <a:cubicBezTo>
                  <a:pt x="0" y="25072"/>
                  <a:pt x="25072" y="0"/>
                  <a:pt x="56000" y="0"/>
                </a:cubicBezTo>
                <a:lnTo>
                  <a:pt x="679000" y="0"/>
                </a:lnTo>
                <a:cubicBezTo>
                  <a:pt x="709928" y="0"/>
                  <a:pt x="735000" y="25072"/>
                  <a:pt x="735000" y="56000"/>
                </a:cubicBezTo>
                <a:lnTo>
                  <a:pt x="735000" y="224000"/>
                </a:lnTo>
                <a:cubicBezTo>
                  <a:pt x="735000" y="254928"/>
                  <a:pt x="709928" y="280000"/>
                  <a:pt x="679000" y="280000"/>
                </a:cubicBezTo>
                <a:lnTo>
                  <a:pt x="56000" y="280000"/>
                </a:lnTo>
                <a:cubicBezTo>
                  <a:pt x="25072" y="280000"/>
                  <a:pt x="0" y="254928"/>
                  <a:pt x="0" y="224000"/>
                </a:cubicBezTo>
                <a:lnTo>
                  <a:pt x="0" y="56000"/>
                </a:lnTo>
                <a:close/>
              </a:path>
            </a:pathLst>
          </a:custGeom>
          <a:solidFill>
            <a:srgbClr val="312E81"/>
          </a:solidFill>
          <a:ln w="7000" cap="flat">
            <a:solidFill>
              <a:srgbClr val="6366F1"/>
            </a:solidFill>
            <a:miter/>
          </a:ln>
        </p:spPr>
      </p:sp>
      <p:sp>
        <p:nvSpPr>
          <p:cNvPr id="1631" name="任意多边形 1630"/>
          <p:cNvSpPr/>
          <p:nvPr/>
        </p:nvSpPr>
        <p:spPr>
          <a:xfrm>
            <a:off x="62680" y="705700"/>
            <a:ext cx="490000" cy="175000"/>
          </a:xfrm>
          <a:custGeom>
            <a:avLst/>
            <a:gdLst>
              <a:gd name="connsiteX0" fmla="*/ 0 w 490000"/>
              <a:gd name="connsiteY0" fmla="*/ 87500 h 175000"/>
              <a:gd name="connsiteX1" fmla="*/ 245000 w 490000"/>
              <a:gd name="connsiteY1" fmla="*/ 0 h 175000"/>
              <a:gd name="connsiteX2" fmla="*/ 490000 w 490000"/>
              <a:gd name="connsiteY2" fmla="*/ 87500 h 175000"/>
              <a:gd name="connsiteX3" fmla="*/ 245000 w 490000"/>
              <a:gd name="connsiteY3" fmla="*/ 175000 h 175000"/>
              <a:gd name="rtl" fmla="*/ 10857000 w 490000"/>
              <a:gd name="rtt" fmla="*/ 3339000 h 175000"/>
              <a:gd name="rtr" fmla="*/ 11347000 w 490000"/>
              <a:gd name="rtb" fmla="*/ 3514000 h 175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FFFFFF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630" b="1" dirty="0">
                <a:solidFill>
                  <a:srgbClr val="FFFFFF"/>
                </a:solidFill>
                <a:latin typeface="Times New Roman Regular" panose="02020503050405090304" charset="0"/>
                <a:ea typeface="微软雅黑"/>
                <a:cs typeface="微软雅黑"/>
              </a:rPr>
              <a:t>智能体模式</a:t>
            </a:r>
            <a:endParaRPr lang="zh-CN" altLang="en-US" sz="630" b="1" dirty="0">
              <a:solidFill>
                <a:srgbClr val="FFFFFF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</p:txBody>
      </p:sp>
      <p:sp>
        <p:nvSpPr>
          <p:cNvPr id="1632" name="任意多边形 1631"/>
          <p:cNvSpPr/>
          <p:nvPr/>
        </p:nvSpPr>
        <p:spPr>
          <a:xfrm>
            <a:off x="62680" y="705700"/>
            <a:ext cx="560000" cy="161000"/>
          </a:xfrm>
          <a:custGeom>
            <a:avLst/>
            <a:gdLst>
              <a:gd name="connsiteX0" fmla="*/ 0 w 560000"/>
              <a:gd name="connsiteY0" fmla="*/ 80500 h 161000"/>
              <a:gd name="connsiteX1" fmla="*/ 280000 w 560000"/>
              <a:gd name="connsiteY1" fmla="*/ 0 h 161000"/>
              <a:gd name="connsiteX2" fmla="*/ 560000 w 560000"/>
              <a:gd name="connsiteY2" fmla="*/ 80500 h 161000"/>
              <a:gd name="connsiteX3" fmla="*/ 280000 w 560000"/>
              <a:gd name="connsiteY3" fmla="*/ 161000 h 161000"/>
              <a:gd name="rtl" fmla="*/ 10822000 w 560000"/>
              <a:gd name="rtt" fmla="*/ 3451000 h 161000"/>
              <a:gd name="rtr" fmla="*/ 11382000 w 560000"/>
              <a:gd name="rtb" fmla="*/ 3612000 h 161000"/>
            </a:gdLst>
            <a:ahLst/>
            <a:cxnLst>
              <a:cxn ang="10800000">
                <a:pos x="connsiteX0" y="connsiteY0"/>
              </a:cxn>
              <a:cxn ang="16200000">
                <a:pos x="connsiteX1" y="connsiteY1"/>
              </a:cxn>
              <a:cxn ang="0">
                <a:pos x="connsiteX2" y="connsiteY2"/>
              </a:cxn>
              <a:cxn ang="5400000">
                <a:pos x="connsiteX3" y="connsiteY3"/>
              </a:cxn>
            </a:cxnLst>
            <a:rect l="rtl" t="rtt" r="rtr" b="rtb"/>
            <a:pathLst/>
          </a:custGeom>
          <a:solidFill>
            <a:srgbClr val="A5B4FC"/>
          </a:solidFill>
          <a:ln w="7000" cap="flat">
            <a:noFill/>
            <a:miter/>
          </a:ln>
        </p:spPr>
        <p:txBody>
          <a:bodyPr wrap="none" lIns="38100" tIns="38100" rIns="38100" bIns="38100" rtlCol="0" anchor="ctr"/>
          <a:p>
            <a:pPr algn="l"/>
            <a:r>
              <a:rPr lang="zh-CN" altLang="en-US" sz="580" dirty="0">
                <a:solidFill>
                  <a:srgbClr val="A5B4FC"/>
                </a:solidFill>
                <a:latin typeface="Times New Roman Regular" panose="02020503050405090304" charset="0"/>
                <a:ea typeface="微软雅黑"/>
                <a:cs typeface="Times New Roman Regular" panose="02020503050405090304" charset="0"/>
              </a:rPr>
              <a:t>全局/突破一些</a:t>
            </a:r>
            <a:endParaRPr lang="zh-CN" altLang="en-US" sz="580" dirty="0">
              <a:solidFill>
                <a:srgbClr val="A5B4FC"/>
              </a:solidFill>
              <a:latin typeface="Times New Roman Regular" panose="02020503050405090304" charset="0"/>
              <a:ea typeface="微软雅黑"/>
              <a:cs typeface="Times New Roman Regular" panose="0202050305040509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84675" y="3939540"/>
            <a:ext cx="290830" cy="818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790" b="1" dirty="0">
                <a:solidFill>
                  <a:srgbClr val="4F46E5"/>
                </a:solidFill>
                <a:latin typeface="Times New Roman Regular" panose="02020503050405090304" charset="0"/>
                <a:ea typeface="微软雅黑"/>
                <a:cs typeface="微软雅黑"/>
                <a:sym typeface="+mn-ea"/>
              </a:rPr>
              <a:t>高</a:t>
            </a:r>
            <a:endParaRPr lang="zh-CN" altLang="en-US" sz="790" b="1" dirty="0">
              <a:solidFill>
                <a:srgbClr val="4F46E5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  <a:p>
            <a:pPr algn="ctr"/>
            <a:r>
              <a:rPr lang="zh-CN" altLang="en-US" sz="790" b="1" dirty="0">
                <a:solidFill>
                  <a:srgbClr val="4F46E5"/>
                </a:solidFill>
                <a:latin typeface="Times New Roman Regular" panose="02020503050405090304" charset="0"/>
                <a:ea typeface="微软雅黑"/>
                <a:cs typeface="微软雅黑"/>
                <a:sym typeface="+mn-ea"/>
              </a:rPr>
              <a:t>速</a:t>
            </a:r>
            <a:endParaRPr lang="zh-CN" altLang="en-US" sz="790" b="1" dirty="0">
              <a:solidFill>
                <a:srgbClr val="4F46E5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  <a:p>
            <a:pPr algn="ctr"/>
            <a:r>
              <a:rPr lang="zh-CN" altLang="en-US" sz="790" b="1" dirty="0">
                <a:solidFill>
                  <a:srgbClr val="4F46E5"/>
                </a:solidFill>
                <a:latin typeface="Times New Roman Regular" panose="02020503050405090304" charset="0"/>
                <a:ea typeface="微软雅黑"/>
                <a:cs typeface="微软雅黑"/>
                <a:sym typeface="+mn-ea"/>
              </a:rPr>
              <a:t>数</a:t>
            </a:r>
            <a:endParaRPr lang="zh-CN" altLang="en-US" sz="790" b="1" dirty="0">
              <a:solidFill>
                <a:srgbClr val="4F46E5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  <a:p>
            <a:pPr algn="ctr"/>
            <a:r>
              <a:rPr lang="zh-CN" altLang="en-US" sz="790" b="1" dirty="0">
                <a:solidFill>
                  <a:srgbClr val="4F46E5"/>
                </a:solidFill>
                <a:latin typeface="Times New Roman Regular" panose="02020503050405090304" charset="0"/>
                <a:ea typeface="微软雅黑"/>
                <a:cs typeface="微软雅黑"/>
                <a:sym typeface="+mn-ea"/>
              </a:rPr>
              <a:t>字</a:t>
            </a:r>
            <a:endParaRPr lang="zh-CN" altLang="en-US" sz="790" b="1" dirty="0">
              <a:solidFill>
                <a:srgbClr val="4F46E5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  <a:p>
            <a:pPr algn="ctr"/>
            <a:r>
              <a:rPr lang="zh-CN" altLang="en-US" sz="790" b="1" dirty="0">
                <a:solidFill>
                  <a:srgbClr val="4F46E5"/>
                </a:solidFill>
                <a:latin typeface="Times New Roman Regular" panose="02020503050405090304" charset="0"/>
                <a:ea typeface="微软雅黑"/>
                <a:cs typeface="微软雅黑"/>
                <a:sym typeface="+mn-ea"/>
              </a:rPr>
              <a:t>迭</a:t>
            </a:r>
            <a:endParaRPr lang="zh-CN" altLang="en-US" sz="790" b="1" dirty="0">
              <a:solidFill>
                <a:srgbClr val="4F46E5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  <a:p>
            <a:pPr algn="ctr"/>
            <a:r>
              <a:rPr lang="zh-CN" altLang="en-US" sz="790" b="1" dirty="0">
                <a:solidFill>
                  <a:srgbClr val="4F46E5"/>
                </a:solidFill>
                <a:latin typeface="Times New Roman Regular" panose="02020503050405090304" charset="0"/>
                <a:ea typeface="微软雅黑"/>
                <a:cs typeface="微软雅黑"/>
                <a:sym typeface="+mn-ea"/>
              </a:rPr>
              <a:t>代</a:t>
            </a:r>
            <a:endParaRPr lang="zh-CN" altLang="en-US" sz="790" b="1" dirty="0">
              <a:solidFill>
                <a:srgbClr val="4F46E5"/>
              </a:solidFill>
              <a:latin typeface="Times New Roman Regular" panose="02020503050405090304" charset="0"/>
              <a:ea typeface="微软雅黑"/>
              <a:cs typeface="微软雅黑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9905" y="3568065"/>
            <a:ext cx="197485" cy="8407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 sz="800" b="1" dirty="0">
                <a:solidFill>
                  <a:srgbClr val="64748B"/>
                </a:solidFill>
                <a:latin typeface="Times New Roman Regular" panose="02020503050405090304" charset="0"/>
                <a:ea typeface="微软雅黑"/>
                <a:cs typeface="微软雅黑"/>
                <a:sym typeface="+mn-ea"/>
              </a:rPr>
              <a:t>慢</a:t>
            </a:r>
            <a:endParaRPr lang="zh-CN" altLang="en-US" sz="800" b="1" dirty="0">
              <a:solidFill>
                <a:srgbClr val="64748B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  <a:p>
            <a:pPr algn="ctr"/>
            <a:r>
              <a:rPr lang="zh-CN" altLang="en-US" sz="800" b="1" dirty="0">
                <a:solidFill>
                  <a:srgbClr val="64748B"/>
                </a:solidFill>
                <a:latin typeface="Times New Roman Regular" panose="02020503050405090304" charset="0"/>
                <a:ea typeface="微软雅黑"/>
                <a:cs typeface="微软雅黑"/>
                <a:sym typeface="+mn-ea"/>
              </a:rPr>
              <a:t>速</a:t>
            </a:r>
            <a:endParaRPr lang="zh-CN" altLang="en-US" sz="800" b="1" dirty="0">
              <a:solidFill>
                <a:srgbClr val="64748B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  <a:p>
            <a:pPr algn="ctr"/>
            <a:r>
              <a:rPr lang="zh-CN" altLang="en-US" sz="800" b="1" dirty="0">
                <a:solidFill>
                  <a:srgbClr val="64748B"/>
                </a:solidFill>
                <a:latin typeface="Times New Roman Regular" panose="02020503050405090304" charset="0"/>
                <a:ea typeface="微软雅黑"/>
                <a:cs typeface="微软雅黑"/>
                <a:sym typeface="+mn-ea"/>
              </a:rPr>
              <a:t>物</a:t>
            </a:r>
            <a:endParaRPr lang="zh-CN" altLang="en-US" sz="800" b="1" dirty="0">
              <a:solidFill>
                <a:srgbClr val="64748B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  <a:p>
            <a:pPr algn="ctr"/>
            <a:r>
              <a:rPr lang="zh-CN" altLang="en-US" sz="800" b="1" dirty="0">
                <a:solidFill>
                  <a:srgbClr val="64748B"/>
                </a:solidFill>
                <a:latin typeface="Times New Roman Regular" panose="02020503050405090304" charset="0"/>
                <a:ea typeface="微软雅黑"/>
                <a:cs typeface="微软雅黑"/>
                <a:sym typeface="+mn-ea"/>
              </a:rPr>
              <a:t>理</a:t>
            </a:r>
            <a:endParaRPr lang="zh-CN" altLang="en-US" sz="800" b="1" dirty="0">
              <a:solidFill>
                <a:srgbClr val="64748B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  <a:p>
            <a:pPr algn="ctr"/>
            <a:r>
              <a:rPr lang="zh-CN" altLang="en-US" sz="800" b="1" dirty="0">
                <a:solidFill>
                  <a:srgbClr val="64748B"/>
                </a:solidFill>
                <a:latin typeface="Times New Roman Regular" panose="02020503050405090304" charset="0"/>
                <a:ea typeface="微软雅黑"/>
                <a:cs typeface="微软雅黑"/>
                <a:sym typeface="+mn-ea"/>
              </a:rPr>
              <a:t>迭</a:t>
            </a:r>
            <a:endParaRPr lang="zh-CN" altLang="en-US" sz="800" b="1" dirty="0">
              <a:solidFill>
                <a:srgbClr val="64748B"/>
              </a:solidFill>
              <a:latin typeface="Times New Roman Regular" panose="02020503050405090304" charset="0"/>
              <a:ea typeface="微软雅黑"/>
              <a:cs typeface="微软雅黑"/>
            </a:endParaRPr>
          </a:p>
          <a:p>
            <a:pPr algn="ctr"/>
            <a:r>
              <a:rPr lang="zh-CN" altLang="en-US" sz="800" b="1" dirty="0">
                <a:solidFill>
                  <a:srgbClr val="64748B"/>
                </a:solidFill>
                <a:latin typeface="Times New Roman Regular" panose="02020503050405090304" charset="0"/>
                <a:ea typeface="微软雅黑"/>
                <a:cs typeface="微软雅黑"/>
                <a:sym typeface="+mn-ea"/>
              </a:rPr>
              <a:t>代</a:t>
            </a:r>
            <a:endParaRPr lang="zh-CN" altLang="en-US" sz="800" b="1" dirty="0">
              <a:solidFill>
                <a:srgbClr val="64748B"/>
              </a:solidFill>
              <a:latin typeface="Times New Roman Regular" panose="02020503050405090304" charset="0"/>
              <a:ea typeface="微软雅黑"/>
              <a:cs typeface="微软雅黑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0665" y="215900"/>
            <a:ext cx="1172146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000" b="1" i="0">
                <a:solidFill>
                  <a:srgbClr val="000000"/>
                </a:solidFill>
                <a:latin typeface="Times New Roman Regular" panose="02020503050405090304" charset="0"/>
                <a:ea typeface="微软雅黑" charset="0"/>
                <a:cs typeface="Times New Roman Regular" panose="02020503050405090304" charset="0"/>
              </a:rPr>
              <a:t>运行</a:t>
            </a:r>
            <a:r>
              <a:rPr lang="zh-CN" altLang="en-US" sz="2000" b="1" i="0">
                <a:solidFill>
                  <a:srgbClr val="000000"/>
                </a:solidFill>
                <a:latin typeface="Times New Roman Regular" panose="02020503050405090304" charset="0"/>
                <a:ea typeface="微软雅黑" charset="0"/>
                <a:cs typeface="Times New Roman Regular" panose="02020503050405090304" charset="0"/>
              </a:rPr>
              <a:t>方式</a:t>
            </a:r>
            <a:endParaRPr lang="zh-CN" altLang="en-US" sz="2000" b="1" i="0">
              <a:solidFill>
                <a:srgbClr val="000000"/>
              </a:solidFill>
              <a:latin typeface="Times New Roman Regular" panose="02020503050405090304" charset="0"/>
              <a:ea typeface="微软雅黑" charset="0"/>
              <a:cs typeface="Times New Roman Regular" panose="0202050305040509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015" y="1995170"/>
            <a:ext cx="5594985" cy="28682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708150" y="1416050"/>
            <a:ext cx="2545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</a:rPr>
              <a:t>web</a:t>
            </a:r>
            <a:endParaRPr lang="en-US" altLang="zh-CN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03540" y="1416050"/>
            <a:ext cx="2545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PingFang SC Semibold" panose="020B0400000000000000" charset="-122"/>
                <a:ea typeface="PingFang SC Semibold" panose="020B0400000000000000" charset="-122"/>
              </a:rPr>
              <a:t>cli</a:t>
            </a:r>
            <a:endParaRPr lang="en-US" altLang="zh-CN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790" y="1995170"/>
            <a:ext cx="5275580" cy="33350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0665" y="215900"/>
            <a:ext cx="1172146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2000" b="1" i="0">
                <a:solidFill>
                  <a:srgbClr val="000000"/>
                </a:solidFill>
                <a:latin typeface="Times New Roman Regular" panose="02020503050405090304" charset="0"/>
                <a:ea typeface="微软雅黑" charset="0"/>
                <a:cs typeface="Times New Roman Regular" panose="02020503050405090304" charset="0"/>
              </a:rPr>
              <a:t>结果</a:t>
            </a:r>
            <a:endParaRPr lang="zh-CN" altLang="en-US" sz="2000" b="1" i="0">
              <a:solidFill>
                <a:srgbClr val="000000"/>
              </a:solidFill>
              <a:latin typeface="Times New Roman Regular" panose="02020503050405090304" charset="0"/>
              <a:ea typeface="微软雅黑" charset="0"/>
              <a:cs typeface="Times New Roman Regular" panose="02020503050405090304" charset="0"/>
            </a:endParaRPr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6459220" y="901065"/>
            <a:ext cx="5502910" cy="50558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80" y="292100"/>
            <a:ext cx="3498215" cy="12934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5" y="1657350"/>
            <a:ext cx="5996305" cy="17716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655" y="3500755"/>
            <a:ext cx="3896995" cy="32492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NDEX" val="1"/>
  <p:tag name="KSO_WM_UNIT_TYPE" val="a"/>
  <p:tag name="KSO_WM_BEAUTIFY_FLAG" val="#wm#"/>
  <p:tag name="SlideZOrder" val="1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INDEX" val="179"/>
  <p:tag name="KSO_WM_UNIT_TYPE" val="f"/>
  <p:tag name="KSO_WM_UNIT_SUBTYPE" val="a"/>
  <p:tag name="KSO_WM_BEAUTIFY_FLAG" val="#wm#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INDEX" val="100"/>
  <p:tag name="KSO_WM_UNIT_TYPE" val="i"/>
  <p:tag name="KSO_WM_BEAUTIFY_FLAG" val="#wm#"/>
</p:tagLst>
</file>

<file path=ppt/tags/tag69.xml><?xml version="1.0" encoding="utf-8"?>
<p:tagLst xmlns:p="http://schemas.openxmlformats.org/presentationml/2006/main">
  <p:tag name="KSO_WM_UNIT_INDEX" val="194"/>
  <p:tag name="KSO_WM_UNIT_TYPE" val="i"/>
  <p:tag name="KSO_WM_BEAUTIFY_FLAG" val="#wm#"/>
</p:tagLst>
</file>

<file path=ppt/tags/tag70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2750</Words>
  <Application>WPS 演示</Application>
  <PresentationFormat>宽屏</PresentationFormat>
  <Paragraphs>594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5" baseType="lpstr">
      <vt:lpstr>Arial</vt:lpstr>
      <vt:lpstr>宋体</vt:lpstr>
      <vt:lpstr>Wingdings</vt:lpstr>
      <vt:lpstr>Wingdings</vt:lpstr>
      <vt:lpstr>Times New Roman Regular</vt:lpstr>
      <vt:lpstr>微软雅黑</vt:lpstr>
      <vt:lpstr>汉仪旗黑</vt:lpstr>
      <vt:lpstr>Times New Roman</vt:lpstr>
      <vt:lpstr>宋体</vt:lpstr>
      <vt:lpstr>Arial Unicode MS</vt:lpstr>
      <vt:lpstr>苹方-简</vt:lpstr>
      <vt:lpstr>汉仪书宋二KW</vt:lpstr>
      <vt:lpstr>微软雅黑</vt:lpstr>
      <vt:lpstr>Apple Color Emoji</vt:lpstr>
      <vt:lpstr>宋体-简</vt:lpstr>
      <vt:lpstr>微软雅黑</vt:lpstr>
      <vt:lpstr>PingFang SC Semibold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彭科升</cp:lastModifiedBy>
  <cp:revision>236</cp:revision>
  <dcterms:created xsi:type="dcterms:W3CDTF">2026-07-06T01:07:47Z</dcterms:created>
  <dcterms:modified xsi:type="dcterms:W3CDTF">2026-07-06T01:07:47Z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2052-7.2.1.8947</vt:lpwstr>
  </property>
  <property fmtid="{D5CDD505-2E9C-101B-9397-08002B2CF9AE}" pid="3" name="ICV">
    <vt:lpwstr>C72FEDCA4683AA2EFDBC2F6AAF04B89D_41</vt:lpwstr>
  </property>
</Properties>
</file>